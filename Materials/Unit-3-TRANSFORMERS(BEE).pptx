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3"/>
    <p:sldId id="257" r:id="rId4"/>
    <p:sldId id="258" r:id="rId5"/>
    <p:sldId id="259" r:id="rId6"/>
    <p:sldId id="260" r:id="rId7"/>
    <p:sldId id="265" r:id="rId8"/>
    <p:sldId id="261" r:id="rId9"/>
    <p:sldId id="269" r:id="rId10"/>
    <p:sldId id="262" r:id="rId11"/>
    <p:sldId id="264" r:id="rId12"/>
    <p:sldId id="267" r:id="rId13"/>
    <p:sldId id="274" r:id="rId14"/>
    <p:sldId id="275" r:id="rId15"/>
    <p:sldId id="277" r:id="rId16"/>
    <p:sldId id="271" r:id="rId17"/>
    <p:sldId id="273" r:id="rId18"/>
    <p:sldId id="320" r:id="rId19"/>
    <p:sldId id="278" r:id="rId20"/>
    <p:sldId id="321" r:id="rId21"/>
    <p:sldId id="290" r:id="rId22"/>
    <p:sldId id="282" r:id="rId23"/>
    <p:sldId id="289" r:id="rId24"/>
    <p:sldId id="287" r:id="rId25"/>
    <p:sldId id="285" r:id="rId26"/>
    <p:sldId id="286" r:id="rId27"/>
    <p:sldId id="313" r:id="rId28"/>
    <p:sldId id="316" r:id="rId29"/>
    <p:sldId id="294" r:id="rId30"/>
    <p:sldId id="295" r:id="rId31"/>
    <p:sldId id="296" r:id="rId32"/>
    <p:sldId id="314" r:id="rId33"/>
    <p:sldId id="297" r:id="rId34"/>
    <p:sldId id="300" r:id="rId36"/>
    <p:sldId id="315" r:id="rId37"/>
    <p:sldId id="301" r:id="rId38"/>
    <p:sldId id="302" r:id="rId39"/>
    <p:sldId id="304" r:id="rId40"/>
    <p:sldId id="305" r:id="rId41"/>
    <p:sldId id="310" r:id="rId42"/>
    <p:sldId id="318" r:id="rId43"/>
    <p:sldId id="319" r:id="rId4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5EB2B"/>
    <a:srgbClr val="2B04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7A506B2-CEB0-4DFC-9FA3-FADEEC9495D8}" type="datetimeFigureOut">
              <a:rPr lang="en-US"/>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AABFEC6-1231-4393-95F4-4F6D683D6895}"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ln>
        </p:spPr>
      </p:sp>
      <p:sp>
        <p:nvSpPr>
          <p:cNvPr id="5120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smtClean="0"/>
          </a:p>
        </p:txBody>
      </p:sp>
      <p:sp>
        <p:nvSpPr>
          <p:cNvPr id="51204" name="Slide Number Placeholder 3"/>
          <p:cNvSpPr>
            <a:spLocks noGrp="1"/>
          </p:cNvSpPr>
          <p:nvPr>
            <p:ph type="sldNum" sz="quarter" idx="5"/>
          </p:nvPr>
        </p:nvSpPr>
        <p:spPr bwMode="auto">
          <a:noFill/>
          <a:ln>
            <a:miter lim="800000"/>
          </a:ln>
        </p:spPr>
        <p:txBody>
          <a:bodyPr wrap="square" numCol="1" anchorCtr="0" compatLnSpc="1"/>
          <a:lstStyle/>
          <a:p>
            <a:fld id="{CA6F96C8-93C8-452B-B054-200B7E03BA00}" type="slidenum">
              <a:rPr lang="en-US" smtClean="0"/>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ln>
        </p:spPr>
      </p:sp>
      <p:sp>
        <p:nvSpPr>
          <p:cNvPr id="5222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smtClean="0"/>
          </a:p>
        </p:txBody>
      </p:sp>
      <p:sp>
        <p:nvSpPr>
          <p:cNvPr id="52228" name="Slide Number Placeholder 3"/>
          <p:cNvSpPr>
            <a:spLocks noGrp="1"/>
          </p:cNvSpPr>
          <p:nvPr>
            <p:ph type="sldNum" sz="quarter" idx="5"/>
          </p:nvPr>
        </p:nvSpPr>
        <p:spPr bwMode="auto">
          <a:noFill/>
          <a:ln>
            <a:miter lim="800000"/>
          </a:ln>
        </p:spPr>
        <p:txBody>
          <a:bodyPr wrap="square" numCol="1" anchorCtr="0" compatLnSpc="1"/>
          <a:lstStyle/>
          <a:p>
            <a:fld id="{883F92F1-3E2E-4840-8EE8-2F2E8BFFDB15}" type="slidenum">
              <a:rPr lang="en-US" smtClean="0"/>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D0F75190-DAFE-423D-A2B8-DA7EA82861B2}"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CC5D9BE-8B5E-460C-8E8A-7A3E3A634939}"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8C34374-706A-4C2C-BF4F-A5CC35D5E019}"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G. </a:t>
            </a:r>
            <a:r>
              <a:rPr lang="en-US" err="1"/>
              <a:t>Sravanthi</a:t>
            </a:r>
            <a:r>
              <a:rPr lang="en-US"/>
              <a:t>, EEE</a:t>
            </a:r>
            <a:endParaRPr lang="en-US"/>
          </a:p>
        </p:txBody>
      </p:sp>
      <p:sp>
        <p:nvSpPr>
          <p:cNvPr id="6" name="Slide Number Placeholder 5"/>
          <p:cNvSpPr>
            <a:spLocks noGrp="1"/>
          </p:cNvSpPr>
          <p:nvPr>
            <p:ph type="sldNum" sz="quarter" idx="12"/>
          </p:nvPr>
        </p:nvSpPr>
        <p:spPr/>
        <p:txBody>
          <a:bodyPr/>
          <a:lstStyle>
            <a:lvl1pPr>
              <a:defRPr/>
            </a:lvl1pPr>
          </a:lstStyle>
          <a:p>
            <a:pPr>
              <a:defRPr/>
            </a:pPr>
            <a:r>
              <a:rPr lang="en-US"/>
              <a:t>SNIST</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lvl1pPr>
              <a:defRPr/>
            </a:lvl1pPr>
          </a:lstStyle>
          <a:p>
            <a:pPr>
              <a:defRPr/>
            </a:pPr>
            <a:fld id="{A986331C-199F-4796-B7E1-CDCD1C7CEA1E}"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9FA1538-5D81-4FE8-B87F-D30920546AD0}"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1653564-4A5F-4ABD-8412-F0D97EBBC8F8}"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0C4C9D5-BB11-451F-BD50-B856909D921F}"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0441941-1AAD-4808-A5C1-5F5599081A52}" type="datetimeFigureOut">
              <a:rPr lang="en-US"/>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0E1DE66-B879-414E-874F-87A5643DD8E3}"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7CEA2A7C-A722-445F-B0C7-5E3AF8FCC6B0}" type="datetimeFigureOut">
              <a:rPr lang="en-US"/>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E36046A-0713-4B03-9DFE-6278F5B23426}"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62CDD99-87B8-42DF-947A-86B300564A40}" type="datetimeFigureOut">
              <a:rPr lang="en-US"/>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2809DCA-DE30-4BB3-8BC2-75D29848B743}"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fld id="{F4A9443E-05C9-4997-B171-38EA80817F68}"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28A0BB5-A78E-4ECC-B678-243216394F71}"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fld id="{C2B04139-4421-4CCB-9ED0-C30059668D70}"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F55AC76-903E-4D73-9FA3-53973E8269A1}"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1FD809F-7108-49EB-92E1-B1E824647B39}"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0224769-3BA7-480C-92B6-3512C7D3CF1B}"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B46A4C0-5976-4680-BD35-BCC647F62E0C}"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DED5027-2FED-48C4-8BC1-2D48EA2479C8}"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1792274-3A4F-4707-9E92-4E37600D28CF}" type="datetimeFigureOut">
              <a:rPr lang="en-US"/>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7F15134F-7599-4534-B6AD-AEA73C17A07F}"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electrical4u.com/voltage-or-electric-potential-difference/" TargetMode="External"/><Relationship Id="rId2" Type="http://schemas.openxmlformats.org/officeDocument/2006/relationships/hyperlink" Target="http://www.electrical4u.com/what-is-inductor-and-inductance-theory-of-inductor/" TargetMode="External"/><Relationship Id="rId1" Type="http://schemas.openxmlformats.org/officeDocument/2006/relationships/hyperlink" Target="http://www.electrical4u.com/electrical-power-transformer-definition-and-types-of-transformer/"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www.electrical4u.com/what-is-inductor-and-inductance-theory-of-inductor/" TargetMode="External"/><Relationship Id="rId1" Type="http://schemas.openxmlformats.org/officeDocument/2006/relationships/hyperlink" Target="http://www.electrical4u.com/faraday-law-of-electromagnetic-induction/"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electrical4u.com/electrical-power-transformer-definition-and-types-of-transformer/" TargetMode="External"/><Relationship Id="rId2" Type="http://schemas.openxmlformats.org/officeDocument/2006/relationships/hyperlink" Target="http://www.electrical4u.com/faraday-law-of-electromagnetic-induction/" TargetMode="External"/><Relationship Id="rId1" Type="http://schemas.openxmlformats.org/officeDocument/2006/relationships/hyperlink" Target="http://www.electrical4u.com/electric-current-and-theory-of-electricit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lectrical4u.com/what-is-magnetic-fiel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electrical4u.com/hysteresis-eddy-current-iron-or-core-losses-and-copper-loss-in-transformer/"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www.electrical4u.com/voltage-or-electric-potential-difference/" TargetMode="Externa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electricaleasy.com/2014/04/transformer-losses-and-efficiency.html" TargetMode="External"/><Relationship Id="rId2" Type="http://schemas.openxmlformats.org/officeDocument/2006/relationships/hyperlink" Target="http://www.electricaleasy.com/2014/04/transformer-with-resistance-and-leakage.html" TargetMode="External"/><Relationship Id="rId1" Type="http://schemas.openxmlformats.org/officeDocument/2006/relationships/hyperlink" Target="http://www.electricaleasy.com/2014/03/electrical-transformer-basic.html"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hyperlink" Target="http://www.electrical4u.com/voltage-or-electric-potential-difference/" TargetMode="External"/><Relationship Id="rId1" Type="http://schemas.openxmlformats.org/officeDocument/2006/relationships/hyperlink" Target="http://www.electrical4u.com/voltage-regulation-of-transforme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rtlCol="0">
            <a:normAutofit fontScale="90000"/>
          </a:bodyPr>
          <a:lstStyle/>
          <a:p>
            <a:pPr eaLnBrk="1" fontAlgn="auto" hangingPunct="1">
              <a:spcAft>
                <a:spcPts val="0"/>
              </a:spcAft>
              <a:defRPr/>
            </a:pPr>
            <a:r>
              <a:rPr lang="en-US" sz="4800" b="1" dirty="0" smtClean="0">
                <a:solidFill>
                  <a:srgbClr val="00B050"/>
                </a:solidFill>
                <a:latin typeface="Times New Roman" panose="02020603050405020304" pitchFamily="18" charset="0"/>
                <a:cs typeface="Times New Roman" panose="02020603050405020304" pitchFamily="18" charset="0"/>
              </a:rPr>
              <a:t>UNIT-III</a:t>
            </a:r>
            <a:br>
              <a:rPr lang="en-US" sz="4800" b="1" dirty="0" smtClean="0">
                <a:solidFill>
                  <a:srgbClr val="FF0000"/>
                </a:solidFill>
                <a:latin typeface="Times New Roman" panose="02020603050405020304" pitchFamily="18" charset="0"/>
                <a:cs typeface="Times New Roman" panose="02020603050405020304" pitchFamily="18" charset="0"/>
              </a:rPr>
            </a:br>
            <a:r>
              <a:rPr lang="en-US" sz="4800" b="1" dirty="0" smtClean="0">
                <a:solidFill>
                  <a:srgbClr val="FF0000"/>
                </a:solidFill>
                <a:latin typeface="Times New Roman" panose="02020603050405020304" pitchFamily="18" charset="0"/>
                <a:cs typeface="Times New Roman" panose="02020603050405020304" pitchFamily="18" charset="0"/>
              </a:rPr>
              <a:t>TRANSFORMERS</a:t>
            </a:r>
            <a:endParaRPr lang="en-US" sz="4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57200" y="304800"/>
            <a:ext cx="8229600" cy="1143000"/>
          </a:xfrm>
        </p:spPr>
        <p:txBody>
          <a:bodyPr/>
          <a:lstStyle/>
          <a:p>
            <a:pPr eaLnBrk="1" hangingPunct="1"/>
            <a:r>
              <a:rPr lang="en-US" sz="3600" smtClean="0">
                <a:solidFill>
                  <a:srgbClr val="FF0000"/>
                </a:solidFill>
                <a:latin typeface="Times New Roman" panose="02020603050405020304" pitchFamily="18" charset="0"/>
                <a:cs typeface="Times New Roman" panose="02020603050405020304" pitchFamily="18" charset="0"/>
              </a:rPr>
              <a:t>DEFINITION</a:t>
            </a:r>
            <a:endParaRPr lang="en-US" sz="3600" smtClean="0">
              <a:solidFill>
                <a:srgbClr val="FF0000"/>
              </a:solidFill>
              <a:latin typeface="Times New Roman" panose="02020603050405020304" pitchFamily="18" charset="0"/>
              <a:cs typeface="Times New Roman" panose="02020603050405020304" pitchFamily="18" charset="0"/>
            </a:endParaRPr>
          </a:p>
        </p:txBody>
      </p:sp>
      <p:sp>
        <p:nvSpPr>
          <p:cNvPr id="4099" name="Content Placeholder 2"/>
          <p:cNvSpPr>
            <a:spLocks noGrp="1"/>
          </p:cNvSpPr>
          <p:nvPr>
            <p:ph idx="1"/>
          </p:nvPr>
        </p:nvSpPr>
        <p:spPr/>
        <p:txBody>
          <a:bodyPr/>
          <a:lstStyle/>
          <a:p>
            <a:pPr algn="just" eaLnBrk="1" hangingPunct="1">
              <a:lnSpc>
                <a:spcPct val="150000"/>
              </a:lnSpc>
            </a:pPr>
            <a:r>
              <a:rPr lang="en-US" sz="2400" smtClean="0">
                <a:latin typeface="Times New Roman" panose="02020603050405020304" pitchFamily="18" charset="0"/>
                <a:cs typeface="Times New Roman" panose="02020603050405020304" pitchFamily="18" charset="0"/>
              </a:rPr>
              <a:t>Electrical </a:t>
            </a:r>
            <a:r>
              <a:rPr lang="en-US" sz="2400" u="sng" smtClean="0">
                <a:solidFill>
                  <a:srgbClr val="3333FF"/>
                </a:solidFill>
                <a:latin typeface="Times New Roman" panose="02020603050405020304" pitchFamily="18" charset="0"/>
                <a:cs typeface="Times New Roman" panose="02020603050405020304" pitchFamily="18" charset="0"/>
              </a:rPr>
              <a:t>P</a:t>
            </a:r>
            <a:r>
              <a:rPr lang="en-US" sz="2400" smtClean="0">
                <a:latin typeface="Times New Roman" panose="02020603050405020304" pitchFamily="18" charset="0"/>
                <a:cs typeface="Times New Roman" panose="02020603050405020304" pitchFamily="18" charset="0"/>
                <a:hlinkClick r:id="rId1" tooltip="Electrical Power Transformer"/>
              </a:rPr>
              <a:t>ower transformer</a:t>
            </a:r>
            <a:r>
              <a:rPr lang="en-US" sz="2400" smtClean="0">
                <a:latin typeface="Times New Roman" panose="02020603050405020304" pitchFamily="18" charset="0"/>
                <a:cs typeface="Times New Roman" panose="02020603050405020304" pitchFamily="18" charset="0"/>
              </a:rPr>
              <a:t> is a static device which transforms electrical energy from one circuit to another without any direct electrical connection and with the help of </a:t>
            </a:r>
            <a:r>
              <a:rPr lang="en-US" sz="2400" smtClean="0">
                <a:latin typeface="Times New Roman" panose="02020603050405020304" pitchFamily="18" charset="0"/>
                <a:cs typeface="Times New Roman" panose="02020603050405020304" pitchFamily="18" charset="0"/>
                <a:hlinkClick r:id="rId2" tooltip="Mutual Inductance "/>
              </a:rPr>
              <a:t>mutual induction</a:t>
            </a:r>
            <a:r>
              <a:rPr lang="en-US" sz="2400" smtClean="0">
                <a:latin typeface="Times New Roman" panose="02020603050405020304" pitchFamily="18" charset="0"/>
                <a:cs typeface="Times New Roman" panose="02020603050405020304" pitchFamily="18" charset="0"/>
              </a:rPr>
              <a:t> between two windings. It transforms power from one circuit to another without changing its frequency but may be in different </a:t>
            </a:r>
            <a:r>
              <a:rPr lang="en-US" sz="2400" smtClean="0">
                <a:latin typeface="Times New Roman" panose="02020603050405020304" pitchFamily="18" charset="0"/>
                <a:cs typeface="Times New Roman" panose="02020603050405020304" pitchFamily="18" charset="0"/>
                <a:hlinkClick r:id="rId3" tooltip="Voltage or Electric Potential Difference"/>
              </a:rPr>
              <a:t>voltage</a:t>
            </a:r>
            <a:r>
              <a:rPr lang="en-US" sz="2400" smtClean="0">
                <a:latin typeface="Times New Roman" panose="02020603050405020304" pitchFamily="18" charset="0"/>
                <a:cs typeface="Times New Roman" panose="02020603050405020304" pitchFamily="18" charset="0"/>
              </a:rPr>
              <a:t> level. </a:t>
            </a: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rtlCol="0">
            <a:normAutofit fontScale="90000"/>
          </a:bodyPr>
          <a:lstStyle/>
          <a:p>
            <a:pPr eaLnBrk="1" fontAlgn="auto" hangingPunct="1">
              <a:spcAft>
                <a:spcPts val="0"/>
              </a:spcAft>
              <a:defRPr/>
            </a:pPr>
            <a:br>
              <a:rPr lang="en-US" b="1" dirty="0" smtClean="0"/>
            </a:br>
            <a:r>
              <a:rPr lang="en-US" sz="4000" b="1" dirty="0" smtClean="0">
                <a:solidFill>
                  <a:srgbClr val="FF0000"/>
                </a:solidFill>
                <a:latin typeface="Times New Roman" panose="02020603050405020304" pitchFamily="18" charset="0"/>
                <a:cs typeface="Times New Roman" panose="02020603050405020304" pitchFamily="18" charset="0"/>
              </a:rPr>
              <a:t>Working </a:t>
            </a:r>
            <a:r>
              <a:rPr lang="en-US" sz="4000" b="1" dirty="0">
                <a:solidFill>
                  <a:srgbClr val="FF0000"/>
                </a:solidFill>
                <a:latin typeface="Times New Roman" panose="02020603050405020304" pitchFamily="18" charset="0"/>
                <a:cs typeface="Times New Roman" panose="02020603050405020304" pitchFamily="18" charset="0"/>
              </a:rPr>
              <a:t>Principle of Transformer</a:t>
            </a:r>
            <a:br>
              <a:rPr lang="en-US" b="1" dirty="0">
                <a:solidFill>
                  <a:srgbClr val="FF0000"/>
                </a:solidFill>
              </a:rPr>
            </a:br>
            <a:endParaRPr lang="en-US" b="1" dirty="0">
              <a:solidFill>
                <a:srgbClr val="FF0000"/>
              </a:solidFill>
            </a:endParaRPr>
          </a:p>
        </p:txBody>
      </p:sp>
      <p:sp>
        <p:nvSpPr>
          <p:cNvPr id="5123" name="Content Placeholder 2"/>
          <p:cNvSpPr>
            <a:spLocks noGrp="1"/>
          </p:cNvSpPr>
          <p:nvPr>
            <p:ph idx="1"/>
          </p:nvPr>
        </p:nvSpPr>
        <p:spPr>
          <a:xfrm>
            <a:off x="457200" y="1295400"/>
            <a:ext cx="8229600" cy="4830763"/>
          </a:xfrm>
        </p:spPr>
        <p:txBody>
          <a:bodyPr/>
          <a:lstStyle/>
          <a:p>
            <a:pPr algn="just" eaLnBrk="1" hangingPunct="1"/>
            <a:r>
              <a:rPr lang="en-US" sz="2800" smtClean="0">
                <a:latin typeface="Times New Roman" panose="02020603050405020304" pitchFamily="18" charset="0"/>
                <a:cs typeface="Times New Roman" panose="02020603050405020304" pitchFamily="18" charset="0"/>
              </a:rPr>
              <a:t>The </a:t>
            </a:r>
            <a:r>
              <a:rPr lang="en-US" sz="2800" b="1" smtClean="0">
                <a:latin typeface="Times New Roman" panose="02020603050405020304" pitchFamily="18" charset="0"/>
                <a:cs typeface="Times New Roman" panose="02020603050405020304" pitchFamily="18" charset="0"/>
              </a:rPr>
              <a:t>working principle of transformer</a:t>
            </a:r>
            <a:r>
              <a:rPr lang="en-US" sz="2800" smtClean="0">
                <a:latin typeface="Times New Roman" panose="02020603050405020304" pitchFamily="18" charset="0"/>
                <a:cs typeface="Times New Roman" panose="02020603050405020304" pitchFamily="18" charset="0"/>
              </a:rPr>
              <a:t> depends upon </a:t>
            </a:r>
            <a:r>
              <a:rPr lang="en-US" sz="2800" smtClean="0">
                <a:latin typeface="Times New Roman" panose="02020603050405020304" pitchFamily="18" charset="0"/>
                <a:cs typeface="Times New Roman" panose="02020603050405020304" pitchFamily="18" charset="0"/>
                <a:hlinkClick r:id="rId1"/>
              </a:rPr>
              <a:t>Faraday's law of electromagnetic induction</a:t>
            </a:r>
            <a:r>
              <a:rPr lang="en-US" sz="2800" smtClean="0">
                <a:latin typeface="Times New Roman" panose="02020603050405020304" pitchFamily="18" charset="0"/>
                <a:cs typeface="Times New Roman" panose="02020603050405020304" pitchFamily="18" charset="0"/>
              </a:rPr>
              <a:t>. Actually, </a:t>
            </a:r>
            <a:r>
              <a:rPr lang="en-US" sz="2800" smtClean="0">
                <a:latin typeface="Times New Roman" panose="02020603050405020304" pitchFamily="18" charset="0"/>
                <a:cs typeface="Times New Roman" panose="02020603050405020304" pitchFamily="18" charset="0"/>
                <a:hlinkClick r:id="rId2" tooltip="Mutual Inductance "/>
              </a:rPr>
              <a:t>mutual induction</a:t>
            </a:r>
            <a:r>
              <a:rPr lang="en-US" sz="2800" smtClean="0">
                <a:latin typeface="Times New Roman" panose="02020603050405020304" pitchFamily="18" charset="0"/>
                <a:cs typeface="Times New Roman" panose="02020603050405020304" pitchFamily="18" charset="0"/>
              </a:rPr>
              <a:t> between two or more winding is responsible for transformation action in an electrical transformer. </a:t>
            </a:r>
            <a:endParaRPr lang="en-US" sz="2800" smtClean="0">
              <a:latin typeface="Times New Roman" panose="02020603050405020304" pitchFamily="18" charset="0"/>
              <a:cs typeface="Times New Roman" panose="02020603050405020304" pitchFamily="18" charset="0"/>
            </a:endParaRPr>
          </a:p>
          <a:p>
            <a:pPr algn="just" eaLnBrk="1" hangingPunct="1"/>
            <a:r>
              <a:rPr lang="en-US" sz="2800" smtClean="0">
                <a:solidFill>
                  <a:srgbClr val="00B050"/>
                </a:solidFill>
                <a:latin typeface="Times New Roman" panose="02020603050405020304" pitchFamily="18" charset="0"/>
                <a:cs typeface="Times New Roman" panose="02020603050405020304" pitchFamily="18" charset="0"/>
              </a:rPr>
              <a:t>Faraday's Laws of Electromagnetic Induction : </a:t>
            </a:r>
            <a:endParaRPr lang="en-US" sz="2800" smtClean="0">
              <a:solidFill>
                <a:srgbClr val="00B050"/>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800" smtClean="0">
                <a:latin typeface="Times New Roman" panose="02020603050405020304" pitchFamily="18" charset="0"/>
                <a:cs typeface="Times New Roman" panose="02020603050405020304" pitchFamily="18" charset="0"/>
              </a:rPr>
              <a:t> 	According to these </a:t>
            </a:r>
            <a:r>
              <a:rPr lang="en-US" sz="2800" smtClean="0">
                <a:latin typeface="Times New Roman" panose="02020603050405020304" pitchFamily="18" charset="0"/>
                <a:cs typeface="Times New Roman" panose="02020603050405020304" pitchFamily="18" charset="0"/>
                <a:hlinkClick r:id="rId1"/>
              </a:rPr>
              <a:t>Faraday's laws</a:t>
            </a:r>
            <a:r>
              <a:rPr lang="en-US" sz="2800" smtClean="0">
                <a:latin typeface="Times New Roman" panose="02020603050405020304" pitchFamily="18" charset="0"/>
                <a:cs typeface="Times New Roman" panose="02020603050405020304" pitchFamily="18" charset="0"/>
              </a:rPr>
              <a:t>,</a:t>
            </a:r>
            <a:br>
              <a:rPr lang="en-US" sz="2800" smtClean="0">
                <a:latin typeface="Times New Roman" panose="02020603050405020304" pitchFamily="18" charset="0"/>
                <a:cs typeface="Times New Roman" panose="02020603050405020304" pitchFamily="18" charset="0"/>
              </a:rPr>
            </a:br>
            <a:r>
              <a:rPr lang="en-US" sz="2800" smtClean="0">
                <a:latin typeface="Times New Roman" panose="02020603050405020304" pitchFamily="18" charset="0"/>
                <a:cs typeface="Times New Roman" panose="02020603050405020304" pitchFamily="18" charset="0"/>
              </a:rPr>
              <a:t>"Rate of change of flux linkage with respect to time is directly proportional to the induced EMF in a conductor or coil". </a:t>
            </a:r>
            <a:endParaRPr lang="en-US" sz="28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br>
              <a:rPr lang="en-US" b="1" dirty="0" smtClean="0"/>
            </a:br>
            <a:r>
              <a:rPr lang="en-US" sz="4000" b="1" dirty="0" smtClean="0">
                <a:solidFill>
                  <a:srgbClr val="FF0000"/>
                </a:solidFill>
                <a:latin typeface="Times New Roman" panose="02020603050405020304" pitchFamily="18" charset="0"/>
                <a:cs typeface="Times New Roman" panose="02020603050405020304" pitchFamily="18" charset="0"/>
              </a:rPr>
              <a:t>Basic Theory of Transformer</a:t>
            </a:r>
            <a:br>
              <a:rPr lang="en-US" sz="4000" b="1" dirty="0" smtClean="0">
                <a:solidFill>
                  <a:srgbClr val="FF0000"/>
                </a:solidFill>
                <a:latin typeface="Times New Roman" panose="02020603050405020304" pitchFamily="18" charset="0"/>
                <a:cs typeface="Times New Roman" panose="02020603050405020304" pitchFamily="18" charset="0"/>
              </a:rPr>
            </a:br>
            <a:endParaRPr lang="en-US" sz="4000" dirty="0">
              <a:solidFill>
                <a:srgbClr val="FF0000"/>
              </a:solidFill>
              <a:latin typeface="Times New Roman" panose="02020603050405020304" pitchFamily="18" charset="0"/>
              <a:cs typeface="Times New Roman" panose="02020603050405020304" pitchFamily="18" charset="0"/>
            </a:endParaRPr>
          </a:p>
        </p:txBody>
      </p:sp>
      <p:pic>
        <p:nvPicPr>
          <p:cNvPr id="6147" name="Picture 2"/>
          <p:cNvPicPr>
            <a:picLocks noGrp="1" noChangeAspect="1" noChangeArrowheads="1"/>
          </p:cNvPicPr>
          <p:nvPr>
            <p:ph idx="1"/>
          </p:nvPr>
        </p:nvPicPr>
        <p:blipFill>
          <a:blip r:embed="rId1" cstate="print"/>
          <a:srcRect/>
          <a:stretch>
            <a:fillRect/>
          </a:stretch>
        </p:blipFill>
        <p:spPr>
          <a:xfrm>
            <a:off x="1143000" y="1752600"/>
            <a:ext cx="6705600" cy="3962400"/>
          </a:xfr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228600" y="381000"/>
            <a:ext cx="8458200" cy="6096000"/>
          </a:xfrm>
        </p:spPr>
        <p:txBody>
          <a:bodyPr/>
          <a:lstStyle/>
          <a:p>
            <a:pPr algn="just" eaLnBrk="1" hangingPunct="1"/>
            <a:r>
              <a:rPr lang="en-US" sz="2400" smtClean="0">
                <a:latin typeface="Times New Roman" panose="02020603050405020304" pitchFamily="18" charset="0"/>
                <a:cs typeface="Times New Roman" panose="02020603050405020304" pitchFamily="18" charset="0"/>
              </a:rPr>
              <a:t>The alternating </a:t>
            </a:r>
            <a:r>
              <a:rPr lang="en-US" sz="2400" smtClean="0">
                <a:latin typeface="Times New Roman" panose="02020603050405020304" pitchFamily="18" charset="0"/>
                <a:cs typeface="Times New Roman" panose="02020603050405020304" pitchFamily="18" charset="0"/>
                <a:hlinkClick r:id="rId1" tooltip="Electric Current"/>
              </a:rPr>
              <a:t>current</a:t>
            </a:r>
            <a:r>
              <a:rPr lang="en-US" sz="2400" smtClean="0">
                <a:latin typeface="Times New Roman" panose="02020603050405020304" pitchFamily="18" charset="0"/>
                <a:cs typeface="Times New Roman" panose="02020603050405020304" pitchFamily="18" charset="0"/>
              </a:rPr>
              <a:t> through the winding (Primary) produces a continually changing flux or alternating flux that surrounds the winding.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If any other winding (secondary) is brought nearer to the previous one, obviously some portion of this flux will link with the second.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As this flux is continually changing in its amplitude and direction, there must be a change in flux linkage in the second winding or coil. According to </a:t>
            </a:r>
            <a:r>
              <a:rPr lang="en-US" sz="2400" smtClean="0">
                <a:latin typeface="Times New Roman" panose="02020603050405020304" pitchFamily="18" charset="0"/>
                <a:cs typeface="Times New Roman" panose="02020603050405020304" pitchFamily="18" charset="0"/>
                <a:hlinkClick r:id="rId2"/>
              </a:rPr>
              <a:t>Faraday's law of electromagnetic induction</a:t>
            </a:r>
            <a:r>
              <a:rPr lang="en-US" sz="2400" smtClean="0">
                <a:latin typeface="Times New Roman" panose="02020603050405020304" pitchFamily="18" charset="0"/>
                <a:cs typeface="Times New Roman" panose="02020603050405020304" pitchFamily="18" charset="0"/>
              </a:rPr>
              <a:t>, there must be an EMF induced in the second.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If the circuit of the later winding is closed, there must be an </a:t>
            </a:r>
            <a:r>
              <a:rPr lang="en-US" sz="2400" smtClean="0">
                <a:latin typeface="Times New Roman" panose="02020603050405020304" pitchFamily="18" charset="0"/>
                <a:cs typeface="Times New Roman" panose="02020603050405020304" pitchFamily="18" charset="0"/>
                <a:hlinkClick r:id="rId1" tooltip="Electric Current"/>
              </a:rPr>
              <a:t>current</a:t>
            </a:r>
            <a:r>
              <a:rPr lang="en-US" sz="2400" smtClean="0">
                <a:latin typeface="Times New Roman" panose="02020603050405020304" pitchFamily="18" charset="0"/>
                <a:cs typeface="Times New Roman" panose="02020603050405020304" pitchFamily="18" charset="0"/>
              </a:rPr>
              <a:t> flowing through it. This is the simplest form of </a:t>
            </a:r>
            <a:r>
              <a:rPr lang="en-US" sz="2400" smtClean="0">
                <a:latin typeface="Times New Roman" panose="02020603050405020304" pitchFamily="18" charset="0"/>
                <a:cs typeface="Times New Roman" panose="02020603050405020304" pitchFamily="18" charset="0"/>
                <a:hlinkClick r:id="rId3"/>
              </a:rPr>
              <a:t>electrical power transformer</a:t>
            </a:r>
            <a:r>
              <a:rPr lang="en-US" sz="2400" smtClean="0">
                <a:latin typeface="Times New Roman" panose="02020603050405020304" pitchFamily="18" charset="0"/>
                <a:cs typeface="Times New Roman" panose="02020603050405020304" pitchFamily="18" charset="0"/>
              </a:rPr>
              <a:t> and this is the most basic of </a:t>
            </a:r>
            <a:r>
              <a:rPr lang="en-US" sz="2400" b="1" smtClean="0">
                <a:latin typeface="Times New Roman" panose="02020603050405020304" pitchFamily="18" charset="0"/>
                <a:cs typeface="Times New Roman" panose="02020603050405020304" pitchFamily="18" charset="0"/>
              </a:rPr>
              <a:t>working principle of transformer</a:t>
            </a:r>
            <a:r>
              <a:rPr lang="en-US" sz="2400" smtClean="0">
                <a:latin typeface="Times New Roman" panose="02020603050405020304" pitchFamily="18" charset="0"/>
                <a:cs typeface="Times New Roman" panose="02020603050405020304" pitchFamily="18" charset="0"/>
              </a:rPr>
              <a:t>.</a:t>
            </a: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066800"/>
            <a:ext cx="8229600" cy="4953000"/>
          </a:xfrm>
        </p:spPr>
        <p:txBody>
          <a:bodyPr/>
          <a:lstStyle/>
          <a:p>
            <a:pPr eaLnBrk="1" hangingPunct="1">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So, Finally </a:t>
            </a:r>
            <a:endParaRPr lang="en-US" sz="2400" b="1"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A transformer is a device which transfers electrical energy (power) from one voltage level to another voltage level.</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Unlike in rotating machines, there is no energy conversion.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A transformer is a static device and all currents and voltages are AC.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The transfer of energy takes place through the magnetic induction.</a:t>
            </a:r>
            <a:endParaRPr lang="en-US" sz="2400" smtClean="0">
              <a:latin typeface="Times New Roman" panose="02020603050405020304" pitchFamily="18" charset="0"/>
              <a:cs typeface="Times New Roman" panose="02020603050405020304" pitchFamily="18" charset="0"/>
            </a:endParaRPr>
          </a:p>
          <a:p>
            <a:pPr eaLnBrk="1" hangingPunct="1"/>
            <a:endParaRPr lang="en-US"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rtlCol="0">
            <a:normAutofit fontScale="90000"/>
          </a:bodyPr>
          <a:lstStyle/>
          <a:p>
            <a:pPr eaLnBrk="1" fontAlgn="auto" hangingPunct="1">
              <a:spcAft>
                <a:spcPts val="0"/>
              </a:spcAft>
              <a:defRPr/>
            </a:pPr>
            <a:br>
              <a:rPr lang="en-US" b="1" dirty="0" smtClean="0"/>
            </a:br>
            <a:r>
              <a:rPr lang="en-US" sz="4000" b="1" dirty="0" smtClean="0">
                <a:solidFill>
                  <a:srgbClr val="FF0000"/>
                </a:solidFill>
                <a:latin typeface="Times New Roman" panose="02020603050405020304" pitchFamily="18" charset="0"/>
                <a:cs typeface="Times New Roman" panose="02020603050405020304" pitchFamily="18" charset="0"/>
              </a:rPr>
              <a:t>Main </a:t>
            </a:r>
            <a:r>
              <a:rPr lang="en-US" sz="4000" b="1" dirty="0">
                <a:solidFill>
                  <a:srgbClr val="FF0000"/>
                </a:solidFill>
                <a:latin typeface="Times New Roman" panose="02020603050405020304" pitchFamily="18" charset="0"/>
                <a:cs typeface="Times New Roman" panose="02020603050405020304" pitchFamily="18" charset="0"/>
              </a:rPr>
              <a:t>Constructional Parts of Transformer</a:t>
            </a:r>
            <a:br>
              <a:rPr lang="en-US" sz="4000" b="1" dirty="0">
                <a:solidFill>
                  <a:srgbClr val="FF0000"/>
                </a:solidFill>
                <a:latin typeface="Times New Roman" panose="02020603050405020304" pitchFamily="18" charset="0"/>
                <a:cs typeface="Times New Roman" panose="02020603050405020304" pitchFamily="18" charset="0"/>
              </a:rPr>
            </a:b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9219" name="Content Placeholder 2"/>
          <p:cNvSpPr>
            <a:spLocks noGrp="1"/>
          </p:cNvSpPr>
          <p:nvPr>
            <p:ph idx="1"/>
          </p:nvPr>
        </p:nvSpPr>
        <p:spPr>
          <a:xfrm>
            <a:off x="304800" y="1371600"/>
            <a:ext cx="8382000" cy="5181600"/>
          </a:xfrm>
        </p:spPr>
        <p:txBody>
          <a:bodyPr/>
          <a:lstStyle/>
          <a:p>
            <a:pP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The three main parts of a transformer are given below:</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b="1" smtClean="0">
                <a:solidFill>
                  <a:srgbClr val="00B050"/>
                </a:solidFill>
                <a:latin typeface="Times New Roman" panose="02020603050405020304" pitchFamily="18" charset="0"/>
                <a:cs typeface="Times New Roman" panose="02020603050405020304" pitchFamily="18" charset="0"/>
              </a:rPr>
              <a:t>Primary Winding of transformer </a:t>
            </a:r>
            <a:r>
              <a:rPr lang="en-US" sz="2400" smtClean="0">
                <a:latin typeface="Times New Roman" panose="02020603050405020304" pitchFamily="18" charset="0"/>
                <a:cs typeface="Times New Roman" panose="02020603050405020304" pitchFamily="18" charset="0"/>
              </a:rPr>
              <a:t>- which produces </a:t>
            </a:r>
            <a:r>
              <a:rPr lang="en-US" sz="2400" smtClean="0">
                <a:latin typeface="Times New Roman" panose="02020603050405020304" pitchFamily="18" charset="0"/>
                <a:cs typeface="Times New Roman" panose="02020603050405020304" pitchFamily="18" charset="0"/>
                <a:hlinkClick r:id="rId1" tooltip="Magnetic Flux or Magnetic Lines of Force"/>
              </a:rPr>
              <a:t>magnetic flux</a:t>
            </a:r>
            <a:r>
              <a:rPr lang="en-US" sz="2400" smtClean="0">
                <a:latin typeface="Times New Roman" panose="02020603050405020304" pitchFamily="18" charset="0"/>
                <a:cs typeface="Times New Roman" panose="02020603050405020304" pitchFamily="18" charset="0"/>
              </a:rPr>
              <a:t> when it is connected to electrical source.</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b="1" smtClean="0">
                <a:solidFill>
                  <a:srgbClr val="00B050"/>
                </a:solidFill>
                <a:latin typeface="Times New Roman" panose="02020603050405020304" pitchFamily="18" charset="0"/>
                <a:cs typeface="Times New Roman" panose="02020603050405020304" pitchFamily="18" charset="0"/>
              </a:rPr>
              <a:t>Laminated Magnetic Core of transformer </a:t>
            </a:r>
            <a:r>
              <a:rPr lang="en-US" sz="2400" smtClean="0">
                <a:latin typeface="Times New Roman" panose="02020603050405020304" pitchFamily="18" charset="0"/>
                <a:cs typeface="Times New Roman" panose="02020603050405020304" pitchFamily="18" charset="0"/>
              </a:rPr>
              <a:t>- the </a:t>
            </a:r>
            <a:r>
              <a:rPr lang="en-US" sz="2400" smtClean="0">
                <a:latin typeface="Times New Roman" panose="02020603050405020304" pitchFamily="18" charset="0"/>
                <a:cs typeface="Times New Roman" panose="02020603050405020304" pitchFamily="18" charset="0"/>
                <a:hlinkClick r:id="rId1" tooltip="Magnetic Flux or Magnetic Lines of Force"/>
              </a:rPr>
              <a:t>magnetic flux</a:t>
            </a:r>
            <a:r>
              <a:rPr lang="en-US" sz="2400" smtClean="0">
                <a:latin typeface="Times New Roman" panose="02020603050405020304" pitchFamily="18" charset="0"/>
                <a:cs typeface="Times New Roman" panose="02020603050405020304" pitchFamily="18" charset="0"/>
              </a:rPr>
              <a:t> produced by the primary winding, that will pass through this low reluctance path linked with secondary winding and create a closed </a:t>
            </a:r>
            <a:r>
              <a:rPr lang="en-US" sz="2400" smtClean="0">
                <a:latin typeface="Times New Roman" panose="02020603050405020304" pitchFamily="18" charset="0"/>
                <a:cs typeface="Times New Roman" panose="02020603050405020304" pitchFamily="18" charset="0"/>
                <a:hlinkClick r:id="rId1" tooltip="Magnetic Circuit "/>
              </a:rPr>
              <a:t>magnetic circuit</a:t>
            </a:r>
            <a:r>
              <a:rPr lang="en-US" sz="2400" smtClean="0">
                <a:latin typeface="Times New Roman" panose="02020603050405020304" pitchFamily="18" charset="0"/>
                <a:cs typeface="Times New Roman" panose="02020603050405020304" pitchFamily="18" charset="0"/>
              </a:rPr>
              <a:t>.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b="1" smtClean="0">
                <a:solidFill>
                  <a:srgbClr val="00B050"/>
                </a:solidFill>
                <a:latin typeface="Times New Roman" panose="02020603050405020304" pitchFamily="18" charset="0"/>
                <a:cs typeface="Times New Roman" panose="02020603050405020304" pitchFamily="18" charset="0"/>
              </a:rPr>
              <a:t>Secondary Winding of transformer</a:t>
            </a:r>
            <a:r>
              <a:rPr lang="en-US" sz="2400" smtClean="0">
                <a:solidFill>
                  <a:srgbClr val="00B050"/>
                </a:solidFill>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 the flux, produced by primary winding, passes through the core, will link with the secondary winding. This winding also wounds on the same core and gives the desired </a:t>
            </a:r>
            <a:r>
              <a:rPr lang="en-US" sz="2400" u="sng" smtClean="0">
                <a:solidFill>
                  <a:srgbClr val="2B04BC"/>
                </a:solidFill>
                <a:latin typeface="Times New Roman" panose="02020603050405020304" pitchFamily="18" charset="0"/>
                <a:cs typeface="Times New Roman" panose="02020603050405020304" pitchFamily="18" charset="0"/>
              </a:rPr>
              <a:t>output</a:t>
            </a:r>
            <a:r>
              <a:rPr lang="en-US" sz="2400" smtClean="0">
                <a:latin typeface="Times New Roman" panose="02020603050405020304" pitchFamily="18" charset="0"/>
                <a:cs typeface="Times New Roman" panose="02020603050405020304" pitchFamily="18" charset="0"/>
              </a:rPr>
              <a:t> of the transformer.</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fontScale="90000"/>
          </a:bodyPr>
          <a:lstStyle/>
          <a:p>
            <a:pPr eaLnBrk="1" fontAlgn="auto" hangingPunct="1">
              <a:spcAft>
                <a:spcPts val="0"/>
              </a:spcAft>
              <a:defRPr/>
            </a:pPr>
            <a:br>
              <a:rPr lang="en-US" dirty="0" smtClean="0"/>
            </a:br>
            <a:r>
              <a:rPr lang="en-US" sz="4000" b="1" dirty="0" smtClean="0">
                <a:solidFill>
                  <a:srgbClr val="FF0000"/>
                </a:solidFill>
                <a:latin typeface="Times New Roman" panose="02020603050405020304" pitchFamily="18" charset="0"/>
                <a:cs typeface="Times New Roman" panose="02020603050405020304" pitchFamily="18" charset="0"/>
              </a:rPr>
              <a:t>Construction of the Core</a:t>
            </a:r>
            <a:br>
              <a:rPr lang="en-US" sz="4000" b="1" dirty="0" smtClean="0">
                <a:solidFill>
                  <a:srgbClr val="FF0000"/>
                </a:solidFill>
                <a:latin typeface="Times New Roman" panose="02020603050405020304" pitchFamily="18" charset="0"/>
                <a:cs typeface="Times New Roman" panose="02020603050405020304" pitchFamily="18" charset="0"/>
              </a:rPr>
            </a:br>
            <a:endParaRPr lang="en-US" sz="4000" b="1" dirty="0">
              <a:solidFill>
                <a:srgbClr val="FF0000"/>
              </a:solidFill>
              <a:latin typeface="Times New Roman" panose="02020603050405020304" pitchFamily="18" charset="0"/>
              <a:cs typeface="Times New Roman" panose="02020603050405020304" pitchFamily="18" charset="0"/>
            </a:endParaRPr>
          </a:p>
        </p:txBody>
      </p:sp>
      <p:sp>
        <p:nvSpPr>
          <p:cNvPr id="10243" name="Content Placeholder 2"/>
          <p:cNvSpPr>
            <a:spLocks noGrp="1"/>
          </p:cNvSpPr>
          <p:nvPr>
            <p:ph idx="1"/>
          </p:nvPr>
        </p:nvSpPr>
        <p:spPr>
          <a:xfrm>
            <a:off x="228600" y="1371600"/>
            <a:ext cx="8458200" cy="4800600"/>
          </a:xfrm>
        </p:spPr>
        <p:txBody>
          <a:bodyPr/>
          <a:lstStyle/>
          <a:p>
            <a:pPr algn="just" eaLnBrk="1" hangingPunct="1"/>
            <a:r>
              <a:rPr lang="en-US" sz="2600" smtClean="0">
                <a:latin typeface="Times New Roman" panose="02020603050405020304" pitchFamily="18" charset="0"/>
                <a:cs typeface="Times New Roman" panose="02020603050405020304" pitchFamily="18" charset="0"/>
              </a:rPr>
              <a:t>The two most common and basic designs of transformer construction are the </a:t>
            </a:r>
            <a:r>
              <a:rPr lang="en-US" sz="2600" b="1" smtClean="0">
                <a:latin typeface="Times New Roman" panose="02020603050405020304" pitchFamily="18" charset="0"/>
                <a:cs typeface="Times New Roman" panose="02020603050405020304" pitchFamily="18" charset="0"/>
              </a:rPr>
              <a:t>core type transformer</a:t>
            </a:r>
            <a:r>
              <a:rPr lang="en-US" sz="2600" smtClean="0">
                <a:latin typeface="Times New Roman" panose="02020603050405020304" pitchFamily="18" charset="0"/>
                <a:cs typeface="Times New Roman" panose="02020603050405020304" pitchFamily="18" charset="0"/>
              </a:rPr>
              <a:t> and the </a:t>
            </a:r>
            <a:r>
              <a:rPr lang="en-US" sz="2600" b="1" smtClean="0">
                <a:latin typeface="Times New Roman" panose="02020603050405020304" pitchFamily="18" charset="0"/>
                <a:cs typeface="Times New Roman" panose="02020603050405020304" pitchFamily="18" charset="0"/>
              </a:rPr>
              <a:t>Shell-type transformer</a:t>
            </a:r>
            <a:r>
              <a:rPr lang="en-US" sz="2600" smtClean="0">
                <a:latin typeface="Times New Roman" panose="02020603050405020304" pitchFamily="18" charset="0"/>
                <a:cs typeface="Times New Roman" panose="02020603050405020304" pitchFamily="18" charset="0"/>
              </a:rPr>
              <a:t>.</a:t>
            </a:r>
            <a:endParaRPr lang="en-US" sz="2600" smtClean="0">
              <a:latin typeface="Times New Roman" panose="02020603050405020304" pitchFamily="18" charset="0"/>
              <a:cs typeface="Times New Roman" panose="02020603050405020304" pitchFamily="18" charset="0"/>
            </a:endParaRPr>
          </a:p>
          <a:p>
            <a:pPr algn="just" eaLnBrk="1" hangingPunct="1"/>
            <a:r>
              <a:rPr lang="en-US" sz="2600" smtClean="0">
                <a:latin typeface="Times New Roman" panose="02020603050405020304" pitchFamily="18" charset="0"/>
                <a:cs typeface="Times New Roman" panose="02020603050405020304" pitchFamily="18" charset="0"/>
              </a:rPr>
              <a:t>In the “core” type (core form) transformer, the primary and secondary windings are wound outside and surround the core ring. In the “shell type” (shell form) transformer, the primary and secondary windings pass inside the steel magnetic circuit (core) which forms a shell around the windings as shown below.</a:t>
            </a:r>
            <a:endParaRPr lang="en-US" sz="2600" smtClean="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F:\et\Core-Type-and-Shell-Type-Transformer-Winding.jpg"/>
          <p:cNvPicPr>
            <a:picLocks noGrp="1" noChangeAspect="1" noChangeArrowheads="1"/>
          </p:cNvPicPr>
          <p:nvPr>
            <p:ph idx="1"/>
          </p:nvPr>
        </p:nvPicPr>
        <p:blipFill>
          <a:blip r:embed="rId1" cstate="print"/>
          <a:srcRect/>
          <a:stretch>
            <a:fillRect/>
          </a:stretch>
        </p:blipFill>
        <p:spPr>
          <a:xfrm>
            <a:off x="288925" y="1447800"/>
            <a:ext cx="8197850" cy="4040188"/>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ChangeArrowheads="1"/>
          </p:cNvSpPr>
          <p:nvPr/>
        </p:nvSpPr>
        <p:spPr bwMode="auto">
          <a:xfrm>
            <a:off x="228600" y="457200"/>
            <a:ext cx="8686800" cy="5632450"/>
          </a:xfrm>
          <a:prstGeom prst="rect">
            <a:avLst/>
          </a:prstGeom>
          <a:noFill/>
          <a:ln w="9525">
            <a:noFill/>
            <a:miter lim="800000"/>
          </a:ln>
        </p:spPr>
        <p:txBody>
          <a:bodyPr>
            <a:spAutoFit/>
          </a:bodyPr>
          <a:lstStyle/>
          <a:p>
            <a:pPr algn="just"/>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In the core type transformer construction, half of the primary and secondary windings are placed around each leg (or limb) of the transformers magnetic circuit as shown above to reduce the leakage flux. Here winding insulated by a part of core area.</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In small size core type transformers, Rectangular core is used and for large size round/ cylindrical core is used.</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Shell type transformer core involves the use of double magnetic circuit.</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Both the windings are placed around the central limb, the other two limbs are acting simply as a low reluctance flux path. Here core is surrounded by winding.</a:t>
            </a: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The core type is generally more suitable for high voltage and small output, While the shell  type is suitable for low voltage and high output.</a:t>
            </a:r>
            <a:endParaRPr 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74638"/>
            <a:ext cx="8229600" cy="1630362"/>
          </a:xfrm>
        </p:spPr>
        <p:txBody>
          <a:bodyPr/>
          <a:lstStyle/>
          <a:p>
            <a:pPr eaLnBrk="1" hangingPunct="1"/>
            <a:r>
              <a:rPr lang="en-US" sz="3600" b="1" smtClean="0">
                <a:solidFill>
                  <a:srgbClr val="FF0000"/>
                </a:solidFill>
                <a:latin typeface="Times New Roman" panose="02020603050405020304" pitchFamily="18" charset="0"/>
                <a:cs typeface="Times New Roman" panose="02020603050405020304" pitchFamily="18" charset="0"/>
              </a:rPr>
              <a:t>Types of Transformers</a:t>
            </a:r>
            <a:br>
              <a:rPr lang="en-US" sz="4000" smtClean="0">
                <a:solidFill>
                  <a:srgbClr val="C00000"/>
                </a:solidFill>
              </a:rPr>
            </a:br>
            <a:r>
              <a:rPr lang="en-US" sz="4000" smtClean="0">
                <a:solidFill>
                  <a:srgbClr val="2B04BC"/>
                </a:solidFill>
              </a:rPr>
              <a:t> </a:t>
            </a:r>
            <a:r>
              <a:rPr lang="en-US" sz="3600" smtClean="0">
                <a:solidFill>
                  <a:srgbClr val="2B04BC"/>
                </a:solidFill>
                <a:latin typeface="Times New Roman" panose="02020603050405020304" pitchFamily="18" charset="0"/>
                <a:cs typeface="Times New Roman" panose="02020603050405020304" pitchFamily="18" charset="0"/>
              </a:rPr>
              <a:t>Based on voltage step up &amp; down</a:t>
            </a:r>
            <a:endParaRPr lang="en-US" sz="3600" smtClean="0">
              <a:solidFill>
                <a:srgbClr val="2B04BC"/>
              </a:solidFill>
              <a:latin typeface="Times New Roman" panose="02020603050405020304" pitchFamily="18" charset="0"/>
              <a:cs typeface="Times New Roman" panose="02020603050405020304" pitchFamily="18" charset="0"/>
            </a:endParaRPr>
          </a:p>
        </p:txBody>
      </p:sp>
      <p:pic>
        <p:nvPicPr>
          <p:cNvPr id="13315" name="Picture 5"/>
          <p:cNvPicPr>
            <a:picLocks noChangeAspect="1" noChangeArrowheads="1"/>
          </p:cNvPicPr>
          <p:nvPr/>
        </p:nvPicPr>
        <p:blipFill>
          <a:blip r:embed="rId1" cstate="print"/>
          <a:srcRect/>
          <a:stretch>
            <a:fillRect/>
          </a:stretch>
        </p:blipFill>
        <p:spPr bwMode="auto">
          <a:xfrm>
            <a:off x="1752600" y="2057400"/>
            <a:ext cx="5840413" cy="3857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152400"/>
            <a:ext cx="8229600" cy="609600"/>
          </a:xfrm>
        </p:spPr>
        <p:txBody>
          <a:bodyPr/>
          <a:lstStyle/>
          <a:p>
            <a:pPr eaLnBrk="1" hangingPunct="1"/>
            <a:r>
              <a:rPr lang="en-US" sz="3600" smtClean="0">
                <a:solidFill>
                  <a:srgbClr val="FF0000"/>
                </a:solidFill>
                <a:latin typeface="Times New Roman" panose="02020603050405020304" pitchFamily="18" charset="0"/>
                <a:cs typeface="Times New Roman" panose="02020603050405020304" pitchFamily="18" charset="0"/>
              </a:rPr>
              <a:t>EMF EQUATION</a:t>
            </a:r>
            <a:endParaRPr lang="en-US" sz="3600" smtClean="0">
              <a:solidFill>
                <a:srgbClr val="FF0000"/>
              </a:solidFill>
              <a:latin typeface="Times New Roman" panose="02020603050405020304" pitchFamily="18" charset="0"/>
              <a:cs typeface="Times New Roman" panose="02020603050405020304" pitchFamily="18" charset="0"/>
            </a:endParaRPr>
          </a:p>
        </p:txBody>
      </p:sp>
      <p:sp>
        <p:nvSpPr>
          <p:cNvPr id="14339" name="Content Placeholder 2"/>
          <p:cNvSpPr>
            <a:spLocks noGrp="1"/>
          </p:cNvSpPr>
          <p:nvPr>
            <p:ph idx="1"/>
          </p:nvPr>
        </p:nvSpPr>
        <p:spPr>
          <a:xfrm>
            <a:off x="152400" y="838200"/>
            <a:ext cx="8763000" cy="5562600"/>
          </a:xfrm>
        </p:spPr>
        <p:txBody>
          <a:bodyPr/>
          <a:lstStyle/>
          <a:p>
            <a:pP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Let</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N</a:t>
            </a:r>
            <a:r>
              <a:rPr lang="en-US" sz="2400" baseline="-25000" smtClean="0">
                <a:latin typeface="Times New Roman" panose="02020603050405020304" pitchFamily="18" charset="0"/>
                <a:cs typeface="Times New Roman" panose="02020603050405020304" pitchFamily="18" charset="0"/>
              </a:rPr>
              <a:t>1 </a:t>
            </a:r>
            <a:r>
              <a:rPr lang="en-US" sz="2400" smtClean="0">
                <a:latin typeface="Times New Roman" panose="02020603050405020304" pitchFamily="18" charset="0"/>
                <a:cs typeface="Times New Roman" panose="02020603050405020304" pitchFamily="18" charset="0"/>
              </a:rPr>
              <a:t>= Number of turns in primary windings.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N</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 Number of turns in second windings.</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m</a:t>
            </a:r>
            <a:r>
              <a:rPr lang="en-US" sz="2400" smtClean="0">
                <a:latin typeface="Times New Roman" panose="02020603050405020304" pitchFamily="18" charset="0"/>
                <a:cs typeface="Times New Roman" panose="02020603050405020304" pitchFamily="18" charset="0"/>
              </a:rPr>
              <a:t>= Maximum flux in core.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m</a:t>
            </a:r>
            <a:r>
              <a:rPr lang="en-US" sz="2400" smtClean="0">
                <a:latin typeface="Times New Roman" panose="02020603050405020304" pitchFamily="18" charset="0"/>
                <a:cs typeface="Times New Roman" panose="02020603050405020304" pitchFamily="18" charset="0"/>
              </a:rPr>
              <a:t> = B</a:t>
            </a:r>
            <a:r>
              <a:rPr lang="en-US" sz="2400" baseline="-25000" smtClean="0">
                <a:latin typeface="Times New Roman" panose="02020603050405020304" pitchFamily="18" charset="0"/>
                <a:cs typeface="Times New Roman" panose="02020603050405020304" pitchFamily="18" charset="0"/>
              </a:rPr>
              <a:t>m*</a:t>
            </a:r>
            <a:r>
              <a:rPr lang="en-US" sz="2400" smtClean="0">
                <a:latin typeface="Times New Roman" panose="02020603050405020304" pitchFamily="18" charset="0"/>
                <a:cs typeface="Times New Roman" panose="02020603050405020304" pitchFamily="18" charset="0"/>
              </a:rPr>
              <a:t>A</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f = Frequency of A.C input in Hz</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    As shown in fig flux increases from its zero value to maximum value </a:t>
            </a:r>
            <a:r>
              <a:rPr lang="en-US" sz="2400" b="1" smtClean="0">
                <a:latin typeface="Times New Roman" panose="02020603050405020304" pitchFamily="18" charset="0"/>
                <a:cs typeface="Times New Roman" panose="02020603050405020304" pitchFamily="18" charset="0"/>
              </a:rPr>
              <a:t>Ø</a:t>
            </a:r>
            <a:r>
              <a:rPr lang="en-US" sz="2400" b="1" baseline="-25000" smtClean="0">
                <a:latin typeface="Times New Roman" panose="02020603050405020304" pitchFamily="18" charset="0"/>
                <a:cs typeface="Times New Roman" panose="02020603050405020304" pitchFamily="18" charset="0"/>
              </a:rPr>
              <a:t>m</a:t>
            </a:r>
            <a:r>
              <a:rPr lang="en-US" sz="2400" smtClean="0">
                <a:latin typeface="Times New Roman" panose="02020603050405020304" pitchFamily="18" charset="0"/>
                <a:cs typeface="Times New Roman" panose="02020603050405020304" pitchFamily="18" charset="0"/>
              </a:rPr>
              <a:t>  in one quarter of the cycle i.e in ¼ second.</a:t>
            </a:r>
            <a:endParaRPr lang="en-US" sz="2400" smtClean="0">
              <a:latin typeface="Times New Roman" panose="02020603050405020304" pitchFamily="18" charset="0"/>
              <a:cs typeface="Times New Roman" panose="02020603050405020304" pitchFamily="18" charset="0"/>
            </a:endParaRPr>
          </a:p>
          <a:p>
            <a:pPr eaLnBrk="1" hangingPunct="1"/>
            <a:r>
              <a:rPr lang="en-US" sz="2400" smtClean="0">
                <a:latin typeface="Times New Roman" panose="02020603050405020304" pitchFamily="18" charset="0"/>
                <a:cs typeface="Times New Roman" panose="02020603050405020304" pitchFamily="18" charset="0"/>
              </a:rPr>
              <a:t>Average rate of change of flux = </a:t>
            </a:r>
            <a:r>
              <a:rPr lang="en-US" sz="2400" b="1" smtClean="0">
                <a:solidFill>
                  <a:srgbClr val="3333FF"/>
                </a:solidFill>
                <a:latin typeface="Times New Roman" panose="02020603050405020304" pitchFamily="18" charset="0"/>
                <a:cs typeface="Times New Roman" panose="02020603050405020304" pitchFamily="18" charset="0"/>
              </a:rPr>
              <a:t>(Ø</a:t>
            </a:r>
            <a:r>
              <a:rPr lang="en-US" sz="2400" b="1" baseline="-25000" smtClean="0">
                <a:solidFill>
                  <a:srgbClr val="3333FF"/>
                </a:solidFill>
                <a:latin typeface="Times New Roman" panose="02020603050405020304" pitchFamily="18" charset="0"/>
                <a:cs typeface="Times New Roman" panose="02020603050405020304" pitchFamily="18" charset="0"/>
              </a:rPr>
              <a:t>m </a:t>
            </a:r>
            <a:r>
              <a:rPr lang="en-US" sz="2400" b="1" smtClean="0">
                <a:solidFill>
                  <a:srgbClr val="3333FF"/>
                </a:solidFill>
                <a:latin typeface="Times New Roman" panose="02020603050405020304" pitchFamily="18" charset="0"/>
                <a:cs typeface="Times New Roman" panose="02020603050405020304" pitchFamily="18" charset="0"/>
              </a:rPr>
              <a:t>/(1/(4f) )= 4f Ø</a:t>
            </a:r>
            <a:r>
              <a:rPr lang="en-US" sz="2400" b="1" baseline="-25000" smtClean="0">
                <a:solidFill>
                  <a:srgbClr val="3333FF"/>
                </a:solidFill>
                <a:latin typeface="Times New Roman" panose="02020603050405020304" pitchFamily="18" charset="0"/>
                <a:cs typeface="Times New Roman" panose="02020603050405020304" pitchFamily="18" charset="0"/>
              </a:rPr>
              <a:t>m</a:t>
            </a:r>
            <a:r>
              <a:rPr lang="en-US" sz="2400" b="1" smtClean="0">
                <a:solidFill>
                  <a:srgbClr val="3333FF"/>
                </a:solidFill>
                <a:latin typeface="Times New Roman" panose="02020603050405020304" pitchFamily="18" charset="0"/>
                <a:cs typeface="Times New Roman" panose="02020603050405020304" pitchFamily="18" charset="0"/>
              </a:rPr>
              <a:t> Wb/s or volt. i.e., </a:t>
            </a:r>
            <a:r>
              <a:rPr lang="en-US" sz="2400" smtClean="0">
                <a:solidFill>
                  <a:srgbClr val="00B0F0"/>
                </a:solidFill>
                <a:latin typeface="Times New Roman" panose="02020603050405020304" pitchFamily="18" charset="0"/>
                <a:cs typeface="Times New Roman" panose="02020603050405020304" pitchFamily="18" charset="0"/>
              </a:rPr>
              <a:t>Average e.m.f /per turn = 4f </a:t>
            </a:r>
            <a:r>
              <a:rPr lang="en-US" sz="2400" b="1" smtClean="0">
                <a:solidFill>
                  <a:srgbClr val="00B0F0"/>
                </a:solidFill>
                <a:latin typeface="Times New Roman" panose="02020603050405020304" pitchFamily="18" charset="0"/>
                <a:cs typeface="Times New Roman" panose="02020603050405020304" pitchFamily="18" charset="0"/>
              </a:rPr>
              <a:t>Ø</a:t>
            </a:r>
            <a:r>
              <a:rPr lang="en-US" sz="2400" b="1" baseline="-25000" smtClean="0">
                <a:solidFill>
                  <a:srgbClr val="00B0F0"/>
                </a:solidFill>
                <a:latin typeface="Times New Roman" panose="02020603050405020304" pitchFamily="18" charset="0"/>
                <a:cs typeface="Times New Roman" panose="02020603050405020304" pitchFamily="18" charset="0"/>
              </a:rPr>
              <a:t>m </a:t>
            </a:r>
            <a:r>
              <a:rPr lang="en-US" sz="2400" smtClean="0">
                <a:solidFill>
                  <a:srgbClr val="00B0F0"/>
                </a:solidFill>
                <a:latin typeface="Times New Roman" panose="02020603050405020304" pitchFamily="18" charset="0"/>
                <a:cs typeface="Times New Roman" panose="02020603050405020304" pitchFamily="18" charset="0"/>
              </a:rPr>
              <a:t>volt.</a:t>
            </a:r>
            <a:endParaRPr lang="en-US" sz="2400" smtClean="0">
              <a:solidFill>
                <a:srgbClr val="00B0F0"/>
              </a:solidFill>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  If flux</a:t>
            </a:r>
            <a:r>
              <a:rPr lang="en-US" sz="2400" b="1"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Ø</a:t>
            </a:r>
            <a:r>
              <a:rPr lang="en-US" sz="2400" baseline="-25000" smtClean="0">
                <a:latin typeface="Times New Roman" panose="02020603050405020304" pitchFamily="18" charset="0"/>
                <a:cs typeface="Times New Roman" panose="02020603050405020304" pitchFamily="18" charset="0"/>
              </a:rPr>
              <a:t>m </a:t>
            </a:r>
            <a:r>
              <a:rPr lang="en-US" sz="2400" smtClean="0">
                <a:latin typeface="Times New Roman" panose="02020603050405020304" pitchFamily="18" charset="0"/>
                <a:cs typeface="Times New Roman" panose="02020603050405020304" pitchFamily="18" charset="0"/>
              </a:rPr>
              <a:t>varies sinusoidally, then r.m.s value of induced e.m.f is obtained by multiplying the average value with form factor.</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400" smtClean="0">
                <a:solidFill>
                  <a:srgbClr val="00B0F0"/>
                </a:solidFill>
                <a:latin typeface="Times New Roman" panose="02020603050405020304" pitchFamily="18" charset="0"/>
                <a:cs typeface="Times New Roman" panose="02020603050405020304" pitchFamily="18" charset="0"/>
              </a:rPr>
              <a:t>			Form factor =</a:t>
            </a:r>
            <a:r>
              <a:rPr lang="en-US" sz="2400" i="1" smtClean="0">
                <a:solidFill>
                  <a:srgbClr val="00B0F0"/>
                </a:solidFill>
                <a:latin typeface="Times New Roman" panose="02020603050405020304" pitchFamily="18" charset="0"/>
                <a:cs typeface="Times New Roman" panose="02020603050405020304" pitchFamily="18" charset="0"/>
              </a:rPr>
              <a:t>r.m.s value / Average value</a:t>
            </a:r>
            <a:r>
              <a:rPr lang="en-US" sz="2400" smtClean="0">
                <a:solidFill>
                  <a:srgbClr val="00B0F0"/>
                </a:solidFill>
                <a:latin typeface="Times New Roman" panose="02020603050405020304" pitchFamily="18" charset="0"/>
                <a:cs typeface="Times New Roman" panose="02020603050405020304" pitchFamily="18" charset="0"/>
              </a:rPr>
              <a:t> =1.11</a:t>
            </a:r>
            <a:endParaRPr lang="en-US" sz="2400" b="1" smtClean="0">
              <a:solidFill>
                <a:srgbClr val="3333FF"/>
              </a:solidFill>
              <a:latin typeface="Times New Roman" panose="02020603050405020304" pitchFamily="18" charset="0"/>
              <a:cs typeface="Times New Roman" panose="02020603050405020304" pitchFamily="18" charset="0"/>
            </a:endParaRPr>
          </a:p>
          <a:p>
            <a:pPr eaLnBrk="1" hangingPunct="1"/>
            <a:endParaRPr lang="en-US" smtClean="0"/>
          </a:p>
          <a:p>
            <a:pPr eaLnBrk="1" hangingPunct="1"/>
            <a:endParaRPr lang="en-US"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10600" cy="6096000"/>
          </a:xfrm>
        </p:spPr>
        <p:txBody>
          <a:bodyPr rtlCol="0">
            <a:normAutofit/>
          </a:bodyPr>
          <a:lstStyle/>
          <a:p>
            <a:pPr algn="just" eaLnBrk="1" fontAlgn="auto" hangingPunct="1">
              <a:spcAft>
                <a:spcPts val="0"/>
              </a:spcAft>
              <a:buFont typeface="Arial" panose="020B0604020202020204" pitchFamily="34" charset="0"/>
              <a:buNone/>
              <a:defRPr/>
            </a:pPr>
            <a:r>
              <a:rPr lang="en-US" sz="2800" dirty="0" smtClean="0">
                <a:latin typeface="Times New Roman" panose="02020603050405020304" pitchFamily="18" charset="0"/>
                <a:cs typeface="Times New Roman" panose="02020603050405020304" pitchFamily="18" charset="0"/>
              </a:rPr>
              <a:t>  </a:t>
            </a:r>
            <a:r>
              <a:rPr lang="en-US" sz="2800" dirty="0" err="1" smtClean="0">
                <a:solidFill>
                  <a:schemeClr val="accent6">
                    <a:lumMod val="75000"/>
                  </a:schemeClr>
                </a:solidFill>
                <a:latin typeface="Times New Roman" panose="02020603050405020304" pitchFamily="18" charset="0"/>
                <a:cs typeface="Times New Roman" panose="02020603050405020304" pitchFamily="18" charset="0"/>
              </a:rPr>
              <a:t>R.m.s</a:t>
            </a:r>
            <a:r>
              <a:rPr lang="en-US" sz="2800" dirty="0" smtClean="0">
                <a:solidFill>
                  <a:schemeClr val="accent6">
                    <a:lumMod val="75000"/>
                  </a:schemeClr>
                </a:solidFill>
                <a:latin typeface="Times New Roman" panose="02020603050405020304" pitchFamily="18" charset="0"/>
                <a:cs typeface="Times New Roman" panose="02020603050405020304" pitchFamily="18" charset="0"/>
              </a:rPr>
              <a:t> value of </a:t>
            </a:r>
            <a:r>
              <a:rPr lang="en-US" sz="2800" dirty="0" err="1" smtClean="0">
                <a:solidFill>
                  <a:schemeClr val="accent6">
                    <a:lumMod val="75000"/>
                  </a:schemeClr>
                </a:solidFill>
                <a:latin typeface="Times New Roman" panose="02020603050405020304" pitchFamily="18" charset="0"/>
                <a:cs typeface="Times New Roman" panose="02020603050405020304" pitchFamily="18" charset="0"/>
              </a:rPr>
              <a:t>e.m.f</a:t>
            </a:r>
            <a:r>
              <a:rPr lang="en-US" sz="2800" dirty="0" smtClean="0">
                <a:solidFill>
                  <a:schemeClr val="accent6">
                    <a:lumMod val="75000"/>
                  </a:schemeClr>
                </a:solidFill>
                <a:latin typeface="Times New Roman" panose="02020603050405020304" pitchFamily="18" charset="0"/>
                <a:cs typeface="Times New Roman" panose="02020603050405020304" pitchFamily="18" charset="0"/>
              </a:rPr>
              <a:t>/turn = 1.11. 4 f</a:t>
            </a:r>
            <a:r>
              <a:rPr lang="en-US" sz="2800" b="1" dirty="0" smtClean="0">
                <a:solidFill>
                  <a:schemeClr val="accent6">
                    <a:lumMod val="75000"/>
                  </a:schemeClr>
                </a:solidFill>
                <a:latin typeface="Times New Roman" panose="02020603050405020304" pitchFamily="18" charset="0"/>
                <a:cs typeface="Times New Roman" panose="02020603050405020304" pitchFamily="18" charset="0"/>
              </a:rPr>
              <a:t> </a:t>
            </a:r>
            <a:r>
              <a:rPr lang="en-US" sz="2800" b="1" dirty="0" err="1" smtClean="0">
                <a:solidFill>
                  <a:schemeClr val="accent6">
                    <a:lumMod val="75000"/>
                  </a:schemeClr>
                </a:solidFill>
                <a:latin typeface="Times New Roman" panose="02020603050405020304" pitchFamily="18" charset="0"/>
                <a:cs typeface="Times New Roman" panose="02020603050405020304" pitchFamily="18" charset="0"/>
              </a:rPr>
              <a:t>Ø</a:t>
            </a:r>
            <a:r>
              <a:rPr lang="en-US" sz="2800" b="1" baseline="-25000" dirty="0" err="1" smtClean="0">
                <a:solidFill>
                  <a:schemeClr val="accent6">
                    <a:lumMod val="75000"/>
                  </a:schemeClr>
                </a:solidFill>
                <a:latin typeface="Times New Roman" panose="02020603050405020304" pitchFamily="18" charset="0"/>
                <a:cs typeface="Times New Roman" panose="02020603050405020304" pitchFamily="18" charset="0"/>
              </a:rPr>
              <a:t>m</a:t>
            </a:r>
            <a:r>
              <a:rPr lang="en-US" sz="2800" b="1" baseline="-25000" dirty="0" smtClean="0">
                <a:solidFill>
                  <a:schemeClr val="accent6">
                    <a:lumMod val="75000"/>
                  </a:schemeClr>
                </a:solidFill>
                <a:latin typeface="Times New Roman" panose="02020603050405020304" pitchFamily="18" charset="0"/>
                <a:cs typeface="Times New Roman" panose="02020603050405020304" pitchFamily="18" charset="0"/>
              </a:rPr>
              <a:t>= </a:t>
            </a:r>
            <a:r>
              <a:rPr lang="en-US" sz="2800" b="1" dirty="0" smtClean="0">
                <a:solidFill>
                  <a:schemeClr val="accent6">
                    <a:lumMod val="75000"/>
                  </a:schemeClr>
                </a:solidFill>
                <a:latin typeface="Times New Roman" panose="02020603050405020304" pitchFamily="18" charset="0"/>
                <a:cs typeface="Times New Roman" panose="02020603050405020304" pitchFamily="18" charset="0"/>
              </a:rPr>
              <a:t>4.44f </a:t>
            </a:r>
            <a:r>
              <a:rPr lang="en-US" sz="2800" b="1" dirty="0" err="1" smtClean="0">
                <a:solidFill>
                  <a:schemeClr val="accent6">
                    <a:lumMod val="75000"/>
                  </a:schemeClr>
                </a:solidFill>
                <a:latin typeface="Times New Roman" panose="02020603050405020304" pitchFamily="18" charset="0"/>
                <a:cs typeface="Times New Roman" panose="02020603050405020304" pitchFamily="18" charset="0"/>
              </a:rPr>
              <a:t>Ø</a:t>
            </a:r>
            <a:r>
              <a:rPr lang="en-US" sz="2800" b="1" baseline="-25000" dirty="0" err="1" smtClean="0">
                <a:solidFill>
                  <a:schemeClr val="accent6">
                    <a:lumMod val="75000"/>
                  </a:schemeClr>
                </a:solidFill>
                <a:latin typeface="Times New Roman" panose="02020603050405020304" pitchFamily="18" charset="0"/>
                <a:cs typeface="Times New Roman" panose="02020603050405020304" pitchFamily="18" charset="0"/>
              </a:rPr>
              <a:t>m</a:t>
            </a:r>
            <a:r>
              <a:rPr lang="en-US" sz="2800" b="1" baseline="-25000" dirty="0" smtClean="0">
                <a:solidFill>
                  <a:schemeClr val="accent6">
                    <a:lumMod val="75000"/>
                  </a:schemeClr>
                </a:solidFill>
                <a:latin typeface="Times New Roman" panose="02020603050405020304" pitchFamily="18" charset="0"/>
                <a:cs typeface="Times New Roman" panose="02020603050405020304" pitchFamily="18" charset="0"/>
              </a:rPr>
              <a:t> </a:t>
            </a:r>
            <a:r>
              <a:rPr lang="en-US" sz="2800" dirty="0" smtClean="0">
                <a:solidFill>
                  <a:schemeClr val="accent6">
                    <a:lumMod val="75000"/>
                  </a:schemeClr>
                </a:solidFill>
                <a:latin typeface="Times New Roman" panose="02020603050405020304" pitchFamily="18" charset="0"/>
                <a:cs typeface="Times New Roman" panose="02020603050405020304" pitchFamily="18" charset="0"/>
              </a:rPr>
              <a:t>volt</a:t>
            </a:r>
            <a:endParaRPr lang="en-US" sz="2800" dirty="0" smtClean="0">
              <a:solidFill>
                <a:schemeClr val="accent6">
                  <a:lumMod val="75000"/>
                </a:schemeClr>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Arial" panose="020B0604020202020204" pitchFamily="34" charset="0"/>
              <a:buChar char="•"/>
              <a:defRPr/>
            </a:pPr>
            <a:r>
              <a:rPr lang="en-US" sz="2800" dirty="0" smtClean="0">
                <a:latin typeface="Times New Roman" panose="02020603050405020304" pitchFamily="18" charset="0"/>
                <a:cs typeface="Times New Roman" panose="02020603050405020304" pitchFamily="18" charset="0"/>
              </a:rPr>
              <a:t>Now, </a:t>
            </a:r>
            <a:r>
              <a:rPr lang="en-US" sz="2800" dirty="0" err="1" smtClean="0">
                <a:latin typeface="Times New Roman" panose="02020603050405020304" pitchFamily="18" charset="0"/>
                <a:cs typeface="Times New Roman" panose="02020603050405020304" pitchFamily="18" charset="0"/>
              </a:rPr>
              <a:t>r.m.s</a:t>
            </a:r>
            <a:r>
              <a:rPr lang="en-US" sz="2800" dirty="0" smtClean="0">
                <a:latin typeface="Times New Roman" panose="02020603050405020304" pitchFamily="18" charset="0"/>
                <a:cs typeface="Times New Roman" panose="02020603050405020304" pitchFamily="18" charset="0"/>
              </a:rPr>
              <a:t> value of the induced </a:t>
            </a:r>
            <a:r>
              <a:rPr lang="en-US" sz="2800" dirty="0" err="1" smtClean="0">
                <a:latin typeface="Times New Roman" panose="02020603050405020304" pitchFamily="18" charset="0"/>
                <a:cs typeface="Times New Roman" panose="02020603050405020304" pitchFamily="18" charset="0"/>
              </a:rPr>
              <a:t>e.m.f</a:t>
            </a:r>
            <a:r>
              <a:rPr lang="en-US" sz="2800" dirty="0" smtClean="0">
                <a:latin typeface="Times New Roman" panose="02020603050405020304" pitchFamily="18" charset="0"/>
                <a:cs typeface="Times New Roman" panose="02020603050405020304" pitchFamily="18" charset="0"/>
              </a:rPr>
              <a:t> in the whole primary winding=( induced </a:t>
            </a:r>
            <a:r>
              <a:rPr lang="en-US" sz="2800" dirty="0" err="1" smtClean="0">
                <a:latin typeface="Times New Roman" panose="02020603050405020304" pitchFamily="18" charset="0"/>
                <a:cs typeface="Times New Roman" panose="02020603050405020304" pitchFamily="18" charset="0"/>
              </a:rPr>
              <a:t>e.m.f</a:t>
            </a:r>
            <a:r>
              <a:rPr lang="en-US" sz="2800" dirty="0" smtClean="0">
                <a:latin typeface="Times New Roman" panose="02020603050405020304" pitchFamily="18" charset="0"/>
                <a:cs typeface="Times New Roman" panose="02020603050405020304" pitchFamily="18" charset="0"/>
              </a:rPr>
              <a:t>/turn) *(number of primary turns)</a:t>
            </a:r>
            <a:endParaRPr lang="en-US" sz="2800" dirty="0" smtClean="0">
              <a:latin typeface="Times New Roman" panose="02020603050405020304" pitchFamily="18" charset="0"/>
              <a:cs typeface="Times New Roman" panose="02020603050405020304" pitchFamily="18" charset="0"/>
            </a:endParaRPr>
          </a:p>
          <a:p>
            <a:pPr algn="just" eaLnBrk="1" fontAlgn="auto" hangingPunct="1">
              <a:spcAft>
                <a:spcPts val="0"/>
              </a:spcAft>
              <a:buFont typeface="Arial" panose="020B0604020202020204" pitchFamily="34" charset="0"/>
              <a:buNone/>
              <a:defRPr/>
            </a:pPr>
            <a:r>
              <a:rPr lang="en-US" sz="2800" b="1" dirty="0" smtClean="0">
                <a:solidFill>
                  <a:srgbClr val="7030A0"/>
                </a:solidFill>
                <a:latin typeface="Times New Roman" panose="02020603050405020304" pitchFamily="18" charset="0"/>
                <a:cs typeface="Times New Roman" panose="02020603050405020304" pitchFamily="18" charset="0"/>
              </a:rPr>
              <a:t>		E</a:t>
            </a:r>
            <a:r>
              <a:rPr lang="en-US" sz="2800" b="1" baseline="-25000" dirty="0" smtClean="0">
                <a:solidFill>
                  <a:srgbClr val="7030A0"/>
                </a:solidFill>
                <a:latin typeface="Times New Roman" panose="02020603050405020304" pitchFamily="18" charset="0"/>
                <a:cs typeface="Times New Roman" panose="02020603050405020304" pitchFamily="18" charset="0"/>
              </a:rPr>
              <a:t>1</a:t>
            </a:r>
            <a:r>
              <a:rPr lang="en-US" sz="2800" b="1" dirty="0" smtClean="0">
                <a:solidFill>
                  <a:srgbClr val="7030A0"/>
                </a:solidFill>
                <a:latin typeface="Times New Roman" panose="02020603050405020304" pitchFamily="18" charset="0"/>
                <a:cs typeface="Times New Roman" panose="02020603050405020304" pitchFamily="18" charset="0"/>
              </a:rPr>
              <a:t> = 4.44fN</a:t>
            </a:r>
            <a:r>
              <a:rPr lang="en-US" sz="2800" b="1" baseline="-25000" dirty="0" smtClean="0">
                <a:solidFill>
                  <a:srgbClr val="7030A0"/>
                </a:solidFill>
                <a:latin typeface="Times New Roman" panose="02020603050405020304" pitchFamily="18" charset="0"/>
                <a:cs typeface="Times New Roman" panose="02020603050405020304" pitchFamily="18" charset="0"/>
              </a:rPr>
              <a:t>1</a:t>
            </a:r>
            <a:r>
              <a:rPr lang="en-US" sz="2800" b="1" dirty="0" smtClean="0">
                <a:solidFill>
                  <a:srgbClr val="7030A0"/>
                </a:solidFill>
                <a:latin typeface="Times New Roman" panose="02020603050405020304" pitchFamily="18" charset="0"/>
                <a:cs typeface="Times New Roman" panose="02020603050405020304" pitchFamily="18" charset="0"/>
              </a:rPr>
              <a:t> </a:t>
            </a:r>
            <a:r>
              <a:rPr lang="en-US" sz="2800" b="1" dirty="0" err="1" smtClean="0">
                <a:solidFill>
                  <a:srgbClr val="7030A0"/>
                </a:solidFill>
                <a:latin typeface="Times New Roman" panose="02020603050405020304" pitchFamily="18" charset="0"/>
                <a:cs typeface="Times New Roman" panose="02020603050405020304" pitchFamily="18" charset="0"/>
              </a:rPr>
              <a:t>Ø</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r>
              <a:rPr lang="en-US" sz="2800" b="1" baseline="-25000" dirty="0" smtClean="0">
                <a:solidFill>
                  <a:srgbClr val="7030A0"/>
                </a:solidFill>
                <a:latin typeface="Times New Roman" panose="02020603050405020304" pitchFamily="18" charset="0"/>
                <a:cs typeface="Times New Roman" panose="02020603050405020304" pitchFamily="18" charset="0"/>
              </a:rPr>
              <a:t>………………………………………(1)</a:t>
            </a:r>
            <a:endParaRPr lang="en-US" sz="2800" b="1" dirty="0" smtClean="0">
              <a:solidFill>
                <a:srgbClr val="7030A0"/>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Arial" panose="020B0604020202020204" pitchFamily="34" charset="0"/>
              <a:buNone/>
              <a:defRPr/>
            </a:pPr>
            <a:r>
              <a:rPr lang="en-US" sz="2800" b="1" dirty="0" smtClean="0">
                <a:solidFill>
                  <a:srgbClr val="7030A0"/>
                </a:solidFill>
                <a:latin typeface="Times New Roman" panose="02020603050405020304" pitchFamily="18" charset="0"/>
                <a:cs typeface="Times New Roman" panose="02020603050405020304" pitchFamily="18" charset="0"/>
              </a:rPr>
              <a:t>		E</a:t>
            </a:r>
            <a:r>
              <a:rPr lang="en-US" sz="2800" b="1" baseline="-25000" dirty="0" smtClean="0">
                <a:solidFill>
                  <a:srgbClr val="7030A0"/>
                </a:solidFill>
                <a:latin typeface="Times New Roman" panose="02020603050405020304" pitchFamily="18" charset="0"/>
                <a:cs typeface="Times New Roman" panose="02020603050405020304" pitchFamily="18" charset="0"/>
              </a:rPr>
              <a:t>1</a:t>
            </a:r>
            <a:r>
              <a:rPr lang="en-US" sz="2800" b="1" dirty="0" smtClean="0">
                <a:solidFill>
                  <a:srgbClr val="7030A0"/>
                </a:solidFill>
                <a:latin typeface="Times New Roman" panose="02020603050405020304" pitchFamily="18" charset="0"/>
                <a:cs typeface="Times New Roman" panose="02020603050405020304" pitchFamily="18" charset="0"/>
              </a:rPr>
              <a:t> = 4.44fN</a:t>
            </a:r>
            <a:r>
              <a:rPr lang="en-US" sz="2800" b="1" baseline="-25000" dirty="0" smtClean="0">
                <a:solidFill>
                  <a:srgbClr val="7030A0"/>
                </a:solidFill>
                <a:latin typeface="Times New Roman" panose="02020603050405020304" pitchFamily="18" charset="0"/>
                <a:cs typeface="Times New Roman" panose="02020603050405020304" pitchFamily="18" charset="0"/>
              </a:rPr>
              <a:t>1</a:t>
            </a:r>
            <a:r>
              <a:rPr lang="en-US" sz="2800" b="1" dirty="0" smtClean="0">
                <a:solidFill>
                  <a:srgbClr val="7030A0"/>
                </a:solidFill>
                <a:latin typeface="Times New Roman" panose="02020603050405020304" pitchFamily="18" charset="0"/>
                <a:cs typeface="Times New Roman" panose="02020603050405020304" pitchFamily="18" charset="0"/>
              </a:rPr>
              <a:t>B</a:t>
            </a:r>
            <a:r>
              <a:rPr lang="en-US" sz="2800" b="1" baseline="-25000" dirty="0" smtClean="0">
                <a:solidFill>
                  <a:srgbClr val="7030A0"/>
                </a:solidFill>
                <a:latin typeface="Times New Roman" panose="02020603050405020304" pitchFamily="18" charset="0"/>
                <a:cs typeface="Times New Roman" panose="02020603050405020304" pitchFamily="18" charset="0"/>
              </a:rPr>
              <a:t>m</a:t>
            </a:r>
            <a:r>
              <a:rPr lang="en-US" sz="2800" b="1" dirty="0" smtClean="0">
                <a:solidFill>
                  <a:srgbClr val="7030A0"/>
                </a:solidFill>
                <a:latin typeface="Times New Roman" panose="02020603050405020304" pitchFamily="18" charset="0"/>
                <a:cs typeface="Times New Roman" panose="02020603050405020304" pitchFamily="18" charset="0"/>
              </a:rPr>
              <a:t>A.    (</a:t>
            </a:r>
            <a:r>
              <a:rPr lang="en-US" sz="2800" b="1" dirty="0" err="1" smtClean="0">
                <a:solidFill>
                  <a:srgbClr val="7030A0"/>
                </a:solidFill>
                <a:latin typeface="Times New Roman" panose="02020603050405020304" pitchFamily="18" charset="0"/>
                <a:cs typeface="Times New Roman" panose="02020603050405020304" pitchFamily="18" charset="0"/>
              </a:rPr>
              <a:t>Ø</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r>
              <a:rPr lang="en-US" sz="2800" b="1" dirty="0" smtClean="0">
                <a:solidFill>
                  <a:srgbClr val="7030A0"/>
                </a:solidFill>
                <a:latin typeface="Times New Roman" panose="02020603050405020304" pitchFamily="18" charset="0"/>
                <a:cs typeface="Times New Roman" panose="02020603050405020304" pitchFamily="18" charset="0"/>
              </a:rPr>
              <a:t>= </a:t>
            </a:r>
            <a:r>
              <a:rPr lang="en-US" sz="2800" b="1" dirty="0" err="1" smtClean="0">
                <a:solidFill>
                  <a:srgbClr val="7030A0"/>
                </a:solidFill>
                <a:latin typeface="Times New Roman" panose="02020603050405020304" pitchFamily="18" charset="0"/>
                <a:cs typeface="Times New Roman" panose="02020603050405020304" pitchFamily="18" charset="0"/>
              </a:rPr>
              <a:t>B</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r>
              <a:rPr lang="en-US" sz="2800" b="1" dirty="0" err="1" smtClean="0">
                <a:solidFill>
                  <a:srgbClr val="7030A0"/>
                </a:solidFill>
                <a:latin typeface="Times New Roman" panose="02020603050405020304" pitchFamily="18" charset="0"/>
                <a:cs typeface="Times New Roman" panose="02020603050405020304" pitchFamily="18" charset="0"/>
              </a:rPr>
              <a:t>A</a:t>
            </a:r>
            <a:r>
              <a:rPr lang="en-US" sz="2800" b="1" dirty="0" smtClean="0">
                <a:solidFill>
                  <a:srgbClr val="7030A0"/>
                </a:solidFill>
                <a:latin typeface="Times New Roman" panose="02020603050405020304" pitchFamily="18" charset="0"/>
                <a:cs typeface="Times New Roman" panose="02020603050405020304" pitchFamily="18" charset="0"/>
              </a:rPr>
              <a:t>)</a:t>
            </a:r>
            <a:endParaRPr lang="en-US" sz="2800" b="1" dirty="0" smtClean="0">
              <a:solidFill>
                <a:srgbClr val="7030A0"/>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defRPr/>
            </a:pPr>
            <a:r>
              <a:rPr lang="en-US" sz="2800" dirty="0" smtClean="0">
                <a:latin typeface="Times New Roman" panose="02020603050405020304" pitchFamily="18" charset="0"/>
                <a:cs typeface="Times New Roman" panose="02020603050405020304" pitchFamily="18" charset="0"/>
              </a:rPr>
              <a:t>Similarly, </a:t>
            </a:r>
            <a:r>
              <a:rPr lang="en-US" sz="2800" dirty="0" err="1" smtClean="0">
                <a:latin typeface="Times New Roman" panose="02020603050405020304" pitchFamily="18" charset="0"/>
                <a:cs typeface="Times New Roman" panose="02020603050405020304" pitchFamily="18" charset="0"/>
              </a:rPr>
              <a:t>r.m.s</a:t>
            </a:r>
            <a:r>
              <a:rPr lang="en-US" sz="2800" dirty="0" smtClean="0">
                <a:latin typeface="Times New Roman" panose="02020603050405020304" pitchFamily="18" charset="0"/>
                <a:cs typeface="Times New Roman" panose="02020603050405020304" pitchFamily="18" charset="0"/>
              </a:rPr>
              <a:t> value of the </a:t>
            </a:r>
            <a:r>
              <a:rPr lang="en-US" sz="2800" dirty="0" err="1" smtClean="0">
                <a:latin typeface="Times New Roman" panose="02020603050405020304" pitchFamily="18" charset="0"/>
                <a:cs typeface="Times New Roman" panose="02020603050405020304" pitchFamily="18" charset="0"/>
              </a:rPr>
              <a:t>e.m.f</a:t>
            </a:r>
            <a:r>
              <a:rPr lang="en-US" sz="2800" dirty="0" smtClean="0">
                <a:latin typeface="Times New Roman" panose="02020603050405020304" pitchFamily="18" charset="0"/>
                <a:cs typeface="Times New Roman" panose="02020603050405020304" pitchFamily="18" charset="0"/>
              </a:rPr>
              <a:t>. induced in secondary is,</a:t>
            </a:r>
            <a:endParaRPr lang="en-US" sz="2800" dirty="0" smtClean="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defRPr/>
            </a:pPr>
            <a:r>
              <a:rPr lang="en-US" sz="2800" b="1" dirty="0" smtClean="0">
                <a:solidFill>
                  <a:srgbClr val="7030A0"/>
                </a:solidFill>
                <a:latin typeface="Times New Roman" panose="02020603050405020304" pitchFamily="18" charset="0"/>
                <a:cs typeface="Times New Roman" panose="02020603050405020304" pitchFamily="18" charset="0"/>
              </a:rPr>
              <a:t>		E</a:t>
            </a:r>
            <a:r>
              <a:rPr lang="en-US" sz="2800" b="1" baseline="-25000" dirty="0" smtClean="0">
                <a:solidFill>
                  <a:srgbClr val="7030A0"/>
                </a:solidFill>
                <a:latin typeface="Times New Roman" panose="02020603050405020304" pitchFamily="18" charset="0"/>
                <a:cs typeface="Times New Roman" panose="02020603050405020304" pitchFamily="18" charset="0"/>
              </a:rPr>
              <a:t>2</a:t>
            </a:r>
            <a:r>
              <a:rPr lang="en-US" sz="2800" b="1" dirty="0" smtClean="0">
                <a:solidFill>
                  <a:srgbClr val="7030A0"/>
                </a:solidFill>
                <a:latin typeface="Times New Roman" panose="02020603050405020304" pitchFamily="18" charset="0"/>
                <a:cs typeface="Times New Roman" panose="02020603050405020304" pitchFamily="18" charset="0"/>
              </a:rPr>
              <a:t> = 4.44fN</a:t>
            </a:r>
            <a:r>
              <a:rPr lang="en-US" sz="2800" b="1" baseline="-25000" dirty="0" smtClean="0">
                <a:solidFill>
                  <a:srgbClr val="7030A0"/>
                </a:solidFill>
                <a:latin typeface="Times New Roman" panose="02020603050405020304" pitchFamily="18" charset="0"/>
                <a:cs typeface="Times New Roman" panose="02020603050405020304" pitchFamily="18" charset="0"/>
              </a:rPr>
              <a:t>2</a:t>
            </a:r>
            <a:r>
              <a:rPr lang="en-US" sz="2800" b="1" dirty="0" smtClean="0">
                <a:solidFill>
                  <a:srgbClr val="7030A0"/>
                </a:solidFill>
                <a:latin typeface="Times New Roman" panose="02020603050405020304" pitchFamily="18" charset="0"/>
                <a:cs typeface="Times New Roman" panose="02020603050405020304" pitchFamily="18" charset="0"/>
              </a:rPr>
              <a:t> </a:t>
            </a:r>
            <a:r>
              <a:rPr lang="en-US" sz="2800" b="1" dirty="0" err="1" smtClean="0">
                <a:solidFill>
                  <a:srgbClr val="7030A0"/>
                </a:solidFill>
                <a:latin typeface="Times New Roman" panose="02020603050405020304" pitchFamily="18" charset="0"/>
                <a:cs typeface="Times New Roman" panose="02020603050405020304" pitchFamily="18" charset="0"/>
              </a:rPr>
              <a:t>Ø</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endParaRPr lang="en-US" sz="2800" b="1" dirty="0" smtClean="0">
              <a:solidFill>
                <a:srgbClr val="7030A0"/>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defRPr/>
            </a:pPr>
            <a:r>
              <a:rPr lang="en-US" sz="2800" b="1" dirty="0" smtClean="0">
                <a:solidFill>
                  <a:srgbClr val="7030A0"/>
                </a:solidFill>
                <a:latin typeface="Times New Roman" panose="02020603050405020304" pitchFamily="18" charset="0"/>
                <a:cs typeface="Times New Roman" panose="02020603050405020304" pitchFamily="18" charset="0"/>
              </a:rPr>
              <a:t>		E</a:t>
            </a:r>
            <a:r>
              <a:rPr lang="en-US" sz="2800" b="1" baseline="-25000" dirty="0" smtClean="0">
                <a:solidFill>
                  <a:srgbClr val="7030A0"/>
                </a:solidFill>
                <a:latin typeface="Times New Roman" panose="02020603050405020304" pitchFamily="18" charset="0"/>
                <a:cs typeface="Times New Roman" panose="02020603050405020304" pitchFamily="18" charset="0"/>
              </a:rPr>
              <a:t>2</a:t>
            </a:r>
            <a:r>
              <a:rPr lang="en-US" sz="2800" b="1" dirty="0" smtClean="0">
                <a:solidFill>
                  <a:srgbClr val="7030A0"/>
                </a:solidFill>
                <a:latin typeface="Times New Roman" panose="02020603050405020304" pitchFamily="18" charset="0"/>
                <a:cs typeface="Times New Roman" panose="02020603050405020304" pitchFamily="18" charset="0"/>
              </a:rPr>
              <a:t> = 4.44fN</a:t>
            </a:r>
            <a:r>
              <a:rPr lang="en-US" sz="2800" b="1" baseline="-25000" dirty="0" smtClean="0">
                <a:solidFill>
                  <a:srgbClr val="7030A0"/>
                </a:solidFill>
                <a:latin typeface="Times New Roman" panose="02020603050405020304" pitchFamily="18" charset="0"/>
                <a:cs typeface="Times New Roman" panose="02020603050405020304" pitchFamily="18" charset="0"/>
              </a:rPr>
              <a:t>2</a:t>
            </a:r>
            <a:r>
              <a:rPr lang="en-US" sz="2800" b="1" dirty="0" smtClean="0">
                <a:solidFill>
                  <a:srgbClr val="7030A0"/>
                </a:solidFill>
                <a:latin typeface="Times New Roman" panose="02020603050405020304" pitchFamily="18" charset="0"/>
                <a:cs typeface="Times New Roman" panose="02020603050405020304" pitchFamily="18" charset="0"/>
              </a:rPr>
              <a:t>B</a:t>
            </a:r>
            <a:r>
              <a:rPr lang="en-US" sz="2800" b="1" baseline="-25000" dirty="0" smtClean="0">
                <a:solidFill>
                  <a:srgbClr val="7030A0"/>
                </a:solidFill>
                <a:latin typeface="Times New Roman" panose="02020603050405020304" pitchFamily="18" charset="0"/>
                <a:cs typeface="Times New Roman" panose="02020603050405020304" pitchFamily="18" charset="0"/>
              </a:rPr>
              <a:t>m</a:t>
            </a:r>
            <a:r>
              <a:rPr lang="en-US" sz="2800" b="1" dirty="0" smtClean="0">
                <a:solidFill>
                  <a:srgbClr val="7030A0"/>
                </a:solidFill>
                <a:latin typeface="Times New Roman" panose="02020603050405020304" pitchFamily="18" charset="0"/>
                <a:cs typeface="Times New Roman" panose="02020603050405020304" pitchFamily="18" charset="0"/>
              </a:rPr>
              <a:t>A.    (</a:t>
            </a:r>
            <a:r>
              <a:rPr lang="en-US" sz="2800" b="1" dirty="0" err="1" smtClean="0">
                <a:solidFill>
                  <a:srgbClr val="7030A0"/>
                </a:solidFill>
                <a:latin typeface="Times New Roman" panose="02020603050405020304" pitchFamily="18" charset="0"/>
                <a:cs typeface="Times New Roman" panose="02020603050405020304" pitchFamily="18" charset="0"/>
              </a:rPr>
              <a:t>Ø</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r>
              <a:rPr lang="en-US" sz="2800" b="1" dirty="0" smtClean="0">
                <a:solidFill>
                  <a:srgbClr val="7030A0"/>
                </a:solidFill>
                <a:latin typeface="Times New Roman" panose="02020603050405020304" pitchFamily="18" charset="0"/>
                <a:cs typeface="Times New Roman" panose="02020603050405020304" pitchFamily="18" charset="0"/>
              </a:rPr>
              <a:t>= </a:t>
            </a:r>
            <a:r>
              <a:rPr lang="en-US" sz="2800" b="1" dirty="0" err="1" smtClean="0">
                <a:solidFill>
                  <a:srgbClr val="7030A0"/>
                </a:solidFill>
                <a:latin typeface="Times New Roman" panose="02020603050405020304" pitchFamily="18" charset="0"/>
                <a:cs typeface="Times New Roman" panose="02020603050405020304" pitchFamily="18" charset="0"/>
              </a:rPr>
              <a:t>B</a:t>
            </a:r>
            <a:r>
              <a:rPr lang="en-US" sz="2800" b="1" baseline="-25000" dirty="0" err="1" smtClean="0">
                <a:solidFill>
                  <a:srgbClr val="7030A0"/>
                </a:solidFill>
                <a:latin typeface="Times New Roman" panose="02020603050405020304" pitchFamily="18" charset="0"/>
                <a:cs typeface="Times New Roman" panose="02020603050405020304" pitchFamily="18" charset="0"/>
              </a:rPr>
              <a:t>m</a:t>
            </a:r>
            <a:r>
              <a:rPr lang="en-US" sz="2800" b="1" dirty="0" err="1" smtClean="0">
                <a:solidFill>
                  <a:srgbClr val="7030A0"/>
                </a:solidFill>
                <a:latin typeface="Times New Roman" panose="02020603050405020304" pitchFamily="18" charset="0"/>
                <a:cs typeface="Times New Roman" panose="02020603050405020304" pitchFamily="18" charset="0"/>
              </a:rPr>
              <a:t>A</a:t>
            </a:r>
            <a:r>
              <a:rPr lang="en-US" sz="2800" b="1" dirty="0" smtClean="0">
                <a:solidFill>
                  <a:srgbClr val="7030A0"/>
                </a:solidFill>
                <a:latin typeface="Times New Roman" panose="02020603050405020304" pitchFamily="18" charset="0"/>
                <a:cs typeface="Times New Roman" panose="02020603050405020304" pitchFamily="18" charset="0"/>
              </a:rPr>
              <a:t>)…………..(2)</a:t>
            </a:r>
            <a:endParaRPr lang="en-US" sz="2800" dirty="0" smtClean="0">
              <a:solidFill>
                <a:srgbClr val="7030A0"/>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Arial" panose="020B0604020202020204" pitchFamily="34" charset="0"/>
              <a:buNone/>
              <a:defRPr/>
            </a:pPr>
            <a:endParaRPr lang="en-US" sz="2800" b="1" dirty="0" smtClean="0">
              <a:solidFill>
                <a:srgbClr val="7030A0"/>
              </a:solidFill>
              <a:latin typeface="Times New Roman" panose="02020603050405020304" pitchFamily="18" charset="0"/>
              <a:cs typeface="Times New Roman" panose="02020603050405020304" pitchFamily="18" charset="0"/>
            </a:endParaRPr>
          </a:p>
          <a:p>
            <a:pPr eaLnBrk="1" fontAlgn="auto" hangingPunct="1">
              <a:spcAft>
                <a:spcPts val="0"/>
              </a:spcAft>
              <a:buFont typeface="Arial" panose="020B0604020202020204" pitchFamily="34" charset="0"/>
              <a:buNone/>
              <a:defRPr/>
            </a:pPr>
            <a:r>
              <a:rPr lang="en-US" sz="2800" dirty="0" smtClean="0">
                <a:solidFill>
                  <a:srgbClr val="7030A0"/>
                </a:solidFill>
                <a:latin typeface="Times New Roman" panose="02020603050405020304" pitchFamily="18" charset="0"/>
                <a:cs typeface="Times New Roman" panose="02020603050405020304" pitchFamily="18" charset="0"/>
              </a:rPr>
              <a:t> </a:t>
            </a:r>
            <a:endParaRPr lang="en-US" sz="2800" dirty="0" smtClean="0">
              <a:solidFill>
                <a:srgbClr val="7030A0"/>
              </a:solidFill>
              <a:latin typeface="Times New Roman" panose="02020603050405020304" pitchFamily="18" charset="0"/>
              <a:cs typeface="Times New Roman" panose="02020603050405020304" pitchFamily="18" charset="0"/>
            </a:endParaRPr>
          </a:p>
          <a:p>
            <a:pPr eaLnBrk="1" fontAlgn="auto" hangingPunct="1">
              <a:spcAft>
                <a:spcPts val="0"/>
              </a:spcAft>
              <a:buFont typeface="Arial" panose="020B0604020202020204" pitchFamily="34" charset="0"/>
              <a:buChar char="•"/>
              <a:defRPr/>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152400" y="457200"/>
            <a:ext cx="8763000" cy="6096000"/>
          </a:xfrm>
        </p:spPr>
        <p:txBody>
          <a:bodyPr/>
          <a:lstStyle/>
          <a:p>
            <a:pPr algn="just" eaLnBrk="1" hangingPunct="1"/>
            <a:endParaRPr lang="en-US" sz="2800" b="1" smtClean="0">
              <a:solidFill>
                <a:srgbClr val="FF0000"/>
              </a:solidFill>
              <a:latin typeface="Times New Roman" panose="02020603050405020304" pitchFamily="18" charset="0"/>
              <a:cs typeface="Times New Roman" panose="02020603050405020304" pitchFamily="18" charset="0"/>
            </a:endParaRPr>
          </a:p>
          <a:p>
            <a:pPr algn="just" eaLnBrk="1" hangingPunct="1"/>
            <a:endParaRPr lang="en-US" sz="2800" b="1" smtClean="0">
              <a:solidFill>
                <a:srgbClr val="FF0000"/>
              </a:solidFill>
              <a:latin typeface="Times New Roman" panose="02020603050405020304" pitchFamily="18" charset="0"/>
              <a:cs typeface="Times New Roman" panose="02020603050405020304" pitchFamily="18" charset="0"/>
            </a:endParaRPr>
          </a:p>
          <a:p>
            <a:pPr algn="just" eaLnBrk="1" hangingPunct="1"/>
            <a:r>
              <a:rPr lang="en-US" sz="2800" b="1" smtClean="0">
                <a:solidFill>
                  <a:srgbClr val="FF0000"/>
                </a:solidFill>
                <a:latin typeface="Times New Roman" panose="02020603050405020304" pitchFamily="18" charset="0"/>
                <a:cs typeface="Times New Roman" panose="02020603050405020304" pitchFamily="18" charset="0"/>
              </a:rPr>
              <a:t>Transformation Ratio of Transformer(K):</a:t>
            </a:r>
            <a:endParaRPr lang="en-US" sz="2800" b="1" smtClean="0">
              <a:solidFill>
                <a:srgbClr val="FF0000"/>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800" smtClean="0">
                <a:latin typeface="Times New Roman" panose="02020603050405020304" pitchFamily="18" charset="0"/>
                <a:cs typeface="Times New Roman" panose="02020603050405020304" pitchFamily="18" charset="0"/>
              </a:rPr>
              <a:t>    This constant ‘k’ is called </a:t>
            </a:r>
            <a:r>
              <a:rPr lang="en-US" sz="2800" b="1" smtClean="0">
                <a:latin typeface="Times New Roman" panose="02020603050405020304" pitchFamily="18" charset="0"/>
                <a:cs typeface="Times New Roman" panose="02020603050405020304" pitchFamily="18" charset="0"/>
              </a:rPr>
              <a:t>transformation ratio of transformer</a:t>
            </a:r>
            <a:r>
              <a:rPr lang="en-US" sz="2800" smtClean="0">
                <a:latin typeface="Times New Roman" panose="02020603050405020304" pitchFamily="18" charset="0"/>
                <a:cs typeface="Times New Roman" panose="02020603050405020304" pitchFamily="18" charset="0"/>
              </a:rPr>
              <a:t>, if N</a:t>
            </a:r>
            <a:r>
              <a:rPr lang="en-US" sz="2800" baseline="-25000" smtClean="0">
                <a:latin typeface="Times New Roman" panose="02020603050405020304" pitchFamily="18" charset="0"/>
                <a:cs typeface="Times New Roman" panose="02020603050405020304" pitchFamily="18" charset="0"/>
              </a:rPr>
              <a:t>2</a:t>
            </a:r>
            <a:r>
              <a:rPr lang="en-US" sz="2800" smtClean="0">
                <a:latin typeface="Times New Roman" panose="02020603050405020304" pitchFamily="18" charset="0"/>
                <a:cs typeface="Times New Roman" panose="02020603050405020304" pitchFamily="18" charset="0"/>
              </a:rPr>
              <a:t>&gt;N</a:t>
            </a:r>
            <a:r>
              <a:rPr lang="en-US" sz="2800" baseline="-25000" smtClean="0">
                <a:latin typeface="Times New Roman" panose="02020603050405020304" pitchFamily="18" charset="0"/>
                <a:cs typeface="Times New Roman" panose="02020603050405020304" pitchFamily="18" charset="0"/>
              </a:rPr>
              <a:t>1</a:t>
            </a:r>
            <a:r>
              <a:rPr lang="en-US" sz="2800" smtClean="0">
                <a:latin typeface="Times New Roman" panose="02020603050405020304" pitchFamily="18" charset="0"/>
                <a:cs typeface="Times New Roman" panose="02020603050405020304" pitchFamily="18" charset="0"/>
              </a:rPr>
              <a:t>, K &gt; 1, then the transformer is step up transformer. If N</a:t>
            </a:r>
            <a:r>
              <a:rPr lang="en-US" sz="2800" baseline="-25000" smtClean="0">
                <a:latin typeface="Times New Roman" panose="02020603050405020304" pitchFamily="18" charset="0"/>
                <a:cs typeface="Times New Roman" panose="02020603050405020304" pitchFamily="18" charset="0"/>
              </a:rPr>
              <a:t>2</a:t>
            </a:r>
            <a:r>
              <a:rPr lang="en-US" sz="2800" smtClean="0">
                <a:latin typeface="Times New Roman" panose="02020603050405020304" pitchFamily="18" charset="0"/>
                <a:cs typeface="Times New Roman" panose="02020603050405020304" pitchFamily="18" charset="0"/>
              </a:rPr>
              <a:t> &lt; N</a:t>
            </a:r>
            <a:r>
              <a:rPr lang="en-US" sz="2800" baseline="-25000" smtClean="0">
                <a:latin typeface="Times New Roman" panose="02020603050405020304" pitchFamily="18" charset="0"/>
                <a:cs typeface="Times New Roman" panose="02020603050405020304" pitchFamily="18" charset="0"/>
              </a:rPr>
              <a:t>1</a:t>
            </a:r>
            <a:r>
              <a:rPr lang="en-US" sz="2800" smtClean="0">
                <a:latin typeface="Times New Roman" panose="02020603050405020304" pitchFamily="18" charset="0"/>
                <a:cs typeface="Times New Roman" panose="02020603050405020304" pitchFamily="18" charset="0"/>
              </a:rPr>
              <a:t>, K &lt; 1, then the transformer is step down transformer.</a:t>
            </a:r>
            <a:endParaRPr lang="en-US" sz="2800" smtClean="0">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sz="2800" b="1" smtClean="0">
                <a:solidFill>
                  <a:srgbClr val="FF0000"/>
                </a:solidFill>
                <a:latin typeface="Times New Roman" panose="02020603050405020304" pitchFamily="18" charset="0"/>
                <a:cs typeface="Times New Roman" panose="02020603050405020304" pitchFamily="18" charset="0"/>
              </a:rPr>
              <a:t>K = E</a:t>
            </a:r>
            <a:r>
              <a:rPr lang="en-US" sz="2800" b="1" baseline="-25000" smtClean="0">
                <a:solidFill>
                  <a:srgbClr val="FF0000"/>
                </a:solidFill>
                <a:latin typeface="Times New Roman" panose="02020603050405020304" pitchFamily="18" charset="0"/>
                <a:cs typeface="Times New Roman" panose="02020603050405020304" pitchFamily="18" charset="0"/>
              </a:rPr>
              <a:t>2</a:t>
            </a:r>
            <a:r>
              <a:rPr lang="en-US" sz="2800" b="1" smtClean="0">
                <a:solidFill>
                  <a:srgbClr val="FF0000"/>
                </a:solidFill>
                <a:latin typeface="Times New Roman" panose="02020603050405020304" pitchFamily="18" charset="0"/>
                <a:cs typeface="Times New Roman" panose="02020603050405020304" pitchFamily="18" charset="0"/>
              </a:rPr>
              <a:t>/E</a:t>
            </a:r>
            <a:r>
              <a:rPr lang="en-US" sz="2800" b="1" baseline="-25000" smtClean="0">
                <a:solidFill>
                  <a:srgbClr val="FF0000"/>
                </a:solidFill>
                <a:latin typeface="Times New Roman" panose="02020603050405020304" pitchFamily="18" charset="0"/>
                <a:cs typeface="Times New Roman" panose="02020603050405020304" pitchFamily="18" charset="0"/>
              </a:rPr>
              <a:t>1</a:t>
            </a:r>
            <a:r>
              <a:rPr lang="en-US" sz="2800" b="1" smtClean="0">
                <a:solidFill>
                  <a:srgbClr val="FF0000"/>
                </a:solidFill>
                <a:latin typeface="Times New Roman" panose="02020603050405020304" pitchFamily="18" charset="0"/>
                <a:cs typeface="Times New Roman" panose="02020603050405020304" pitchFamily="18" charset="0"/>
              </a:rPr>
              <a:t>=N</a:t>
            </a:r>
            <a:r>
              <a:rPr lang="en-US" sz="2800" b="1" baseline="-25000" smtClean="0">
                <a:solidFill>
                  <a:srgbClr val="FF0000"/>
                </a:solidFill>
                <a:latin typeface="Times New Roman" panose="02020603050405020304" pitchFamily="18" charset="0"/>
                <a:cs typeface="Times New Roman" panose="02020603050405020304" pitchFamily="18" charset="0"/>
              </a:rPr>
              <a:t>2</a:t>
            </a:r>
            <a:r>
              <a:rPr lang="en-US" sz="2800" b="1" smtClean="0">
                <a:solidFill>
                  <a:srgbClr val="FF0000"/>
                </a:solidFill>
                <a:latin typeface="Times New Roman" panose="02020603050405020304" pitchFamily="18" charset="0"/>
                <a:cs typeface="Times New Roman" panose="02020603050405020304" pitchFamily="18" charset="0"/>
              </a:rPr>
              <a:t>/N</a:t>
            </a:r>
            <a:r>
              <a:rPr lang="en-US" sz="2800" b="1" baseline="-25000" smtClean="0">
                <a:solidFill>
                  <a:srgbClr val="FF0000"/>
                </a:solidFill>
                <a:latin typeface="Times New Roman" panose="02020603050405020304" pitchFamily="18" charset="0"/>
                <a:cs typeface="Times New Roman" panose="02020603050405020304" pitchFamily="18" charset="0"/>
              </a:rPr>
              <a:t>1</a:t>
            </a:r>
            <a:r>
              <a:rPr lang="en-US" sz="2800" b="1" smtClean="0">
                <a:solidFill>
                  <a:srgbClr val="FF0000"/>
                </a:solidFill>
                <a:latin typeface="Times New Roman" panose="02020603050405020304" pitchFamily="18" charset="0"/>
                <a:cs typeface="Times New Roman" panose="02020603050405020304" pitchFamily="18" charset="0"/>
              </a:rPr>
              <a:t>=I</a:t>
            </a:r>
            <a:r>
              <a:rPr lang="en-US" sz="2800" b="1" baseline="-25000" smtClean="0">
                <a:solidFill>
                  <a:srgbClr val="FF0000"/>
                </a:solidFill>
                <a:latin typeface="Times New Roman" panose="02020603050405020304" pitchFamily="18" charset="0"/>
                <a:cs typeface="Times New Roman" panose="02020603050405020304" pitchFamily="18" charset="0"/>
              </a:rPr>
              <a:t>1</a:t>
            </a:r>
            <a:r>
              <a:rPr lang="en-US" sz="2800" b="1" smtClean="0">
                <a:solidFill>
                  <a:srgbClr val="FF0000"/>
                </a:solidFill>
                <a:latin typeface="Times New Roman" panose="02020603050405020304" pitchFamily="18" charset="0"/>
                <a:cs typeface="Times New Roman" panose="02020603050405020304" pitchFamily="18" charset="0"/>
              </a:rPr>
              <a:t>/I</a:t>
            </a:r>
            <a:r>
              <a:rPr lang="en-US" sz="2800" b="1" baseline="-25000" smtClean="0">
                <a:solidFill>
                  <a:srgbClr val="FF0000"/>
                </a:solidFill>
                <a:latin typeface="Times New Roman" panose="02020603050405020304" pitchFamily="18" charset="0"/>
                <a:cs typeface="Times New Roman" panose="02020603050405020304" pitchFamily="18" charset="0"/>
              </a:rPr>
              <a:t>2</a:t>
            </a:r>
            <a:endParaRPr lang="en-US" sz="2800" b="1" baseline="-25000" smtClean="0">
              <a:solidFill>
                <a:srgbClr val="FF0000"/>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endParaRPr lang="en-US"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57200" y="274638"/>
            <a:ext cx="8229600" cy="792162"/>
          </a:xfrm>
        </p:spPr>
        <p:txBody>
          <a:bodyPr/>
          <a:lstStyle/>
          <a:p>
            <a:pPr eaLnBrk="1" hangingPunct="1"/>
            <a:r>
              <a:rPr lang="en-US" sz="3600" b="1" smtClean="0">
                <a:solidFill>
                  <a:srgbClr val="FF0000"/>
                </a:solidFill>
                <a:latin typeface="Times New Roman" panose="02020603050405020304" pitchFamily="18" charset="0"/>
                <a:cs typeface="Times New Roman" panose="02020603050405020304" pitchFamily="18" charset="0"/>
              </a:rPr>
              <a:t>Ideal Transformer</a:t>
            </a:r>
            <a:endParaRPr lang="en-US" sz="3600" smtClean="0">
              <a:solidFill>
                <a:srgbClr val="FF0000"/>
              </a:solidFill>
              <a:latin typeface="Times New Roman" panose="02020603050405020304" pitchFamily="18" charset="0"/>
              <a:cs typeface="Times New Roman" panose="02020603050405020304" pitchFamily="18" charset="0"/>
            </a:endParaRPr>
          </a:p>
        </p:txBody>
      </p:sp>
      <p:sp>
        <p:nvSpPr>
          <p:cNvPr id="17411" name="Content Placeholder 2"/>
          <p:cNvSpPr>
            <a:spLocks noGrp="1"/>
          </p:cNvSpPr>
          <p:nvPr>
            <p:ph idx="1"/>
          </p:nvPr>
        </p:nvSpPr>
        <p:spPr>
          <a:xfrm>
            <a:off x="152400" y="1295400"/>
            <a:ext cx="8686800" cy="4724400"/>
          </a:xfrm>
        </p:spPr>
        <p:txBody>
          <a:bodyPr/>
          <a:lstStyle/>
          <a:p>
            <a:pPr algn="just" eaLnBrk="1" hangingPunct="1">
              <a:lnSpc>
                <a:spcPct val="150000"/>
              </a:lnSpc>
            </a:pPr>
            <a:r>
              <a:rPr lang="en-US" sz="2400" b="1" smtClean="0">
                <a:solidFill>
                  <a:srgbClr val="FF0000"/>
                </a:solidFill>
                <a:latin typeface="Times New Roman" panose="02020603050405020304" pitchFamily="18" charset="0"/>
                <a:cs typeface="Times New Roman" panose="02020603050405020304" pitchFamily="18" charset="0"/>
              </a:rPr>
              <a:t>Definition:</a:t>
            </a:r>
            <a:r>
              <a:rPr lang="en-US" sz="2400" b="1"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An </a:t>
            </a:r>
            <a:r>
              <a:rPr lang="en-US" sz="2400" b="1" smtClean="0">
                <a:solidFill>
                  <a:srgbClr val="FF0000"/>
                </a:solidFill>
                <a:latin typeface="Times New Roman" panose="02020603050405020304" pitchFamily="18" charset="0"/>
                <a:cs typeface="Times New Roman" panose="02020603050405020304" pitchFamily="18" charset="0"/>
              </a:rPr>
              <a:t>ideal transformer</a:t>
            </a:r>
            <a:r>
              <a:rPr lang="en-US" sz="2400" smtClean="0">
                <a:latin typeface="Times New Roman" panose="02020603050405020304" pitchFamily="18" charset="0"/>
                <a:cs typeface="Times New Roman" panose="02020603050405020304" pitchFamily="18" charset="0"/>
              </a:rPr>
              <a:t> is an imaginary transformer which does not have any loss in it, means no core losses, copper losses and any other </a:t>
            </a:r>
            <a:r>
              <a:rPr lang="en-US" sz="2400" b="1" smtClean="0">
                <a:latin typeface="Times New Roman" panose="02020603050405020304" pitchFamily="18" charset="0"/>
                <a:cs typeface="Times New Roman" panose="02020603050405020304" pitchFamily="18" charset="0"/>
                <a:hlinkClick r:id="rId1" tooltip="Losses in Transformer"/>
              </a:rPr>
              <a:t>losses in transformer</a:t>
            </a:r>
            <a:r>
              <a:rPr lang="en-US" sz="2400" smtClean="0">
                <a:latin typeface="Times New Roman" panose="02020603050405020304" pitchFamily="18" charset="0"/>
                <a:cs typeface="Times New Roman" panose="02020603050405020304" pitchFamily="18" charset="0"/>
              </a:rPr>
              <a:t>. Efficiency of this transformer is considered as 100%.</a:t>
            </a:r>
            <a:endParaRPr lang="en-US" sz="2400" smtClean="0">
              <a:latin typeface="Times New Roman" panose="02020603050405020304" pitchFamily="18" charset="0"/>
              <a:cs typeface="Times New Roman" panose="02020603050405020304" pitchFamily="18" charset="0"/>
            </a:endParaRPr>
          </a:p>
          <a:p>
            <a:pPr algn="just" eaLnBrk="1" hangingPunct="1">
              <a:lnSpc>
                <a:spcPct val="150000"/>
              </a:lnSpc>
            </a:pPr>
            <a:r>
              <a:rPr lang="en-US" sz="2400" b="1" smtClean="0">
                <a:solidFill>
                  <a:srgbClr val="FF0000"/>
                </a:solidFill>
                <a:latin typeface="Times New Roman" panose="02020603050405020304" pitchFamily="18" charset="0"/>
                <a:cs typeface="Times New Roman" panose="02020603050405020304" pitchFamily="18" charset="0"/>
              </a:rPr>
              <a:t>Ideal transformer model </a:t>
            </a:r>
            <a:r>
              <a:rPr lang="en-US" sz="2400" smtClean="0">
                <a:latin typeface="Times New Roman" panose="02020603050405020304" pitchFamily="18" charset="0"/>
                <a:cs typeface="Times New Roman" panose="02020603050405020304" pitchFamily="18" charset="0"/>
              </a:rPr>
              <a:t>is developed by considering the windings of the transformer are </a:t>
            </a:r>
            <a:r>
              <a:rPr lang="en-US" sz="2400" b="1" smtClean="0">
                <a:solidFill>
                  <a:srgbClr val="3333FF"/>
                </a:solidFill>
                <a:latin typeface="Times New Roman" panose="02020603050405020304" pitchFamily="18" charset="0"/>
                <a:cs typeface="Times New Roman" panose="02020603050405020304" pitchFamily="18" charset="0"/>
              </a:rPr>
              <a:t>purely inductive</a:t>
            </a:r>
            <a:r>
              <a:rPr lang="en-US" sz="2400" smtClean="0">
                <a:latin typeface="Times New Roman" panose="02020603050405020304" pitchFamily="18" charset="0"/>
                <a:cs typeface="Times New Roman" panose="02020603050405020304" pitchFamily="18" charset="0"/>
              </a:rPr>
              <a:t>, the core of transformer is loss free and there is zero </a:t>
            </a:r>
            <a:r>
              <a:rPr lang="en-US" sz="2400" b="1" smtClean="0">
                <a:solidFill>
                  <a:srgbClr val="3333FF"/>
                </a:solidFill>
                <a:latin typeface="Times New Roman" panose="02020603050405020304" pitchFamily="18" charset="0"/>
                <a:cs typeface="Times New Roman" panose="02020603050405020304" pitchFamily="18" charset="0"/>
              </a:rPr>
              <a:t>leakage reactance</a:t>
            </a:r>
            <a:r>
              <a:rPr lang="en-US" sz="2400" smtClean="0">
                <a:latin typeface="Times New Roman" panose="02020603050405020304" pitchFamily="18" charset="0"/>
                <a:cs typeface="Times New Roman" panose="02020603050405020304" pitchFamily="18" charset="0"/>
              </a:rPr>
              <a:t> of transformer.</a:t>
            </a: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1"/>
          </p:nvPr>
        </p:nvPicPr>
        <p:blipFill>
          <a:blip r:embed="rId1" cstate="print"/>
          <a:srcRect/>
          <a:stretch>
            <a:fillRect/>
          </a:stretch>
        </p:blipFill>
        <p:spPr>
          <a:xfrm>
            <a:off x="3048000" y="2590800"/>
            <a:ext cx="2667000" cy="2995613"/>
          </a:xfrm>
        </p:spPr>
      </p:pic>
      <p:sp>
        <p:nvSpPr>
          <p:cNvPr id="18435" name="Rectangle 4"/>
          <p:cNvSpPr>
            <a:spLocks noChangeArrowheads="1"/>
          </p:cNvSpPr>
          <p:nvPr/>
        </p:nvSpPr>
        <p:spPr bwMode="auto">
          <a:xfrm>
            <a:off x="381000" y="609600"/>
            <a:ext cx="8382000" cy="1570038"/>
          </a:xfrm>
          <a:prstGeom prst="rect">
            <a:avLst/>
          </a:prstGeom>
          <a:noFill/>
          <a:ln w="9525">
            <a:noFill/>
            <a:miter lim="800000"/>
          </a:ln>
        </p:spPr>
        <p:txBody>
          <a:bodyPr>
            <a:spAutoFit/>
          </a:bodyPr>
          <a:lstStyle/>
          <a:p>
            <a:pPr algn="just"/>
            <a:r>
              <a:rPr lang="en-US" sz="2400">
                <a:latin typeface="Times New Roman" panose="02020603050405020304" pitchFamily="18" charset="0"/>
                <a:cs typeface="Times New Roman" panose="02020603050405020304" pitchFamily="18" charset="0"/>
              </a:rPr>
              <a:t>Now if an alternating source </a:t>
            </a:r>
            <a:r>
              <a:rPr lang="en-US" sz="2400">
                <a:latin typeface="Times New Roman" panose="02020603050405020304" pitchFamily="18" charset="0"/>
                <a:cs typeface="Times New Roman" panose="02020603050405020304" pitchFamily="18" charset="0"/>
                <a:hlinkClick r:id="rId2" tooltip="Voltage or Electric Potential Difference"/>
              </a:rPr>
              <a:t>voltage</a:t>
            </a:r>
            <a:r>
              <a:rPr lang="en-US" sz="2400">
                <a:latin typeface="Times New Roman" panose="02020603050405020304" pitchFamily="18" charset="0"/>
                <a:cs typeface="Times New Roman" panose="02020603050405020304" pitchFamily="18" charset="0"/>
              </a:rPr>
              <a:t> V</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is applied in the primary winding of that ideal transformer, there will be a counter self emf E</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induced in the primary winding which is purely 180° in phase opposition with supply </a:t>
            </a:r>
            <a:r>
              <a:rPr lang="en-US" sz="2400">
                <a:latin typeface="Times New Roman" panose="02020603050405020304" pitchFamily="18" charset="0"/>
                <a:cs typeface="Times New Roman" panose="02020603050405020304" pitchFamily="18" charset="0"/>
                <a:hlinkClick r:id="rId2" tooltip="Voltage or Electric Potential Difference"/>
              </a:rPr>
              <a:t>voltage</a:t>
            </a:r>
            <a:r>
              <a:rPr lang="en-US" sz="2400">
                <a:latin typeface="Times New Roman" panose="02020603050405020304" pitchFamily="18" charset="0"/>
                <a:cs typeface="Times New Roman" panose="02020603050405020304" pitchFamily="18" charset="0"/>
              </a:rPr>
              <a:t> V</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p:txBody>
          <a:bodyPr/>
          <a:lstStyle/>
          <a:p>
            <a:pPr algn="just"/>
            <a:r>
              <a:rPr lang="en-US" smtClean="0">
                <a:latin typeface="Times New Roman" panose="02020603050405020304" pitchFamily="18" charset="0"/>
                <a:cs typeface="Times New Roman" panose="02020603050405020304" pitchFamily="18" charset="0"/>
              </a:rPr>
              <a:t>Iron or core losses in magnetic core of transformer</a:t>
            </a:r>
            <a:endParaRPr lang="en-US" smtClean="0">
              <a:latin typeface="Times New Roman" panose="02020603050405020304" pitchFamily="18" charset="0"/>
              <a:cs typeface="Times New Roman" panose="02020603050405020304" pitchFamily="18" charset="0"/>
            </a:endParaRPr>
          </a:p>
          <a:p>
            <a:pPr algn="just"/>
            <a:r>
              <a:rPr lang="en-US" smtClean="0">
                <a:latin typeface="Times New Roman" panose="02020603050405020304" pitchFamily="18" charset="0"/>
                <a:cs typeface="Times New Roman" panose="02020603050405020304" pitchFamily="18" charset="0"/>
              </a:rPr>
              <a:t>Cu losses due to winding resistance</a:t>
            </a:r>
            <a:endParaRPr lang="en-US" smtClean="0">
              <a:latin typeface="Times New Roman" panose="02020603050405020304" pitchFamily="18" charset="0"/>
              <a:cs typeface="Times New Roman" panose="02020603050405020304" pitchFamily="18" charset="0"/>
            </a:endParaRPr>
          </a:p>
          <a:p>
            <a:pPr algn="just"/>
            <a:r>
              <a:rPr lang="en-US" smtClean="0">
                <a:latin typeface="Times New Roman" panose="02020603050405020304" pitchFamily="18" charset="0"/>
                <a:cs typeface="Times New Roman" panose="02020603050405020304" pitchFamily="18" charset="0"/>
              </a:rPr>
              <a:t>Leakage flux giving rise to leakage reactance</a:t>
            </a:r>
            <a:endParaRPr lang="en-US" smtClean="0">
              <a:latin typeface="Times New Roman" panose="02020603050405020304" pitchFamily="18" charset="0"/>
              <a:cs typeface="Times New Roman" panose="02020603050405020304" pitchFamily="18" charset="0"/>
            </a:endParaRPr>
          </a:p>
          <a:p>
            <a:pPr algn="just"/>
            <a:endParaRPr lang="en-US" smtClean="0">
              <a:latin typeface="Times New Roman" panose="02020603050405020304" pitchFamily="18" charset="0"/>
              <a:cs typeface="Times New Roman" panose="02020603050405020304" pitchFamily="18" charset="0"/>
            </a:endParaRPr>
          </a:p>
        </p:txBody>
      </p:sp>
      <p:sp>
        <p:nvSpPr>
          <p:cNvPr id="19459" name="Title 4"/>
          <p:cNvSpPr>
            <a:spLocks noGrp="1"/>
          </p:cNvSpPr>
          <p:nvPr>
            <p:ph type="title"/>
          </p:nvPr>
        </p:nvSpPr>
        <p:spPr/>
        <p:txBody>
          <a:bodyPr/>
          <a:lstStyle/>
          <a:p>
            <a:r>
              <a:rPr lang="en-US" sz="3600" b="1" smtClean="0">
                <a:solidFill>
                  <a:srgbClr val="FF0000"/>
                </a:solidFill>
                <a:latin typeface="Times New Roman" panose="02020603050405020304" pitchFamily="18" charset="0"/>
                <a:cs typeface="Times New Roman" panose="02020603050405020304" pitchFamily="18" charset="0"/>
              </a:rPr>
              <a:t>Practical Transformer</a:t>
            </a:r>
            <a:endParaRPr lang="en-US" sz="3600" b="1" smtClean="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381000" y="457200"/>
            <a:ext cx="8229600" cy="1295400"/>
          </a:xfrm>
        </p:spPr>
        <p:txBody>
          <a:bodyPr/>
          <a:lstStyle/>
          <a:p>
            <a:pPr eaLnBrk="1" hangingPunct="1">
              <a:buFont typeface="Wingdings" panose="05000000000000000000" pitchFamily="2" charset="2"/>
              <a:buChar char="Ø"/>
            </a:pPr>
            <a:r>
              <a:rPr lang="en-US" b="1" u="sng" smtClean="0">
                <a:solidFill>
                  <a:srgbClr val="FF0000"/>
                </a:solidFill>
                <a:latin typeface="Times New Roman" panose="02020603050405020304" pitchFamily="18" charset="0"/>
                <a:cs typeface="Times New Roman" panose="02020603050405020304" pitchFamily="18" charset="0"/>
              </a:rPr>
              <a:t>Practical Transformer on No-Load:</a:t>
            </a:r>
            <a:endParaRPr lang="en-US" b="1" u="sng" smtClean="0">
              <a:solidFill>
                <a:srgbClr val="FF0000"/>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smtClean="0"/>
          </a:p>
        </p:txBody>
      </p:sp>
      <p:pic>
        <p:nvPicPr>
          <p:cNvPr id="20483" name="Picture 3"/>
          <p:cNvPicPr>
            <a:picLocks noChangeAspect="1" noChangeArrowheads="1"/>
          </p:cNvPicPr>
          <p:nvPr/>
        </p:nvPicPr>
        <p:blipFill>
          <a:blip r:embed="rId1" cstate="print"/>
          <a:srcRect/>
          <a:stretch>
            <a:fillRect/>
          </a:stretch>
        </p:blipFill>
        <p:spPr bwMode="auto">
          <a:xfrm>
            <a:off x="5715000" y="1295400"/>
            <a:ext cx="2979738" cy="2590800"/>
          </a:xfrm>
          <a:prstGeom prst="rect">
            <a:avLst/>
          </a:prstGeom>
          <a:noFill/>
          <a:ln w="9525">
            <a:noFill/>
            <a:miter lim="800000"/>
            <a:headEnd/>
            <a:tailEnd/>
          </a:ln>
        </p:spPr>
      </p:pic>
      <p:sp>
        <p:nvSpPr>
          <p:cNvPr id="20484" name="Rectangle 6"/>
          <p:cNvSpPr>
            <a:spLocks noChangeArrowheads="1"/>
          </p:cNvSpPr>
          <p:nvPr/>
        </p:nvSpPr>
        <p:spPr bwMode="auto">
          <a:xfrm>
            <a:off x="533400" y="1447800"/>
            <a:ext cx="4572000" cy="4894263"/>
          </a:xfrm>
          <a:prstGeom prst="rect">
            <a:avLst/>
          </a:prstGeom>
          <a:noFill/>
          <a:ln w="9525">
            <a:noFill/>
            <a:miter lim="800000"/>
          </a:ln>
        </p:spPr>
        <p:txBody>
          <a:bodyPr>
            <a:spAutoFit/>
          </a:bodyPr>
          <a:lstStyle/>
          <a:p>
            <a:pPr algn="just">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The primary input current is not wholly reactive. The primary input current under no-load conditions has to supply</a:t>
            </a:r>
            <a:endParaRPr 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r>
              <a:rPr lang="en-US" sz="2400">
                <a:latin typeface="Times New Roman" panose="02020603050405020304" pitchFamily="18" charset="0"/>
                <a:cs typeface="Times New Roman" panose="02020603050405020304" pitchFamily="18" charset="0"/>
              </a:rPr>
              <a:t>(</a:t>
            </a:r>
            <a:r>
              <a:rPr lang="en-US" sz="2400" i="1">
                <a:latin typeface="Times New Roman" panose="02020603050405020304" pitchFamily="18" charset="0"/>
                <a:cs typeface="Times New Roman" panose="02020603050405020304" pitchFamily="18" charset="0"/>
              </a:rPr>
              <a:t>i</a:t>
            </a:r>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iron losses in the core </a:t>
            </a:r>
            <a:r>
              <a:rPr lang="en-US" sz="2400" i="1">
                <a:latin typeface="Times New Roman" panose="02020603050405020304" pitchFamily="18" charset="0"/>
                <a:cs typeface="Times New Roman" panose="02020603050405020304" pitchFamily="18" charset="0"/>
              </a:rPr>
              <a:t>i.e. </a:t>
            </a:r>
            <a:r>
              <a:rPr lang="en-US" sz="2400">
                <a:latin typeface="Times New Roman" panose="02020603050405020304" pitchFamily="18" charset="0"/>
                <a:cs typeface="Times New Roman" panose="02020603050405020304" pitchFamily="18" charset="0"/>
              </a:rPr>
              <a:t>hysteresis loss and eddy current loss and</a:t>
            </a:r>
            <a:endParaRPr 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r>
              <a:rPr lang="en-US" sz="2400">
                <a:latin typeface="Times New Roman" panose="02020603050405020304" pitchFamily="18" charset="0"/>
                <a:cs typeface="Times New Roman" panose="02020603050405020304" pitchFamily="18" charset="0"/>
              </a:rPr>
              <a:t> (</a:t>
            </a:r>
            <a:r>
              <a:rPr lang="en-US" sz="2400" i="1">
                <a:latin typeface="Times New Roman" panose="02020603050405020304" pitchFamily="18" charset="0"/>
                <a:cs typeface="Times New Roman" panose="02020603050405020304" pitchFamily="18" charset="0"/>
              </a:rPr>
              <a:t>ii</a:t>
            </a:r>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 very small amount of copper loss in primary (there being no Cu loss in secondary as it is open). Hence, the no-load primary input current I</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is not at 90° behind </a:t>
            </a:r>
            <a:r>
              <a:rPr lang="en-US" sz="2400" i="1">
                <a:latin typeface="Times New Roman" panose="02020603050405020304" pitchFamily="18" charset="0"/>
                <a:cs typeface="Times New Roman" panose="02020603050405020304" pitchFamily="18" charset="0"/>
              </a:rPr>
              <a:t>V</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but lags it by an angle </a:t>
            </a:r>
            <a:r>
              <a:rPr lang="el-GR" sz="2400">
                <a:latin typeface="Times New Roman" panose="02020603050405020304" pitchFamily="18" charset="0"/>
                <a:cs typeface="Times New Roman" panose="02020603050405020304" pitchFamily="18" charset="0"/>
              </a:rPr>
              <a:t>φ</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&lt; 90°. </a:t>
            </a:r>
            <a:endParaRPr lang="en-US" sz="2400"/>
          </a:p>
        </p:txBody>
      </p:sp>
      <p:pic>
        <p:nvPicPr>
          <p:cNvPr id="20485" name="Picture 6"/>
          <p:cNvPicPr>
            <a:picLocks noChangeAspect="1" noChangeArrowheads="1"/>
          </p:cNvPicPr>
          <p:nvPr/>
        </p:nvPicPr>
        <p:blipFill>
          <a:blip r:embed="rId2" cstate="print"/>
          <a:srcRect/>
          <a:stretch>
            <a:fillRect/>
          </a:stretch>
        </p:blipFill>
        <p:spPr bwMode="auto">
          <a:xfrm>
            <a:off x="5715000" y="4343400"/>
            <a:ext cx="2895600"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p:cNvSpPr>
          <p:nvPr>
            <p:ph idx="1"/>
          </p:nvPr>
        </p:nvSpPr>
        <p:spPr>
          <a:xfrm>
            <a:off x="457200" y="838200"/>
            <a:ext cx="8229600" cy="5592763"/>
          </a:xfrm>
        </p:spPr>
        <p:txBody>
          <a:bodyPr/>
          <a:lstStyle/>
          <a:p>
            <a:pPr algn="just"/>
            <a:r>
              <a:rPr lang="en-US" sz="2800" smtClean="0">
                <a:latin typeface="Times New Roman" panose="02020603050405020304" pitchFamily="18" charset="0"/>
                <a:cs typeface="Times New Roman" panose="02020603050405020304" pitchFamily="18" charset="0"/>
              </a:rPr>
              <a:t>No Load input  Power </a:t>
            </a:r>
            <a:r>
              <a:rPr lang="en-US" sz="2800" b="1" smtClean="0">
                <a:latin typeface="Times New Roman" panose="02020603050405020304" pitchFamily="18" charset="0"/>
                <a:cs typeface="Times New Roman" panose="02020603050405020304" pitchFamily="18" charset="0"/>
              </a:rPr>
              <a:t>(W0)= V</a:t>
            </a:r>
            <a:r>
              <a:rPr lang="en-US" sz="2800" b="1" baseline="-25000" smtClean="0">
                <a:latin typeface="Times New Roman" panose="02020603050405020304" pitchFamily="18" charset="0"/>
                <a:cs typeface="Times New Roman" panose="02020603050405020304" pitchFamily="18" charset="0"/>
              </a:rPr>
              <a:t>1</a:t>
            </a:r>
            <a:r>
              <a:rPr lang="en-US" sz="2800" b="1" smtClean="0">
                <a:latin typeface="Times New Roman" panose="02020603050405020304" pitchFamily="18" charset="0"/>
                <a:cs typeface="Times New Roman" panose="02020603050405020304" pitchFamily="18" charset="0"/>
              </a:rPr>
              <a:t>I</a:t>
            </a:r>
            <a:r>
              <a:rPr lang="en-US" sz="2800" b="1" baseline="-25000" smtClean="0">
                <a:latin typeface="Times New Roman" panose="02020603050405020304" pitchFamily="18" charset="0"/>
                <a:cs typeface="Times New Roman" panose="02020603050405020304" pitchFamily="18" charset="0"/>
              </a:rPr>
              <a:t>0</a:t>
            </a:r>
            <a:r>
              <a:rPr lang="en-US" sz="2800" b="1" smtClean="0">
                <a:latin typeface="Times New Roman" panose="02020603050405020304" pitchFamily="18" charset="0"/>
                <a:cs typeface="Times New Roman" panose="02020603050405020304" pitchFamily="18" charset="0"/>
              </a:rPr>
              <a:t>Cos</a:t>
            </a:r>
            <a:r>
              <a:rPr lang="el-GR" sz="2800" b="1" smtClean="0">
                <a:latin typeface="Times New Roman" panose="02020603050405020304" pitchFamily="18" charset="0"/>
                <a:cs typeface="Times New Roman" panose="02020603050405020304" pitchFamily="18" charset="0"/>
              </a:rPr>
              <a:t>φ</a:t>
            </a:r>
            <a:r>
              <a:rPr lang="en-US" sz="2800" b="1" baseline="-25000" smtClean="0">
                <a:latin typeface="Times New Roman" panose="02020603050405020304" pitchFamily="18" charset="0"/>
                <a:cs typeface="Times New Roman" panose="02020603050405020304" pitchFamily="18" charset="0"/>
              </a:rPr>
              <a:t>0</a:t>
            </a:r>
            <a:endParaRPr lang="en-US" sz="2800" b="1" baseline="-25000" smtClean="0">
              <a:latin typeface="Times New Roman" panose="02020603050405020304" pitchFamily="18" charset="0"/>
              <a:cs typeface="Times New Roman" panose="02020603050405020304" pitchFamily="18" charset="0"/>
            </a:endParaRPr>
          </a:p>
          <a:p>
            <a:pPr algn="just" eaLnBrk="1" hangingPunct="1"/>
            <a:r>
              <a:rPr lang="en-US" sz="2800" smtClean="0">
                <a:latin typeface="Times New Roman" panose="02020603050405020304" pitchFamily="18" charset="0"/>
                <a:cs typeface="Times New Roman" panose="02020603050405020304" pitchFamily="18" charset="0"/>
              </a:rPr>
              <a:t>where cos </a:t>
            </a:r>
            <a:r>
              <a:rPr lang="el-GR" sz="2800" smtClean="0">
                <a:latin typeface="Times New Roman" panose="02020603050405020304" pitchFamily="18" charset="0"/>
                <a:cs typeface="Times New Roman" panose="02020603050405020304" pitchFamily="18" charset="0"/>
              </a:rPr>
              <a:t>φ</a:t>
            </a:r>
            <a:r>
              <a:rPr lang="en-US" sz="2800" baseline="-25000" smtClean="0">
                <a:latin typeface="Times New Roman" panose="02020603050405020304" pitchFamily="18" charset="0"/>
                <a:cs typeface="Times New Roman" panose="02020603050405020304" pitchFamily="18" charset="0"/>
              </a:rPr>
              <a:t>0</a:t>
            </a:r>
            <a:r>
              <a:rPr lang="en-US" sz="2800" smtClean="0">
                <a:latin typeface="Times New Roman" panose="02020603050405020304" pitchFamily="18" charset="0"/>
                <a:cs typeface="Times New Roman" panose="02020603050405020304" pitchFamily="18" charset="0"/>
              </a:rPr>
              <a:t> is primary power factor under no-load conditions. primary current I</a:t>
            </a:r>
            <a:r>
              <a:rPr lang="en-US" sz="2800" baseline="-25000" smtClean="0">
                <a:latin typeface="Times New Roman" panose="02020603050405020304" pitchFamily="18" charset="0"/>
                <a:cs typeface="Times New Roman" panose="02020603050405020304" pitchFamily="18" charset="0"/>
              </a:rPr>
              <a:t>0</a:t>
            </a:r>
            <a:r>
              <a:rPr lang="en-US" sz="2800" smtClean="0">
                <a:latin typeface="Times New Roman" panose="02020603050405020304" pitchFamily="18" charset="0"/>
                <a:cs typeface="Times New Roman" panose="02020603050405020304" pitchFamily="18" charset="0"/>
              </a:rPr>
              <a:t> has two components :</a:t>
            </a:r>
            <a:endParaRPr lang="en-US" sz="2800" smtClean="0">
              <a:latin typeface="Times New Roman" panose="02020603050405020304" pitchFamily="18" charset="0"/>
              <a:cs typeface="Times New Roman" panose="02020603050405020304" pitchFamily="18" charset="0"/>
            </a:endParaRPr>
          </a:p>
          <a:p>
            <a:pPr algn="just"/>
            <a:r>
              <a:rPr lang="en-US" sz="2800" smtClean="0">
                <a:latin typeface="Times New Roman" panose="02020603050405020304" pitchFamily="18" charset="0"/>
                <a:cs typeface="Times New Roman" panose="02020603050405020304" pitchFamily="18" charset="0"/>
              </a:rPr>
              <a:t>One in phase with V </a:t>
            </a:r>
            <a:r>
              <a:rPr lang="en-US" sz="2800" baseline="-25000" smtClean="0">
                <a:latin typeface="Times New Roman" panose="02020603050405020304" pitchFamily="18" charset="0"/>
                <a:cs typeface="Times New Roman" panose="02020603050405020304" pitchFamily="18" charset="0"/>
              </a:rPr>
              <a:t>1</a:t>
            </a:r>
            <a:r>
              <a:rPr lang="en-US" sz="2800" smtClean="0">
                <a:latin typeface="Times New Roman" panose="02020603050405020304" pitchFamily="18" charset="0"/>
                <a:cs typeface="Times New Roman" panose="02020603050405020304" pitchFamily="18" charset="0"/>
              </a:rPr>
              <a:t>. This is known as </a:t>
            </a:r>
            <a:r>
              <a:rPr lang="en-US" sz="2800" b="1" i="1" smtClean="0">
                <a:latin typeface="Times New Roman" panose="02020603050405020304" pitchFamily="18" charset="0"/>
                <a:cs typeface="Times New Roman" panose="02020603050405020304" pitchFamily="18" charset="0"/>
              </a:rPr>
              <a:t>active </a:t>
            </a:r>
            <a:r>
              <a:rPr lang="en-US" sz="2800" smtClean="0">
                <a:latin typeface="Times New Roman" panose="02020603050405020304" pitchFamily="18" charset="0"/>
                <a:cs typeface="Times New Roman" panose="02020603050405020304" pitchFamily="18" charset="0"/>
              </a:rPr>
              <a:t>or </a:t>
            </a:r>
            <a:r>
              <a:rPr lang="en-US" sz="2800" b="1" i="1" smtClean="0">
                <a:latin typeface="Times New Roman" panose="02020603050405020304" pitchFamily="18" charset="0"/>
                <a:cs typeface="Times New Roman" panose="02020603050405020304" pitchFamily="18" charset="0"/>
              </a:rPr>
              <a:t>working or iron </a:t>
            </a:r>
            <a:r>
              <a:rPr lang="en-US" sz="2800" smtClean="0">
                <a:latin typeface="Times New Roman" panose="02020603050405020304" pitchFamily="18" charset="0"/>
                <a:cs typeface="Times New Roman" panose="02020603050405020304" pitchFamily="18" charset="0"/>
              </a:rPr>
              <a:t>loss component I</a:t>
            </a:r>
            <a:r>
              <a:rPr lang="en-US" sz="2800" baseline="-25000" smtClean="0">
                <a:latin typeface="Times New Roman" panose="02020603050405020304" pitchFamily="18" charset="0"/>
                <a:cs typeface="Times New Roman" panose="02020603050405020304" pitchFamily="18" charset="0"/>
              </a:rPr>
              <a:t>w</a:t>
            </a:r>
            <a:r>
              <a:rPr lang="en-US" sz="2800" i="1" smtClean="0">
                <a:latin typeface="Times New Roman" panose="02020603050405020304" pitchFamily="18" charset="0"/>
                <a:cs typeface="Times New Roman" panose="02020603050405020304" pitchFamily="18" charset="0"/>
              </a:rPr>
              <a:t> , </a:t>
            </a:r>
            <a:r>
              <a:rPr lang="en-US" sz="2800" smtClean="0">
                <a:latin typeface="Times New Roman" panose="02020603050405020304" pitchFamily="18" charset="0"/>
                <a:cs typeface="Times New Roman" panose="02020603050405020304" pitchFamily="18" charset="0"/>
              </a:rPr>
              <a:t>which supplies the core losses (eddy current and hysteresis).</a:t>
            </a:r>
            <a:endParaRPr lang="en-US" sz="2800" smtClean="0">
              <a:latin typeface="Times New Roman" panose="02020603050405020304" pitchFamily="18" charset="0"/>
              <a:cs typeface="Times New Roman" panose="02020603050405020304" pitchFamily="18" charset="0"/>
            </a:endParaRPr>
          </a:p>
          <a:p>
            <a:pPr algn="just" eaLnBrk="1" hangingPunct="1"/>
            <a:r>
              <a:rPr lang="en-US" sz="2800" smtClean="0">
                <a:latin typeface="Times New Roman" panose="02020603050405020304" pitchFamily="18" charset="0"/>
                <a:cs typeface="Times New Roman" panose="02020603050405020304" pitchFamily="18" charset="0"/>
              </a:rPr>
              <a:t>Other component is in quadrature with v</a:t>
            </a:r>
            <a:r>
              <a:rPr lang="en-US" sz="2800" baseline="-25000" smtClean="0">
                <a:latin typeface="Times New Roman" panose="02020603050405020304" pitchFamily="18" charset="0"/>
                <a:cs typeface="Times New Roman" panose="02020603050405020304" pitchFamily="18" charset="0"/>
              </a:rPr>
              <a:t>1</a:t>
            </a:r>
            <a:r>
              <a:rPr lang="en-US" sz="2800" smtClean="0">
                <a:latin typeface="Times New Roman" panose="02020603050405020304" pitchFamily="18" charset="0"/>
                <a:cs typeface="Times New Roman" panose="02020603050405020304" pitchFamily="18" charset="0"/>
              </a:rPr>
              <a:t> and is known as </a:t>
            </a:r>
            <a:r>
              <a:rPr lang="en-US" sz="2800" b="1" smtClean="0">
                <a:latin typeface="Times New Roman" panose="02020603050405020304" pitchFamily="18" charset="0"/>
                <a:cs typeface="Times New Roman" panose="02020603050405020304" pitchFamily="18" charset="0"/>
              </a:rPr>
              <a:t>magnetizing (or) Reactive component I</a:t>
            </a:r>
            <a:r>
              <a:rPr lang="el-GR" sz="2800" b="1" baseline="-25000" smtClean="0">
                <a:latin typeface="Times New Roman" panose="02020603050405020304" pitchFamily="18" charset="0"/>
                <a:cs typeface="Times New Roman" panose="02020603050405020304" pitchFamily="18" charset="0"/>
              </a:rPr>
              <a:t>μ</a:t>
            </a:r>
            <a:r>
              <a:rPr lang="en-US" sz="2800" b="1" smtClean="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which sets up the magnetic flux.</a:t>
            </a:r>
            <a:endParaRPr lang="en-US" sz="28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endParaRPr lang="en-US" sz="2800" smtClean="0">
              <a:latin typeface="Times New Roman" panose="02020603050405020304" pitchFamily="18" charset="0"/>
              <a:cs typeface="Times New Roman" panose="02020603050405020304" pitchFamily="18" charset="0"/>
            </a:endParaRPr>
          </a:p>
          <a:p>
            <a:pPr algn="just"/>
            <a:endParaRPr lang="en-US" sz="2800" baseline="-2500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152400" y="1066800"/>
            <a:ext cx="8534400" cy="5410200"/>
          </a:xfrm>
        </p:spPr>
        <p:txBody>
          <a:bodyPr/>
          <a:lstStyle/>
          <a:p>
            <a:pPr algn="just" eaLnBrk="1" hangingPunct="1">
              <a:buFont typeface="Arial" panose="020B0604020202020204" pitchFamily="34" charset="0"/>
              <a:buNone/>
            </a:pPr>
            <a:r>
              <a:rPr lang="en-US" sz="2400" b="1" smtClean="0">
                <a:solidFill>
                  <a:srgbClr val="FF0000"/>
                </a:solidFill>
                <a:latin typeface="Times New Roman" panose="02020603050405020304" pitchFamily="18" charset="0"/>
                <a:cs typeface="Times New Roman" panose="02020603050405020304" pitchFamily="18" charset="0"/>
              </a:rPr>
              <a:t>The following points should be noted carefully :</a:t>
            </a:r>
            <a:endParaRPr lang="en-US" sz="2400" b="1" smtClean="0">
              <a:solidFill>
                <a:srgbClr val="FF0000"/>
              </a:solidFill>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The no-load primary current I</a:t>
            </a:r>
            <a:r>
              <a:rPr lang="en-US" sz="2400" baseline="-25000" smtClean="0">
                <a:latin typeface="Times New Roman" panose="02020603050405020304" pitchFamily="18" charset="0"/>
                <a:cs typeface="Times New Roman" panose="02020603050405020304" pitchFamily="18" charset="0"/>
              </a:rPr>
              <a:t>0</a:t>
            </a:r>
            <a:r>
              <a:rPr lang="en-US" sz="2400" smtClean="0">
                <a:latin typeface="Times New Roman" panose="02020603050405020304" pitchFamily="18" charset="0"/>
                <a:cs typeface="Times New Roman" panose="02020603050405020304" pitchFamily="18" charset="0"/>
              </a:rPr>
              <a:t> is very small as compared to the full-load primary current (It is about 1 per cent of the full-load current). Hence Cu loss is negligibly small which means </a:t>
            </a:r>
            <a:r>
              <a:rPr lang="en-US" sz="2400" b="1" i="1" smtClean="0">
                <a:latin typeface="Times New Roman" panose="02020603050405020304" pitchFamily="18" charset="0"/>
                <a:cs typeface="Times New Roman" panose="02020603050405020304" pitchFamily="18" charset="0"/>
              </a:rPr>
              <a:t>that no-load primary input power is practically equal to the iron loss in the transformer</a:t>
            </a:r>
            <a:r>
              <a:rPr lang="en-US" sz="2400" i="1" smtClean="0">
                <a:latin typeface="Times New Roman" panose="02020603050405020304" pitchFamily="18" charset="0"/>
                <a:cs typeface="Times New Roman" panose="02020603050405020304" pitchFamily="18" charset="0"/>
              </a:rPr>
              <a:t>.</a:t>
            </a:r>
            <a:endParaRPr lang="en-US" sz="2400" smtClean="0">
              <a:latin typeface="Times New Roman" panose="02020603050405020304" pitchFamily="18" charset="0"/>
              <a:cs typeface="Times New Roman" panose="02020603050405020304" pitchFamily="18" charset="0"/>
            </a:endParaRPr>
          </a:p>
          <a:p>
            <a:pPr eaLnBrk="1" hangingPunct="1"/>
            <a:endParaRPr lang="en-US"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228600" y="457200"/>
            <a:ext cx="8458200" cy="6096000"/>
          </a:xfrm>
        </p:spPr>
        <p:txBody>
          <a:bodyPr/>
          <a:lstStyle/>
          <a:p>
            <a:pPr eaLnBrk="1" hangingPunct="1">
              <a:buFont typeface="Wingdings" panose="05000000000000000000" pitchFamily="2" charset="2"/>
              <a:buChar char="Ø"/>
            </a:pPr>
            <a:r>
              <a:rPr lang="en-US" b="1" u="sng" smtClean="0">
                <a:solidFill>
                  <a:srgbClr val="FF0000"/>
                </a:solidFill>
                <a:latin typeface="Times New Roman" panose="02020603050405020304" pitchFamily="18" charset="0"/>
                <a:cs typeface="Times New Roman" panose="02020603050405020304" pitchFamily="18" charset="0"/>
              </a:rPr>
              <a:t>Practical Transformer on Load:</a:t>
            </a:r>
            <a:endParaRPr lang="en-US" b="1" u="sng" smtClean="0">
              <a:solidFill>
                <a:srgbClr val="FF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endParaRPr lang="en-US" b="1" u="sng" smtClean="0">
              <a:solidFill>
                <a:srgbClr val="3333FF"/>
              </a:solidFill>
            </a:endParaRPr>
          </a:p>
          <a:p>
            <a:pPr algn="just" eaLnBrk="1" hangingPunct="1"/>
            <a:r>
              <a:rPr lang="en-US" smtClean="0"/>
              <a:t> </a:t>
            </a:r>
            <a:r>
              <a:rPr lang="en-US" sz="2400" smtClean="0">
                <a:latin typeface="Times New Roman" panose="02020603050405020304" pitchFamily="18" charset="0"/>
                <a:cs typeface="Times New Roman" panose="02020603050405020304" pitchFamily="18" charset="0"/>
              </a:rPr>
              <a:t>When the secondary is loaded, the secondary current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is set up. The V</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 magnitude and phase of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with respect to </a:t>
            </a:r>
            <a:r>
              <a:rPr lang="en-US" sz="2400" i="1" smtClean="0">
                <a:latin typeface="Times New Roman" panose="02020603050405020304" pitchFamily="18" charset="0"/>
                <a:cs typeface="Times New Roman" panose="02020603050405020304" pitchFamily="18" charset="0"/>
              </a:rPr>
              <a:t>V</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is determined by the characteristics of the load. Current </a:t>
            </a:r>
            <a:r>
              <a:rPr lang="en-US" sz="2400" i="1"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is in phase with </a:t>
            </a:r>
            <a:r>
              <a:rPr lang="en-US" sz="2400" i="1" smtClean="0">
                <a:latin typeface="Times New Roman" panose="02020603050405020304" pitchFamily="18" charset="0"/>
                <a:cs typeface="Times New Roman" panose="02020603050405020304" pitchFamily="18" charset="0"/>
              </a:rPr>
              <a:t>V</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if load is non-inductive, it lags if load is inductive and it leads if load is capacitive.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The secondary current sets up its own </a:t>
            </a:r>
            <a:r>
              <a:rPr lang="en-US" sz="2400" b="1" smtClean="0">
                <a:latin typeface="Times New Roman" panose="02020603050405020304" pitchFamily="18" charset="0"/>
                <a:cs typeface="Times New Roman" panose="02020603050405020304" pitchFamily="18" charset="0"/>
              </a:rPr>
              <a:t>m.m.f</a:t>
            </a:r>
            <a:r>
              <a:rPr lang="en-US" sz="2400" smtClean="0">
                <a:latin typeface="Times New Roman" panose="02020603050405020304" pitchFamily="18" charset="0"/>
                <a:cs typeface="Times New Roman" panose="02020603050405020304" pitchFamily="18" charset="0"/>
              </a:rPr>
              <a:t>=</a:t>
            </a:r>
            <a:r>
              <a:rPr lang="en-US" sz="2400" b="1" i="1" smtClean="0">
                <a:latin typeface="Times New Roman" panose="02020603050405020304" pitchFamily="18" charset="0"/>
                <a:cs typeface="Times New Roman" panose="02020603050405020304" pitchFamily="18" charset="0"/>
              </a:rPr>
              <a:t> N</a:t>
            </a:r>
            <a:r>
              <a:rPr lang="en-US" sz="2400" b="1" baseline="-25000" smtClean="0">
                <a:latin typeface="Times New Roman" panose="02020603050405020304" pitchFamily="18" charset="0"/>
                <a:cs typeface="Times New Roman" panose="02020603050405020304" pitchFamily="18" charset="0"/>
              </a:rPr>
              <a:t>2</a:t>
            </a:r>
            <a:r>
              <a:rPr lang="en-US" sz="2400" b="1" i="1" smtClean="0">
                <a:latin typeface="Times New Roman" panose="02020603050405020304" pitchFamily="18" charset="0"/>
                <a:cs typeface="Times New Roman" panose="02020603050405020304" pitchFamily="18" charset="0"/>
              </a:rPr>
              <a:t>I</a:t>
            </a:r>
            <a:r>
              <a:rPr lang="en-US" sz="2400" b="1"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and hence its own flux </a:t>
            </a:r>
            <a:r>
              <a:rPr lang="el-GR"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which is in opposition to the main primary flux </a:t>
            </a:r>
            <a:r>
              <a:rPr lang="el-GR" sz="2400" smtClean="0">
                <a:latin typeface="Times New Roman" panose="02020603050405020304" pitchFamily="18" charset="0"/>
                <a:cs typeface="Times New Roman" panose="02020603050405020304" pitchFamily="18" charset="0"/>
              </a:rPr>
              <a:t>Φ</a:t>
            </a:r>
            <a:r>
              <a:rPr lang="en-US" sz="2400" smtClean="0">
                <a:latin typeface="Times New Roman" panose="02020603050405020304" pitchFamily="18" charset="0"/>
                <a:cs typeface="Times New Roman" panose="02020603050405020304" pitchFamily="18" charset="0"/>
              </a:rPr>
              <a:t> which  due to </a:t>
            </a:r>
            <a:r>
              <a:rPr lang="en-US" sz="2400" i="1" smtClean="0">
                <a:latin typeface="Times New Roman" panose="02020603050405020304" pitchFamily="18" charset="0"/>
                <a:cs typeface="Times New Roman" panose="02020603050405020304" pitchFamily="18" charset="0"/>
              </a:rPr>
              <a:t>I</a:t>
            </a:r>
            <a:r>
              <a:rPr lang="en-US" sz="2400" baseline="-25000" smtClean="0">
                <a:latin typeface="Times New Roman" panose="02020603050405020304" pitchFamily="18" charset="0"/>
                <a:cs typeface="Times New Roman" panose="02020603050405020304" pitchFamily="18" charset="0"/>
              </a:rPr>
              <a:t>0</a:t>
            </a:r>
            <a:r>
              <a:rPr lang="en-US" sz="2400" smtClean="0">
                <a:latin typeface="Times New Roman" panose="02020603050405020304" pitchFamily="18" charset="0"/>
                <a:cs typeface="Times New Roman" panose="02020603050405020304" pitchFamily="18" charset="0"/>
              </a:rPr>
              <a:t>. The secondary ampere-turns </a:t>
            </a:r>
            <a:r>
              <a:rPr lang="en-US" sz="2400" b="1" i="1" smtClean="0">
                <a:latin typeface="Times New Roman" panose="02020603050405020304" pitchFamily="18" charset="0"/>
                <a:cs typeface="Times New Roman" panose="02020603050405020304" pitchFamily="18" charset="0"/>
              </a:rPr>
              <a:t>N</a:t>
            </a:r>
            <a:r>
              <a:rPr lang="en-US" sz="2400" b="1" baseline="-25000" smtClean="0">
                <a:latin typeface="Times New Roman" panose="02020603050405020304" pitchFamily="18" charset="0"/>
                <a:cs typeface="Times New Roman" panose="02020603050405020304" pitchFamily="18" charset="0"/>
              </a:rPr>
              <a:t>2</a:t>
            </a:r>
            <a:r>
              <a:rPr lang="en-US" sz="2400" b="1" i="1" smtClean="0">
                <a:latin typeface="Times New Roman" panose="02020603050405020304" pitchFamily="18" charset="0"/>
                <a:cs typeface="Times New Roman" panose="02020603050405020304" pitchFamily="18" charset="0"/>
              </a:rPr>
              <a:t>I</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are known as</a:t>
            </a:r>
            <a:r>
              <a:rPr lang="en-US" sz="2400" b="1" i="1" smtClean="0">
                <a:latin typeface="Times New Roman" panose="02020603050405020304" pitchFamily="18" charset="0"/>
                <a:cs typeface="Times New Roman" panose="02020603050405020304" pitchFamily="18" charset="0"/>
              </a:rPr>
              <a:t>  demagnetizing </a:t>
            </a:r>
            <a:r>
              <a:rPr lang="en-US" sz="2400" smtClean="0">
                <a:latin typeface="Times New Roman" panose="02020603050405020304" pitchFamily="18" charset="0"/>
                <a:cs typeface="Times New Roman" panose="02020603050405020304" pitchFamily="18" charset="0"/>
              </a:rPr>
              <a:t>amp-turns.</a:t>
            </a: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304800" y="1066800"/>
            <a:ext cx="8610600" cy="5562600"/>
          </a:xfrm>
        </p:spPr>
        <p:txBody>
          <a:bodyPr/>
          <a:lstStyle/>
          <a:p>
            <a:pPr algn="just" eaLnBrk="1" hangingPunct="1"/>
            <a:r>
              <a:rPr lang="en-US" sz="2400" smtClean="0">
                <a:latin typeface="Times New Roman" panose="02020603050405020304" pitchFamily="18" charset="0"/>
                <a:cs typeface="Times New Roman" panose="02020603050405020304" pitchFamily="18" charset="0"/>
              </a:rPr>
              <a:t>The opposing secondary flux </a:t>
            </a:r>
            <a:r>
              <a:rPr lang="el-GR"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weakens primary flux </a:t>
            </a:r>
            <a:r>
              <a:rPr lang="el-GR" sz="2400" smtClean="0">
                <a:latin typeface="Times New Roman" panose="02020603050405020304" pitchFamily="18" charset="0"/>
                <a:cs typeface="Times New Roman" panose="02020603050405020304" pitchFamily="18" charset="0"/>
              </a:rPr>
              <a:t>Φ</a:t>
            </a:r>
            <a:r>
              <a:rPr lang="en-US" sz="2400" smtClean="0">
                <a:latin typeface="Times New Roman" panose="02020603050405020304" pitchFamily="18" charset="0"/>
                <a:cs typeface="Times New Roman" panose="02020603050405020304" pitchFamily="18" charset="0"/>
              </a:rPr>
              <a:t> momentarily, hence primary back e.m.f </a:t>
            </a:r>
            <a:r>
              <a:rPr lang="en-US" sz="2400" i="1" smtClean="0">
                <a:latin typeface="Times New Roman" panose="02020603050405020304" pitchFamily="18" charset="0"/>
                <a:cs typeface="Times New Roman" panose="02020603050405020304" pitchFamily="18" charset="0"/>
              </a:rPr>
              <a:t>E</a:t>
            </a:r>
            <a:r>
              <a:rPr lang="en-US" sz="2400" baseline="-25000" smtClean="0">
                <a:latin typeface="Times New Roman" panose="02020603050405020304" pitchFamily="18" charset="0"/>
                <a:cs typeface="Times New Roman" panose="02020603050405020304" pitchFamily="18" charset="0"/>
              </a:rPr>
              <a:t>1 </a:t>
            </a:r>
            <a:r>
              <a:rPr lang="en-US" sz="2400" smtClean="0">
                <a:latin typeface="Times New Roman" panose="02020603050405020304" pitchFamily="18" charset="0"/>
                <a:cs typeface="Times New Roman" panose="02020603050405020304" pitchFamily="18" charset="0"/>
              </a:rPr>
              <a:t>tends to be reduced. Let the additional primary current be </a:t>
            </a:r>
            <a:r>
              <a:rPr lang="en-US" sz="2400" b="1" smtClean="0">
                <a:latin typeface="Times New Roman" panose="02020603050405020304" pitchFamily="18" charset="0"/>
                <a:cs typeface="Times New Roman" panose="02020603050405020304" pitchFamily="18" charset="0"/>
              </a:rPr>
              <a:t>I</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It is known as </a:t>
            </a:r>
            <a:r>
              <a:rPr lang="en-US" sz="2400" b="1" i="1" smtClean="0">
                <a:latin typeface="Times New Roman" panose="02020603050405020304" pitchFamily="18" charset="0"/>
                <a:cs typeface="Times New Roman" panose="02020603050405020304" pitchFamily="18" charset="0"/>
              </a:rPr>
              <a:t>load component of primary current</a:t>
            </a:r>
            <a:r>
              <a:rPr lang="en-US" sz="2400" i="1" smtClean="0">
                <a:latin typeface="Times New Roman" panose="02020603050405020304" pitchFamily="18" charset="0"/>
                <a:cs typeface="Times New Roman" panose="02020603050405020304" pitchFamily="18" charset="0"/>
              </a:rPr>
              <a:t>.</a:t>
            </a:r>
            <a:endParaRPr lang="en-US" sz="2400" i="1"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This current is anti phase with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.The additional primary m.m.f N</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sets up its own flux </a:t>
            </a:r>
            <a:r>
              <a:rPr lang="el-GR" sz="2400" b="1" smtClean="0">
                <a:latin typeface="Times New Roman" panose="02020603050405020304" pitchFamily="18" charset="0"/>
                <a:cs typeface="Times New Roman" panose="02020603050405020304" pitchFamily="18" charset="0"/>
              </a:rPr>
              <a:t>Φ</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which is in opposition to </a:t>
            </a:r>
            <a:r>
              <a:rPr lang="el-GR"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(but is in the same direction as </a:t>
            </a:r>
            <a:r>
              <a:rPr lang="el-GR" sz="2400" smtClean="0">
                <a:latin typeface="Times New Roman" panose="02020603050405020304" pitchFamily="18" charset="0"/>
                <a:cs typeface="Times New Roman" panose="02020603050405020304" pitchFamily="18" charset="0"/>
              </a:rPr>
              <a:t>Φ</a:t>
            </a:r>
            <a:r>
              <a:rPr lang="en-US" sz="2400" smtClean="0">
                <a:latin typeface="Times New Roman" panose="02020603050405020304" pitchFamily="18" charset="0"/>
                <a:cs typeface="Times New Roman" panose="02020603050405020304" pitchFamily="18" charset="0"/>
              </a:rPr>
              <a:t>) and is equal to it in magnitude. Hence, the two cancel each other out.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So, we find that the magnetic effects of secondary current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are immediately neutralized by the additional primary current </a:t>
            </a:r>
            <a:r>
              <a:rPr lang="en-US" sz="2400" b="1" smtClean="0">
                <a:latin typeface="Times New Roman" panose="02020603050405020304" pitchFamily="18" charset="0"/>
                <a:cs typeface="Times New Roman" panose="02020603050405020304" pitchFamily="18" charset="0"/>
              </a:rPr>
              <a:t>I</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which is brought into existence exactly at the same instant as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a:t>
            </a:r>
            <a:endParaRPr lang="en-US" sz="240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4"/>
          <p:cNvPicPr>
            <a:picLocks noGrp="1" noChangeAspect="1" noChangeArrowheads="1"/>
          </p:cNvPicPr>
          <p:nvPr>
            <p:ph idx="1"/>
          </p:nvPr>
        </p:nvPicPr>
        <p:blipFill>
          <a:blip r:embed="rId1" cstate="print"/>
          <a:srcRect/>
          <a:stretch>
            <a:fillRect/>
          </a:stretch>
        </p:blipFill>
        <p:spPr>
          <a:xfrm>
            <a:off x="609600" y="1752600"/>
            <a:ext cx="7848600" cy="3352800"/>
          </a:xfr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br>
              <a:rPr lang="en-US" sz="3600" b="1" dirty="0" smtClean="0">
                <a:solidFill>
                  <a:srgbClr val="FF0000"/>
                </a:solidFill>
              </a:rPr>
            </a:br>
            <a:r>
              <a:rPr lang="en-US" sz="3600" b="1" dirty="0" smtClean="0">
                <a:solidFill>
                  <a:srgbClr val="FF0000"/>
                </a:solidFill>
                <a:latin typeface="Times New Roman" panose="02020603050405020304" pitchFamily="18" charset="0"/>
                <a:cs typeface="Times New Roman" panose="02020603050405020304" pitchFamily="18" charset="0"/>
              </a:rPr>
              <a:t>Transformer with Resistive Winding, but No Magnetic Leakage</a:t>
            </a:r>
            <a:br>
              <a:rPr lang="en-US" b="1"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26627" name="Rectangle 3"/>
          <p:cNvSpPr>
            <a:spLocks noChangeArrowheads="1"/>
          </p:cNvSpPr>
          <p:nvPr/>
        </p:nvSpPr>
        <p:spPr bwMode="auto">
          <a:xfrm>
            <a:off x="304800" y="1720850"/>
            <a:ext cx="8458200" cy="3416300"/>
          </a:xfrm>
          <a:prstGeom prst="rect">
            <a:avLst/>
          </a:prstGeom>
          <a:noFill/>
          <a:ln w="9525">
            <a:noFill/>
            <a:miter lim="800000"/>
          </a:ln>
        </p:spPr>
        <p:txBody>
          <a:bodyPr>
            <a:spAutoFit/>
          </a:bodyPr>
          <a:lstStyle/>
          <a:p>
            <a:pPr algn="just"/>
            <a:r>
              <a:rPr lang="en-US" sz="2400">
                <a:latin typeface="Times New Roman" panose="02020603050405020304" pitchFamily="18" charset="0"/>
                <a:cs typeface="Times New Roman" panose="02020603050405020304" pitchFamily="18" charset="0"/>
              </a:rPr>
              <a:t>An ideal transformer was supposed to possess no resistance, but in an actual transformer, there is always present some resistance of the primary and secondary windings. Due to this resistance, there is some voltage drop in the two windings. The result is that :</a:t>
            </a:r>
            <a:endParaRPr lang="en-US" sz="2400">
              <a:latin typeface="Times New Roman" panose="02020603050405020304" pitchFamily="18" charset="0"/>
              <a:cs typeface="Times New Roman" panose="02020603050405020304" pitchFamily="18" charset="0"/>
            </a:endParaRPr>
          </a:p>
          <a:p>
            <a:pPr algn="just"/>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(i) </a:t>
            </a:r>
            <a:r>
              <a:rPr lang="en-US" sz="2400">
                <a:latin typeface="Times New Roman" panose="02020603050405020304" pitchFamily="18" charset="0"/>
                <a:cs typeface="Times New Roman" panose="02020603050405020304" pitchFamily="18" charset="0"/>
              </a:rPr>
              <a:t>The secondary terminal voltage </a:t>
            </a:r>
            <a:r>
              <a:rPr lang="en-US" sz="2400" i="1">
                <a:latin typeface="Times New Roman" panose="02020603050405020304" pitchFamily="18" charset="0"/>
                <a:cs typeface="Times New Roman" panose="02020603050405020304" pitchFamily="18" charset="0"/>
              </a:rPr>
              <a:t>V</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is vectorialy less than the secondary induced e.m.f </a:t>
            </a:r>
            <a:r>
              <a:rPr lang="en-US" sz="2400" i="1">
                <a:latin typeface="Times New Roman" panose="02020603050405020304" pitchFamily="18" charset="0"/>
                <a:cs typeface="Times New Roman" panose="02020603050405020304" pitchFamily="18" charset="0"/>
              </a:rPr>
              <a:t>E</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by an amount </a:t>
            </a:r>
            <a:r>
              <a:rPr lang="en-US" sz="2400" i="1">
                <a:latin typeface="Times New Roman" panose="02020603050405020304" pitchFamily="18" charset="0"/>
                <a:cs typeface="Times New Roman" panose="02020603050405020304" pitchFamily="18" charset="0"/>
              </a:rPr>
              <a:t>I</a:t>
            </a:r>
            <a:r>
              <a:rPr lang="en-US" sz="2400" baseline="-25000">
                <a:latin typeface="Times New Roman" panose="02020603050405020304" pitchFamily="18" charset="0"/>
                <a:cs typeface="Times New Roman" panose="02020603050405020304" pitchFamily="18" charset="0"/>
              </a:rPr>
              <a:t>2</a:t>
            </a:r>
            <a:r>
              <a:rPr lang="en-US" sz="2400" i="1">
                <a:latin typeface="Times New Roman" panose="02020603050405020304" pitchFamily="18" charset="0"/>
                <a:cs typeface="Times New Roman" panose="02020603050405020304" pitchFamily="18" charset="0"/>
              </a:rPr>
              <a:t>R</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where </a:t>
            </a:r>
            <a:r>
              <a:rPr lang="en-US" sz="2400" i="1">
                <a:latin typeface="Times New Roman" panose="02020603050405020304" pitchFamily="18" charset="0"/>
                <a:cs typeface="Times New Roman" panose="02020603050405020304" pitchFamily="18" charset="0"/>
              </a:rPr>
              <a:t>R</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is the resistance of the secondary winding. Hence, </a:t>
            </a:r>
            <a:r>
              <a:rPr lang="en-US" sz="2400" i="1">
                <a:latin typeface="Times New Roman" panose="02020603050405020304" pitchFamily="18" charset="0"/>
                <a:cs typeface="Times New Roman" panose="02020603050405020304" pitchFamily="18" charset="0"/>
              </a:rPr>
              <a:t>V</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is equal to the vector difference of </a:t>
            </a:r>
            <a:r>
              <a:rPr lang="en-US" sz="2400" i="1">
                <a:latin typeface="Times New Roman" panose="02020603050405020304" pitchFamily="18" charset="0"/>
                <a:cs typeface="Times New Roman" panose="02020603050405020304" pitchFamily="18" charset="0"/>
              </a:rPr>
              <a:t>E</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and resistive voltage drop </a:t>
            </a:r>
            <a:r>
              <a:rPr lang="en-US" sz="2400" i="1">
                <a:latin typeface="Times New Roman" panose="02020603050405020304" pitchFamily="18" charset="0"/>
                <a:cs typeface="Times New Roman" panose="02020603050405020304" pitchFamily="18" charset="0"/>
              </a:rPr>
              <a:t>I</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a:t>
            </a:r>
            <a:r>
              <a:rPr lang="en-US" sz="2400" i="1">
                <a:latin typeface="Times New Roman" panose="02020603050405020304" pitchFamily="18" charset="0"/>
                <a:cs typeface="Times New Roman" panose="02020603050405020304" pitchFamily="18" charset="0"/>
              </a:rPr>
              <a:t>R</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p:cNvSpPr>
          <p:nvPr>
            <p:ph idx="1"/>
          </p:nvPr>
        </p:nvSpPr>
        <p:spPr>
          <a:xfrm>
            <a:off x="533400" y="838200"/>
            <a:ext cx="8229600" cy="1676400"/>
          </a:xfrm>
        </p:spPr>
        <p:txBody>
          <a:bodyPr/>
          <a:lstStyle/>
          <a:p>
            <a:pPr algn="just" eaLnBrk="1" hangingPunct="1"/>
            <a:r>
              <a:rPr lang="en-US" sz="2400" smtClean="0">
                <a:latin typeface="Times New Roman" panose="02020603050405020304" pitchFamily="18" charset="0"/>
                <a:cs typeface="Times New Roman" panose="02020603050405020304" pitchFamily="18" charset="0"/>
              </a:rPr>
              <a:t>The vector diagrams for non-inductive, inductive and capacitive loads are shown in Fig (</a:t>
            </a:r>
            <a:r>
              <a:rPr lang="en-US" sz="2400" i="1" smtClean="0">
                <a:latin typeface="Times New Roman" panose="02020603050405020304" pitchFamily="18" charset="0"/>
                <a:cs typeface="Times New Roman" panose="02020603050405020304" pitchFamily="18" charset="0"/>
              </a:rPr>
              <a:t>a</a:t>
            </a:r>
            <a:r>
              <a:rPr lang="en-US" sz="2400" smtClean="0">
                <a:latin typeface="Times New Roman" panose="02020603050405020304" pitchFamily="18" charset="0"/>
                <a:cs typeface="Times New Roman" panose="02020603050405020304" pitchFamily="18" charset="0"/>
              </a:rPr>
              <a:t>), (</a:t>
            </a:r>
            <a:r>
              <a:rPr lang="en-US" sz="2400" i="1" smtClean="0">
                <a:latin typeface="Times New Roman" panose="02020603050405020304" pitchFamily="18" charset="0"/>
                <a:cs typeface="Times New Roman" panose="02020603050405020304" pitchFamily="18" charset="0"/>
              </a:rPr>
              <a:t>b</a:t>
            </a:r>
            <a:r>
              <a:rPr lang="en-US" sz="2400" smtClean="0">
                <a:latin typeface="Times New Roman" panose="02020603050405020304" pitchFamily="18" charset="0"/>
                <a:cs typeface="Times New Roman" panose="02020603050405020304" pitchFamily="18" charset="0"/>
              </a:rPr>
              <a:t>) and (</a:t>
            </a:r>
            <a:r>
              <a:rPr lang="en-US" sz="2400" i="1" smtClean="0">
                <a:latin typeface="Times New Roman" panose="02020603050405020304" pitchFamily="18" charset="0"/>
                <a:cs typeface="Times New Roman" panose="02020603050405020304" pitchFamily="18" charset="0"/>
              </a:rPr>
              <a:t>c</a:t>
            </a:r>
            <a:r>
              <a:rPr lang="en-US" sz="2400" smtClean="0">
                <a:latin typeface="Times New Roman" panose="02020603050405020304" pitchFamily="18" charset="0"/>
                <a:cs typeface="Times New Roman" panose="02020603050405020304" pitchFamily="18" charset="0"/>
              </a:rPr>
              <a:t>) respectively</a:t>
            </a:r>
            <a:r>
              <a:rPr lang="en-US" sz="2800" smtClean="0"/>
              <a:t>.</a:t>
            </a:r>
            <a:endParaRPr lang="en-US" sz="2800" smtClean="0"/>
          </a:p>
        </p:txBody>
      </p:sp>
      <p:pic>
        <p:nvPicPr>
          <p:cNvPr id="27651" name="Picture 4"/>
          <p:cNvPicPr>
            <a:picLocks noChangeAspect="1" noChangeArrowheads="1"/>
          </p:cNvPicPr>
          <p:nvPr/>
        </p:nvPicPr>
        <p:blipFill>
          <a:blip r:embed="rId1" cstate="print"/>
          <a:srcRect/>
          <a:stretch>
            <a:fillRect/>
          </a:stretch>
        </p:blipFill>
        <p:spPr bwMode="auto">
          <a:xfrm>
            <a:off x="609600" y="2362200"/>
            <a:ext cx="8001000" cy="3786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rtlCol="0">
            <a:normAutofit fontScale="90000"/>
          </a:bodyPr>
          <a:lstStyle/>
          <a:p>
            <a:pPr eaLnBrk="1" fontAlgn="auto" hangingPunct="1">
              <a:spcAft>
                <a:spcPts val="0"/>
              </a:spcAft>
              <a:defRPr/>
            </a:pPr>
            <a:br>
              <a:rPr lang="en-US" sz="3600" b="1" dirty="0" smtClean="0">
                <a:solidFill>
                  <a:srgbClr val="FF0000"/>
                </a:solidFill>
              </a:rPr>
            </a:br>
            <a:r>
              <a:rPr lang="en-US" sz="3600" b="1" dirty="0" smtClean="0">
                <a:solidFill>
                  <a:srgbClr val="FF0000"/>
                </a:solidFill>
                <a:latin typeface="Times New Roman" panose="02020603050405020304" pitchFamily="18" charset="0"/>
                <a:cs typeface="Times New Roman" panose="02020603050405020304" pitchFamily="18" charset="0"/>
              </a:rPr>
              <a:t>Transformer With Resistive Winding and with Magnetic Leakage</a:t>
            </a:r>
            <a:br>
              <a:rPr lang="en-US" b="1"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28675" name="Picture 4"/>
          <p:cNvPicPr>
            <a:picLocks noChangeAspect="1" noChangeArrowheads="1"/>
          </p:cNvPicPr>
          <p:nvPr/>
        </p:nvPicPr>
        <p:blipFill>
          <a:blip r:embed="rId1" cstate="print"/>
          <a:srcRect/>
          <a:stretch>
            <a:fillRect/>
          </a:stretch>
        </p:blipFill>
        <p:spPr bwMode="auto">
          <a:xfrm>
            <a:off x="304800" y="1524000"/>
            <a:ext cx="8686800" cy="502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152400" y="1143000"/>
            <a:ext cx="8839200" cy="5486400"/>
          </a:xfrm>
        </p:spPr>
        <p:txBody>
          <a:bodyPr/>
          <a:lstStyle/>
          <a:p>
            <a:pPr algn="just" eaLnBrk="1" hangingPunct="1"/>
            <a:r>
              <a:rPr lang="en-US" sz="2400" smtClean="0">
                <a:latin typeface="Times New Roman" panose="02020603050405020304" pitchFamily="18" charset="0"/>
                <a:cs typeface="Times New Roman" panose="02020603050405020304" pitchFamily="18" charset="0"/>
              </a:rPr>
              <a:t>The vector diagram for such a transformer for different kinds of loads is shown in Fig above. </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In these diagrams, vectors for resistive drops are drawn parallel to current vectors whereas reactive drops are perpendicular to the current vectors. The angle </a:t>
            </a:r>
            <a:r>
              <a:rPr lang="el-GR" sz="2400" smtClean="0">
                <a:latin typeface="Times New Roman" panose="02020603050405020304" pitchFamily="18" charset="0"/>
                <a:cs typeface="Times New Roman" panose="02020603050405020304" pitchFamily="18" charset="0"/>
              </a:rPr>
              <a:t>Φ</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 between </a:t>
            </a:r>
            <a:r>
              <a:rPr lang="en-US" sz="2400" i="1" smtClean="0">
                <a:latin typeface="Times New Roman" panose="02020603050405020304" pitchFamily="18" charset="0"/>
                <a:cs typeface="Times New Roman" panose="02020603050405020304" pitchFamily="18" charset="0"/>
              </a:rPr>
              <a:t>V </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 and I</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 gives the power factor angle of the transformer.</a:t>
            </a:r>
            <a:endParaRPr lang="en-US" sz="2400" smtClean="0">
              <a:latin typeface="Times New Roman" panose="02020603050405020304" pitchFamily="18" charset="0"/>
              <a:cs typeface="Times New Roman" panose="02020603050405020304" pitchFamily="18" charset="0"/>
            </a:endParaRPr>
          </a:p>
          <a:p>
            <a:pPr algn="just" eaLnBrk="1" hangingPunct="1"/>
            <a:r>
              <a:rPr lang="en-US" sz="2400" smtClean="0">
                <a:latin typeface="Times New Roman" panose="02020603050405020304" pitchFamily="18" charset="0"/>
                <a:cs typeface="Times New Roman" panose="02020603050405020304" pitchFamily="18" charset="0"/>
              </a:rPr>
              <a:t>It may be noted that leakage reactance can also be transferred from one winding to the other in the same way as resistance.</a:t>
            </a:r>
            <a:endParaRPr lang="en-US" sz="2400" smtClean="0">
              <a:latin typeface="Times New Roman" panose="02020603050405020304" pitchFamily="18" charset="0"/>
              <a:cs typeface="Times New Roman" panose="02020603050405020304" pitchFamily="18" charset="0"/>
            </a:endParaRPr>
          </a:p>
          <a:p>
            <a:pPr eaLnBrk="1" hangingPunct="1"/>
            <a:endParaRPr 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fontScale="90000"/>
          </a:bodyPr>
          <a:lstStyle/>
          <a:p>
            <a:pPr eaLnBrk="1" fontAlgn="auto" hangingPunct="1">
              <a:spcAft>
                <a:spcPts val="0"/>
              </a:spcAft>
              <a:defRPr/>
            </a:pPr>
            <a:br>
              <a:rPr lang="en-US" b="1" dirty="0" smtClean="0"/>
            </a:br>
            <a:r>
              <a:rPr lang="en-US" sz="4000" b="1" dirty="0" smtClean="0">
                <a:solidFill>
                  <a:srgbClr val="FF0000"/>
                </a:solidFill>
                <a:latin typeface="Times New Roman" panose="02020603050405020304" pitchFamily="18" charset="0"/>
                <a:cs typeface="Times New Roman" panose="02020603050405020304" pitchFamily="18" charset="0"/>
              </a:rPr>
              <a:t>Equivalent Resistance</a:t>
            </a:r>
            <a:br>
              <a:rPr lang="en-US" sz="4000" b="1" dirty="0" smtClean="0">
                <a:solidFill>
                  <a:srgbClr val="FF0000"/>
                </a:solidFill>
              </a:rPr>
            </a:br>
            <a:endParaRPr lang="en-US" sz="4000" b="1" dirty="0">
              <a:solidFill>
                <a:srgbClr val="FF0000"/>
              </a:solidFill>
            </a:endParaRPr>
          </a:p>
        </p:txBody>
      </p:sp>
      <p:pic>
        <p:nvPicPr>
          <p:cNvPr id="30723" name="Picture 2"/>
          <p:cNvPicPr>
            <a:picLocks noGrp="1" noChangeAspect="1" noChangeArrowheads="1"/>
          </p:cNvPicPr>
          <p:nvPr>
            <p:ph idx="1"/>
          </p:nvPr>
        </p:nvPicPr>
        <p:blipFill>
          <a:blip r:embed="rId1" cstate="print"/>
          <a:srcRect/>
          <a:stretch>
            <a:fillRect/>
          </a:stretch>
        </p:blipFill>
        <p:spPr>
          <a:xfrm>
            <a:off x="2362200" y="1219200"/>
            <a:ext cx="3886200" cy="1524000"/>
          </a:xfrm>
        </p:spPr>
      </p:pic>
      <p:sp>
        <p:nvSpPr>
          <p:cNvPr id="30724" name="Rectangle 4"/>
          <p:cNvSpPr>
            <a:spLocks noChangeArrowheads="1"/>
          </p:cNvSpPr>
          <p:nvPr/>
        </p:nvSpPr>
        <p:spPr bwMode="auto">
          <a:xfrm>
            <a:off x="76200" y="2971800"/>
            <a:ext cx="8915400" cy="3754438"/>
          </a:xfrm>
          <a:prstGeom prst="rect">
            <a:avLst/>
          </a:prstGeom>
          <a:noFill/>
          <a:ln w="9525">
            <a:noFill/>
            <a:miter lim="800000"/>
          </a:ln>
        </p:spPr>
        <p:txBody>
          <a:bodyPr>
            <a:spAutoFit/>
          </a:bodyPr>
          <a:lstStyle/>
          <a:p>
            <a:pPr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In Fig above a transformer is shown whose primary and secondary windings have resistances of </a:t>
            </a:r>
            <a:r>
              <a:rPr lang="en-US" sz="2000" i="1">
                <a:latin typeface="Times New Roman" panose="02020603050405020304" pitchFamily="18" charset="0"/>
                <a:cs typeface="Times New Roman" panose="02020603050405020304" pitchFamily="18" charset="0"/>
              </a:rPr>
              <a:t>R</a:t>
            </a:r>
            <a:r>
              <a:rPr lang="en-US" sz="2000">
                <a:latin typeface="Times New Roman" panose="02020603050405020304" pitchFamily="18" charset="0"/>
                <a:cs typeface="Times New Roman" panose="02020603050405020304" pitchFamily="18" charset="0"/>
              </a:rPr>
              <a:t>1 and </a:t>
            </a:r>
            <a:r>
              <a:rPr lang="en-US" sz="2000" i="1">
                <a:latin typeface="Times New Roman" panose="02020603050405020304" pitchFamily="18" charset="0"/>
                <a:cs typeface="Times New Roman" panose="02020603050405020304" pitchFamily="18" charset="0"/>
              </a:rPr>
              <a:t>R</a:t>
            </a:r>
            <a:r>
              <a:rPr lang="en-US" sz="2000">
                <a:latin typeface="Times New Roman" panose="02020603050405020304" pitchFamily="18" charset="0"/>
                <a:cs typeface="Times New Roman" panose="02020603050405020304" pitchFamily="18" charset="0"/>
              </a:rPr>
              <a:t>2 respectively. </a:t>
            </a:r>
            <a:endParaRPr lang="en-US" sz="20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The resistances of the two windings can be transferred to any one of the two windings. The advantage of concentrating both the resistances in one winding is that it makes calculations very simple and easy. It will be proved that a resistance of </a:t>
            </a:r>
            <a:r>
              <a:rPr lang="en-US" sz="2000" i="1">
                <a:latin typeface="Times New Roman" panose="02020603050405020304" pitchFamily="18" charset="0"/>
                <a:cs typeface="Times New Roman" panose="02020603050405020304" pitchFamily="18" charset="0"/>
              </a:rPr>
              <a:t>R</a:t>
            </a:r>
            <a:r>
              <a:rPr lang="en-US" sz="2000" baseline="-25000">
                <a:latin typeface="Times New Roman" panose="02020603050405020304" pitchFamily="18" charset="0"/>
                <a:cs typeface="Times New Roman" panose="02020603050405020304" pitchFamily="18" charset="0"/>
              </a:rPr>
              <a:t>2</a:t>
            </a:r>
            <a:r>
              <a:rPr lang="en-US" sz="2000">
                <a:latin typeface="Times New Roman" panose="02020603050405020304" pitchFamily="18" charset="0"/>
                <a:cs typeface="Times New Roman" panose="02020603050405020304" pitchFamily="18" charset="0"/>
              </a:rPr>
              <a:t> in secondary is equivalent to </a:t>
            </a:r>
            <a:r>
              <a:rPr lang="en-US" sz="2000" i="1">
                <a:latin typeface="Times New Roman" panose="02020603050405020304" pitchFamily="18" charset="0"/>
                <a:cs typeface="Times New Roman" panose="02020603050405020304" pitchFamily="18" charset="0"/>
              </a:rPr>
              <a:t>R</a:t>
            </a:r>
            <a:r>
              <a:rPr lang="en-US" sz="2000" baseline="-25000">
                <a:latin typeface="Times New Roman" panose="02020603050405020304" pitchFamily="18" charset="0"/>
                <a:cs typeface="Times New Roman" panose="02020603050405020304" pitchFamily="18" charset="0"/>
              </a:rPr>
              <a:t>2</a:t>
            </a:r>
            <a:r>
              <a:rPr lang="en-US" sz="2000">
                <a:latin typeface="Times New Roman" panose="02020603050405020304" pitchFamily="18" charset="0"/>
                <a:cs typeface="Times New Roman" panose="02020603050405020304" pitchFamily="18" charset="0"/>
              </a:rPr>
              <a:t>/</a:t>
            </a:r>
            <a:r>
              <a:rPr lang="en-US" sz="2000" i="1">
                <a:latin typeface="Times New Roman" panose="02020603050405020304" pitchFamily="18" charset="0"/>
                <a:cs typeface="Times New Roman" panose="02020603050405020304" pitchFamily="18" charset="0"/>
              </a:rPr>
              <a:t>K</a:t>
            </a:r>
            <a:r>
              <a:rPr lang="en-US" sz="2000" i="1" baseline="30000">
                <a:latin typeface="Times New Roman" panose="02020603050405020304" pitchFamily="18" charset="0"/>
                <a:cs typeface="Times New Roman" panose="02020603050405020304" pitchFamily="18" charset="0"/>
              </a:rPr>
              <a:t>2</a:t>
            </a:r>
            <a:r>
              <a:rPr lang="en-US" sz="2000" i="1">
                <a:latin typeface="Times New Roman" panose="02020603050405020304" pitchFamily="18" charset="0"/>
                <a:cs typeface="Times New Roman" panose="02020603050405020304" pitchFamily="18" charset="0"/>
              </a:rPr>
              <a:t> </a:t>
            </a:r>
            <a:r>
              <a:rPr lang="en-US" sz="2000" b="1" i="1">
                <a:latin typeface="Times New Roman" panose="02020603050405020304" pitchFamily="18" charset="0"/>
                <a:cs typeface="Times New Roman" panose="02020603050405020304" pitchFamily="18" charset="0"/>
              </a:rPr>
              <a:t>the equivalent </a:t>
            </a:r>
            <a:r>
              <a:rPr lang="en-US" sz="2000">
                <a:latin typeface="Times New Roman" panose="02020603050405020304" pitchFamily="18" charset="0"/>
                <a:cs typeface="Times New Roman" panose="02020603050405020304" pitchFamily="18" charset="0"/>
              </a:rPr>
              <a:t>secondary resistance as referred to primary.</a:t>
            </a:r>
            <a:endParaRPr lang="en-US" sz="20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The copper loss in secondary is </a:t>
            </a:r>
            <a:r>
              <a:rPr lang="en-US" sz="2000" i="1">
                <a:latin typeface="Times New Roman" panose="02020603050405020304" pitchFamily="18" charset="0"/>
                <a:cs typeface="Times New Roman" panose="02020603050405020304" pitchFamily="18" charset="0"/>
              </a:rPr>
              <a:t>I</a:t>
            </a:r>
            <a:r>
              <a:rPr lang="en-US" sz="2000" baseline="-25000">
                <a:latin typeface="Times New Roman" panose="02020603050405020304" pitchFamily="18" charset="0"/>
                <a:cs typeface="Times New Roman" panose="02020603050405020304" pitchFamily="18" charset="0"/>
              </a:rPr>
              <a:t>2</a:t>
            </a:r>
            <a:r>
              <a:rPr lang="en-US" sz="2000" i="1">
                <a:latin typeface="Times New Roman" panose="02020603050405020304" pitchFamily="18" charset="0"/>
                <a:cs typeface="Times New Roman" panose="02020603050405020304" pitchFamily="18" charset="0"/>
              </a:rPr>
              <a:t>R</a:t>
            </a:r>
            <a:r>
              <a:rPr lang="en-US" sz="2000" baseline="-25000">
                <a:latin typeface="Times New Roman" panose="02020603050405020304" pitchFamily="18" charset="0"/>
                <a:cs typeface="Times New Roman" panose="02020603050405020304" pitchFamily="18" charset="0"/>
              </a:rPr>
              <a:t>2</a:t>
            </a:r>
            <a:r>
              <a:rPr lang="en-US" sz="2000">
                <a:latin typeface="Times New Roman" panose="02020603050405020304" pitchFamily="18" charset="0"/>
                <a:cs typeface="Times New Roman" panose="02020603050405020304" pitchFamily="18" charset="0"/>
              </a:rPr>
              <a:t>. This loss is supplied by primary which takes a current of I</a:t>
            </a:r>
            <a:r>
              <a:rPr lang="en-US" sz="2000" baseline="-25000">
                <a:latin typeface="Times New Roman" panose="02020603050405020304" pitchFamily="18" charset="0"/>
                <a:cs typeface="Times New Roman" panose="02020603050405020304" pitchFamily="18" charset="0"/>
              </a:rPr>
              <a:t>1</a:t>
            </a:r>
            <a:r>
              <a:rPr lang="en-US" sz="2000">
                <a:latin typeface="Times New Roman" panose="02020603050405020304" pitchFamily="18" charset="0"/>
                <a:cs typeface="Times New Roman" panose="02020603050405020304" pitchFamily="18" charset="0"/>
              </a:rPr>
              <a:t>.</a:t>
            </a:r>
            <a:endParaRPr lang="en-US" sz="20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Hence if </a:t>
            </a:r>
            <a:r>
              <a:rPr lang="en-US" sz="2000" i="1">
                <a:latin typeface="Times New Roman" panose="02020603050405020304" pitchFamily="18" charset="0"/>
                <a:cs typeface="Times New Roman" panose="02020603050405020304" pitchFamily="18" charset="0"/>
              </a:rPr>
              <a:t>R</a:t>
            </a:r>
            <a:r>
              <a:rPr lang="en-US" sz="2000" i="1" baseline="-25000">
                <a:latin typeface="Times New Roman" panose="02020603050405020304" pitchFamily="18" charset="0"/>
                <a:cs typeface="Times New Roman" panose="02020603050405020304" pitchFamily="18" charset="0"/>
              </a:rPr>
              <a:t>2</a:t>
            </a:r>
            <a:r>
              <a:rPr lang="en-US" sz="2000" i="1">
                <a:latin typeface="Times New Roman" panose="02020603050405020304" pitchFamily="18" charset="0"/>
                <a:cs typeface="Times New Roman" panose="02020603050405020304" pitchFamily="18" charset="0"/>
              </a:rPr>
              <a:t>‘</a:t>
            </a:r>
            <a:r>
              <a:rPr lang="en-US" sz="2000" i="1" baseline="-250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is the </a:t>
            </a:r>
            <a:r>
              <a:rPr lang="en-US" sz="2000" b="1" i="1">
                <a:latin typeface="Times New Roman" panose="02020603050405020304" pitchFamily="18" charset="0"/>
                <a:cs typeface="Times New Roman" panose="02020603050405020304" pitchFamily="18" charset="0"/>
              </a:rPr>
              <a:t>equivalent resistance in primary which would have caused the same loss </a:t>
            </a:r>
            <a:r>
              <a:rPr lang="en-US" sz="2000">
                <a:latin typeface="Times New Roman" panose="02020603050405020304" pitchFamily="18" charset="0"/>
                <a:cs typeface="Times New Roman" panose="02020603050405020304" pitchFamily="18" charset="0"/>
              </a:rPr>
              <a:t>as </a:t>
            </a:r>
            <a:r>
              <a:rPr lang="en-US" sz="2000" i="1">
                <a:latin typeface="Times New Roman" panose="02020603050405020304" pitchFamily="18" charset="0"/>
                <a:cs typeface="Times New Roman" panose="02020603050405020304" pitchFamily="18" charset="0"/>
              </a:rPr>
              <a:t>R</a:t>
            </a:r>
            <a:r>
              <a:rPr lang="en-US" sz="2000">
                <a:latin typeface="Times New Roman" panose="02020603050405020304" pitchFamily="18" charset="0"/>
                <a:cs typeface="Times New Roman" panose="02020603050405020304" pitchFamily="18" charset="0"/>
              </a:rPr>
              <a:t>2 in secondary</a:t>
            </a:r>
            <a:endParaRPr lang="en-US" sz="2000">
              <a:latin typeface="Times New Roman" panose="02020603050405020304" pitchFamily="18" charset="0"/>
              <a:cs typeface="Times New Roman" panose="02020603050405020304" pitchFamily="18" charset="0"/>
            </a:endParaRPr>
          </a:p>
          <a:p>
            <a:endParaRPr lang="en-US">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3"/>
          <p:cNvPicPr>
            <a:picLocks noGrp="1" noChangeAspect="1" noChangeArrowheads="1"/>
          </p:cNvPicPr>
          <p:nvPr>
            <p:ph idx="1"/>
          </p:nvPr>
        </p:nvPicPr>
        <p:blipFill>
          <a:blip r:embed="rId1" cstate="print"/>
          <a:srcRect/>
          <a:stretch>
            <a:fillRect/>
          </a:stretch>
        </p:blipFill>
        <p:spPr>
          <a:xfrm>
            <a:off x="685800" y="609600"/>
            <a:ext cx="7543800" cy="5791200"/>
          </a:xfr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457200" y="762000"/>
            <a:ext cx="8229600" cy="5562600"/>
          </a:xfrm>
        </p:spPr>
        <p:txBody>
          <a:bodyPr/>
          <a:lstStyle/>
          <a:p>
            <a:pPr algn="just" eaLnBrk="1" hangingPunct="1">
              <a:buFont typeface="Arial" panose="020B0604020202020204" pitchFamily="34" charset="0"/>
              <a:buNone/>
            </a:pPr>
            <a:r>
              <a:rPr lang="en-US" sz="2400" b="1" smtClean="0">
                <a:solidFill>
                  <a:srgbClr val="00B050"/>
                </a:solidFill>
                <a:latin typeface="Times New Roman" panose="02020603050405020304" pitchFamily="18" charset="0"/>
                <a:cs typeface="Times New Roman" panose="02020603050405020304" pitchFamily="18" charset="0"/>
              </a:rPr>
              <a:t>Note</a:t>
            </a:r>
            <a:r>
              <a:rPr lang="en-US" sz="2400" b="1" smtClean="0">
                <a:latin typeface="Times New Roman" panose="02020603050405020304" pitchFamily="18" charset="0"/>
                <a:cs typeface="Times New Roman" panose="02020603050405020304" pitchFamily="18" charset="0"/>
              </a:rPr>
              <a:t> : </a:t>
            </a:r>
            <a:r>
              <a:rPr lang="en-US" sz="2400" smtClean="0">
                <a:latin typeface="Times New Roman" panose="02020603050405020304" pitchFamily="18" charset="0"/>
                <a:cs typeface="Times New Roman" panose="02020603050405020304" pitchFamily="18" charset="0"/>
              </a:rPr>
              <a:t>It is important to remember that</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(a) </a:t>
            </a:r>
            <a:r>
              <a:rPr lang="en-US" sz="2400" smtClean="0">
                <a:latin typeface="Times New Roman" panose="02020603050405020304" pitchFamily="18" charset="0"/>
                <a:cs typeface="Times New Roman" panose="02020603050405020304" pitchFamily="18" charset="0"/>
              </a:rPr>
              <a:t>when shifting any primary resistance to the secondary, </a:t>
            </a:r>
            <a:r>
              <a:rPr lang="en-US" sz="2400" b="1" i="1" smtClean="0">
                <a:latin typeface="Times New Roman" panose="02020603050405020304" pitchFamily="18" charset="0"/>
                <a:cs typeface="Times New Roman" panose="02020603050405020304" pitchFamily="18" charset="0"/>
              </a:rPr>
              <a:t>multiply by</a:t>
            </a:r>
            <a:r>
              <a:rPr lang="en-US" sz="2400" smtClean="0">
                <a:latin typeface="Times New Roman" panose="02020603050405020304" pitchFamily="18" charset="0"/>
                <a:cs typeface="Times New Roman" panose="02020603050405020304" pitchFamily="18" charset="0"/>
              </a:rPr>
              <a:t> </a:t>
            </a:r>
            <a:r>
              <a:rPr lang="en-US" sz="2400" i="1" smtClean="0">
                <a:latin typeface="Times New Roman" panose="02020603050405020304" pitchFamily="18" charset="0"/>
                <a:cs typeface="Times New Roman" panose="02020603050405020304" pitchFamily="18" charset="0"/>
              </a:rPr>
              <a:t>K</a:t>
            </a:r>
            <a:r>
              <a:rPr lang="en-US" sz="2400" baseline="-25000" smtClean="0">
                <a:latin typeface="Times New Roman" panose="02020603050405020304" pitchFamily="18" charset="0"/>
                <a:cs typeface="Times New Roman" panose="02020603050405020304" pitchFamily="18" charset="0"/>
              </a:rPr>
              <a:t>2</a:t>
            </a:r>
            <a:r>
              <a:rPr lang="en-US" sz="2400" baseline="30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a:t>
            </a:r>
            <a:r>
              <a:rPr lang="en-US" sz="2400" i="1" smtClean="0">
                <a:latin typeface="Times New Roman" panose="02020603050405020304" pitchFamily="18" charset="0"/>
                <a:cs typeface="Times New Roman" panose="02020603050405020304" pitchFamily="18" charset="0"/>
              </a:rPr>
              <a:t>i.e. </a:t>
            </a:r>
            <a:r>
              <a:rPr lang="en-US" sz="2400" smtClean="0">
                <a:latin typeface="Times New Roman" panose="02020603050405020304" pitchFamily="18" charset="0"/>
                <a:cs typeface="Times New Roman" panose="02020603050405020304" pitchFamily="18" charset="0"/>
              </a:rPr>
              <a:t>(transformation ratio).</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(b) </a:t>
            </a:r>
            <a:r>
              <a:rPr lang="en-US" sz="2400" smtClean="0">
                <a:latin typeface="Times New Roman" panose="02020603050405020304" pitchFamily="18" charset="0"/>
                <a:cs typeface="Times New Roman" panose="02020603050405020304" pitchFamily="18" charset="0"/>
              </a:rPr>
              <a:t>when shifting secondary resistance to the primary, </a:t>
            </a:r>
            <a:r>
              <a:rPr lang="en-US" sz="2400" b="1" i="1" smtClean="0">
                <a:latin typeface="Times New Roman" panose="02020603050405020304" pitchFamily="18" charset="0"/>
                <a:cs typeface="Times New Roman" panose="02020603050405020304" pitchFamily="18" charset="0"/>
              </a:rPr>
              <a:t>divide </a:t>
            </a:r>
            <a:r>
              <a:rPr lang="en-US" sz="2400" smtClean="0">
                <a:latin typeface="Times New Roman" panose="02020603050405020304" pitchFamily="18" charset="0"/>
                <a:cs typeface="Times New Roman" panose="02020603050405020304" pitchFamily="18" charset="0"/>
              </a:rPr>
              <a:t>it by </a:t>
            </a:r>
            <a:r>
              <a:rPr lang="en-US" sz="2400" i="1" smtClean="0">
                <a:latin typeface="Times New Roman" panose="02020603050405020304" pitchFamily="18" charset="0"/>
                <a:cs typeface="Times New Roman" panose="02020603050405020304" pitchFamily="18" charset="0"/>
              </a:rPr>
              <a:t>K</a:t>
            </a:r>
            <a:r>
              <a:rPr lang="en-US" sz="2400" baseline="-25000" smtClean="0">
                <a:latin typeface="Times New Roman" panose="02020603050405020304" pitchFamily="18" charset="0"/>
                <a:cs typeface="Times New Roman" panose="02020603050405020304" pitchFamily="18" charset="0"/>
              </a:rPr>
              <a:t>2</a:t>
            </a:r>
            <a:r>
              <a:rPr lang="en-US" sz="2400" baseline="30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a:t>
            </a:r>
            <a:endParaRPr lang="en-US" sz="2400" smtClean="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(c) </a:t>
            </a:r>
            <a:r>
              <a:rPr lang="en-US" sz="2400" smtClean="0">
                <a:latin typeface="Times New Roman" panose="02020603050405020304" pitchFamily="18" charset="0"/>
                <a:cs typeface="Times New Roman" panose="02020603050405020304" pitchFamily="18" charset="0"/>
              </a:rPr>
              <a:t>However, when shifting any voltage from one winding to another only </a:t>
            </a:r>
            <a:r>
              <a:rPr lang="en-US" sz="2400" i="1" smtClean="0">
                <a:latin typeface="Times New Roman" panose="02020603050405020304" pitchFamily="18" charset="0"/>
                <a:cs typeface="Times New Roman" panose="02020603050405020304" pitchFamily="18" charset="0"/>
              </a:rPr>
              <a:t>K </a:t>
            </a:r>
            <a:r>
              <a:rPr lang="en-US" sz="2400" smtClean="0">
                <a:latin typeface="Times New Roman" panose="02020603050405020304" pitchFamily="18" charset="0"/>
                <a:cs typeface="Times New Roman" panose="02020603050405020304" pitchFamily="18" charset="0"/>
              </a:rPr>
              <a:t>is used.</a:t>
            </a:r>
            <a:endParaRPr lang="en-US" sz="2400" smtClean="0">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If referred to primary: V</a:t>
            </a:r>
            <a:r>
              <a:rPr lang="en-US" sz="2400" baseline="-25000" smtClean="0">
                <a:latin typeface="Times New Roman" panose="02020603050405020304" pitchFamily="18" charset="0"/>
                <a:cs typeface="Times New Roman" panose="02020603050405020304" pitchFamily="18" charset="0"/>
              </a:rPr>
              <a:t>2</a:t>
            </a:r>
            <a:r>
              <a:rPr lang="en-US" sz="2400" baseline="30000"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V</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/k</a:t>
            </a:r>
            <a:endParaRPr lang="en-US" sz="2400" smtClean="0">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If referred to secondary: V</a:t>
            </a:r>
            <a:r>
              <a:rPr lang="en-US" sz="2400" baseline="-25000" smtClean="0">
                <a:latin typeface="Times New Roman" panose="02020603050405020304" pitchFamily="18" charset="0"/>
                <a:cs typeface="Times New Roman" panose="02020603050405020304" pitchFamily="18" charset="0"/>
              </a:rPr>
              <a:t>1</a:t>
            </a:r>
            <a:r>
              <a:rPr lang="en-US" sz="2400" baseline="30000"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V</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*k</a:t>
            </a:r>
            <a:endParaRPr lang="en-US" sz="2400" smtClean="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(d) when shifting any current from one winding to another only </a:t>
            </a:r>
            <a:r>
              <a:rPr lang="en-US" sz="2400" i="1" smtClean="0">
                <a:latin typeface="Times New Roman" panose="02020603050405020304" pitchFamily="18" charset="0"/>
                <a:cs typeface="Times New Roman" panose="02020603050405020304" pitchFamily="18" charset="0"/>
              </a:rPr>
              <a:t>K </a:t>
            </a:r>
            <a:r>
              <a:rPr lang="en-US" sz="2400" smtClean="0">
                <a:latin typeface="Times New Roman" panose="02020603050405020304" pitchFamily="18" charset="0"/>
                <a:cs typeface="Times New Roman" panose="02020603050405020304" pitchFamily="18" charset="0"/>
              </a:rPr>
              <a:t>is used. </a:t>
            </a:r>
            <a:endParaRPr lang="en-US" sz="2400" smtClean="0">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If referred to primary: I</a:t>
            </a:r>
            <a:r>
              <a:rPr lang="en-US" sz="2400" baseline="-25000" smtClean="0">
                <a:latin typeface="Times New Roman" panose="02020603050405020304" pitchFamily="18" charset="0"/>
                <a:cs typeface="Times New Roman" panose="02020603050405020304" pitchFamily="18" charset="0"/>
              </a:rPr>
              <a:t>2</a:t>
            </a:r>
            <a:r>
              <a:rPr lang="en-US" sz="2400" baseline="30000"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I</a:t>
            </a:r>
            <a:r>
              <a:rPr lang="en-US" sz="2400"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*k</a:t>
            </a:r>
            <a:endParaRPr lang="en-US" sz="2400" smtClean="0">
              <a:latin typeface="Times New Roman" panose="02020603050405020304" pitchFamily="18" charset="0"/>
              <a:cs typeface="Times New Roman" panose="02020603050405020304" pitchFamily="18" charset="0"/>
            </a:endParaRPr>
          </a:p>
          <a:p>
            <a:pPr algn="ctr" eaLnBrk="1" hangingPunct="1">
              <a:buFont typeface="Arial" panose="020B0604020202020204" pitchFamily="34" charset="0"/>
              <a:buNone/>
            </a:pPr>
            <a:r>
              <a:rPr lang="en-US" sz="2400" smtClean="0">
                <a:latin typeface="Times New Roman" panose="02020603050405020304" pitchFamily="18" charset="0"/>
                <a:cs typeface="Times New Roman" panose="02020603050405020304" pitchFamily="18" charset="0"/>
              </a:rPr>
              <a:t>If referred to secondary: I</a:t>
            </a:r>
            <a:r>
              <a:rPr lang="en-US" sz="2400" baseline="-25000" smtClean="0">
                <a:latin typeface="Times New Roman" panose="02020603050405020304" pitchFamily="18" charset="0"/>
                <a:cs typeface="Times New Roman" panose="02020603050405020304" pitchFamily="18" charset="0"/>
              </a:rPr>
              <a:t>1</a:t>
            </a:r>
            <a:r>
              <a:rPr lang="en-US" sz="2400" baseline="30000" smtClean="0">
                <a:latin typeface="Times New Roman" panose="02020603050405020304" pitchFamily="18" charset="0"/>
                <a:cs typeface="Times New Roman" panose="02020603050405020304" pitchFamily="18" charset="0"/>
              </a:rPr>
              <a:t>/</a:t>
            </a:r>
            <a:r>
              <a:rPr lang="en-US" sz="2400" smtClean="0">
                <a:latin typeface="Times New Roman" panose="02020603050405020304" pitchFamily="18" charset="0"/>
                <a:cs typeface="Times New Roman" panose="02020603050405020304" pitchFamily="18" charset="0"/>
              </a:rPr>
              <a:t>= I</a:t>
            </a:r>
            <a:r>
              <a:rPr lang="en-US" sz="2400" baseline="-25000" smtClean="0">
                <a:latin typeface="Times New Roman" panose="02020603050405020304" pitchFamily="18" charset="0"/>
                <a:cs typeface="Times New Roman" panose="02020603050405020304" pitchFamily="18" charset="0"/>
              </a:rPr>
              <a:t>1</a:t>
            </a:r>
            <a:r>
              <a:rPr lang="en-US" sz="2400" smtClean="0">
                <a:latin typeface="Times New Roman" panose="02020603050405020304" pitchFamily="18" charset="0"/>
                <a:cs typeface="Times New Roman" panose="02020603050405020304" pitchFamily="18" charset="0"/>
              </a:rPr>
              <a:t>/k</a:t>
            </a:r>
            <a:endParaRPr lang="en-US" sz="2400" smtClean="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br>
              <a:rPr lang="en-US" smtClean="0"/>
            </a:br>
            <a:endParaRPr lang="en-US"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274638"/>
            <a:ext cx="8229600" cy="944562"/>
          </a:xfrm>
        </p:spPr>
        <p:txBody>
          <a:bodyPr/>
          <a:lstStyle/>
          <a:p>
            <a:r>
              <a:rPr lang="en-US" sz="3600" b="1" smtClean="0">
                <a:solidFill>
                  <a:srgbClr val="FF0000"/>
                </a:solidFill>
                <a:latin typeface="Times New Roman" panose="02020603050405020304" pitchFamily="18" charset="0"/>
                <a:cs typeface="Times New Roman" panose="02020603050405020304" pitchFamily="18" charset="0"/>
              </a:rPr>
              <a:t>Leakage Reactance</a:t>
            </a:r>
            <a:endParaRPr lang="en-US" sz="3600" b="1" smtClean="0">
              <a:solidFill>
                <a:srgbClr val="FF0000"/>
              </a:solidFill>
              <a:latin typeface="Times New Roman" panose="02020603050405020304" pitchFamily="18" charset="0"/>
              <a:cs typeface="Times New Roman" panose="02020603050405020304" pitchFamily="18" charset="0"/>
            </a:endParaRPr>
          </a:p>
        </p:txBody>
      </p:sp>
      <p:sp>
        <p:nvSpPr>
          <p:cNvPr id="5" name="Content Placeholder 2"/>
          <p:cNvSpPr txBox="1"/>
          <p:nvPr/>
        </p:nvSpPr>
        <p:spPr bwMode="auto">
          <a:xfrm>
            <a:off x="304800" y="1447800"/>
            <a:ext cx="7620000" cy="4876800"/>
          </a:xfrm>
          <a:prstGeom prst="rect">
            <a:avLst/>
          </a:prstGeom>
          <a:noFill/>
          <a:ln w="9525">
            <a:noFill/>
            <a:miter lim="800000"/>
          </a:ln>
        </p:spPr>
        <p:txBody>
          <a:bodyPr/>
          <a:lstStyle/>
          <a:p>
            <a:pPr marL="342900" indent="-342900">
              <a:spcBef>
                <a:spcPct val="20000"/>
              </a:spcBef>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Similar to the resistance:</a:t>
            </a:r>
            <a:endParaRPr lang="en-US" sz="2400" dirty="0">
              <a:latin typeface="Times New Roman" panose="02020603050405020304" pitchFamily="18" charset="0"/>
              <a:cs typeface="Times New Roman" panose="02020603050405020304" pitchFamily="18" charset="0"/>
            </a:endParaRPr>
          </a:p>
          <a:p>
            <a:pPr marL="342900" indent="-342900">
              <a:spcBef>
                <a:spcPct val="20000"/>
              </a:spcBef>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Equivalent primary reactance referred to secondary: </a:t>
            </a:r>
            <a:endParaRPr lang="en-US" sz="24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2</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  </a:t>
            </a:r>
            <a:endParaRPr lang="en-US" sz="2400" baseline="30000" dirty="0">
              <a:latin typeface="Times New Roman" panose="02020603050405020304" pitchFamily="18" charset="0"/>
              <a:cs typeface="Times New Roman" panose="02020603050405020304" pitchFamily="18" charset="0"/>
            </a:endParaRPr>
          </a:p>
          <a:p>
            <a:pPr marL="342900" indent="-342900">
              <a:spcBef>
                <a:spcPct val="20000"/>
              </a:spcBef>
              <a:buFont typeface="Wingdings" panose="05000000000000000000" pitchFamily="2" charset="2"/>
              <a:buChar char="Ø"/>
              <a:defRPr/>
            </a:pPr>
            <a:r>
              <a:rPr lang="en-US" sz="2400" baseline="30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Equivalent secondary reactance referred to primary: </a:t>
            </a:r>
            <a:endParaRPr lang="en-US" sz="24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1</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X </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r>
              <a:rPr lang="en-US" sz="2400" baseline="-25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  </a:t>
            </a:r>
            <a:endParaRPr lang="en-US" sz="2400" cap="small" baseline="30000" dirty="0">
              <a:latin typeface="Times New Roman" panose="02020603050405020304" pitchFamily="18" charset="0"/>
              <a:cs typeface="Times New Roman" panose="02020603050405020304" pitchFamily="18" charset="0"/>
            </a:endParaRPr>
          </a:p>
          <a:p>
            <a:pPr marL="342900" indent="-342900">
              <a:spcBef>
                <a:spcPct val="20000"/>
              </a:spcBef>
              <a:buFont typeface="Wingdings" panose="05000000000000000000" pitchFamily="2" charset="2"/>
              <a:buChar char="Ø"/>
              <a:defRPr/>
            </a:pPr>
            <a:r>
              <a:rPr lang="en-US" sz="2400" cap="small" baseline="30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Total reactance referred to secondary winding: </a:t>
            </a:r>
            <a:endParaRPr lang="en-US" sz="24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02</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1</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i.e., X</a:t>
            </a:r>
            <a:r>
              <a:rPr lang="en-US" sz="2400" baseline="-25000" dirty="0">
                <a:latin typeface="Times New Roman" panose="02020603050405020304" pitchFamily="18" charset="0"/>
                <a:cs typeface="Times New Roman" panose="02020603050405020304" pitchFamily="18" charset="0"/>
              </a:rPr>
              <a:t>02</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a:t>
            </a:r>
            <a:endParaRPr lang="en-US" sz="2400" baseline="30000" dirty="0">
              <a:latin typeface="Times New Roman" panose="02020603050405020304" pitchFamily="18" charset="0"/>
              <a:cs typeface="Times New Roman" panose="02020603050405020304" pitchFamily="18" charset="0"/>
            </a:endParaRPr>
          </a:p>
          <a:p>
            <a:pPr marL="342900" indent="-342900">
              <a:spcBef>
                <a:spcPct val="20000"/>
              </a:spcBef>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 Total reactance referred to primary winding: </a:t>
            </a:r>
            <a:endParaRPr lang="en-US" sz="24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01</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+X</a:t>
            </a:r>
            <a:r>
              <a:rPr lang="en-US" sz="2400" baseline="-25000" dirty="0">
                <a:latin typeface="Times New Roman" panose="02020603050405020304" pitchFamily="18" charset="0"/>
                <a:cs typeface="Times New Roman" panose="02020603050405020304" pitchFamily="18" charset="0"/>
              </a:rPr>
              <a:t>2</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i.e., X</a:t>
            </a:r>
            <a:r>
              <a:rPr lang="en-US" sz="2400" baseline="-25000" dirty="0">
                <a:latin typeface="Times New Roman" panose="02020603050405020304" pitchFamily="18" charset="0"/>
                <a:cs typeface="Times New Roman" panose="02020603050405020304" pitchFamily="18" charset="0"/>
              </a:rPr>
              <a:t>01</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X</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3"/>
          </a:xfrm>
        </p:spPr>
        <p:txBody>
          <a:bodyPr rtlCol="0">
            <a:normAutofit fontScale="90000"/>
          </a:bodyPr>
          <a:lstStyle/>
          <a:p>
            <a:pPr eaLnBrk="1" fontAlgn="auto" hangingPunct="1">
              <a:spcAft>
                <a:spcPts val="0"/>
              </a:spcAft>
              <a:defRPr/>
            </a:pPr>
            <a:r>
              <a:rPr lang="en-US" b="1" dirty="0" smtClean="0">
                <a:solidFill>
                  <a:srgbClr val="FF0000"/>
                </a:solidFill>
                <a:latin typeface="Times New Roman" panose="02020603050405020304" pitchFamily="18" charset="0"/>
                <a:cs typeface="Times New Roman" panose="02020603050405020304" pitchFamily="18" charset="0"/>
              </a:rPr>
              <a:t> </a:t>
            </a:r>
            <a:r>
              <a:rPr lang="en-US" sz="4000" b="1" dirty="0" smtClean="0">
                <a:solidFill>
                  <a:srgbClr val="FF0000"/>
                </a:solidFill>
                <a:latin typeface="Times New Roman" panose="02020603050405020304" pitchFamily="18" charset="0"/>
                <a:cs typeface="Times New Roman" panose="02020603050405020304" pitchFamily="18" charset="0"/>
              </a:rPr>
              <a:t>Transformer With Resistance and Leakage Reactance</a:t>
            </a:r>
            <a:endParaRPr lang="en-US" sz="4000" dirty="0">
              <a:solidFill>
                <a:srgbClr val="FF0000"/>
              </a:solidFill>
            </a:endParaRPr>
          </a:p>
        </p:txBody>
      </p:sp>
      <p:sp>
        <p:nvSpPr>
          <p:cNvPr id="34819" name="Content Placeholder 2"/>
          <p:cNvSpPr>
            <a:spLocks noGrp="1"/>
          </p:cNvSpPr>
          <p:nvPr>
            <p:ph idx="1"/>
          </p:nvPr>
        </p:nvSpPr>
        <p:spPr>
          <a:xfrm>
            <a:off x="457200" y="1447800"/>
            <a:ext cx="8686800" cy="1295400"/>
          </a:xfrm>
        </p:spPr>
        <p:txBody>
          <a:bodyPr/>
          <a:lstStyle/>
          <a:p>
            <a:pPr algn="just" eaLnBrk="1" hangingPunct="1"/>
            <a:r>
              <a:rPr lang="en-US" sz="2600" smtClean="0">
                <a:latin typeface="Times New Roman" panose="02020603050405020304" pitchFamily="18" charset="0"/>
                <a:cs typeface="Times New Roman" panose="02020603050405020304" pitchFamily="18" charset="0"/>
              </a:rPr>
              <a:t>In Fig below the primary and secondary windings of a transformer with reactance taken out of the windings are shown. The primary impedance is given by</a:t>
            </a:r>
            <a:endParaRPr lang="en-US" sz="2600" smtClean="0">
              <a:latin typeface="Times New Roman" panose="02020603050405020304" pitchFamily="18" charset="0"/>
              <a:cs typeface="Times New Roman" panose="02020603050405020304" pitchFamily="18" charset="0"/>
            </a:endParaRPr>
          </a:p>
          <a:p>
            <a:pPr algn="just" eaLnBrk="1" hangingPunct="1"/>
            <a:endParaRPr lang="en-US" smtClean="0"/>
          </a:p>
        </p:txBody>
      </p:sp>
      <p:pic>
        <p:nvPicPr>
          <p:cNvPr id="34820" name="Picture 5"/>
          <p:cNvPicPr>
            <a:picLocks noChangeAspect="1" noChangeArrowheads="1"/>
          </p:cNvPicPr>
          <p:nvPr/>
        </p:nvPicPr>
        <p:blipFill>
          <a:blip r:embed="rId1" cstate="print"/>
          <a:srcRect/>
          <a:stretch>
            <a:fillRect/>
          </a:stretch>
        </p:blipFill>
        <p:spPr bwMode="auto">
          <a:xfrm>
            <a:off x="1828800" y="2895600"/>
            <a:ext cx="5791200" cy="1752600"/>
          </a:xfrm>
          <a:prstGeom prst="rect">
            <a:avLst/>
          </a:prstGeom>
          <a:noFill/>
          <a:ln w="9525">
            <a:noFill/>
            <a:miter lim="800000"/>
            <a:headEnd/>
            <a:tailEnd/>
          </a:ln>
        </p:spPr>
      </p:pic>
      <p:sp>
        <p:nvSpPr>
          <p:cNvPr id="6" name="Rectangle 5"/>
          <p:cNvSpPr/>
          <p:nvPr/>
        </p:nvSpPr>
        <p:spPr>
          <a:xfrm rot="10800000" flipV="1">
            <a:off x="609600" y="4716463"/>
            <a:ext cx="7772400" cy="2012950"/>
          </a:xfrm>
          <a:prstGeom prst="rect">
            <a:avLst/>
          </a:prstGeom>
        </p:spPr>
        <p:txBody>
          <a:bodyPr>
            <a:spAutoFit/>
          </a:bodyPr>
          <a:lstStyle/>
          <a:p>
            <a:pPr algn="ctr">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Similarly Impedance Z</a:t>
            </a:r>
            <a:r>
              <a:rPr lang="en-US" sz="2400" baseline="-25000" dirty="0">
                <a:latin typeface="Times New Roman" panose="02020603050405020304" pitchFamily="18" charset="0"/>
                <a:cs typeface="Times New Roman" panose="02020603050405020304" pitchFamily="18" charset="0"/>
              </a:rPr>
              <a:t>2</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a:t>
            </a:r>
            <a:endParaRPr lang="en-US" sz="2400" baseline="30000" dirty="0">
              <a:latin typeface="Times New Roman" panose="02020603050405020304" pitchFamily="18" charset="0"/>
              <a:cs typeface="Times New Roman" panose="02020603050405020304" pitchFamily="18" charset="0"/>
            </a:endParaRPr>
          </a:p>
          <a:p>
            <a:pPr algn="ctr">
              <a:buFont typeface="Arial" panose="020B0604020202020204" pitchFamily="34" charset="0"/>
              <a:buNone/>
              <a:defRPr/>
            </a:pPr>
            <a:r>
              <a:rPr lang="en-US" sz="2400" dirty="0">
                <a:latin typeface="Times New Roman" panose="02020603050405020304" pitchFamily="18" charset="0"/>
                <a:cs typeface="Times New Roman" panose="02020603050405020304" pitchFamily="18" charset="0"/>
              </a:rPr>
              <a:t>Z</a:t>
            </a:r>
            <a:r>
              <a:rPr lang="en-US" sz="2400" baseline="-25000" dirty="0">
                <a:latin typeface="Times New Roman" panose="02020603050405020304" pitchFamily="18" charset="0"/>
                <a:cs typeface="Times New Roman" panose="02020603050405020304" pitchFamily="18" charset="0"/>
              </a:rPr>
              <a:t>1</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k</a:t>
            </a:r>
            <a:r>
              <a:rPr lang="en-US" sz="2400" baseline="30000" dirty="0">
                <a:latin typeface="Times New Roman" panose="02020603050405020304" pitchFamily="18" charset="0"/>
                <a:cs typeface="Times New Roman" panose="02020603050405020304" pitchFamily="18" charset="0"/>
              </a:rPr>
              <a:t>2</a:t>
            </a:r>
            <a:endParaRPr lang="en-US" sz="2400" baseline="300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Z</a:t>
            </a:r>
            <a:r>
              <a:rPr lang="en-US" sz="2400" baseline="-25000" dirty="0">
                <a:latin typeface="Times New Roman" panose="02020603050405020304" pitchFamily="18" charset="0"/>
                <a:cs typeface="Times New Roman" panose="02020603050405020304" pitchFamily="18" charset="0"/>
              </a:rPr>
              <a:t>02</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+Z</a:t>
            </a:r>
            <a:r>
              <a:rPr lang="en-US" sz="2400" baseline="-25000" dirty="0">
                <a:latin typeface="Times New Roman" panose="02020603050405020304" pitchFamily="18" charset="0"/>
                <a:cs typeface="Times New Roman" panose="02020603050405020304" pitchFamily="18" charset="0"/>
              </a:rPr>
              <a:t>1</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i.e., Z</a:t>
            </a:r>
            <a:r>
              <a:rPr lang="en-US" sz="2400" baseline="-25000" dirty="0">
                <a:latin typeface="Times New Roman" panose="02020603050405020304" pitchFamily="18" charset="0"/>
                <a:cs typeface="Times New Roman" panose="02020603050405020304" pitchFamily="18" charset="0"/>
              </a:rPr>
              <a:t>02</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a:t>
            </a:r>
            <a:endParaRPr lang="en-US" sz="2400" baseline="30000" dirty="0">
              <a:latin typeface="Times New Roman" panose="02020603050405020304" pitchFamily="18" charset="0"/>
              <a:cs typeface="Times New Roman" panose="02020603050405020304" pitchFamily="18" charset="0"/>
            </a:endParaRPr>
          </a:p>
          <a:p>
            <a:pPr marL="342900" indent="-342900" algn="ctr">
              <a:spcBef>
                <a:spcPct val="20000"/>
              </a:spcBef>
              <a:defRPr/>
            </a:pPr>
            <a:r>
              <a:rPr lang="en-US" sz="2400" dirty="0">
                <a:latin typeface="Times New Roman" panose="02020603050405020304" pitchFamily="18" charset="0"/>
                <a:cs typeface="Times New Roman" panose="02020603050405020304" pitchFamily="18" charset="0"/>
              </a:rPr>
              <a:t>Z</a:t>
            </a:r>
            <a:r>
              <a:rPr lang="en-US" sz="2400" baseline="-25000" dirty="0">
                <a:latin typeface="Times New Roman" panose="02020603050405020304" pitchFamily="18" charset="0"/>
                <a:cs typeface="Times New Roman" panose="02020603050405020304" pitchFamily="18" charset="0"/>
              </a:rPr>
              <a:t>01</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+Z</a:t>
            </a:r>
            <a:r>
              <a:rPr lang="en-US" sz="2400" baseline="-25000" dirty="0">
                <a:latin typeface="Times New Roman" panose="02020603050405020304" pitchFamily="18" charset="0"/>
                <a:cs typeface="Times New Roman" panose="02020603050405020304" pitchFamily="18" charset="0"/>
              </a:rPr>
              <a:t>2</a:t>
            </a:r>
            <a:r>
              <a:rPr lang="en-US" sz="2400" baseline="30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i.e., Z</a:t>
            </a:r>
            <a:r>
              <a:rPr lang="en-US" sz="2400" baseline="-25000" dirty="0">
                <a:latin typeface="Times New Roman" panose="02020603050405020304" pitchFamily="18" charset="0"/>
                <a:cs typeface="Times New Roman" panose="02020603050405020304" pitchFamily="18" charset="0"/>
              </a:rPr>
              <a:t>01</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Z</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/k</a:t>
            </a:r>
            <a:r>
              <a:rPr lang="en-US" sz="2400" baseline="30000" dirty="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a:p>
            <a:pPr marL="342900" indent="-342900" algn="ctr">
              <a:spcBef>
                <a:spcPct val="20000"/>
              </a:spcBef>
              <a:defRPr/>
            </a:pPr>
            <a:endParaRPr lang="en-US" sz="2400" baseline="30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Grp="1" noChangeAspect="1" noChangeArrowheads="1"/>
          </p:cNvPicPr>
          <p:nvPr>
            <p:ph idx="1"/>
          </p:nvPr>
        </p:nvPicPr>
        <p:blipFill>
          <a:blip r:embed="rId1" cstate="print"/>
          <a:srcRect/>
          <a:stretch>
            <a:fillRect/>
          </a:stretch>
        </p:blipFill>
        <p:spPr>
          <a:xfrm>
            <a:off x="685800" y="1676400"/>
            <a:ext cx="7620000" cy="4038600"/>
          </a:xfr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idx="1"/>
          </p:nvPr>
        </p:nvSpPr>
        <p:spPr>
          <a:xfrm>
            <a:off x="457200" y="152400"/>
            <a:ext cx="8229600" cy="2678113"/>
          </a:xfrm>
        </p:spPr>
        <p:txBody>
          <a:bodyPr>
            <a:spAutoFit/>
          </a:bodyPr>
          <a:lstStyle/>
          <a:p>
            <a:pPr algn="just"/>
            <a:r>
              <a:rPr lang="en-US" sz="2400" b="1" smtClean="0"/>
              <a:t>Example 32.15. </a:t>
            </a:r>
            <a:r>
              <a:rPr lang="en-US" sz="2400" i="1" smtClean="0"/>
              <a:t>A 30 kVA , 2400</a:t>
            </a:r>
            <a:r>
              <a:rPr lang="en-US" sz="2400" smtClean="0"/>
              <a:t>/</a:t>
            </a:r>
            <a:r>
              <a:rPr lang="en-US" sz="2400" i="1" smtClean="0"/>
              <a:t>120-V, </a:t>
            </a:r>
            <a:r>
              <a:rPr lang="en-US" sz="2400" smtClean="0"/>
              <a:t>50-</a:t>
            </a:r>
            <a:r>
              <a:rPr lang="en-US" sz="2400" i="1" smtClean="0"/>
              <a:t>Hz transformer has a high voltage winding resistance of 0.1</a:t>
            </a:r>
            <a:r>
              <a:rPr lang="en-US" sz="2400" smtClean="0"/>
              <a:t>W </a:t>
            </a:r>
            <a:r>
              <a:rPr lang="en-US" sz="2400" i="1" smtClean="0"/>
              <a:t>and a leakage reactance of 0.22</a:t>
            </a:r>
            <a:r>
              <a:rPr lang="en-US" sz="2400" smtClean="0"/>
              <a:t>W</a:t>
            </a:r>
            <a:r>
              <a:rPr lang="en-US" sz="2400" i="1" smtClean="0"/>
              <a:t>. The low voltage winding resistance is 0.035 </a:t>
            </a:r>
            <a:r>
              <a:rPr lang="en-US" sz="2400" smtClean="0"/>
              <a:t>W </a:t>
            </a:r>
            <a:r>
              <a:rPr lang="en-US" sz="2400" i="1" smtClean="0"/>
              <a:t>and the leakage reactance is 0.012 </a:t>
            </a:r>
            <a:r>
              <a:rPr lang="en-US" sz="2400" smtClean="0"/>
              <a:t>W</a:t>
            </a:r>
            <a:r>
              <a:rPr lang="en-US" sz="2400" i="1" smtClean="0"/>
              <a:t>. Find the equivalent winding resistance, reactance and impedance referred to the </a:t>
            </a:r>
            <a:r>
              <a:rPr lang="en-US" sz="2400" b="1" i="1" smtClean="0"/>
              <a:t>(i)</a:t>
            </a:r>
            <a:r>
              <a:rPr lang="en-US" sz="2400" i="1" smtClean="0"/>
              <a:t>high voltage side and </a:t>
            </a:r>
            <a:r>
              <a:rPr lang="en-US" sz="2400" b="1" i="1" smtClean="0"/>
              <a:t>(ii) </a:t>
            </a:r>
            <a:r>
              <a:rPr lang="en-US" sz="2400" i="1" smtClean="0"/>
              <a:t>the low-voltage side.</a:t>
            </a:r>
            <a:endParaRPr lang="en-US" sz="2400" i="1" smtClean="0"/>
          </a:p>
        </p:txBody>
      </p:sp>
      <p:pic>
        <p:nvPicPr>
          <p:cNvPr id="36867" name="Picture 3"/>
          <p:cNvPicPr>
            <a:picLocks noChangeAspect="1" noChangeArrowheads="1"/>
          </p:cNvPicPr>
          <p:nvPr/>
        </p:nvPicPr>
        <p:blipFill>
          <a:blip r:embed="rId1" cstate="print"/>
          <a:srcRect/>
          <a:stretch>
            <a:fillRect/>
          </a:stretch>
        </p:blipFill>
        <p:spPr bwMode="auto">
          <a:xfrm>
            <a:off x="838200" y="2667000"/>
            <a:ext cx="7391400" cy="4033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rtlCol="0">
            <a:normAutofit fontScale="90000"/>
          </a:bodyPr>
          <a:lstStyle/>
          <a:p>
            <a:pPr eaLnBrk="1" fontAlgn="auto" hangingPunct="1">
              <a:spcAft>
                <a:spcPts val="0"/>
              </a:spcAft>
              <a:defRPr/>
            </a:pPr>
            <a:br>
              <a:rPr lang="en-US" b="1" dirty="0" smtClean="0"/>
            </a:br>
            <a:r>
              <a:rPr lang="en-US" sz="4000" b="1" dirty="0" smtClean="0">
                <a:solidFill>
                  <a:srgbClr val="FF0000"/>
                </a:solidFill>
                <a:latin typeface="Times New Roman" panose="02020603050405020304" pitchFamily="18" charset="0"/>
                <a:cs typeface="Times New Roman" panose="02020603050405020304" pitchFamily="18" charset="0"/>
              </a:rPr>
              <a:t>Equivalent Circuit</a:t>
            </a:r>
            <a:br>
              <a:rPr lang="en-US" sz="4000" dirty="0" smtClean="0">
                <a:solidFill>
                  <a:srgbClr val="FF0000"/>
                </a:solidFill>
                <a:latin typeface="Times New Roman" panose="02020603050405020304" pitchFamily="18" charset="0"/>
                <a:cs typeface="Times New Roman" panose="02020603050405020304" pitchFamily="18" charset="0"/>
              </a:rPr>
            </a:b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219200"/>
            <a:ext cx="8763000" cy="5410200"/>
          </a:xfrm>
        </p:spPr>
        <p:txBody>
          <a:bodyPr rtlCol="0">
            <a:normAutofit/>
          </a:bodyPr>
          <a:lstStyle/>
          <a:p>
            <a:pPr algn="just" eaLnBrk="1" fontAlgn="auto" hangingPunct="1">
              <a:spcAft>
                <a:spcPts val="0"/>
              </a:spcAft>
              <a:buFont typeface="Arial" panose="020B0604020202020204" pitchFamily="34" charset="0"/>
              <a:buNone/>
              <a:defRPr/>
            </a:pPr>
            <a:r>
              <a:rPr lang="en-US" sz="2400" dirty="0" smtClean="0">
                <a:latin typeface="Times New Roman" panose="02020603050405020304" pitchFamily="18" charset="0"/>
                <a:cs typeface="Times New Roman" panose="02020603050405020304" pitchFamily="18" charset="0"/>
              </a:rPr>
              <a:t>    In a practical </a:t>
            </a:r>
            <a:r>
              <a:rPr lang="en-US" sz="2400" dirty="0" smtClean="0">
                <a:latin typeface="Times New Roman" panose="02020603050405020304" pitchFamily="18" charset="0"/>
                <a:cs typeface="Times New Roman" panose="02020603050405020304" pitchFamily="18" charset="0"/>
                <a:hlinkClick r:id="rId1"/>
              </a:rPr>
              <a:t>transformer</a:t>
            </a:r>
            <a:r>
              <a:rPr lang="en-US" sz="2400" dirty="0" smtClean="0">
                <a:latin typeface="Times New Roman" panose="02020603050405020304" pitchFamily="18" charset="0"/>
                <a:cs typeface="Times New Roman" panose="02020603050405020304" pitchFamily="18" charset="0"/>
              </a:rPr>
              <a:t> - </a:t>
            </a:r>
            <a:endParaRPr lang="en-US" sz="2400" dirty="0" smtClean="0">
              <a:latin typeface="Times New Roman" panose="02020603050405020304" pitchFamily="18" charset="0"/>
              <a:cs typeface="Times New Roman" panose="02020603050405020304" pitchFamily="18" charset="0"/>
            </a:endParaRPr>
          </a:p>
          <a:p>
            <a:pPr marL="514350" indent="-514350" algn="just" eaLnBrk="1" fontAlgn="auto" hangingPunct="1">
              <a:spcAft>
                <a:spcPts val="0"/>
              </a:spcAft>
              <a:buFont typeface="Arial" panose="020B0604020202020204" pitchFamily="34" charset="0"/>
              <a:buAutoNum type="alphaLcParenBoth"/>
              <a:defRPr/>
            </a:pPr>
            <a:r>
              <a:rPr lang="en-US" sz="2400" dirty="0" smtClean="0">
                <a:latin typeface="Times New Roman" panose="02020603050405020304" pitchFamily="18" charset="0"/>
                <a:cs typeface="Times New Roman" panose="02020603050405020304" pitchFamily="18" charset="0"/>
              </a:rPr>
              <a:t>Some </a:t>
            </a:r>
            <a:r>
              <a:rPr lang="en-US" sz="2400" dirty="0" smtClean="0">
                <a:latin typeface="Times New Roman" panose="02020603050405020304" pitchFamily="18" charset="0"/>
                <a:cs typeface="Times New Roman" panose="02020603050405020304" pitchFamily="18" charset="0"/>
                <a:hlinkClick r:id="rId2"/>
              </a:rPr>
              <a:t>leakage flux</a:t>
            </a:r>
            <a:r>
              <a:rPr lang="en-US" sz="2400" dirty="0" smtClean="0">
                <a:latin typeface="Times New Roman" panose="02020603050405020304" pitchFamily="18" charset="0"/>
                <a:cs typeface="Times New Roman" panose="02020603050405020304" pitchFamily="18" charset="0"/>
              </a:rPr>
              <a:t> is present at both primary and secondary sides. This leakage gives rise to leakage reactance at both sides, which are denoted as X</a:t>
            </a:r>
            <a:r>
              <a:rPr lang="en-US" sz="2400" baseline="-25000" dirty="0" smtClean="0">
                <a:latin typeface="Times New Roman" panose="02020603050405020304" pitchFamily="18" charset="0"/>
                <a:cs typeface="Times New Roman" panose="02020603050405020304" pitchFamily="18" charset="0"/>
              </a:rPr>
              <a:t>1</a:t>
            </a:r>
            <a:r>
              <a:rPr lang="en-US" sz="2400" dirty="0" smtClean="0">
                <a:latin typeface="Times New Roman" panose="02020603050405020304" pitchFamily="18" charset="0"/>
                <a:cs typeface="Times New Roman" panose="02020603050405020304" pitchFamily="18" charset="0"/>
              </a:rPr>
              <a:t> and X</a:t>
            </a:r>
            <a:r>
              <a:rPr lang="en-US" sz="2400" baseline="-25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 respectively.</a:t>
            </a:r>
            <a:endParaRPr lang="en-US" sz="2400" dirty="0" smtClean="0">
              <a:latin typeface="Times New Roman" panose="02020603050405020304" pitchFamily="18" charset="0"/>
              <a:cs typeface="Times New Roman" panose="02020603050405020304" pitchFamily="18" charset="0"/>
            </a:endParaRPr>
          </a:p>
          <a:p>
            <a:pPr marL="514350" indent="-514350" algn="just" eaLnBrk="1" fontAlgn="auto" hangingPunct="1">
              <a:spcAft>
                <a:spcPts val="0"/>
              </a:spcAft>
              <a:buFont typeface="Arial" panose="020B0604020202020204" pitchFamily="34" charset="0"/>
              <a:buNone/>
              <a:defRPr/>
            </a:pPr>
            <a:r>
              <a:rPr lang="en-US" sz="2400" dirty="0" smtClean="0">
                <a:latin typeface="Times New Roman" panose="02020603050405020304" pitchFamily="18" charset="0"/>
                <a:cs typeface="Times New Roman" panose="02020603050405020304" pitchFamily="18" charset="0"/>
              </a:rPr>
              <a:t>(b) Both the primary and secondary winding possesses resistance, denoted as R</a:t>
            </a:r>
            <a:r>
              <a:rPr lang="en-US" sz="2400" baseline="-25000" dirty="0" smtClean="0">
                <a:latin typeface="Times New Roman" panose="02020603050405020304" pitchFamily="18" charset="0"/>
                <a:cs typeface="Times New Roman" panose="02020603050405020304" pitchFamily="18" charset="0"/>
              </a:rPr>
              <a:t>1</a:t>
            </a:r>
            <a:r>
              <a:rPr lang="en-US" sz="2400" dirty="0" smtClean="0">
                <a:latin typeface="Times New Roman" panose="02020603050405020304" pitchFamily="18" charset="0"/>
                <a:cs typeface="Times New Roman" panose="02020603050405020304" pitchFamily="18" charset="0"/>
              </a:rPr>
              <a:t> and R</a:t>
            </a:r>
            <a:r>
              <a:rPr lang="en-US" sz="2400" baseline="-25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 respectively. These resistances causes voltage drop as, I</a:t>
            </a:r>
            <a:r>
              <a:rPr lang="en-US" sz="2400" baseline="-25000" dirty="0" smtClean="0">
                <a:latin typeface="Times New Roman" panose="02020603050405020304" pitchFamily="18" charset="0"/>
                <a:cs typeface="Times New Roman" panose="02020603050405020304" pitchFamily="18" charset="0"/>
              </a:rPr>
              <a:t>1</a:t>
            </a:r>
            <a:r>
              <a:rPr lang="en-US" sz="2400" dirty="0" smtClean="0">
                <a:latin typeface="Times New Roman" panose="02020603050405020304" pitchFamily="18" charset="0"/>
                <a:cs typeface="Times New Roman" panose="02020603050405020304" pitchFamily="18" charset="0"/>
              </a:rPr>
              <a:t>R</a:t>
            </a:r>
            <a:r>
              <a:rPr lang="en-US" sz="2400" baseline="-25000" dirty="0" smtClean="0">
                <a:latin typeface="Times New Roman" panose="02020603050405020304" pitchFamily="18" charset="0"/>
                <a:cs typeface="Times New Roman" panose="02020603050405020304" pitchFamily="18" charset="0"/>
              </a:rPr>
              <a:t>1</a:t>
            </a:r>
            <a:r>
              <a:rPr lang="en-US" sz="2400" dirty="0" smtClean="0">
                <a:latin typeface="Times New Roman" panose="02020603050405020304" pitchFamily="18" charset="0"/>
                <a:cs typeface="Times New Roman" panose="02020603050405020304" pitchFamily="18" charset="0"/>
              </a:rPr>
              <a:t> and I</a:t>
            </a:r>
            <a:r>
              <a:rPr lang="en-US" sz="2400" baseline="-25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R</a:t>
            </a:r>
            <a:r>
              <a:rPr lang="en-US" sz="2400" baseline="-25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 and also </a:t>
            </a:r>
            <a:r>
              <a:rPr lang="en-US" sz="2400" dirty="0" smtClean="0">
                <a:latin typeface="Times New Roman" panose="02020603050405020304" pitchFamily="18" charset="0"/>
                <a:cs typeface="Times New Roman" panose="02020603050405020304" pitchFamily="18" charset="0"/>
                <a:hlinkClick r:id="rId3"/>
              </a:rPr>
              <a:t>copper loss</a:t>
            </a:r>
            <a:r>
              <a:rPr lang="en-US" sz="2400" dirty="0" smtClean="0">
                <a:latin typeface="Times New Roman" panose="02020603050405020304" pitchFamily="18" charset="0"/>
                <a:cs typeface="Times New Roman" panose="02020603050405020304" pitchFamily="18" charset="0"/>
              </a:rPr>
              <a:t> I</a:t>
            </a:r>
            <a:r>
              <a:rPr lang="en-US" sz="2400" baseline="-25000" dirty="0" smtClean="0">
                <a:latin typeface="Times New Roman" panose="02020603050405020304" pitchFamily="18" charset="0"/>
                <a:cs typeface="Times New Roman" panose="02020603050405020304" pitchFamily="18" charset="0"/>
              </a:rPr>
              <a:t>1</a:t>
            </a:r>
            <a:r>
              <a:rPr lang="en-US" sz="2400" baseline="30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R</a:t>
            </a:r>
            <a:r>
              <a:rPr lang="en-US" sz="2400" baseline="-25000" dirty="0" smtClean="0">
                <a:latin typeface="Times New Roman" panose="02020603050405020304" pitchFamily="18" charset="0"/>
                <a:cs typeface="Times New Roman" panose="02020603050405020304" pitchFamily="18" charset="0"/>
              </a:rPr>
              <a:t>1</a:t>
            </a:r>
            <a:r>
              <a:rPr lang="en-US" sz="2400" dirty="0" smtClean="0">
                <a:latin typeface="Times New Roman" panose="02020603050405020304" pitchFamily="18" charset="0"/>
                <a:cs typeface="Times New Roman" panose="02020603050405020304" pitchFamily="18" charset="0"/>
              </a:rPr>
              <a:t> and I</a:t>
            </a:r>
            <a:r>
              <a:rPr lang="en-US" sz="2400" baseline="-25000" dirty="0" smtClean="0">
                <a:latin typeface="Times New Roman" panose="02020603050405020304" pitchFamily="18" charset="0"/>
                <a:cs typeface="Times New Roman" panose="02020603050405020304" pitchFamily="18" charset="0"/>
              </a:rPr>
              <a:t>2</a:t>
            </a:r>
            <a:r>
              <a:rPr lang="en-US" sz="2400" baseline="30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R</a:t>
            </a:r>
            <a:r>
              <a:rPr lang="en-US" sz="2400" baseline="-25000"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514350" indent="-514350" algn="just" eaLnBrk="1" fontAlgn="auto" hangingPunct="1">
              <a:spcAft>
                <a:spcPts val="0"/>
              </a:spcAft>
              <a:buFont typeface="Arial" panose="020B0604020202020204" pitchFamily="34" charset="0"/>
              <a:buNone/>
              <a:defRPr/>
            </a:pPr>
            <a:r>
              <a:rPr lang="en-US" sz="2400" dirty="0" smtClean="0">
                <a:latin typeface="Times New Roman" panose="02020603050405020304" pitchFamily="18" charset="0"/>
                <a:cs typeface="Times New Roman" panose="02020603050405020304" pitchFamily="18" charset="0"/>
              </a:rPr>
              <a:t>(c) Permeability of the core can not be infinite, hence some magnetizing current is needed. Mutual flux also causes </a:t>
            </a:r>
            <a:r>
              <a:rPr lang="en-US" sz="2400" dirty="0" smtClean="0">
                <a:latin typeface="Times New Roman" panose="02020603050405020304" pitchFamily="18" charset="0"/>
                <a:cs typeface="Times New Roman" panose="02020603050405020304" pitchFamily="18" charset="0"/>
                <a:hlinkClick r:id="rId3"/>
              </a:rPr>
              <a:t>core loss</a:t>
            </a:r>
            <a:r>
              <a:rPr lang="en-US" sz="2400" dirty="0" smtClean="0">
                <a:latin typeface="Times New Roman" panose="02020603050405020304" pitchFamily="18" charset="0"/>
                <a:cs typeface="Times New Roman" panose="02020603050405020304" pitchFamily="18" charset="0"/>
              </a:rPr>
              <a:t> in iron parts of the transformer. </a:t>
            </a:r>
            <a:endParaRPr lang="en-US" sz="2400" dirty="0" smtClean="0">
              <a:latin typeface="Times New Roman" panose="02020603050405020304" pitchFamily="18" charset="0"/>
              <a:cs typeface="Times New Roman" panose="02020603050405020304" pitchFamily="18" charset="0"/>
            </a:endParaRPr>
          </a:p>
          <a:p>
            <a:pPr marL="514350" indent="-514350" algn="just" eaLnBrk="1" fontAlgn="auto" hangingPunct="1">
              <a:spcAft>
                <a:spcPts val="0"/>
              </a:spcAft>
              <a:buFont typeface="Arial" panose="020B0604020202020204" pitchFamily="34" charset="0"/>
              <a:buNone/>
              <a:defRPr/>
            </a:pPr>
            <a:r>
              <a:rPr lang="en-US" sz="2400" dirty="0" smtClean="0">
                <a:latin typeface="Times New Roman" panose="02020603050405020304" pitchFamily="18" charset="0"/>
                <a:cs typeface="Times New Roman" panose="02020603050405020304" pitchFamily="18" charset="0"/>
              </a:rPr>
              <a:t>We need to consider all the above things to derive </a:t>
            </a:r>
            <a:r>
              <a:rPr lang="en-US" sz="2400" b="1" dirty="0" smtClean="0">
                <a:latin typeface="Times New Roman" panose="02020603050405020304" pitchFamily="18" charset="0"/>
                <a:cs typeface="Times New Roman" panose="02020603050405020304" pitchFamily="18" charset="0"/>
              </a:rPr>
              <a:t>equivalent circuit of a transformer.</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304800" y="2971800"/>
            <a:ext cx="8382000" cy="3786188"/>
          </a:xfrm>
          <a:prstGeom prst="rect">
            <a:avLst/>
          </a:prstGeom>
          <a:noFill/>
          <a:ln w="9525">
            <a:noFill/>
            <a:miter lim="800000"/>
          </a:ln>
        </p:spPr>
        <p:txBody>
          <a:bodyPr>
            <a:spAutoFit/>
          </a:bodyPr>
          <a:lstStyle/>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The no load current I</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is divided into, pure inductance X</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(taking magnetizing components I</a:t>
            </a:r>
            <a:r>
              <a:rPr lang="en-US" sz="2400" baseline="-25000">
                <a:latin typeface="Times New Roman" panose="02020603050405020304" pitchFamily="18" charset="0"/>
                <a:cs typeface="Times New Roman" panose="02020603050405020304" pitchFamily="18" charset="0"/>
              </a:rPr>
              <a:t>μ</a:t>
            </a:r>
            <a:r>
              <a:rPr lang="en-US" sz="2400">
                <a:latin typeface="Times New Roman" panose="02020603050405020304" pitchFamily="18" charset="0"/>
                <a:cs typeface="Times New Roman" panose="02020603050405020304" pitchFamily="18" charset="0"/>
              </a:rPr>
              <a:t>) and non induction resistance R</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(taking working component I</a:t>
            </a:r>
            <a:r>
              <a:rPr lang="en-US" sz="2400" baseline="-25000">
                <a:latin typeface="Times New Roman" panose="02020603050405020304" pitchFamily="18" charset="0"/>
                <a:cs typeface="Times New Roman" panose="02020603050405020304" pitchFamily="18" charset="0"/>
              </a:rPr>
              <a:t>w</a:t>
            </a:r>
            <a:r>
              <a:rPr lang="en-US" sz="2400">
                <a:latin typeface="Times New Roman" panose="02020603050405020304" pitchFamily="18" charset="0"/>
                <a:cs typeface="Times New Roman" panose="02020603050405020304" pitchFamily="18" charset="0"/>
              </a:rPr>
              <a:t>) which are connected into parallel across the primary. The value of E</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can be obtained by subtracting I</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Z</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from V</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The value of R</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and X</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can be calculated as, R</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 E</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 I</a:t>
            </a:r>
            <a:r>
              <a:rPr lang="en-US" sz="2400" baseline="-25000">
                <a:latin typeface="Times New Roman" panose="02020603050405020304" pitchFamily="18" charset="0"/>
                <a:cs typeface="Times New Roman" panose="02020603050405020304" pitchFamily="18" charset="0"/>
              </a:rPr>
              <a:t>w</a:t>
            </a:r>
            <a:r>
              <a:rPr lang="en-US" sz="2400">
                <a:latin typeface="Times New Roman" panose="02020603050405020304" pitchFamily="18" charset="0"/>
                <a:cs typeface="Times New Roman" panose="02020603050405020304" pitchFamily="18" charset="0"/>
              </a:rPr>
              <a:t> and  X</a:t>
            </a:r>
            <a:r>
              <a:rPr lang="en-US" sz="2400" baseline="-25000">
                <a:latin typeface="Times New Roman" panose="02020603050405020304" pitchFamily="18" charset="0"/>
                <a:cs typeface="Times New Roman" panose="02020603050405020304" pitchFamily="18" charset="0"/>
              </a:rPr>
              <a:t>0</a:t>
            </a:r>
            <a:r>
              <a:rPr lang="en-US" sz="2400">
                <a:latin typeface="Times New Roman" panose="02020603050405020304" pitchFamily="18" charset="0"/>
                <a:cs typeface="Times New Roman" panose="02020603050405020304" pitchFamily="18" charset="0"/>
              </a:rPr>
              <a:t> = E</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/I</a:t>
            </a:r>
            <a:r>
              <a:rPr lang="en-US" sz="2400" baseline="-25000">
                <a:latin typeface="Times New Roman" panose="02020603050405020304" pitchFamily="18" charset="0"/>
                <a:cs typeface="Times New Roman" panose="02020603050405020304" pitchFamily="18" charset="0"/>
              </a:rPr>
              <a:t>μ</a:t>
            </a:r>
            <a:r>
              <a:rPr lang="en-U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But, using this equivalent circuit does not simplifies the calculations. To make calculations simpler, it is preferable to transfer current, voltage and impedance either to primary side or to the secondary side.</a:t>
            </a:r>
            <a:endParaRPr lang="en-US" sz="2400">
              <a:latin typeface="Times New Roman" panose="02020603050405020304" pitchFamily="18" charset="0"/>
              <a:cs typeface="Times New Roman" panose="02020603050405020304" pitchFamily="18" charset="0"/>
            </a:endParaRPr>
          </a:p>
        </p:txBody>
      </p:sp>
      <p:pic>
        <p:nvPicPr>
          <p:cNvPr id="38915" name="Picture 4"/>
          <p:cNvPicPr>
            <a:picLocks noChangeAspect="1" noChangeArrowheads="1"/>
          </p:cNvPicPr>
          <p:nvPr/>
        </p:nvPicPr>
        <p:blipFill>
          <a:blip r:embed="rId1" cstate="print"/>
          <a:srcRect/>
          <a:stretch>
            <a:fillRect/>
          </a:stretch>
        </p:blipFill>
        <p:spPr bwMode="auto">
          <a:xfrm>
            <a:off x="1371600" y="304800"/>
            <a:ext cx="6324600"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1" cstate="print"/>
          <a:srcRect/>
          <a:stretch>
            <a:fillRect/>
          </a:stretch>
        </p:blipFill>
        <p:spPr>
          <a:xfrm>
            <a:off x="1447800" y="1905000"/>
            <a:ext cx="6172200" cy="2938463"/>
          </a:xfrm>
        </p:spPr>
      </p:pic>
      <p:sp>
        <p:nvSpPr>
          <p:cNvPr id="39939" name="Rectangle 3"/>
          <p:cNvSpPr>
            <a:spLocks noChangeArrowheads="1"/>
          </p:cNvSpPr>
          <p:nvPr/>
        </p:nvSpPr>
        <p:spPr bwMode="auto">
          <a:xfrm>
            <a:off x="457200" y="228600"/>
            <a:ext cx="7772400" cy="1200150"/>
          </a:xfrm>
          <a:prstGeom prst="rect">
            <a:avLst/>
          </a:prstGeom>
          <a:noFill/>
          <a:ln w="9525">
            <a:noFill/>
            <a:miter lim="800000"/>
          </a:ln>
        </p:spPr>
        <p:txBody>
          <a:bodyPr>
            <a:spAutoFit/>
          </a:bodyPr>
          <a:lstStyle/>
          <a:p>
            <a:pPr algn="just"/>
            <a:r>
              <a:rPr lang="en-US" sz="2400">
                <a:latin typeface="Times New Roman" panose="02020603050405020304" pitchFamily="18" charset="0"/>
                <a:cs typeface="Times New Roman" panose="02020603050405020304" pitchFamily="18" charset="0"/>
              </a:rPr>
              <a:t>The figure below shows the </a:t>
            </a:r>
            <a:r>
              <a:rPr lang="en-US" sz="2400" b="1">
                <a:latin typeface="Times New Roman" panose="02020603050405020304" pitchFamily="18" charset="0"/>
                <a:cs typeface="Times New Roman" panose="02020603050405020304" pitchFamily="18" charset="0"/>
              </a:rPr>
              <a:t>equivalent circuit of transformer with secondary parameters referred to the primary</a:t>
            </a:r>
            <a:r>
              <a:rPr lang="en-US"/>
              <a:t>.</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1"/>
          </p:nvPr>
        </p:nvPicPr>
        <p:blipFill>
          <a:blip r:embed="rId1" cstate="print"/>
          <a:srcRect/>
          <a:stretch>
            <a:fillRect/>
          </a:stretch>
        </p:blipFill>
        <p:spPr>
          <a:xfrm>
            <a:off x="1295400" y="152400"/>
            <a:ext cx="5715000" cy="2505075"/>
          </a:xfrm>
        </p:spPr>
      </p:pic>
      <p:sp>
        <p:nvSpPr>
          <p:cNvPr id="40963" name="Rectangle 4"/>
          <p:cNvSpPr>
            <a:spLocks noChangeArrowheads="1"/>
          </p:cNvSpPr>
          <p:nvPr/>
        </p:nvSpPr>
        <p:spPr bwMode="auto">
          <a:xfrm>
            <a:off x="381000" y="2819400"/>
            <a:ext cx="8458200" cy="1200150"/>
          </a:xfrm>
          <a:prstGeom prst="rect">
            <a:avLst/>
          </a:prstGeom>
          <a:noFill/>
          <a:ln w="9525">
            <a:noFill/>
            <a:miter lim="800000"/>
          </a:ln>
        </p:spPr>
        <p:txBody>
          <a:bodyPr>
            <a:spAutoFit/>
          </a:bodyPr>
          <a:lstStyle/>
          <a:p>
            <a:pPr algn="just"/>
            <a:r>
              <a:rPr lang="en-US" sz="2400">
                <a:latin typeface="Times New Roman" panose="02020603050405020304" pitchFamily="18" charset="0"/>
                <a:cs typeface="Times New Roman" panose="02020603050405020304" pitchFamily="18" charset="0"/>
              </a:rPr>
              <a:t>Now, let R</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 R</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 R</a:t>
            </a:r>
            <a:r>
              <a:rPr lang="en-US" sz="2400" baseline="-25000">
                <a:latin typeface="Times New Roman" panose="02020603050405020304" pitchFamily="18" charset="0"/>
                <a:cs typeface="Times New Roman" panose="02020603050405020304" pitchFamily="18" charset="0"/>
              </a:rPr>
              <a:t>01</a:t>
            </a:r>
            <a:r>
              <a:rPr lang="en-US" sz="2400">
                <a:latin typeface="Times New Roman" panose="02020603050405020304" pitchFamily="18" charset="0"/>
                <a:cs typeface="Times New Roman" panose="02020603050405020304" pitchFamily="18" charset="0"/>
              </a:rPr>
              <a:t>  and X</a:t>
            </a:r>
            <a:r>
              <a:rPr lang="en-US" sz="2400" baseline="-25000">
                <a:latin typeface="Times New Roman" panose="02020603050405020304" pitchFamily="18" charset="0"/>
                <a:cs typeface="Times New Roman" panose="02020603050405020304" pitchFamily="18" charset="0"/>
              </a:rPr>
              <a:t>1</a:t>
            </a:r>
            <a:r>
              <a:rPr lang="en-US" sz="2400">
                <a:latin typeface="Times New Roman" panose="02020603050405020304" pitchFamily="18" charset="0"/>
                <a:cs typeface="Times New Roman" panose="02020603050405020304" pitchFamily="18" charset="0"/>
              </a:rPr>
              <a:t> + X</a:t>
            </a:r>
            <a:r>
              <a:rPr lang="en-US" sz="2400" baseline="-25000">
                <a:latin typeface="Times New Roman" panose="02020603050405020304" pitchFamily="18" charset="0"/>
                <a:cs typeface="Times New Roman" panose="02020603050405020304" pitchFamily="18" charset="0"/>
              </a:rPr>
              <a:t>2</a:t>
            </a:r>
            <a:r>
              <a:rPr lang="en-US" sz="2400">
                <a:latin typeface="Times New Roman" panose="02020603050405020304" pitchFamily="18" charset="0"/>
                <a:cs typeface="Times New Roman" panose="02020603050405020304" pitchFamily="18" charset="0"/>
              </a:rPr>
              <a:t>' = X</a:t>
            </a:r>
            <a:r>
              <a:rPr lang="en-US" sz="2400" baseline="-25000">
                <a:latin typeface="Times New Roman" panose="02020603050405020304" pitchFamily="18" charset="0"/>
                <a:cs typeface="Times New Roman" panose="02020603050405020304" pitchFamily="18" charset="0"/>
              </a:rPr>
              <a:t>01</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Then the </a:t>
            </a:r>
            <a:r>
              <a:rPr lang="en-US" sz="2400" b="1">
                <a:latin typeface="Times New Roman" panose="02020603050405020304" pitchFamily="18" charset="0"/>
                <a:cs typeface="Times New Roman" panose="02020603050405020304" pitchFamily="18" charset="0"/>
              </a:rPr>
              <a:t>equivalent circuit of transformer</a:t>
            </a:r>
            <a:r>
              <a:rPr lang="en-US" sz="2400">
                <a:latin typeface="Times New Roman" panose="02020603050405020304" pitchFamily="18" charset="0"/>
                <a:cs typeface="Times New Roman" panose="02020603050405020304" pitchFamily="18" charset="0"/>
              </a:rPr>
              <a:t> becomes as shown in the fig below</a:t>
            </a:r>
            <a:endParaRPr lang="en-US" sz="2400">
              <a:latin typeface="Times New Roman" panose="02020603050405020304" pitchFamily="18" charset="0"/>
              <a:cs typeface="Times New Roman" panose="02020603050405020304" pitchFamily="18" charset="0"/>
            </a:endParaRPr>
          </a:p>
        </p:txBody>
      </p:sp>
      <p:pic>
        <p:nvPicPr>
          <p:cNvPr id="40964" name="Picture 5"/>
          <p:cNvPicPr>
            <a:picLocks noChangeAspect="1" noChangeArrowheads="1"/>
          </p:cNvPicPr>
          <p:nvPr/>
        </p:nvPicPr>
        <p:blipFill>
          <a:blip r:embed="rId2" cstate="print"/>
          <a:srcRect/>
          <a:stretch>
            <a:fillRect/>
          </a:stretch>
        </p:blipFill>
        <p:spPr bwMode="auto">
          <a:xfrm>
            <a:off x="2514600" y="3733800"/>
            <a:ext cx="3657600"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1295400"/>
            <a:ext cx="8229600" cy="2678113"/>
          </a:xfrm>
          <a:prstGeom prst="rect">
            <a:avLst/>
          </a:prstGeom>
        </p:spPr>
        <p:txBody>
          <a:bodyPr>
            <a:spAutoFit/>
          </a:bodyPr>
          <a:lstStyle/>
          <a:p>
            <a:pPr fontAlgn="auto">
              <a:spcBef>
                <a:spcPts val="0"/>
              </a:spcBef>
              <a:spcAft>
                <a:spcPts val="0"/>
              </a:spcAft>
              <a:defRPr/>
            </a:pPr>
            <a:r>
              <a:rPr lang="en-US" sz="2400" b="1" i="1" dirty="0">
                <a:solidFill>
                  <a:srgbClr val="FF0000"/>
                </a:solidFill>
                <a:latin typeface="+mn-lt"/>
              </a:rPr>
              <a:t>****</a:t>
            </a:r>
            <a:r>
              <a:rPr lang="en-US" sz="2400" b="1" i="1" dirty="0">
                <a:solidFill>
                  <a:srgbClr val="3333FF"/>
                </a:solidFill>
                <a:latin typeface="+mn-lt"/>
              </a:rPr>
              <a:t>Why Transformer Rating in </a:t>
            </a:r>
            <a:r>
              <a:rPr lang="en-US" sz="2400" b="1" i="1" dirty="0" err="1">
                <a:solidFill>
                  <a:srgbClr val="3333FF"/>
                </a:solidFill>
                <a:latin typeface="+mn-lt"/>
              </a:rPr>
              <a:t>kVA</a:t>
            </a:r>
            <a:r>
              <a:rPr lang="en-US" sz="2400" b="1" i="1" dirty="0">
                <a:solidFill>
                  <a:srgbClr val="3333FF"/>
                </a:solidFill>
                <a:latin typeface="+mn-lt"/>
              </a:rPr>
              <a:t> ?</a:t>
            </a:r>
            <a:endParaRPr lang="en-US" sz="2400" b="1" i="1" dirty="0">
              <a:solidFill>
                <a:srgbClr val="3333FF"/>
              </a:solidFill>
              <a:latin typeface="+mn-lt"/>
            </a:endParaRPr>
          </a:p>
          <a:p>
            <a:pPr fontAlgn="auto">
              <a:spcBef>
                <a:spcPts val="0"/>
              </a:spcBef>
              <a:spcAft>
                <a:spcPts val="0"/>
              </a:spcAft>
              <a:defRPr/>
            </a:pPr>
            <a:endParaRPr lang="en-US" sz="2400" dirty="0">
              <a:solidFill>
                <a:srgbClr val="3333FF"/>
              </a:solidFill>
              <a:latin typeface="+mn-lt"/>
            </a:endParaRPr>
          </a:p>
          <a:p>
            <a:pPr algn="just" fontAlgn="auto">
              <a:spcBef>
                <a:spcPts val="0"/>
              </a:spcBef>
              <a:spcAft>
                <a:spcPts val="0"/>
              </a:spcAft>
              <a:defRPr/>
            </a:pPr>
            <a:r>
              <a:rPr lang="en-US" sz="2400" dirty="0">
                <a:latin typeface="Times New Roman" panose="02020603050405020304" pitchFamily="18" charset="0"/>
                <a:cs typeface="Times New Roman" panose="02020603050405020304" pitchFamily="18" charset="0"/>
              </a:rPr>
              <a:t>Cu loss of a transformer depends on current and iron loss on voltage. Hence, total transformer loss depends on volt-ampere (VA) and not on phase angle between voltage and current </a:t>
            </a:r>
            <a:r>
              <a:rPr lang="en-US" sz="2400" i="1" dirty="0">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it is independent of load power factor. That is why rating of transformers is in </a:t>
            </a:r>
            <a:r>
              <a:rPr lang="en-US" sz="2400" dirty="0" err="1">
                <a:latin typeface="Times New Roman" panose="02020603050405020304" pitchFamily="18" charset="0"/>
                <a:cs typeface="Times New Roman" panose="02020603050405020304" pitchFamily="18" charset="0"/>
              </a:rPr>
              <a:t>kVA</a:t>
            </a:r>
            <a:r>
              <a:rPr lang="en-US" sz="2400" dirty="0">
                <a:latin typeface="Times New Roman" panose="02020603050405020304" pitchFamily="18" charset="0"/>
                <a:cs typeface="Times New Roman" panose="02020603050405020304" pitchFamily="18" charset="0"/>
              </a:rPr>
              <a:t> and not in kW.</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274638"/>
            <a:ext cx="8229600" cy="715962"/>
          </a:xfrm>
        </p:spPr>
        <p:txBody>
          <a:bodyPr/>
          <a:lstStyle/>
          <a:p>
            <a:br>
              <a:rPr lang="en-US" sz="3600" b="1" smtClean="0">
                <a:latin typeface="Times New Roman" panose="02020603050405020304" pitchFamily="18" charset="0"/>
                <a:cs typeface="Times New Roman" panose="02020603050405020304" pitchFamily="18" charset="0"/>
              </a:rPr>
            </a:br>
            <a:r>
              <a:rPr lang="en-US" sz="3600" b="1" smtClean="0">
                <a:solidFill>
                  <a:srgbClr val="FF0000"/>
                </a:solidFill>
                <a:latin typeface="Times New Roman" panose="02020603050405020304" pitchFamily="18" charset="0"/>
                <a:cs typeface="Times New Roman" panose="02020603050405020304" pitchFamily="18" charset="0"/>
              </a:rPr>
              <a:t>Voltage Regulation</a:t>
            </a:r>
            <a:br>
              <a:rPr lang="en-US" smtClean="0">
                <a:solidFill>
                  <a:srgbClr val="FF0000"/>
                </a:solidFill>
              </a:rPr>
            </a:br>
            <a:endParaRPr lang="en-US" smtClean="0">
              <a:solidFill>
                <a:srgbClr val="FF0000"/>
              </a:solidFill>
            </a:endParaRPr>
          </a:p>
        </p:txBody>
      </p:sp>
      <p:sp>
        <p:nvSpPr>
          <p:cNvPr id="48131" name="Content Placeholder 2"/>
          <p:cNvSpPr>
            <a:spLocks noGrp="1"/>
          </p:cNvSpPr>
          <p:nvPr>
            <p:ph idx="1"/>
          </p:nvPr>
        </p:nvSpPr>
        <p:spPr>
          <a:xfrm>
            <a:off x="457200" y="1295400"/>
            <a:ext cx="8229600" cy="2895600"/>
          </a:xfrm>
        </p:spPr>
        <p:txBody>
          <a:bodyPr/>
          <a:lstStyle/>
          <a:p>
            <a:r>
              <a:rPr lang="en-US" sz="2400" smtClean="0">
                <a:latin typeface="Times New Roman" panose="02020603050405020304" pitchFamily="18" charset="0"/>
                <a:cs typeface="Times New Roman" panose="02020603050405020304" pitchFamily="18" charset="0"/>
              </a:rPr>
              <a:t>The </a:t>
            </a:r>
            <a:r>
              <a:rPr lang="en-US" sz="2400" u="sng" smtClean="0">
                <a:latin typeface="Times New Roman" panose="02020603050405020304" pitchFamily="18" charset="0"/>
                <a:cs typeface="Times New Roman" panose="02020603050405020304" pitchFamily="18" charset="0"/>
                <a:hlinkClick r:id="rId1"/>
              </a:rPr>
              <a:t>voltage regulation</a:t>
            </a:r>
            <a:r>
              <a:rPr lang="en-US" sz="2400" smtClean="0">
                <a:latin typeface="Times New Roman" panose="02020603050405020304" pitchFamily="18" charset="0"/>
                <a:cs typeface="Times New Roman" panose="02020603050405020304" pitchFamily="18" charset="0"/>
              </a:rPr>
              <a:t> is the percentage of </a:t>
            </a:r>
            <a:r>
              <a:rPr lang="en-US" sz="2400" u="sng" smtClean="0">
                <a:latin typeface="Times New Roman" panose="02020603050405020304" pitchFamily="18" charset="0"/>
                <a:cs typeface="Times New Roman" panose="02020603050405020304" pitchFamily="18" charset="0"/>
                <a:hlinkClick r:id="rId2"/>
              </a:rPr>
              <a:t>voltage</a:t>
            </a:r>
            <a:r>
              <a:rPr lang="en-US" sz="2400" smtClean="0">
                <a:latin typeface="Times New Roman" panose="02020603050405020304" pitchFamily="18" charset="0"/>
                <a:cs typeface="Times New Roman" panose="02020603050405020304" pitchFamily="18" charset="0"/>
              </a:rPr>
              <a:t> difference between no load (</a:t>
            </a:r>
            <a:r>
              <a:rPr lang="en-US" sz="2400" b="1" baseline="-25000" smtClean="0">
                <a:latin typeface="Times New Roman" panose="02020603050405020304" pitchFamily="18" charset="0"/>
                <a:cs typeface="Times New Roman" panose="02020603050405020304" pitchFamily="18" charset="0"/>
              </a:rPr>
              <a:t>0</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and full load voltages(</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smtClean="0">
                <a:latin typeface="Times New Roman" panose="02020603050405020304" pitchFamily="18" charset="0"/>
                <a:cs typeface="Times New Roman" panose="02020603050405020304" pitchFamily="18" charset="0"/>
              </a:rPr>
              <a:t>) of a transformer with respect to its no load  or full load voltage.</a:t>
            </a:r>
            <a:endParaRPr lang="en-US" sz="2400"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%Reg up= (</a:t>
            </a:r>
            <a:r>
              <a:rPr lang="en-US" sz="2400" b="1" baseline="-25000" smtClean="0">
                <a:latin typeface="Times New Roman" panose="02020603050405020304" pitchFamily="18" charset="0"/>
                <a:cs typeface="Times New Roman" panose="02020603050405020304" pitchFamily="18" charset="0"/>
              </a:rPr>
              <a:t>0</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 100       or </a:t>
            </a:r>
            <a:endParaRPr lang="en-US" sz="2400" b="1"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2400" b="1" smtClean="0">
                <a:latin typeface="Times New Roman" panose="02020603050405020304" pitchFamily="18" charset="0"/>
                <a:cs typeface="Times New Roman" panose="02020603050405020304" pitchFamily="18" charset="0"/>
              </a:rPr>
              <a:t>       %Reg down= (</a:t>
            </a:r>
            <a:r>
              <a:rPr lang="en-US" sz="2400" b="1" baseline="-25000" smtClean="0">
                <a:latin typeface="Times New Roman" panose="02020603050405020304" pitchFamily="18" charset="0"/>
                <a:cs typeface="Times New Roman" panose="02020603050405020304" pitchFamily="18" charset="0"/>
              </a:rPr>
              <a:t>0</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a:t>
            </a:r>
            <a:r>
              <a:rPr lang="en-US" sz="2400" b="1" baseline="-25000" smtClean="0">
                <a:latin typeface="Times New Roman" panose="02020603050405020304" pitchFamily="18" charset="0"/>
                <a:cs typeface="Times New Roman" panose="02020603050405020304" pitchFamily="18" charset="0"/>
              </a:rPr>
              <a:t>0</a:t>
            </a:r>
            <a:r>
              <a:rPr lang="en-US" sz="2400" b="1" smtClean="0">
                <a:latin typeface="Times New Roman" panose="02020603050405020304" pitchFamily="18" charset="0"/>
                <a:cs typeface="Times New Roman" panose="02020603050405020304" pitchFamily="18" charset="0"/>
              </a:rPr>
              <a:t>V</a:t>
            </a:r>
            <a:r>
              <a:rPr lang="en-US" sz="2400" b="1" baseline="-25000" smtClean="0">
                <a:latin typeface="Times New Roman" panose="02020603050405020304" pitchFamily="18" charset="0"/>
                <a:cs typeface="Times New Roman" panose="02020603050405020304" pitchFamily="18" charset="0"/>
              </a:rPr>
              <a:t>2</a:t>
            </a:r>
            <a:r>
              <a:rPr lang="en-US" sz="2400" b="1" smtClean="0">
                <a:latin typeface="Times New Roman" panose="02020603050405020304" pitchFamily="18" charset="0"/>
                <a:cs typeface="Times New Roman" panose="02020603050405020304" pitchFamily="18" charset="0"/>
              </a:rPr>
              <a:t>* 100</a:t>
            </a:r>
            <a:endParaRPr lang="en-US" sz="2400" b="1" smtClean="0">
              <a:latin typeface="Times New Roman" panose="02020603050405020304" pitchFamily="18" charset="0"/>
              <a:cs typeface="Times New Roman" panose="02020603050405020304" pitchFamily="18" charset="0"/>
            </a:endParaRPr>
          </a:p>
          <a:p>
            <a:pPr algn="ctr"/>
            <a:r>
              <a:rPr lang="en-US" sz="2400" b="1" smtClean="0">
                <a:latin typeface="Times New Roman" panose="02020603050405020304" pitchFamily="18" charset="0"/>
                <a:cs typeface="Times New Roman" panose="02020603050405020304" pitchFamily="18" charset="0"/>
              </a:rPr>
              <a:t>Voltage regulation of transformer at lagging power factor </a:t>
            </a:r>
            <a:endParaRPr lang="en-US" sz="2400" smtClean="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2400" smtClean="0">
              <a:latin typeface="Times New Roman" panose="02020603050405020304" pitchFamily="18" charset="0"/>
              <a:cs typeface="Times New Roman" panose="02020603050405020304" pitchFamily="18" charset="0"/>
            </a:endParaRPr>
          </a:p>
          <a:p>
            <a:endParaRPr lang="en-US" sz="2400" smtClean="0">
              <a:latin typeface="Times New Roman" panose="02020603050405020304" pitchFamily="18" charset="0"/>
              <a:cs typeface="Times New Roman" panose="02020603050405020304" pitchFamily="18" charset="0"/>
            </a:endParaRPr>
          </a:p>
        </p:txBody>
      </p:sp>
      <p:pic>
        <p:nvPicPr>
          <p:cNvPr id="48132" name="Picture 3"/>
          <p:cNvPicPr>
            <a:picLocks noChangeAspect="1" noChangeArrowheads="1"/>
          </p:cNvPicPr>
          <p:nvPr/>
        </p:nvPicPr>
        <p:blipFill>
          <a:blip r:embed="rId3" cstate="print"/>
          <a:srcRect/>
          <a:stretch>
            <a:fillRect/>
          </a:stretch>
        </p:blipFill>
        <p:spPr bwMode="auto">
          <a:xfrm>
            <a:off x="2971800" y="3810000"/>
            <a:ext cx="3276600" cy="990600"/>
          </a:xfrm>
          <a:prstGeom prst="rect">
            <a:avLst/>
          </a:prstGeom>
          <a:noFill/>
          <a:ln w="9525">
            <a:noFill/>
            <a:miter lim="800000"/>
            <a:headEnd/>
            <a:tailEnd/>
          </a:ln>
        </p:spPr>
      </p:pic>
      <p:sp>
        <p:nvSpPr>
          <p:cNvPr id="48133" name="Rectangle 5"/>
          <p:cNvSpPr>
            <a:spLocks noChangeArrowheads="1"/>
          </p:cNvSpPr>
          <p:nvPr/>
        </p:nvSpPr>
        <p:spPr bwMode="auto">
          <a:xfrm>
            <a:off x="609600" y="4876800"/>
            <a:ext cx="7848600" cy="461963"/>
          </a:xfrm>
          <a:prstGeom prst="rect">
            <a:avLst/>
          </a:prstGeom>
          <a:noFill/>
          <a:ln w="9525">
            <a:noFill/>
            <a:miter lim="800000"/>
          </a:ln>
        </p:spPr>
        <p:txBody>
          <a:bodyPr>
            <a:spAutoFit/>
          </a:bodyPr>
          <a:lstStyle/>
          <a:p>
            <a:pPr algn="ctr">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Voltage regulation of transformer at leading power factor </a:t>
            </a:r>
            <a:endParaRPr lang="en-US" sz="2400">
              <a:latin typeface="Times New Roman" panose="02020603050405020304" pitchFamily="18" charset="0"/>
              <a:cs typeface="Times New Roman" panose="02020603050405020304" pitchFamily="18" charset="0"/>
            </a:endParaRPr>
          </a:p>
        </p:txBody>
      </p:sp>
      <p:pic>
        <p:nvPicPr>
          <p:cNvPr id="48134" name="Picture 10"/>
          <p:cNvPicPr>
            <a:picLocks noChangeAspect="1" noChangeArrowheads="1"/>
          </p:cNvPicPr>
          <p:nvPr/>
        </p:nvPicPr>
        <p:blipFill>
          <a:blip r:embed="rId4" cstate="print"/>
          <a:srcRect/>
          <a:stretch>
            <a:fillRect/>
          </a:stretch>
        </p:blipFill>
        <p:spPr bwMode="auto">
          <a:xfrm>
            <a:off x="2514600" y="5638800"/>
            <a:ext cx="3581400" cy="838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sz="3600" b="1" smtClean="0">
                <a:solidFill>
                  <a:srgbClr val="FF0000"/>
                </a:solidFill>
                <a:latin typeface="Times New Roman" panose="02020603050405020304" pitchFamily="18" charset="0"/>
                <a:cs typeface="Times New Roman" panose="02020603050405020304" pitchFamily="18" charset="0"/>
              </a:rPr>
              <a:t>Efficiency</a:t>
            </a:r>
            <a:endParaRPr lang="en-US" sz="3600" b="1" smtClean="0">
              <a:solidFill>
                <a:srgbClr val="FF0000"/>
              </a:solidFill>
              <a:latin typeface="Times New Roman" panose="02020603050405020304" pitchFamily="18" charset="0"/>
              <a:cs typeface="Times New Roman" panose="02020603050405020304" pitchFamily="18" charset="0"/>
            </a:endParaRPr>
          </a:p>
        </p:txBody>
      </p:sp>
      <p:sp>
        <p:nvSpPr>
          <p:cNvPr id="49155" name="Content Placeholder 2"/>
          <p:cNvSpPr>
            <a:spLocks noGrp="1"/>
          </p:cNvSpPr>
          <p:nvPr>
            <p:ph idx="1"/>
          </p:nvPr>
        </p:nvSpPr>
        <p:spPr/>
        <p:txBody>
          <a:bodyPr/>
          <a:lstStyle/>
          <a:p>
            <a:r>
              <a:rPr lang="en-US" smtClean="0"/>
              <a:t>  </a:t>
            </a:r>
            <a:r>
              <a:rPr lang="en-US" smtClean="0">
                <a:latin typeface="Times New Roman" panose="02020603050405020304" pitchFamily="18" charset="0"/>
                <a:cs typeface="Times New Roman" panose="02020603050405020304" pitchFamily="18" charset="0"/>
              </a:rPr>
              <a:t>%</a:t>
            </a:r>
            <a:r>
              <a:rPr lang="el-GR" smtClean="0">
                <a:latin typeface="Times New Roman" panose="02020603050405020304" pitchFamily="18" charset="0"/>
                <a:cs typeface="Times New Roman" panose="02020603050405020304" pitchFamily="18" charset="0"/>
              </a:rPr>
              <a:t>η</a:t>
            </a:r>
            <a:r>
              <a:rPr lang="en-US" smtClean="0">
                <a:latin typeface="Times New Roman" panose="02020603050405020304" pitchFamily="18" charset="0"/>
                <a:cs typeface="Times New Roman" panose="02020603050405020304" pitchFamily="18" charset="0"/>
              </a:rPr>
              <a:t> = (Output/ Input ) * 100</a:t>
            </a:r>
            <a:endParaRPr lang="en-US" smtClean="0">
              <a:latin typeface="Times New Roman" panose="02020603050405020304" pitchFamily="18" charset="0"/>
              <a:cs typeface="Times New Roman" panose="02020603050405020304" pitchFamily="18" charset="0"/>
            </a:endParaRPr>
          </a:p>
          <a:p>
            <a:r>
              <a:rPr lang="en-US" smtClean="0">
                <a:latin typeface="Times New Roman" panose="02020603050405020304" pitchFamily="18" charset="0"/>
                <a:cs typeface="Times New Roman" panose="02020603050405020304" pitchFamily="18" charset="0"/>
              </a:rPr>
              <a:t> %</a:t>
            </a:r>
            <a:r>
              <a:rPr lang="el-GR" smtClean="0">
                <a:latin typeface="Times New Roman" panose="02020603050405020304" pitchFamily="18" charset="0"/>
                <a:cs typeface="Times New Roman" panose="02020603050405020304" pitchFamily="18" charset="0"/>
              </a:rPr>
              <a:t>η</a:t>
            </a:r>
            <a:r>
              <a:rPr lang="en-US" smtClean="0">
                <a:latin typeface="Times New Roman" panose="02020603050405020304" pitchFamily="18" charset="0"/>
                <a:cs typeface="Times New Roman" panose="02020603050405020304" pitchFamily="18" charset="0"/>
              </a:rPr>
              <a:t> = ( Vi cos</a:t>
            </a:r>
            <a:r>
              <a:rPr lang="el-GR" smtClean="0">
                <a:latin typeface="Times New Roman" panose="02020603050405020304" pitchFamily="18" charset="0"/>
                <a:cs typeface="Times New Roman" panose="02020603050405020304" pitchFamily="18" charset="0"/>
              </a:rPr>
              <a:t>φ</a:t>
            </a:r>
            <a:r>
              <a:rPr lang="en-US" smtClean="0">
                <a:latin typeface="Times New Roman" panose="02020603050405020304" pitchFamily="18" charset="0"/>
                <a:cs typeface="Times New Roman" panose="02020603050405020304" pitchFamily="18" charset="0"/>
              </a:rPr>
              <a:t> / Vi cos</a:t>
            </a:r>
            <a:r>
              <a:rPr lang="el-GR" smtClean="0">
                <a:latin typeface="Times New Roman" panose="02020603050405020304" pitchFamily="18" charset="0"/>
                <a:cs typeface="Times New Roman" panose="02020603050405020304" pitchFamily="18" charset="0"/>
              </a:rPr>
              <a:t>φ</a:t>
            </a:r>
            <a:r>
              <a:rPr lang="en-US" smtClean="0">
                <a:latin typeface="Times New Roman" panose="02020603050405020304" pitchFamily="18" charset="0"/>
                <a:cs typeface="Times New Roman" panose="02020603050405020304" pitchFamily="18" charset="0"/>
              </a:rPr>
              <a:t> +W </a:t>
            </a:r>
            <a:r>
              <a:rPr lang="en-US" baseline="-25000" smtClean="0">
                <a:latin typeface="Times New Roman" panose="02020603050405020304" pitchFamily="18" charset="0"/>
                <a:cs typeface="Times New Roman" panose="02020603050405020304" pitchFamily="18" charset="0"/>
              </a:rPr>
              <a:t>i</a:t>
            </a:r>
            <a:r>
              <a:rPr lang="en-US" smtClean="0">
                <a:latin typeface="Times New Roman" panose="02020603050405020304" pitchFamily="18" charset="0"/>
                <a:cs typeface="Times New Roman" panose="02020603050405020304" pitchFamily="18" charset="0"/>
              </a:rPr>
              <a:t>+W </a:t>
            </a:r>
            <a:r>
              <a:rPr lang="en-US" baseline="-25000" smtClean="0">
                <a:latin typeface="Times New Roman" panose="02020603050405020304" pitchFamily="18" charset="0"/>
                <a:cs typeface="Times New Roman" panose="02020603050405020304" pitchFamily="18" charset="0"/>
              </a:rPr>
              <a:t>cu</a:t>
            </a:r>
            <a:r>
              <a:rPr lang="en-US" smtClean="0">
                <a:latin typeface="Times New Roman" panose="02020603050405020304" pitchFamily="18" charset="0"/>
                <a:cs typeface="Times New Roman" panose="02020603050405020304" pitchFamily="18" charset="0"/>
              </a:rPr>
              <a:t>)*100</a:t>
            </a:r>
            <a:endParaRPr lang="en-US" smtClean="0">
              <a:latin typeface="Times New Roman" panose="02020603050405020304" pitchFamily="18" charset="0"/>
              <a:cs typeface="Times New Roman" panose="02020603050405020304" pitchFamily="18" charset="0"/>
            </a:endParaRPr>
          </a:p>
          <a:p>
            <a:r>
              <a:rPr lang="el-GR" smtClean="0">
                <a:latin typeface="Times New Roman" panose="02020603050405020304" pitchFamily="18" charset="0"/>
                <a:cs typeface="Times New Roman" panose="02020603050405020304" pitchFamily="18" charset="0"/>
              </a:rPr>
              <a:t>η</a:t>
            </a:r>
            <a:r>
              <a:rPr lang="en-US" smtClean="0">
                <a:latin typeface="Times New Roman" panose="02020603050405020304" pitchFamily="18" charset="0"/>
                <a:cs typeface="Times New Roman" panose="02020603050405020304" pitchFamily="18" charset="0"/>
              </a:rPr>
              <a:t>  at any load ‘x’ is defined as</a:t>
            </a:r>
            <a:endParaRPr lang="en-US" smtClean="0">
              <a:latin typeface="Times New Roman" panose="02020603050405020304" pitchFamily="18" charset="0"/>
              <a:cs typeface="Times New Roman" panose="02020603050405020304" pitchFamily="18" charset="0"/>
            </a:endParaRPr>
          </a:p>
          <a:p>
            <a:r>
              <a:rPr lang="en-US" smtClean="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a:t>
            </a:r>
            <a:r>
              <a:rPr lang="el-GR" sz="2800" smtClean="0">
                <a:latin typeface="Times New Roman" panose="02020603050405020304" pitchFamily="18" charset="0"/>
                <a:cs typeface="Times New Roman" panose="02020603050405020304" pitchFamily="18" charset="0"/>
              </a:rPr>
              <a:t>η</a:t>
            </a:r>
            <a:r>
              <a:rPr lang="en-US" sz="2800" smtClean="0">
                <a:latin typeface="Times New Roman" panose="02020603050405020304" pitchFamily="18" charset="0"/>
                <a:cs typeface="Times New Roman" panose="02020603050405020304" pitchFamily="18" charset="0"/>
              </a:rPr>
              <a:t> = ( x*Vi cos</a:t>
            </a:r>
            <a:r>
              <a:rPr lang="el-GR" sz="2800" smtClean="0">
                <a:latin typeface="Times New Roman" panose="02020603050405020304" pitchFamily="18" charset="0"/>
                <a:cs typeface="Times New Roman" panose="02020603050405020304" pitchFamily="18" charset="0"/>
              </a:rPr>
              <a:t>φ</a:t>
            </a:r>
            <a:r>
              <a:rPr lang="en-US" sz="2800" smtClean="0">
                <a:latin typeface="Times New Roman" panose="02020603050405020304" pitchFamily="18" charset="0"/>
                <a:cs typeface="Times New Roman" panose="02020603050405020304" pitchFamily="18" charset="0"/>
              </a:rPr>
              <a:t> / x*Vi cos</a:t>
            </a:r>
            <a:r>
              <a:rPr lang="el-GR" sz="2800" smtClean="0">
                <a:latin typeface="Times New Roman" panose="02020603050405020304" pitchFamily="18" charset="0"/>
                <a:cs typeface="Times New Roman" panose="02020603050405020304" pitchFamily="18" charset="0"/>
              </a:rPr>
              <a:t>φ</a:t>
            </a:r>
            <a:r>
              <a:rPr lang="en-US" sz="2800" smtClean="0">
                <a:latin typeface="Times New Roman" panose="02020603050405020304" pitchFamily="18" charset="0"/>
                <a:cs typeface="Times New Roman" panose="02020603050405020304" pitchFamily="18" charset="0"/>
              </a:rPr>
              <a:t>+W</a:t>
            </a:r>
            <a:r>
              <a:rPr lang="en-US" sz="2800" baseline="-25000" smtClean="0">
                <a:latin typeface="Times New Roman" panose="02020603050405020304" pitchFamily="18" charset="0"/>
                <a:cs typeface="Times New Roman" panose="02020603050405020304" pitchFamily="18" charset="0"/>
              </a:rPr>
              <a:t>i</a:t>
            </a:r>
            <a:r>
              <a:rPr lang="en-US" sz="2800" smtClean="0">
                <a:latin typeface="Times New Roman" panose="02020603050405020304" pitchFamily="18" charset="0"/>
                <a:cs typeface="Times New Roman" panose="02020603050405020304" pitchFamily="18" charset="0"/>
              </a:rPr>
              <a:t>+x</a:t>
            </a:r>
            <a:r>
              <a:rPr lang="en-US" sz="2800" baseline="30000" smtClean="0">
                <a:latin typeface="Times New Roman" panose="02020603050405020304" pitchFamily="18" charset="0"/>
                <a:cs typeface="Times New Roman" panose="02020603050405020304" pitchFamily="18" charset="0"/>
              </a:rPr>
              <a:t>2</a:t>
            </a:r>
            <a:r>
              <a:rPr lang="en-US" sz="2800" smtClean="0">
                <a:latin typeface="Times New Roman" panose="02020603050405020304" pitchFamily="18" charset="0"/>
                <a:cs typeface="Times New Roman" panose="02020603050405020304" pitchFamily="18" charset="0"/>
              </a:rPr>
              <a:t>*W </a:t>
            </a:r>
            <a:r>
              <a:rPr lang="en-US" sz="2800" baseline="-25000" smtClean="0">
                <a:latin typeface="Times New Roman" panose="02020603050405020304" pitchFamily="18" charset="0"/>
                <a:cs typeface="Times New Roman" panose="02020603050405020304" pitchFamily="18" charset="0"/>
              </a:rPr>
              <a:t>cu</a:t>
            </a:r>
            <a:r>
              <a:rPr lang="en-US" sz="2800" smtClean="0">
                <a:latin typeface="Times New Roman" panose="02020603050405020304" pitchFamily="18" charset="0"/>
                <a:cs typeface="Times New Roman" panose="02020603050405020304" pitchFamily="18" charset="0"/>
              </a:rPr>
              <a:t>)*100</a:t>
            </a:r>
            <a:endParaRPr lang="en-US" sz="2800" smtClean="0">
              <a:latin typeface="Times New Roman" panose="02020603050405020304" pitchFamily="18" charset="0"/>
              <a:cs typeface="Times New Roman" panose="02020603050405020304" pitchFamily="18" charset="0"/>
            </a:endParaRPr>
          </a:p>
          <a:p>
            <a:r>
              <a:rPr lang="en-US" b="1" smtClean="0">
                <a:latin typeface="Times New Roman" panose="02020603050405020304" pitchFamily="18" charset="0"/>
                <a:cs typeface="Times New Roman" panose="02020603050405020304" pitchFamily="18" charset="0"/>
              </a:rPr>
              <a:t>Condition for maximum efficiency is core losses= copper losses </a:t>
            </a:r>
            <a:endParaRPr lang="en-US" smtClean="0">
              <a:latin typeface="Times New Roman" panose="02020603050405020304" pitchFamily="18" charset="0"/>
              <a:cs typeface="Times New Roman" panose="02020603050405020304" pitchFamily="18" charset="0"/>
            </a:endParaRPr>
          </a:p>
          <a:p>
            <a:endParaRPr lang="en-US"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13930</Words>
  <Application>WPS Presentation</Application>
  <PresentationFormat>On-screen Show (4:3)</PresentationFormat>
  <Paragraphs>219</Paragraphs>
  <Slides>41</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41</vt:i4>
      </vt:variant>
    </vt:vector>
  </HeadingPairs>
  <TitlesOfParts>
    <vt:vector size="49" baseType="lpstr">
      <vt:lpstr>Arial</vt:lpstr>
      <vt:lpstr>SimSun</vt:lpstr>
      <vt:lpstr>Wingdings</vt:lpstr>
      <vt:lpstr>Calibri</vt:lpstr>
      <vt:lpstr>Times New Roman</vt:lpstr>
      <vt:lpstr>Microsoft YaHei</vt:lpstr>
      <vt:lpstr>Arial Unicode MS</vt:lpstr>
      <vt:lpstr>Office Theme</vt:lpstr>
      <vt:lpstr>UNIT-IV TRANSFORMERS</vt:lpstr>
      <vt:lpstr>DEFINITION</vt:lpstr>
      <vt:lpstr> Working Principle of Transformer </vt:lpstr>
      <vt:lpstr> Basic Theory of Transformer </vt:lpstr>
      <vt:lpstr>PowerPoint 演示文稿</vt:lpstr>
      <vt:lpstr>PowerPoint 演示文稿</vt:lpstr>
      <vt:lpstr> Main Constructional Parts of Transformer </vt:lpstr>
      <vt:lpstr> Construction of the Core </vt:lpstr>
      <vt:lpstr>PowerPoint 演示文稿</vt:lpstr>
      <vt:lpstr>PowerPoint 演示文稿</vt:lpstr>
      <vt:lpstr>Types of Transformers  Based on voltage step up &amp; down</vt:lpstr>
      <vt:lpstr>EMF EQUATION</vt:lpstr>
      <vt:lpstr>PowerPoint 演示文稿</vt:lpstr>
      <vt:lpstr>PowerPoint 演示文稿</vt:lpstr>
      <vt:lpstr>Ideal Transformer</vt:lpstr>
      <vt:lpstr>PowerPoint 演示文稿</vt:lpstr>
      <vt:lpstr>Practical Transformer</vt:lpstr>
      <vt:lpstr>PowerPoint 演示文稿</vt:lpstr>
      <vt:lpstr>PowerPoint 演示文稿</vt:lpstr>
      <vt:lpstr>PowerPoint 演示文稿</vt:lpstr>
      <vt:lpstr>PowerPoint 演示文稿</vt:lpstr>
      <vt:lpstr>PowerPoint 演示文稿</vt:lpstr>
      <vt:lpstr>PowerPoint 演示文稿</vt:lpstr>
      <vt:lpstr> Transformer with Resistive Winding, but No Magnetic Leakage </vt:lpstr>
      <vt:lpstr>PowerPoint 演示文稿</vt:lpstr>
      <vt:lpstr> Transformer With Resistive Winding and with Magnetic Leakage </vt:lpstr>
      <vt:lpstr>PowerPoint 演示文稿</vt:lpstr>
      <vt:lpstr> Equivalent Resistance </vt:lpstr>
      <vt:lpstr>PowerPoint 演示文稿</vt:lpstr>
      <vt:lpstr>PowerPoint 演示文稿</vt:lpstr>
      <vt:lpstr>Leakage Reactance</vt:lpstr>
      <vt:lpstr> Transformer With Resistance and Leakage Reactance</vt:lpstr>
      <vt:lpstr>PowerPoint 演示文稿</vt:lpstr>
      <vt:lpstr>PowerPoint 演示文稿</vt:lpstr>
      <vt:lpstr> Equivalent Circuit </vt:lpstr>
      <vt:lpstr>PowerPoint 演示文稿</vt:lpstr>
      <vt:lpstr>PowerPoint 演示文稿</vt:lpstr>
      <vt:lpstr>PowerPoint 演示文稿</vt:lpstr>
      <vt:lpstr>PowerPoint 演示文稿</vt:lpstr>
      <vt:lpstr> Voltage Regulation </vt:lpstr>
      <vt:lpstr>Efficiency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Student</cp:lastModifiedBy>
  <cp:revision>209</cp:revision>
  <dcterms:created xsi:type="dcterms:W3CDTF">2015-07-27T10:02:00Z</dcterms:created>
  <dcterms:modified xsi:type="dcterms:W3CDTF">2025-10-24T05:33:23Z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05567DFE7CC443958846E1AEC6199A92_12</vt:lpwstr>
  </property>
  <property fmtid="{D5CDD505-2E9C-101B-9397-08002B2CF9AE}" pid="3" name="KSOProductBuildVer">
    <vt:lpwstr>1033-12.2.0.23131</vt:lpwstr>
  </property>
</Properties>
</file>