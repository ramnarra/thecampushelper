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8"/>
  </p:notesMasterIdLst>
  <p:sldIdLst>
    <p:sldId id="256" r:id="rId2"/>
    <p:sldId id="260" r:id="rId3"/>
    <p:sldId id="259" r:id="rId4"/>
    <p:sldId id="261" r:id="rId5"/>
    <p:sldId id="262" r:id="rId6"/>
    <p:sldId id="263" r:id="rId7"/>
    <p:sldId id="264" r:id="rId8"/>
    <p:sldId id="265" r:id="rId9"/>
    <p:sldId id="266" r:id="rId10"/>
    <p:sldId id="267" r:id="rId11"/>
    <p:sldId id="268" r:id="rId12"/>
    <p:sldId id="270" r:id="rId13"/>
    <p:sldId id="271" r:id="rId14"/>
    <p:sldId id="272" r:id="rId15"/>
    <p:sldId id="273" r:id="rId16"/>
    <p:sldId id="301" r:id="rId17"/>
    <p:sldId id="302" r:id="rId18"/>
    <p:sldId id="303" r:id="rId19"/>
    <p:sldId id="304" r:id="rId20"/>
    <p:sldId id="305" r:id="rId21"/>
    <p:sldId id="307" r:id="rId22"/>
    <p:sldId id="308" r:id="rId23"/>
    <p:sldId id="314" r:id="rId24"/>
    <p:sldId id="315" r:id="rId25"/>
    <p:sldId id="316" r:id="rId26"/>
    <p:sldId id="317" r:id="rId27"/>
    <p:sldId id="276" r:id="rId28"/>
    <p:sldId id="285" r:id="rId29"/>
    <p:sldId id="286" r:id="rId30"/>
    <p:sldId id="287" r:id="rId31"/>
    <p:sldId id="288" r:id="rId32"/>
    <p:sldId id="289" r:id="rId33"/>
    <p:sldId id="290" r:id="rId34"/>
    <p:sldId id="291" r:id="rId35"/>
    <p:sldId id="292" r:id="rId36"/>
    <p:sldId id="293" r:id="rId37"/>
    <p:sldId id="294" r:id="rId38"/>
    <p:sldId id="295" r:id="rId39"/>
    <p:sldId id="296" r:id="rId40"/>
    <p:sldId id="297" r:id="rId41"/>
    <p:sldId id="312" r:id="rId42"/>
    <p:sldId id="298" r:id="rId43"/>
    <p:sldId id="299" r:id="rId44"/>
    <p:sldId id="300" r:id="rId45"/>
    <p:sldId id="310" r:id="rId46"/>
    <p:sldId id="311" r:id="rId47"/>
  </p:sldIdLst>
  <p:sldSz cx="128016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403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3173" autoAdjust="0"/>
  </p:normalViewPr>
  <p:slideViewPr>
    <p:cSldViewPr>
      <p:cViewPr>
        <p:scale>
          <a:sx n="50" d="100"/>
          <a:sy n="50" d="100"/>
        </p:scale>
        <p:origin x="-600" y="-58"/>
      </p:cViewPr>
      <p:guideLst>
        <p:guide orient="horz" pos="2160"/>
        <p:guide pos="4032"/>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68E4CF2-4BA3-46B8-B1F3-FFBAB737CFAE}" type="datetimeFigureOut">
              <a:rPr lang="en-US" smtClean="0"/>
              <a:pPr/>
              <a:t>22-Aug-25</a:t>
            </a:fld>
            <a:endParaRPr lang="en-US"/>
          </a:p>
        </p:txBody>
      </p:sp>
      <p:sp>
        <p:nvSpPr>
          <p:cNvPr id="4" name="Slide Image Placeholder 3"/>
          <p:cNvSpPr>
            <a:spLocks noGrp="1" noRot="1" noChangeAspect="1"/>
          </p:cNvSpPr>
          <p:nvPr>
            <p:ph type="sldImg" idx="2"/>
          </p:nvPr>
        </p:nvSpPr>
        <p:spPr>
          <a:xfrm>
            <a:off x="228600" y="685800"/>
            <a:ext cx="64008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94DAA7C-C6BD-4F5E-A342-DE11B43DC81A}" type="slidenum">
              <a:rPr lang="en-US" smtClean="0"/>
              <a:pPr/>
              <a:t>‹#›</a:t>
            </a:fld>
            <a:endParaRPr lang="en-US"/>
          </a:p>
        </p:txBody>
      </p:sp>
    </p:spTree>
    <p:extLst>
      <p:ext uri="{BB962C8B-B14F-4D97-AF65-F5344CB8AC3E}">
        <p14:creationId xmlns:p14="http://schemas.microsoft.com/office/powerpoint/2010/main" val="3197955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94DAA7C-C6BD-4F5E-A342-DE11B43DC81A}" type="slidenum">
              <a:rPr lang="en-US" smtClean="0"/>
              <a:pPr/>
              <a:t>12</a:t>
            </a:fld>
            <a:endParaRPr lang="en-US"/>
          </a:p>
        </p:txBody>
      </p:sp>
    </p:spTree>
    <p:extLst>
      <p:ext uri="{BB962C8B-B14F-4D97-AF65-F5344CB8AC3E}">
        <p14:creationId xmlns:p14="http://schemas.microsoft.com/office/powerpoint/2010/main" val="23548647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94DAA7C-C6BD-4F5E-A342-DE11B43DC81A}" type="slidenum">
              <a:rPr lang="en-US" smtClean="0"/>
              <a:pPr/>
              <a:t>26</a:t>
            </a:fld>
            <a:endParaRPr lang="en-US"/>
          </a:p>
        </p:txBody>
      </p:sp>
    </p:spTree>
    <p:extLst>
      <p:ext uri="{BB962C8B-B14F-4D97-AF65-F5344CB8AC3E}">
        <p14:creationId xmlns:p14="http://schemas.microsoft.com/office/powerpoint/2010/main" val="31028874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94DAA7C-C6BD-4F5E-A342-DE11B43DC81A}" type="slidenum">
              <a:rPr lang="en-US" smtClean="0"/>
              <a:pPr/>
              <a:t>27</a:t>
            </a:fld>
            <a:endParaRPr lang="en-US"/>
          </a:p>
        </p:txBody>
      </p:sp>
    </p:spTree>
    <p:extLst>
      <p:ext uri="{BB962C8B-B14F-4D97-AF65-F5344CB8AC3E}">
        <p14:creationId xmlns:p14="http://schemas.microsoft.com/office/powerpoint/2010/main" val="12687759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994DAA7C-C6BD-4F5E-A342-DE11B43DC81A}" type="slidenum">
              <a:rPr lang="en-US" smtClean="0"/>
              <a:pPr/>
              <a:t>30</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60120" y="2130426"/>
            <a:ext cx="10881360" cy="1470025"/>
          </a:xfrm>
        </p:spPr>
        <p:txBody>
          <a:bodyPr/>
          <a:lstStyle/>
          <a:p>
            <a:r>
              <a:rPr lang="en-US"/>
              <a:t>Click to edit Master title style</a:t>
            </a:r>
          </a:p>
        </p:txBody>
      </p:sp>
      <p:sp>
        <p:nvSpPr>
          <p:cNvPr id="3" name="Subtitle 2"/>
          <p:cNvSpPr>
            <a:spLocks noGrp="1"/>
          </p:cNvSpPr>
          <p:nvPr>
            <p:ph type="subTitle" idx="1"/>
          </p:nvPr>
        </p:nvSpPr>
        <p:spPr>
          <a:xfrm>
            <a:off x="1920240" y="3886200"/>
            <a:ext cx="896112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22-Aug-25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22-Aug-25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11238" y="4406901"/>
            <a:ext cx="1088136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1011238" y="2906713"/>
            <a:ext cx="1088136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22-Aug-25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40080" y="1600201"/>
            <a:ext cx="565404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507480" y="1600201"/>
            <a:ext cx="565404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22-Aug-25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40080" y="1535113"/>
            <a:ext cx="565626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40080" y="2174875"/>
            <a:ext cx="565626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503036" y="1535113"/>
            <a:ext cx="565848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03036" y="2174875"/>
            <a:ext cx="565848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22-Aug-25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22-Aug-25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22-Aug-25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40081" y="273050"/>
            <a:ext cx="4211638"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5005070" y="273051"/>
            <a:ext cx="71564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40081" y="1435101"/>
            <a:ext cx="42116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22-Aug-25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09203" y="4800600"/>
            <a:ext cx="768096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509203" y="612775"/>
            <a:ext cx="768096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509203" y="5367338"/>
            <a:ext cx="768096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22-Aug-25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22-Aug-25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81160" y="274639"/>
            <a:ext cx="288036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40080" y="274639"/>
            <a:ext cx="842772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22-Aug-25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40080" y="274638"/>
            <a:ext cx="1152144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40080" y="1600201"/>
            <a:ext cx="1152144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40080" y="6356351"/>
            <a:ext cx="298704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22-Aug-25</a:t>
            </a:fld>
            <a:endParaRPr lang="en-US"/>
          </a:p>
        </p:txBody>
      </p:sp>
      <p:sp>
        <p:nvSpPr>
          <p:cNvPr id="5" name="Footer Placeholder 4"/>
          <p:cNvSpPr>
            <a:spLocks noGrp="1"/>
          </p:cNvSpPr>
          <p:nvPr>
            <p:ph type="ftr" sz="quarter" idx="3"/>
          </p:nvPr>
        </p:nvSpPr>
        <p:spPr>
          <a:xfrm>
            <a:off x="4373880" y="6356351"/>
            <a:ext cx="405384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9174480" y="6356351"/>
            <a:ext cx="298704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5" Type="http://schemas.openxmlformats.org/officeDocument/2006/relationships/image" Target="../media/image7.png"/><Relationship Id="rId4" Type="http://schemas.openxmlformats.org/officeDocument/2006/relationships/image" Target="../media/image6.emf"/></Relationships>
</file>

<file path=ppt/slides/_rels/slide1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wmf"/><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25.png"/><Relationship Id="rId4" Type="http://schemas.openxmlformats.org/officeDocument/2006/relationships/image" Target="../media/image24.jpeg"/></Relationships>
</file>

<file path=ppt/slides/_rels/slide28.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29.jpeg"/><Relationship Id="rId4" Type="http://schemas.openxmlformats.org/officeDocument/2006/relationships/image" Target="../media/image28.jpe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p:cNvGrpSpPr/>
          <p:nvPr/>
        </p:nvGrpSpPr>
        <p:grpSpPr>
          <a:xfrm>
            <a:off x="0" y="228600"/>
            <a:ext cx="12801600" cy="6499370"/>
            <a:chOff x="0" y="-1845278"/>
            <a:chExt cx="9372600" cy="8573249"/>
          </a:xfrm>
        </p:grpSpPr>
        <p:sp>
          <p:nvSpPr>
            <p:cNvPr id="1026" name="AutoShape 2" descr="diagram of the hydrologic cycle of water"/>
            <p:cNvSpPr>
              <a:spLocks noChangeAspect="1" noChangeArrowheads="1"/>
            </p:cNvSpPr>
            <p:nvPr/>
          </p:nvSpPr>
          <p:spPr bwMode="auto">
            <a:xfrm>
              <a:off x="155575" y="-136525"/>
              <a:ext cx="296863" cy="296863"/>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027" name="Picture 3"/>
            <p:cNvPicPr>
              <a:picLocks noChangeAspect="1" noChangeArrowheads="1"/>
            </p:cNvPicPr>
            <p:nvPr/>
          </p:nvPicPr>
          <p:blipFill>
            <a:blip r:embed="rId2"/>
            <a:srcRect l="3912" t="10784" r="3041" b="1634"/>
            <a:stretch>
              <a:fillRect/>
            </a:stretch>
          </p:blipFill>
          <p:spPr bwMode="auto">
            <a:xfrm>
              <a:off x="0" y="76200"/>
              <a:ext cx="9372600" cy="6651771"/>
            </a:xfrm>
            <a:prstGeom prst="rect">
              <a:avLst/>
            </a:prstGeom>
            <a:noFill/>
            <a:ln w="9525">
              <a:noFill/>
              <a:miter lim="800000"/>
              <a:headEnd/>
              <a:tailEnd/>
            </a:ln>
            <a:effectLst/>
          </p:spPr>
        </p:pic>
        <p:sp>
          <p:nvSpPr>
            <p:cNvPr id="4" name="TextBox 3"/>
            <p:cNvSpPr txBox="1"/>
            <p:nvPr/>
          </p:nvSpPr>
          <p:spPr>
            <a:xfrm>
              <a:off x="2361730" y="-1845278"/>
              <a:ext cx="4676294" cy="1826932"/>
            </a:xfrm>
            <a:prstGeom prst="rect">
              <a:avLst/>
            </a:prstGeom>
            <a:noFill/>
          </p:spPr>
          <p:txBody>
            <a:bodyPr wrap="none" rtlCol="0">
              <a:spAutoFit/>
            </a:bodyPr>
            <a:lstStyle/>
            <a:p>
              <a:pPr algn="ctr"/>
              <a:r>
                <a:rPr lang="en-US" sz="3600" b="1" dirty="0" smtClean="0">
                  <a:solidFill>
                    <a:srgbClr val="C00000"/>
                  </a:solidFill>
                  <a:latin typeface="Times New Roman" pitchFamily="18" charset="0"/>
                  <a:cs typeface="Times New Roman" pitchFamily="18" charset="0"/>
                </a:rPr>
                <a:t>Unit-I</a:t>
              </a:r>
              <a:endParaRPr lang="en-US" sz="3600" b="1" dirty="0">
                <a:solidFill>
                  <a:srgbClr val="C00000"/>
                </a:solidFill>
                <a:latin typeface="Times New Roman" pitchFamily="18" charset="0"/>
                <a:cs typeface="Times New Roman" pitchFamily="18" charset="0"/>
              </a:endParaRPr>
            </a:p>
            <a:p>
              <a:pPr algn="ctr"/>
              <a:r>
                <a:rPr lang="en-US" sz="4800" b="1" dirty="0">
                  <a:solidFill>
                    <a:srgbClr val="C00000"/>
                  </a:solidFill>
                  <a:latin typeface="Times New Roman" pitchFamily="18" charset="0"/>
                  <a:cs typeface="Times New Roman" pitchFamily="18" charset="0"/>
                </a:rPr>
                <a:t>Water </a:t>
              </a:r>
              <a:r>
                <a:rPr lang="en-US" sz="4800" b="1" dirty="0" smtClean="0">
                  <a:solidFill>
                    <a:srgbClr val="C00000"/>
                  </a:solidFill>
                  <a:latin typeface="Times New Roman" pitchFamily="18" charset="0"/>
                  <a:cs typeface="Times New Roman" pitchFamily="18" charset="0"/>
                </a:rPr>
                <a:t>&amp; It’s Treatment</a:t>
              </a:r>
              <a:endParaRPr lang="en-US" sz="4800" b="1" dirty="0">
                <a:solidFill>
                  <a:srgbClr val="C00000"/>
                </a:solidFill>
                <a:latin typeface="Times New Roman" pitchFamily="18" charset="0"/>
                <a:cs typeface="Times New Roman" pitchFamily="18" charset="0"/>
              </a:endParaRPr>
            </a:p>
          </p:txBody>
        </p:sp>
        <p:sp>
          <p:nvSpPr>
            <p:cNvPr id="5" name="TextBox 4"/>
            <p:cNvSpPr txBox="1"/>
            <p:nvPr/>
          </p:nvSpPr>
          <p:spPr>
            <a:xfrm>
              <a:off x="152400" y="6324600"/>
              <a:ext cx="2819400" cy="369332"/>
            </a:xfrm>
            <a:prstGeom prst="rect">
              <a:avLst/>
            </a:prstGeom>
            <a:solidFill>
              <a:schemeClr val="accent5">
                <a:lumMod val="60000"/>
                <a:lumOff val="40000"/>
              </a:schemeClr>
            </a:solidFill>
          </p:spPr>
          <p:txBody>
            <a:bodyPr wrap="square" rtlCol="0">
              <a:spAutoFit/>
            </a:bodyPr>
            <a:lstStyle/>
            <a:p>
              <a:endParaRPr lang="en-US" dirty="0"/>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1340108"/>
            <a:ext cx="11658600" cy="4832092"/>
          </a:xfrm>
          <a:prstGeom prst="rect">
            <a:avLst/>
          </a:prstGeom>
        </p:spPr>
        <p:txBody>
          <a:bodyPr wrap="square">
            <a:spAutoFit/>
          </a:bodyPr>
          <a:lstStyle/>
          <a:p>
            <a:pPr marL="514350" indent="-514350" algn="just">
              <a:buFont typeface="+mj-lt"/>
              <a:buAutoNum type="romanUcPeriod"/>
            </a:pPr>
            <a:r>
              <a:rPr lang="en-US" sz="2800" b="1" dirty="0">
                <a:solidFill>
                  <a:srgbClr val="C00000"/>
                </a:solidFill>
                <a:latin typeface="Times New Roman" pitchFamily="18" charset="0"/>
                <a:cs typeface="Times New Roman" pitchFamily="18" charset="0"/>
              </a:rPr>
              <a:t>Organic Impurities: </a:t>
            </a:r>
            <a:r>
              <a:rPr lang="en-US" sz="2800" dirty="0">
                <a:latin typeface="Times New Roman" pitchFamily="18" charset="0"/>
                <a:cs typeface="Times New Roman" pitchFamily="18" charset="0"/>
              </a:rPr>
              <a:t>Organic impurities  are decaying plant and animal matter. These impurities give water an unpleasant taste and odor. </a:t>
            </a:r>
          </a:p>
          <a:p>
            <a:pPr marL="514350" indent="-514350" algn="just">
              <a:buFont typeface="+mj-lt"/>
              <a:buAutoNum type="romanUcPeriod"/>
            </a:pPr>
            <a:r>
              <a:rPr lang="en-US" sz="2800" b="1" dirty="0">
                <a:solidFill>
                  <a:srgbClr val="C00000"/>
                </a:solidFill>
                <a:latin typeface="Times New Roman" pitchFamily="18" charset="0"/>
                <a:cs typeface="Times New Roman" pitchFamily="18" charset="0"/>
              </a:rPr>
              <a:t>Inorganic Impurities: </a:t>
            </a:r>
            <a:r>
              <a:rPr lang="en-US" sz="2800" dirty="0">
                <a:latin typeface="Times New Roman" pitchFamily="18" charset="0"/>
                <a:cs typeface="Times New Roman" pitchFamily="18" charset="0"/>
              </a:rPr>
              <a:t>These impurities  include dissolved minerals, heavy metals ,pesticides, industrial pollutants, and pharmaceuticals.</a:t>
            </a:r>
          </a:p>
          <a:p>
            <a:pPr marL="514350" indent="-514350" algn="just">
              <a:buFont typeface="+mj-lt"/>
              <a:buAutoNum type="romanUcPeriod"/>
            </a:pPr>
            <a:r>
              <a:rPr lang="en-US" sz="2800" b="1" dirty="0">
                <a:solidFill>
                  <a:srgbClr val="C00000"/>
                </a:solidFill>
                <a:latin typeface="Times New Roman" pitchFamily="18" charset="0"/>
                <a:cs typeface="Times New Roman" pitchFamily="18" charset="0"/>
              </a:rPr>
              <a:t>Physical Impurities: </a:t>
            </a:r>
            <a:r>
              <a:rPr lang="en-US" sz="2800" dirty="0">
                <a:latin typeface="Times New Roman" pitchFamily="18" charset="0"/>
                <a:cs typeface="Times New Roman" pitchFamily="18" charset="0"/>
              </a:rPr>
              <a:t>These impurities include sediment, sand, rust, and debris, which affect water clarity and taste.</a:t>
            </a:r>
          </a:p>
          <a:p>
            <a:pPr marL="514350" indent="-514350" algn="just">
              <a:buFont typeface="+mj-lt"/>
              <a:buAutoNum type="romanUcPeriod"/>
            </a:pPr>
            <a:r>
              <a:rPr lang="en-US" sz="2800" b="1" dirty="0">
                <a:solidFill>
                  <a:srgbClr val="C00000"/>
                </a:solidFill>
                <a:latin typeface="Times New Roman" pitchFamily="18" charset="0"/>
                <a:cs typeface="Times New Roman" pitchFamily="18" charset="0"/>
              </a:rPr>
              <a:t>Total Dissolved Solids (TDS):</a:t>
            </a:r>
            <a:r>
              <a:rPr lang="en-US" sz="2800" dirty="0">
                <a:latin typeface="Times New Roman" pitchFamily="18" charset="0"/>
                <a:cs typeface="Times New Roman" pitchFamily="18" charset="0"/>
              </a:rPr>
              <a:t>TDS refers to the total concentration of dissolved minerals and salts in water. High TDS levels can lead to water that tastes salty or bitter.</a:t>
            </a:r>
          </a:p>
          <a:p>
            <a:pPr marL="514350" indent="-514350" algn="just">
              <a:buFont typeface="+mj-lt"/>
              <a:buAutoNum type="romanUcPeriod"/>
            </a:pPr>
            <a:r>
              <a:rPr lang="en-US" sz="2800" b="1" dirty="0">
                <a:solidFill>
                  <a:srgbClr val="C00000"/>
                </a:solidFill>
                <a:latin typeface="Times New Roman" pitchFamily="18" charset="0"/>
                <a:cs typeface="Times New Roman" pitchFamily="18" charset="0"/>
              </a:rPr>
              <a:t>Biological Impurities: </a:t>
            </a:r>
            <a:r>
              <a:rPr lang="en-US" sz="2800" dirty="0">
                <a:latin typeface="Times New Roman" pitchFamily="18" charset="0"/>
                <a:cs typeface="Times New Roman" pitchFamily="18" charset="0"/>
              </a:rPr>
              <a:t>Biological impurities include bacteria, viruses, and parasites. Consuming such water can lead to waterborne diseases.</a:t>
            </a:r>
          </a:p>
        </p:txBody>
      </p:sp>
      <p:sp>
        <p:nvSpPr>
          <p:cNvPr id="3" name="Rectangle 2"/>
          <p:cNvSpPr/>
          <p:nvPr/>
        </p:nvSpPr>
        <p:spPr>
          <a:xfrm>
            <a:off x="3209322" y="304800"/>
            <a:ext cx="6391878" cy="707886"/>
          </a:xfrm>
          <a:prstGeom prst="rect">
            <a:avLst/>
          </a:prstGeom>
        </p:spPr>
        <p:txBody>
          <a:bodyPr wrap="none">
            <a:spAutoFit/>
          </a:bodyPr>
          <a:lstStyle/>
          <a:p>
            <a:r>
              <a:rPr lang="en-US" altLang="zh-CN" sz="4000" b="1" dirty="0">
                <a:solidFill>
                  <a:srgbClr val="C00000"/>
                </a:solidFill>
                <a:latin typeface="Times New Roman" pitchFamily="18" charset="0"/>
                <a:cs typeface="Times New Roman" pitchFamily="18" charset="0"/>
                <a:sym typeface="Arial" pitchFamily="34" charset="0"/>
              </a:rPr>
              <a:t>Types of </a:t>
            </a:r>
            <a:r>
              <a:rPr lang="en-US" altLang="zh-CN" sz="4000" b="1" dirty="0" err="1">
                <a:solidFill>
                  <a:srgbClr val="C00000"/>
                </a:solidFill>
                <a:latin typeface="Times New Roman" pitchFamily="18" charset="0"/>
                <a:cs typeface="Times New Roman" pitchFamily="18" charset="0"/>
                <a:sym typeface="Arial" pitchFamily="34" charset="0"/>
              </a:rPr>
              <a:t>i</a:t>
            </a:r>
            <a:r>
              <a:rPr lang="zh-CN" altLang="en-US" sz="4000" b="1" dirty="0">
                <a:solidFill>
                  <a:srgbClr val="C00000"/>
                </a:solidFill>
                <a:latin typeface="Times New Roman" pitchFamily="18" charset="0"/>
                <a:cs typeface="Times New Roman" pitchFamily="18" charset="0"/>
                <a:sym typeface="Arial" pitchFamily="34" charset="0"/>
              </a:rPr>
              <a:t>mpurities in water</a:t>
            </a:r>
            <a:endParaRPr lang="en-US" sz="4000" dirty="0">
              <a:solidFill>
                <a:srgbClr val="C00000"/>
              </a:solidFill>
              <a:latin typeface="Times New Roman" pitchFamily="18" charset="0"/>
              <a:cs typeface="Times New Roman"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609600" y="1202061"/>
          <a:ext cx="11582400" cy="5259699"/>
        </p:xfrm>
        <a:graphic>
          <a:graphicData uri="http://schemas.openxmlformats.org/drawingml/2006/table">
            <a:tbl>
              <a:tblPr/>
              <a:tblGrid>
                <a:gridCol w="5791200">
                  <a:extLst>
                    <a:ext uri="{9D8B030D-6E8A-4147-A177-3AD203B41FA5}">
                      <a16:colId xmlns="" xmlns:a16="http://schemas.microsoft.com/office/drawing/2014/main" val="20000"/>
                    </a:ext>
                  </a:extLst>
                </a:gridCol>
                <a:gridCol w="5791200">
                  <a:extLst>
                    <a:ext uri="{9D8B030D-6E8A-4147-A177-3AD203B41FA5}">
                      <a16:colId xmlns="" xmlns:a16="http://schemas.microsoft.com/office/drawing/2014/main" val="20001"/>
                    </a:ext>
                  </a:extLst>
                </a:gridCol>
              </a:tblGrid>
              <a:tr h="202980">
                <a:tc>
                  <a:txBody>
                    <a:bodyPr/>
                    <a:lstStyle/>
                    <a:p>
                      <a:pPr algn="ctr" fontAlgn="ctr"/>
                      <a:r>
                        <a:rPr lang="en-US" sz="2400" b="1" dirty="0">
                          <a:solidFill>
                            <a:srgbClr val="000000"/>
                          </a:solidFill>
                          <a:latin typeface="Times New Roman" pitchFamily="18" charset="0"/>
                          <a:cs typeface="Times New Roman" pitchFamily="18" charset="0"/>
                        </a:rPr>
                        <a:t>Hard Water</a:t>
                      </a:r>
                    </a:p>
                  </a:txBody>
                  <a:tcPr marL="46132" marR="46132" marT="46132" marB="46132" anchor="ctr">
                    <a:lnL w="7620" cap="flat" cmpd="sng" algn="ctr">
                      <a:solidFill>
                        <a:srgbClr val="DBDBDB"/>
                      </a:solidFill>
                      <a:prstDash val="solid"/>
                      <a:round/>
                      <a:headEnd type="none" w="med" len="med"/>
                      <a:tailEnd type="none" w="med" len="med"/>
                    </a:lnL>
                    <a:lnR w="7620" cap="flat" cmpd="sng" algn="ctr">
                      <a:solidFill>
                        <a:srgbClr val="DBDBDB"/>
                      </a:solidFill>
                      <a:prstDash val="solid"/>
                      <a:round/>
                      <a:headEnd type="none" w="med" len="med"/>
                      <a:tailEnd type="none" w="med" len="med"/>
                    </a:lnR>
                    <a:lnT>
                      <a:noFill/>
                    </a:lnT>
                    <a:lnB w="7620" cap="flat" cmpd="sng" algn="ctr">
                      <a:solidFill>
                        <a:srgbClr val="DDDDDD"/>
                      </a:solidFill>
                      <a:prstDash val="solid"/>
                      <a:round/>
                      <a:headEnd type="none" w="med" len="med"/>
                      <a:tailEnd type="none" w="med" len="med"/>
                    </a:lnB>
                    <a:solidFill>
                      <a:srgbClr val="CACACA"/>
                    </a:solidFill>
                  </a:tcPr>
                </a:tc>
                <a:tc>
                  <a:txBody>
                    <a:bodyPr/>
                    <a:lstStyle/>
                    <a:p>
                      <a:pPr algn="ctr" fontAlgn="ctr"/>
                      <a:r>
                        <a:rPr lang="en-US" sz="2400" b="1" dirty="0">
                          <a:solidFill>
                            <a:srgbClr val="000000"/>
                          </a:solidFill>
                          <a:latin typeface="Times New Roman" pitchFamily="18" charset="0"/>
                          <a:cs typeface="Times New Roman" pitchFamily="18" charset="0"/>
                        </a:rPr>
                        <a:t>Soft Water</a:t>
                      </a:r>
                    </a:p>
                  </a:txBody>
                  <a:tcPr marL="46132" marR="46132" marT="46132" marB="46132" anchor="ctr">
                    <a:lnL w="7620" cap="flat" cmpd="sng" algn="ctr">
                      <a:solidFill>
                        <a:srgbClr val="DBDBDB"/>
                      </a:solidFill>
                      <a:prstDash val="solid"/>
                      <a:round/>
                      <a:headEnd type="none" w="med" len="med"/>
                      <a:tailEnd type="none" w="med" len="med"/>
                    </a:lnL>
                    <a:lnR w="7620" cap="flat" cmpd="sng" algn="ctr">
                      <a:solidFill>
                        <a:srgbClr val="DBDBDB"/>
                      </a:solidFill>
                      <a:prstDash val="solid"/>
                      <a:round/>
                      <a:headEnd type="none" w="med" len="med"/>
                      <a:tailEnd type="none" w="med" len="med"/>
                    </a:lnR>
                    <a:lnT>
                      <a:noFill/>
                    </a:lnT>
                    <a:lnB w="7620" cap="flat" cmpd="sng" algn="ctr">
                      <a:solidFill>
                        <a:srgbClr val="DDDDDD"/>
                      </a:solidFill>
                      <a:prstDash val="solid"/>
                      <a:round/>
                      <a:headEnd type="none" w="med" len="med"/>
                      <a:tailEnd type="none" w="med" len="med"/>
                    </a:lnB>
                    <a:solidFill>
                      <a:srgbClr val="CACACA"/>
                    </a:solidFill>
                  </a:tcPr>
                </a:tc>
                <a:extLst>
                  <a:ext uri="{0D108BD9-81ED-4DB2-BD59-A6C34878D82A}">
                    <a16:rowId xmlns="" xmlns:a16="http://schemas.microsoft.com/office/drawing/2014/main" val="10000"/>
                  </a:ext>
                </a:extLst>
              </a:tr>
              <a:tr h="836525">
                <a:tc>
                  <a:txBody>
                    <a:bodyPr/>
                    <a:lstStyle/>
                    <a:p>
                      <a:pPr algn="l" fontAlgn="ctr"/>
                      <a:r>
                        <a:rPr lang="en-US" sz="2400" b="0" i="0" kern="1200" dirty="0">
                          <a:solidFill>
                            <a:schemeClr val="tx1"/>
                          </a:solidFill>
                          <a:latin typeface="Times New Roman" pitchFamily="18" charset="0"/>
                          <a:ea typeface="+mn-ea"/>
                          <a:cs typeface="Times New Roman" pitchFamily="18" charset="0"/>
                        </a:rPr>
                        <a:t>Hard water does not lather with soap but instead forms a precipitate.</a:t>
                      </a:r>
                      <a:endParaRPr lang="en-US" sz="2400" dirty="0">
                        <a:solidFill>
                          <a:srgbClr val="000000"/>
                        </a:solidFill>
                        <a:latin typeface="Times New Roman" pitchFamily="18" charset="0"/>
                        <a:cs typeface="Times New Roman" pitchFamily="18" charset="0"/>
                      </a:endParaRPr>
                    </a:p>
                  </a:txBody>
                  <a:tcPr marL="30755" marR="30755" marT="30755" marB="30755"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algn="l" fontAlgn="ctr"/>
                      <a:r>
                        <a:rPr lang="en-US" sz="2400" b="0" i="0" kern="1200" dirty="0">
                          <a:solidFill>
                            <a:schemeClr val="tx1"/>
                          </a:solidFill>
                          <a:latin typeface="Times New Roman" pitchFamily="18" charset="0"/>
                          <a:ea typeface="+mn-ea"/>
                          <a:cs typeface="Times New Roman" pitchFamily="18" charset="0"/>
                        </a:rPr>
                        <a:t>Soft water</a:t>
                      </a:r>
                      <a:r>
                        <a:rPr lang="en-US" sz="2400" b="0" i="0" kern="1200" baseline="0" dirty="0">
                          <a:solidFill>
                            <a:schemeClr val="tx1"/>
                          </a:solidFill>
                          <a:latin typeface="Times New Roman" pitchFamily="18" charset="0"/>
                          <a:ea typeface="+mn-ea"/>
                          <a:cs typeface="Times New Roman" pitchFamily="18" charset="0"/>
                        </a:rPr>
                        <a:t> </a:t>
                      </a:r>
                      <a:r>
                        <a:rPr lang="en-US" sz="2400" b="0" i="0" kern="1200" dirty="0">
                          <a:solidFill>
                            <a:schemeClr val="tx1"/>
                          </a:solidFill>
                          <a:latin typeface="Times New Roman" pitchFamily="18" charset="0"/>
                          <a:ea typeface="+mn-ea"/>
                          <a:cs typeface="Times New Roman" pitchFamily="18" charset="0"/>
                        </a:rPr>
                        <a:t>lather with soap.</a:t>
                      </a:r>
                      <a:endParaRPr lang="en-US" sz="2400" dirty="0">
                        <a:solidFill>
                          <a:srgbClr val="000000"/>
                        </a:solidFill>
                        <a:latin typeface="Times New Roman" pitchFamily="18" charset="0"/>
                        <a:cs typeface="Times New Roman" pitchFamily="18" charset="0"/>
                      </a:endParaRPr>
                    </a:p>
                  </a:txBody>
                  <a:tcPr marL="30755" marR="30755" marT="30755" marB="30755" anchor="ctr">
                    <a:lnL w="7620" cap="flat" cmpd="sng" algn="ctr">
                      <a:solidFill>
                        <a:srgbClr val="DDDDDD"/>
                      </a:solidFill>
                      <a:prstDash val="solid"/>
                      <a:round/>
                      <a:headEnd type="none" w="med" len="med"/>
                      <a:tailEnd type="none" w="med" len="med"/>
                    </a:lnL>
                    <a:lnR w="7620" cap="flat" cmpd="sng" algn="ctr">
                      <a:solidFill>
                        <a:srgbClr val="CACACA"/>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extLst>
                  <a:ext uri="{0D108BD9-81ED-4DB2-BD59-A6C34878D82A}">
                    <a16:rowId xmlns="" xmlns:a16="http://schemas.microsoft.com/office/drawing/2014/main" val="10001"/>
                  </a:ext>
                </a:extLst>
              </a:tr>
              <a:tr h="282942">
                <a:tc>
                  <a:txBody>
                    <a:bodyPr/>
                    <a:lstStyle/>
                    <a:p>
                      <a:pPr algn="l" fontAlgn="ctr"/>
                      <a:r>
                        <a:rPr lang="en-US" sz="2400" dirty="0">
                          <a:solidFill>
                            <a:srgbClr val="000000"/>
                          </a:solidFill>
                          <a:latin typeface="Times New Roman" pitchFamily="18" charset="0"/>
                          <a:cs typeface="Times New Roman" pitchFamily="18" charset="0"/>
                        </a:rPr>
                        <a:t>Hard water doesn't form lather or foam with soap.</a:t>
                      </a:r>
                    </a:p>
                  </a:txBody>
                  <a:tcPr marL="30755" marR="30755" marT="30755" marB="30755"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fontAlgn="ctr"/>
                      <a:r>
                        <a:rPr lang="en-US" sz="2400" dirty="0">
                          <a:solidFill>
                            <a:srgbClr val="000000"/>
                          </a:solidFill>
                          <a:latin typeface="Times New Roman" pitchFamily="18" charset="0"/>
                          <a:cs typeface="Times New Roman" pitchFamily="18" charset="0"/>
                        </a:rPr>
                        <a:t>Soft water forms lather and foam with soap.</a:t>
                      </a:r>
                    </a:p>
                  </a:txBody>
                  <a:tcPr marL="30755" marR="30755" marT="30755" marB="30755" anchor="ctr">
                    <a:lnL w="7620" cap="flat" cmpd="sng" algn="ctr">
                      <a:solidFill>
                        <a:srgbClr val="DDDDDD"/>
                      </a:solidFill>
                      <a:prstDash val="solid"/>
                      <a:round/>
                      <a:headEnd type="none" w="med" len="med"/>
                      <a:tailEnd type="none" w="med" len="med"/>
                    </a:lnL>
                    <a:lnR w="7620" cap="flat" cmpd="sng" algn="ctr">
                      <a:solidFill>
                        <a:srgbClr val="CACACA"/>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 xmlns:a16="http://schemas.microsoft.com/office/drawing/2014/main" val="10002"/>
                  </a:ext>
                </a:extLst>
              </a:tr>
              <a:tr h="282942">
                <a:tc>
                  <a:txBody>
                    <a:bodyPr/>
                    <a:lstStyle/>
                    <a:p>
                      <a:pPr algn="l" fontAlgn="ctr"/>
                      <a:r>
                        <a:rPr lang="en-US" sz="2400" dirty="0">
                          <a:solidFill>
                            <a:srgbClr val="000000"/>
                          </a:solidFill>
                          <a:latin typeface="Times New Roman" pitchFamily="18" charset="0"/>
                          <a:cs typeface="Times New Roman" pitchFamily="18" charset="0"/>
                        </a:rPr>
                        <a:t>Soap is not effective against hard water.</a:t>
                      </a:r>
                    </a:p>
                  </a:txBody>
                  <a:tcPr marL="30755" marR="30755" marT="30755" marB="30755"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fontAlgn="ctr"/>
                      <a:r>
                        <a:rPr lang="en-US" sz="2400" dirty="0">
                          <a:solidFill>
                            <a:srgbClr val="000000"/>
                          </a:solidFill>
                          <a:latin typeface="Times New Roman" pitchFamily="18" charset="0"/>
                          <a:cs typeface="Times New Roman" pitchFamily="18" charset="0"/>
                        </a:rPr>
                        <a:t>Soap is effective against soft water.</a:t>
                      </a:r>
                    </a:p>
                  </a:txBody>
                  <a:tcPr marL="30755" marR="30755" marT="30755" marB="30755" anchor="ctr">
                    <a:lnL w="7620" cap="flat" cmpd="sng" algn="ctr">
                      <a:solidFill>
                        <a:srgbClr val="DDDDDD"/>
                      </a:solidFill>
                      <a:prstDash val="solid"/>
                      <a:round/>
                      <a:headEnd type="none" w="med" len="med"/>
                      <a:tailEnd type="none" w="med" len="med"/>
                    </a:lnL>
                    <a:lnR w="7620" cap="flat" cmpd="sng" algn="ctr">
                      <a:solidFill>
                        <a:srgbClr val="CACACA"/>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 xmlns:a16="http://schemas.microsoft.com/office/drawing/2014/main" val="10003"/>
                  </a:ext>
                </a:extLst>
              </a:tr>
              <a:tr h="725808">
                <a:tc>
                  <a:txBody>
                    <a:bodyPr/>
                    <a:lstStyle/>
                    <a:p>
                      <a:pPr algn="l" fontAlgn="ctr"/>
                      <a:r>
                        <a:rPr lang="en-US" sz="2400" dirty="0">
                          <a:solidFill>
                            <a:srgbClr val="000000"/>
                          </a:solidFill>
                          <a:latin typeface="Times New Roman" pitchFamily="18" charset="0"/>
                          <a:cs typeface="Times New Roman" pitchFamily="18" charset="0"/>
                        </a:rPr>
                        <a:t>Hard water has a characteristic taste and isn’t suitable for heavy machinery, boilers, and other appliances.</a:t>
                      </a:r>
                    </a:p>
                  </a:txBody>
                  <a:tcPr marL="30755" marR="30755" marT="30755" marB="30755"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tc>
                  <a:txBody>
                    <a:bodyPr/>
                    <a:lstStyle/>
                    <a:p>
                      <a:pPr algn="l" fontAlgn="ctr"/>
                      <a:r>
                        <a:rPr lang="en-US" sz="2400" dirty="0">
                          <a:solidFill>
                            <a:srgbClr val="000000"/>
                          </a:solidFill>
                          <a:latin typeface="Times New Roman" pitchFamily="18" charset="0"/>
                          <a:cs typeface="Times New Roman" pitchFamily="18" charset="0"/>
                        </a:rPr>
                        <a:t>Soft water is known to have a salty taste and is widely suitable for machinery, boilers, etc.</a:t>
                      </a:r>
                    </a:p>
                  </a:txBody>
                  <a:tcPr marL="30755" marR="30755" marT="30755" marB="30755" anchor="ctr">
                    <a:lnL w="7620" cap="flat" cmpd="sng" algn="ctr">
                      <a:solidFill>
                        <a:srgbClr val="DDDDDD"/>
                      </a:solidFill>
                      <a:prstDash val="solid"/>
                      <a:round/>
                      <a:headEnd type="none" w="med" len="med"/>
                      <a:tailEnd type="none" w="med" len="med"/>
                    </a:lnL>
                    <a:lnR w="7620" cap="flat" cmpd="sng" algn="ctr">
                      <a:solidFill>
                        <a:srgbClr val="CACACA"/>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9F9F9"/>
                    </a:solidFill>
                  </a:tcPr>
                </a:tc>
                <a:extLst>
                  <a:ext uri="{0D108BD9-81ED-4DB2-BD59-A6C34878D82A}">
                    <a16:rowId xmlns="" xmlns:a16="http://schemas.microsoft.com/office/drawing/2014/main" val="10004"/>
                  </a:ext>
                </a:extLst>
              </a:tr>
              <a:tr h="725808">
                <a:tc>
                  <a:txBody>
                    <a:bodyPr/>
                    <a:lstStyle/>
                    <a:p>
                      <a:pPr algn="l" fontAlgn="ctr"/>
                      <a:r>
                        <a:rPr lang="en-US" sz="2400" dirty="0">
                          <a:solidFill>
                            <a:srgbClr val="000000"/>
                          </a:solidFill>
                          <a:latin typeface="Times New Roman" pitchFamily="18" charset="0"/>
                          <a:cs typeface="Times New Roman" pitchFamily="18" charset="0"/>
                        </a:rPr>
                        <a:t>Hard water is rich in minerals. Hence it mainly contains minerals such as magnesium and calcium.</a:t>
                      </a:r>
                    </a:p>
                  </a:txBody>
                  <a:tcPr marL="30755" marR="30755" marT="30755" marB="30755"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fontAlgn="ctr"/>
                      <a:r>
                        <a:rPr lang="en-US" sz="2400">
                          <a:solidFill>
                            <a:srgbClr val="000000"/>
                          </a:solidFill>
                          <a:latin typeface="Times New Roman" pitchFamily="18" charset="0"/>
                          <a:cs typeface="Times New Roman" pitchFamily="18" charset="0"/>
                        </a:rPr>
                        <a:t>Soft water is not rich in minerals. It mainly contains sodium ions.</a:t>
                      </a:r>
                    </a:p>
                  </a:txBody>
                  <a:tcPr marL="30755" marR="30755" marT="30755" marB="30755" anchor="ctr">
                    <a:lnL w="7620" cap="flat" cmpd="sng" algn="ctr">
                      <a:solidFill>
                        <a:srgbClr val="DDDDDD"/>
                      </a:solidFill>
                      <a:prstDash val="solid"/>
                      <a:round/>
                      <a:headEnd type="none" w="med" len="med"/>
                      <a:tailEnd type="none" w="med" len="med"/>
                    </a:lnL>
                    <a:lnR w="7620" cap="flat" cmpd="sng" algn="ctr">
                      <a:solidFill>
                        <a:srgbClr val="CACACA"/>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 xmlns:a16="http://schemas.microsoft.com/office/drawing/2014/main" val="10005"/>
                  </a:ext>
                </a:extLst>
              </a:tr>
              <a:tr h="393659">
                <a:tc>
                  <a:txBody>
                    <a:bodyPr/>
                    <a:lstStyle/>
                    <a:p>
                      <a:pPr algn="l" fontAlgn="ctr"/>
                      <a:r>
                        <a:rPr lang="en-US" sz="2400" dirty="0">
                          <a:solidFill>
                            <a:srgbClr val="000000"/>
                          </a:solidFill>
                          <a:latin typeface="Times New Roman" pitchFamily="18" charset="0"/>
                          <a:cs typeface="Times New Roman" pitchFamily="18" charset="0"/>
                        </a:rPr>
                        <a:t>Example: Water found in wells, groundwater</a:t>
                      </a:r>
                    </a:p>
                  </a:txBody>
                  <a:tcPr marL="30755" marR="30755" marT="30755" marB="30755" anchor="ctr">
                    <a:lnL w="7620" cap="flat" cmpd="sng" algn="ctr">
                      <a:solidFill>
                        <a:srgbClr val="DDDDDD"/>
                      </a:solidFill>
                      <a:prstDash val="solid"/>
                      <a:round/>
                      <a:headEnd type="none" w="med" len="med"/>
                      <a:tailEnd type="none" w="med" len="med"/>
                    </a:lnL>
                    <a:lnR w="7620" cap="flat" cmpd="sng" algn="ctr">
                      <a:solidFill>
                        <a:srgbClr val="DDDDDD"/>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tc>
                  <a:txBody>
                    <a:bodyPr/>
                    <a:lstStyle/>
                    <a:p>
                      <a:pPr algn="l" fontAlgn="ctr"/>
                      <a:r>
                        <a:rPr lang="en-US" sz="2400" dirty="0">
                          <a:solidFill>
                            <a:srgbClr val="000000"/>
                          </a:solidFill>
                          <a:latin typeface="Times New Roman" pitchFamily="18" charset="0"/>
                          <a:cs typeface="Times New Roman" pitchFamily="18" charset="0"/>
                        </a:rPr>
                        <a:t>Example: rainwater</a:t>
                      </a:r>
                    </a:p>
                  </a:txBody>
                  <a:tcPr marL="30755" marR="30755" marT="30755" marB="30755" anchor="ctr">
                    <a:lnL w="7620" cap="flat" cmpd="sng" algn="ctr">
                      <a:solidFill>
                        <a:srgbClr val="DDDDDD"/>
                      </a:solidFill>
                      <a:prstDash val="solid"/>
                      <a:round/>
                      <a:headEnd type="none" w="med" len="med"/>
                      <a:tailEnd type="none" w="med" len="med"/>
                    </a:lnL>
                    <a:lnR w="7620" cap="flat" cmpd="sng" algn="ctr">
                      <a:solidFill>
                        <a:srgbClr val="CACACA"/>
                      </a:solidFill>
                      <a:prstDash val="solid"/>
                      <a:round/>
                      <a:headEnd type="none" w="med" len="med"/>
                      <a:tailEnd type="none" w="med" len="med"/>
                    </a:lnR>
                    <a:lnT w="7620" cap="flat" cmpd="sng" algn="ctr">
                      <a:solidFill>
                        <a:srgbClr val="DDDDDD"/>
                      </a:solidFill>
                      <a:prstDash val="solid"/>
                      <a:round/>
                      <a:headEnd type="none" w="med" len="med"/>
                      <a:tailEnd type="none" w="med" len="med"/>
                    </a:lnT>
                    <a:lnB w="7620" cap="flat" cmpd="sng" algn="ctr">
                      <a:solidFill>
                        <a:srgbClr val="DDDDDD"/>
                      </a:solidFill>
                      <a:prstDash val="solid"/>
                      <a:round/>
                      <a:headEnd type="none" w="med" len="med"/>
                      <a:tailEnd type="none" w="med" len="med"/>
                    </a:lnB>
                    <a:solidFill>
                      <a:srgbClr val="FFFFFF"/>
                    </a:solidFill>
                  </a:tcPr>
                </a:tc>
                <a:extLst>
                  <a:ext uri="{0D108BD9-81ED-4DB2-BD59-A6C34878D82A}">
                    <a16:rowId xmlns="" xmlns:a16="http://schemas.microsoft.com/office/drawing/2014/main" val="10006"/>
                  </a:ext>
                </a:extLst>
              </a:tr>
            </a:tbl>
          </a:graphicData>
        </a:graphic>
      </p:graphicFrame>
      <p:sp>
        <p:nvSpPr>
          <p:cNvPr id="16385" name="Rectangle 1"/>
          <p:cNvSpPr>
            <a:spLocks noChangeArrowheads="1"/>
          </p:cNvSpPr>
          <p:nvPr/>
        </p:nvSpPr>
        <p:spPr bwMode="auto">
          <a:xfrm>
            <a:off x="1981200" y="360402"/>
            <a:ext cx="9011442" cy="553998"/>
          </a:xfrm>
          <a:prstGeom prst="rect">
            <a:avLst/>
          </a:prstGeom>
          <a:noFill/>
          <a:ln w="9525">
            <a:noFill/>
            <a:miter lim="800000"/>
            <a:headEnd/>
            <a:tailEnd/>
          </a:ln>
          <a:effectLst/>
        </p:spPr>
        <p:txBody>
          <a:bodyPr vert="horz" wrap="none" lIns="0" tIns="0" rIns="0" bIns="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3600" b="1" i="0" u="none" strike="noStrike" cap="none" normalizeH="0" baseline="0" dirty="0">
                <a:ln>
                  <a:noFill/>
                </a:ln>
                <a:solidFill>
                  <a:srgbClr val="C00000"/>
                </a:solidFill>
                <a:effectLst/>
                <a:latin typeface="Times New Roman" pitchFamily="18" charset="0"/>
                <a:cs typeface="Times New Roman" pitchFamily="18" charset="0"/>
              </a:rPr>
              <a:t>Difference between hard </a:t>
            </a:r>
            <a:r>
              <a:rPr lang="en-US" sz="3600" b="1" dirty="0">
                <a:solidFill>
                  <a:srgbClr val="C00000"/>
                </a:solidFill>
                <a:latin typeface="Times New Roman" pitchFamily="18" charset="0"/>
                <a:cs typeface="Times New Roman" pitchFamily="18" charset="0"/>
              </a:rPr>
              <a:t>w</a:t>
            </a:r>
            <a:r>
              <a:rPr kumimoji="0" lang="en-US" sz="3600" b="1" i="0" u="none" strike="noStrike" cap="none" normalizeH="0" baseline="0" dirty="0">
                <a:ln>
                  <a:noFill/>
                </a:ln>
                <a:solidFill>
                  <a:srgbClr val="C00000"/>
                </a:solidFill>
                <a:effectLst/>
                <a:latin typeface="Times New Roman" pitchFamily="18" charset="0"/>
                <a:cs typeface="Times New Roman" pitchFamily="18" charset="0"/>
              </a:rPr>
              <a:t>ater and soft </a:t>
            </a:r>
            <a:r>
              <a:rPr lang="en-US" sz="3600" b="1" dirty="0">
                <a:solidFill>
                  <a:srgbClr val="C00000"/>
                </a:solidFill>
                <a:latin typeface="Times New Roman" pitchFamily="18" charset="0"/>
                <a:cs typeface="Times New Roman" pitchFamily="18" charset="0"/>
              </a:rPr>
              <a:t>w</a:t>
            </a:r>
            <a:r>
              <a:rPr kumimoji="0" lang="en-US" sz="3600" b="1" i="0" u="none" strike="noStrike" cap="none" normalizeH="0" baseline="0" dirty="0">
                <a:ln>
                  <a:noFill/>
                </a:ln>
                <a:solidFill>
                  <a:srgbClr val="C00000"/>
                </a:solidFill>
                <a:effectLst/>
                <a:latin typeface="Times New Roman" pitchFamily="18" charset="0"/>
                <a:cs typeface="Times New Roman" pitchFamily="18" charset="0"/>
              </a:rPr>
              <a:t>ater</a:t>
            </a:r>
            <a:endParaRPr kumimoji="0" lang="en-US" sz="3600" b="0" i="0" u="none" strike="noStrike" cap="none" normalizeH="0" baseline="0" dirty="0">
              <a:ln>
                <a:noFill/>
              </a:ln>
              <a:solidFill>
                <a:srgbClr val="C00000"/>
              </a:solidFill>
              <a:effectLst/>
              <a:latin typeface="Times New Roman" pitchFamily="18" charset="0"/>
              <a:cs typeface="Times New Roman"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381000" y="152400"/>
            <a:ext cx="12115800" cy="6494085"/>
            <a:chOff x="381000" y="381000"/>
            <a:chExt cx="12115800" cy="6494085"/>
          </a:xfrm>
        </p:grpSpPr>
        <p:sp>
          <p:nvSpPr>
            <p:cNvPr id="2" name="Rectangle 1"/>
            <p:cNvSpPr/>
            <p:nvPr/>
          </p:nvSpPr>
          <p:spPr>
            <a:xfrm>
              <a:off x="381000" y="381000"/>
              <a:ext cx="12115800" cy="6494085"/>
            </a:xfrm>
            <a:prstGeom prst="rect">
              <a:avLst/>
            </a:prstGeom>
          </p:spPr>
          <p:txBody>
            <a:bodyPr wrap="square">
              <a:spAutoFit/>
            </a:bodyPr>
            <a:lstStyle/>
            <a:p>
              <a:pPr algn="ctr" fontAlgn="base"/>
              <a:r>
                <a:rPr lang="en-US" sz="3200" b="1" dirty="0">
                  <a:solidFill>
                    <a:srgbClr val="7030A0"/>
                  </a:solidFill>
                  <a:latin typeface="Times New Roman" pitchFamily="18" charset="0"/>
                  <a:cs typeface="Times New Roman" pitchFamily="18" charset="0"/>
                </a:rPr>
                <a:t>The hardness of water</a:t>
              </a:r>
            </a:p>
            <a:p>
              <a:pPr algn="just" fontAlgn="base"/>
              <a:r>
                <a:rPr lang="en-US" sz="2400" dirty="0">
                  <a:latin typeface="Times New Roman" pitchFamily="18" charset="0"/>
                  <a:cs typeface="Times New Roman" pitchFamily="18" charset="0"/>
                </a:rPr>
                <a:t>The total amount of dissolved calcium and magnesium salts present in the water is called hardness water. </a:t>
              </a:r>
            </a:p>
            <a:p>
              <a:pPr algn="just" fontAlgn="base"/>
              <a:r>
                <a:rPr lang="en-US" sz="2400" b="1" dirty="0">
                  <a:solidFill>
                    <a:srgbClr val="C00000"/>
                  </a:solidFill>
                  <a:latin typeface="Times New Roman" pitchFamily="18" charset="0"/>
                  <a:cs typeface="Times New Roman" pitchFamily="18" charset="0"/>
                </a:rPr>
                <a:t>Causes of hardness of water:</a:t>
              </a:r>
            </a:p>
            <a:p>
              <a:pPr marL="398463" indent="-398463" algn="just" fontAlgn="base">
                <a:buClr>
                  <a:srgbClr val="C00000"/>
                </a:buClr>
                <a:buFont typeface="Wingdings" pitchFamily="2" charset="2"/>
                <a:buChar char="v"/>
              </a:pPr>
              <a:r>
                <a:rPr lang="en-US" sz="2400" dirty="0">
                  <a:latin typeface="Times New Roman" pitchFamily="18" charset="0"/>
                  <a:cs typeface="Times New Roman" pitchFamily="18" charset="0"/>
                </a:rPr>
                <a:t>The presence of bicarbonates, chlorides, and the sulphates of calcium and magnesium in water causes the hardness of water.</a:t>
              </a:r>
            </a:p>
            <a:p>
              <a:pPr marL="398463" indent="-398463" algn="just" fontAlgn="base">
                <a:buClr>
                  <a:srgbClr val="C00000"/>
                </a:buClr>
                <a:buFont typeface="Wingdings" pitchFamily="2" charset="2"/>
                <a:buChar char="v"/>
              </a:pPr>
              <a:r>
                <a:rPr lang="en-US" sz="2400" dirty="0">
                  <a:latin typeface="Times New Roman" pitchFamily="18" charset="0"/>
                  <a:cs typeface="Times New Roman" pitchFamily="18" charset="0"/>
                </a:rPr>
                <a:t>Cations Ca</a:t>
              </a:r>
              <a:r>
                <a:rPr lang="en-US" sz="2400" baseline="30000" dirty="0">
                  <a:latin typeface="Times New Roman" pitchFamily="18" charset="0"/>
                  <a:cs typeface="Times New Roman" pitchFamily="18" charset="0"/>
                </a:rPr>
                <a:t>2+</a:t>
              </a:r>
              <a:r>
                <a:rPr lang="en-US" sz="2400" dirty="0">
                  <a:latin typeface="Times New Roman" pitchFamily="18" charset="0"/>
                  <a:cs typeface="Times New Roman" pitchFamily="18" charset="0"/>
                </a:rPr>
                <a:t> and Mg</a:t>
              </a:r>
              <a:r>
                <a:rPr lang="en-US" sz="2400" baseline="30000" dirty="0">
                  <a:latin typeface="Times New Roman" pitchFamily="18" charset="0"/>
                  <a:cs typeface="Times New Roman" pitchFamily="18" charset="0"/>
                </a:rPr>
                <a:t>2+</a:t>
              </a:r>
              <a:r>
                <a:rPr lang="en-US" sz="2400" dirty="0">
                  <a:latin typeface="Times New Roman" pitchFamily="18" charset="0"/>
                  <a:cs typeface="Times New Roman" pitchFamily="18" charset="0"/>
                </a:rPr>
                <a:t> present in hard water react with soap (sodium stearate) to form insoluble precipitates (calcium or magnesium stearate).</a:t>
              </a:r>
            </a:p>
            <a:p>
              <a:pPr marL="398463" indent="-398463" algn="just" fontAlgn="base">
                <a:buClr>
                  <a:srgbClr val="C00000"/>
                </a:buClr>
                <a:buFont typeface="Wingdings" pitchFamily="2" charset="2"/>
                <a:buChar char="v"/>
              </a:pPr>
              <a:endParaRPr lang="en-US" sz="2400" dirty="0">
                <a:latin typeface="Times New Roman" pitchFamily="18" charset="0"/>
                <a:cs typeface="Times New Roman" pitchFamily="18" charset="0"/>
              </a:endParaRPr>
            </a:p>
            <a:p>
              <a:pPr marL="398463" indent="-398463" algn="just" fontAlgn="base">
                <a:buClr>
                  <a:srgbClr val="C00000"/>
                </a:buClr>
                <a:buFont typeface="Wingdings" pitchFamily="2" charset="2"/>
                <a:buChar char="v"/>
              </a:pPr>
              <a:endParaRPr lang="en-US" sz="2400" dirty="0">
                <a:latin typeface="Times New Roman" pitchFamily="18" charset="0"/>
                <a:cs typeface="Times New Roman" pitchFamily="18" charset="0"/>
              </a:endParaRPr>
            </a:p>
            <a:p>
              <a:pPr marL="398463" indent="-398463" algn="just" fontAlgn="base">
                <a:buClr>
                  <a:srgbClr val="C00000"/>
                </a:buClr>
                <a:buFont typeface="Wingdings" pitchFamily="2" charset="2"/>
                <a:buChar char="v"/>
              </a:pPr>
              <a:endParaRPr lang="en-US" sz="2400" dirty="0">
                <a:latin typeface="Times New Roman" pitchFamily="18" charset="0"/>
                <a:cs typeface="Times New Roman" pitchFamily="18" charset="0"/>
              </a:endParaRPr>
            </a:p>
            <a:p>
              <a:pPr marL="398463" indent="-398463" algn="just" fontAlgn="base">
                <a:buClr>
                  <a:srgbClr val="C00000"/>
                </a:buClr>
                <a:buFont typeface="Wingdings" pitchFamily="2" charset="2"/>
                <a:buChar char="v"/>
              </a:pPr>
              <a:endParaRPr lang="en-US" sz="2400" dirty="0">
                <a:latin typeface="Times New Roman" pitchFamily="18" charset="0"/>
                <a:cs typeface="Times New Roman" pitchFamily="18" charset="0"/>
              </a:endParaRPr>
            </a:p>
            <a:p>
              <a:pPr marL="398463" indent="-398463" algn="just" fontAlgn="base">
                <a:buClr>
                  <a:srgbClr val="C00000"/>
                </a:buClr>
                <a:buFont typeface="Wingdings" pitchFamily="2" charset="2"/>
                <a:buChar char="v"/>
              </a:pPr>
              <a:endParaRPr lang="en-US" sz="2400" dirty="0">
                <a:latin typeface="Times New Roman" pitchFamily="18" charset="0"/>
                <a:cs typeface="Times New Roman" pitchFamily="18" charset="0"/>
              </a:endParaRPr>
            </a:p>
            <a:p>
              <a:pPr marL="398463" indent="-398463" algn="just" fontAlgn="base">
                <a:buClr>
                  <a:srgbClr val="C00000"/>
                </a:buClr>
                <a:buFont typeface="Wingdings" pitchFamily="2" charset="2"/>
                <a:buChar char="v"/>
              </a:pPr>
              <a:endParaRPr lang="en-US" sz="2400" dirty="0">
                <a:latin typeface="Times New Roman" pitchFamily="18" charset="0"/>
                <a:cs typeface="Times New Roman" pitchFamily="18" charset="0"/>
              </a:endParaRPr>
            </a:p>
            <a:p>
              <a:pPr marL="398463" indent="-398463" algn="just" fontAlgn="base">
                <a:buClr>
                  <a:srgbClr val="C00000"/>
                </a:buClr>
                <a:buFont typeface="Wingdings" pitchFamily="2" charset="2"/>
                <a:buChar char="v"/>
              </a:pPr>
              <a:r>
                <a:rPr lang="en-US" sz="2400" dirty="0">
                  <a:latin typeface="Times New Roman" pitchFamily="18" charset="0"/>
                  <a:cs typeface="Times New Roman" pitchFamily="18" charset="0"/>
                </a:rPr>
                <a:t>Lather will not be produced until all the calcium and magnesium ions are precipitated. Thus, it hinders the cleansing action of soap.</a:t>
              </a:r>
            </a:p>
            <a:p>
              <a:pPr marL="398463" indent="-398463" algn="just" fontAlgn="base">
                <a:buClr>
                  <a:srgbClr val="C00000"/>
                </a:buClr>
                <a:buFont typeface="Wingdings" pitchFamily="2" charset="2"/>
                <a:buChar char="v"/>
              </a:pPr>
              <a:r>
                <a:rPr lang="en-US" sz="2400" dirty="0">
                  <a:latin typeface="Times New Roman" pitchFamily="18" charset="0"/>
                  <a:cs typeface="Times New Roman" pitchFamily="18" charset="0"/>
                </a:rPr>
                <a:t>This also results in the wastage of a quantity of soap.</a:t>
              </a:r>
            </a:p>
          </p:txBody>
        </p:sp>
        <p:sp>
          <p:nvSpPr>
            <p:cNvPr id="3" name="Content Placeholder 1048619"/>
            <p:cNvSpPr txBox="1">
              <a:spLocks/>
            </p:cNvSpPr>
            <p:nvPr/>
          </p:nvSpPr>
          <p:spPr>
            <a:xfrm>
              <a:off x="2454275" y="3581400"/>
              <a:ext cx="7604125" cy="1981200"/>
            </a:xfrm>
            <a:prstGeom prst="rect">
              <a:avLst/>
            </a:prstGeom>
          </p:spPr>
          <p:txBody>
            <a:bodyPr/>
            <a:lstStyle/>
            <a:p>
              <a:pPr marL="342900" marR="0" lvl="0" indent="-342900" algn="ctr" defTabSz="914400" rtl="0" eaLnBrk="1" fontAlgn="auto" latinLnBrk="1" hangingPunct="1">
                <a:lnSpc>
                  <a:spcPct val="100000"/>
                </a:lnSpc>
                <a:spcBef>
                  <a:spcPct val="20000"/>
                </a:spcBef>
                <a:spcAft>
                  <a:spcPts val="0"/>
                </a:spcAft>
                <a:buClrTx/>
                <a:buSzTx/>
                <a:buFont typeface="Arial" pitchFamily="34" charset="0"/>
                <a:buNone/>
                <a:tabLst/>
                <a:defRPr/>
              </a:pPr>
              <a:r>
                <a:rPr kumimoji="0" lang="zh-CN" altLang="en-US" sz="2400" b="1" i="0" u="none" strike="noStrike" kern="1200" cap="none" spc="0" normalizeH="0" baseline="0" noProof="0" dirty="0">
                  <a:ln>
                    <a:noFill/>
                  </a:ln>
                  <a:solidFill>
                    <a:srgbClr val="0070C0"/>
                  </a:solidFill>
                  <a:effectLst/>
                  <a:uLnTx/>
                  <a:uFillTx/>
                  <a:latin typeface="Times New Roman" pitchFamily="18" charset="0"/>
                  <a:cs typeface="Times New Roman" pitchFamily="18" charset="0"/>
                  <a:sym typeface="Arial" pitchFamily="34" charset="0"/>
                </a:rPr>
                <a:t>2C</a:t>
              </a:r>
              <a:r>
                <a:rPr kumimoji="0" lang="zh-CN" altLang="en-US" sz="2400" b="1" i="0" u="none" strike="noStrike" kern="1200" cap="none" spc="0" normalizeH="0" baseline="-25000" noProof="0" dirty="0">
                  <a:ln>
                    <a:noFill/>
                  </a:ln>
                  <a:solidFill>
                    <a:srgbClr val="0070C0"/>
                  </a:solidFill>
                  <a:effectLst/>
                  <a:uLnTx/>
                  <a:uFillTx/>
                  <a:latin typeface="Times New Roman" pitchFamily="18" charset="0"/>
                  <a:cs typeface="Times New Roman" pitchFamily="18" charset="0"/>
                  <a:sym typeface="Arial" pitchFamily="34" charset="0"/>
                </a:rPr>
                <a:t>17</a:t>
              </a:r>
              <a:r>
                <a:rPr kumimoji="0" lang="zh-CN" altLang="en-US" sz="2400" b="1" i="0" u="none" strike="noStrike" kern="1200" cap="none" spc="0" normalizeH="0" baseline="0" noProof="0" dirty="0">
                  <a:ln>
                    <a:noFill/>
                  </a:ln>
                  <a:solidFill>
                    <a:srgbClr val="0070C0"/>
                  </a:solidFill>
                  <a:effectLst/>
                  <a:uLnTx/>
                  <a:uFillTx/>
                  <a:latin typeface="Times New Roman" pitchFamily="18" charset="0"/>
                  <a:cs typeface="Times New Roman" pitchFamily="18" charset="0"/>
                  <a:sym typeface="Arial" pitchFamily="34" charset="0"/>
                </a:rPr>
                <a:t>H</a:t>
              </a:r>
              <a:r>
                <a:rPr kumimoji="0" lang="zh-CN" altLang="en-US" sz="2400" b="1" i="0" u="none" strike="noStrike" kern="1200" cap="none" spc="0" normalizeH="0" baseline="-25000" noProof="0" dirty="0">
                  <a:ln>
                    <a:noFill/>
                  </a:ln>
                  <a:solidFill>
                    <a:srgbClr val="0070C0"/>
                  </a:solidFill>
                  <a:effectLst/>
                  <a:uLnTx/>
                  <a:uFillTx/>
                  <a:latin typeface="Times New Roman" pitchFamily="18" charset="0"/>
                  <a:cs typeface="Times New Roman" pitchFamily="18" charset="0"/>
                  <a:sym typeface="Arial" pitchFamily="34" charset="0"/>
                </a:rPr>
                <a:t>35</a:t>
              </a:r>
              <a:r>
                <a:rPr kumimoji="0" lang="zh-CN" altLang="en-US" sz="2400" b="1" i="0" u="none" strike="noStrike" kern="1200" cap="none" spc="0" normalizeH="0" baseline="0" noProof="0" dirty="0">
                  <a:ln>
                    <a:noFill/>
                  </a:ln>
                  <a:solidFill>
                    <a:srgbClr val="0070C0"/>
                  </a:solidFill>
                  <a:effectLst/>
                  <a:uLnTx/>
                  <a:uFillTx/>
                  <a:latin typeface="Times New Roman" pitchFamily="18" charset="0"/>
                  <a:cs typeface="Times New Roman" pitchFamily="18" charset="0"/>
                  <a:sym typeface="Arial" pitchFamily="34" charset="0"/>
                </a:rPr>
                <a:t>COONa + CaCl</a:t>
              </a:r>
              <a:r>
                <a:rPr kumimoji="0" lang="zh-CN" altLang="en-US" sz="2400" b="1" i="0" u="none" strike="noStrike" kern="1200" cap="none" spc="0" normalizeH="0" baseline="-25000" noProof="0" dirty="0">
                  <a:ln>
                    <a:noFill/>
                  </a:ln>
                  <a:solidFill>
                    <a:srgbClr val="0070C0"/>
                  </a:solidFill>
                  <a:effectLst/>
                  <a:uLnTx/>
                  <a:uFillTx/>
                  <a:latin typeface="Times New Roman" pitchFamily="18" charset="0"/>
                  <a:cs typeface="Times New Roman" pitchFamily="18" charset="0"/>
                  <a:sym typeface="Arial" pitchFamily="34" charset="0"/>
                </a:rPr>
                <a:t>2  </a:t>
              </a:r>
              <a:r>
                <a:rPr kumimoji="0" lang="zh-CN" altLang="en-US" sz="2400" b="1" i="0" u="none" strike="noStrike" kern="1200" cap="none" spc="0" normalizeH="0" baseline="0" noProof="0" dirty="0">
                  <a:ln>
                    <a:noFill/>
                  </a:ln>
                  <a:solidFill>
                    <a:srgbClr val="0070C0"/>
                  </a:solidFill>
                  <a:effectLst/>
                  <a:uLnTx/>
                  <a:uFillTx/>
                  <a:latin typeface="Times New Roman" pitchFamily="18" charset="0"/>
                  <a:cs typeface="Times New Roman" pitchFamily="18" charset="0"/>
                  <a:sym typeface="Arial" pitchFamily="34" charset="0"/>
                </a:rPr>
                <a:t>→ (C</a:t>
              </a:r>
              <a:r>
                <a:rPr kumimoji="0" lang="zh-CN" altLang="en-US" sz="2400" b="1" i="0" u="none" strike="noStrike" kern="1200" cap="none" spc="0" normalizeH="0" baseline="-25000" noProof="0" dirty="0">
                  <a:ln>
                    <a:noFill/>
                  </a:ln>
                  <a:solidFill>
                    <a:srgbClr val="0070C0"/>
                  </a:solidFill>
                  <a:effectLst/>
                  <a:uLnTx/>
                  <a:uFillTx/>
                  <a:latin typeface="Times New Roman" pitchFamily="18" charset="0"/>
                  <a:cs typeface="Times New Roman" pitchFamily="18" charset="0"/>
                  <a:sym typeface="Arial" pitchFamily="34" charset="0"/>
                </a:rPr>
                <a:t>17</a:t>
              </a:r>
              <a:r>
                <a:rPr kumimoji="0" lang="zh-CN" altLang="en-US" sz="2400" b="1" i="0" u="none" strike="noStrike" kern="1200" cap="none" spc="0" normalizeH="0" baseline="0" noProof="0" dirty="0">
                  <a:ln>
                    <a:noFill/>
                  </a:ln>
                  <a:solidFill>
                    <a:srgbClr val="0070C0"/>
                  </a:solidFill>
                  <a:effectLst/>
                  <a:uLnTx/>
                  <a:uFillTx/>
                  <a:latin typeface="Times New Roman" pitchFamily="18" charset="0"/>
                  <a:cs typeface="Times New Roman" pitchFamily="18" charset="0"/>
                  <a:sym typeface="Arial" pitchFamily="34" charset="0"/>
                </a:rPr>
                <a:t>H</a:t>
              </a:r>
              <a:r>
                <a:rPr kumimoji="0" lang="zh-CN" altLang="en-US" sz="2400" b="1" i="0" u="none" strike="noStrike" kern="1200" cap="none" spc="0" normalizeH="0" baseline="-25000" noProof="0" dirty="0">
                  <a:ln>
                    <a:noFill/>
                  </a:ln>
                  <a:solidFill>
                    <a:srgbClr val="0070C0"/>
                  </a:solidFill>
                  <a:effectLst/>
                  <a:uLnTx/>
                  <a:uFillTx/>
                  <a:latin typeface="Times New Roman" pitchFamily="18" charset="0"/>
                  <a:cs typeface="Times New Roman" pitchFamily="18" charset="0"/>
                  <a:sym typeface="Arial" pitchFamily="34" charset="0"/>
                </a:rPr>
                <a:t>35</a:t>
              </a:r>
              <a:r>
                <a:rPr kumimoji="0" lang="zh-CN" altLang="en-US" sz="2400" b="1" i="0" u="none" strike="noStrike" kern="1200" cap="none" spc="0" normalizeH="0" baseline="0" noProof="0" dirty="0">
                  <a:ln>
                    <a:noFill/>
                  </a:ln>
                  <a:solidFill>
                    <a:srgbClr val="0070C0"/>
                  </a:solidFill>
                  <a:effectLst/>
                  <a:uLnTx/>
                  <a:uFillTx/>
                  <a:latin typeface="Times New Roman" pitchFamily="18" charset="0"/>
                  <a:cs typeface="Times New Roman" pitchFamily="18" charset="0"/>
                  <a:sym typeface="Arial" pitchFamily="34" charset="0"/>
                </a:rPr>
                <a:t>COO)</a:t>
              </a:r>
              <a:r>
                <a:rPr kumimoji="0" lang="zh-CN" altLang="en-US" sz="2400" b="1" i="0" u="none" strike="noStrike" kern="1200" cap="none" spc="0" normalizeH="0" baseline="-25000" noProof="0" dirty="0">
                  <a:ln>
                    <a:noFill/>
                  </a:ln>
                  <a:solidFill>
                    <a:srgbClr val="0070C0"/>
                  </a:solidFill>
                  <a:effectLst/>
                  <a:uLnTx/>
                  <a:uFillTx/>
                  <a:latin typeface="Times New Roman" pitchFamily="18" charset="0"/>
                  <a:cs typeface="Times New Roman" pitchFamily="18" charset="0"/>
                  <a:sym typeface="Arial" pitchFamily="34" charset="0"/>
                </a:rPr>
                <a:t>2</a:t>
              </a:r>
              <a:r>
                <a:rPr kumimoji="0" lang="zh-CN" altLang="en-US" sz="2400" b="1" i="0" u="none" strike="noStrike" kern="1200" cap="none" spc="0" normalizeH="0" baseline="0" noProof="0" dirty="0">
                  <a:ln>
                    <a:noFill/>
                  </a:ln>
                  <a:solidFill>
                    <a:srgbClr val="0070C0"/>
                  </a:solidFill>
                  <a:effectLst/>
                  <a:uLnTx/>
                  <a:uFillTx/>
                  <a:latin typeface="Times New Roman" pitchFamily="18" charset="0"/>
                  <a:cs typeface="Times New Roman" pitchFamily="18" charset="0"/>
                  <a:sym typeface="Arial" pitchFamily="34" charset="0"/>
                </a:rPr>
                <a:t>Ca</a:t>
              </a:r>
              <a:r>
                <a:rPr kumimoji="0" lang="zh-CN" altLang="en-US" sz="2400" b="1" i="0" u="none" strike="noStrike" kern="1200" cap="none" spc="0" normalizeH="0" baseline="-25000" noProof="0" dirty="0">
                  <a:ln>
                    <a:noFill/>
                  </a:ln>
                  <a:solidFill>
                    <a:srgbClr val="0070C0"/>
                  </a:solidFill>
                  <a:effectLst/>
                  <a:uLnTx/>
                  <a:uFillTx/>
                  <a:latin typeface="Times New Roman" pitchFamily="18" charset="0"/>
                  <a:cs typeface="Times New Roman" pitchFamily="18" charset="0"/>
                  <a:sym typeface="Arial" pitchFamily="34" charset="0"/>
                </a:rPr>
                <a:t> </a:t>
              </a:r>
              <a:r>
                <a:rPr kumimoji="0" lang="zh-CN" altLang="en-US" sz="2400" b="1" i="0" u="none" strike="noStrike" kern="1200" cap="none" spc="0" normalizeH="0" baseline="0" noProof="0" dirty="0">
                  <a:ln>
                    <a:noFill/>
                  </a:ln>
                  <a:solidFill>
                    <a:srgbClr val="0070C0"/>
                  </a:solidFill>
                  <a:effectLst/>
                  <a:uLnTx/>
                  <a:uFillTx/>
                  <a:latin typeface="Times New Roman" pitchFamily="18" charset="0"/>
                  <a:cs typeface="Times New Roman" pitchFamily="18" charset="0"/>
                  <a:sym typeface="Arial" pitchFamily="34" charset="0"/>
                </a:rPr>
                <a:t>↓ +2NaCl</a:t>
              </a:r>
            </a:p>
            <a:p>
              <a:pPr marL="342900" marR="0" lvl="0" indent="-342900" algn="ctr" defTabSz="914400" rtl="0" eaLnBrk="1" fontAlgn="auto" latinLnBrk="1" hangingPunct="1">
                <a:lnSpc>
                  <a:spcPct val="100000"/>
                </a:lnSpc>
                <a:spcBef>
                  <a:spcPct val="20000"/>
                </a:spcBef>
                <a:spcAft>
                  <a:spcPts val="0"/>
                </a:spcAft>
                <a:buClrTx/>
                <a:buSzTx/>
                <a:buFont typeface="Arial" pitchFamily="34" charset="0"/>
                <a:buNone/>
                <a:tabLst/>
                <a:defRPr/>
              </a:pPr>
              <a:r>
                <a:rPr kumimoji="0" lang="zh-CN" altLang="en-US" sz="2400" b="1" i="0" u="none" strike="noStrike" kern="1200" cap="none" spc="0" normalizeH="0" baseline="0" noProof="0" dirty="0">
                  <a:ln>
                    <a:noFill/>
                  </a:ln>
                  <a:solidFill>
                    <a:srgbClr val="0070C0"/>
                  </a:solidFill>
                  <a:effectLst/>
                  <a:uLnTx/>
                  <a:uFillTx/>
                  <a:latin typeface="Times New Roman" pitchFamily="18" charset="0"/>
                  <a:cs typeface="Times New Roman" pitchFamily="18" charset="0"/>
                  <a:sym typeface="Arial" pitchFamily="34" charset="0"/>
                </a:rPr>
                <a:t>                                 </a:t>
              </a:r>
              <a:r>
                <a:rPr kumimoji="0" lang="en-US" altLang="en-US" sz="2400" b="1" i="0" u="none" strike="noStrike" kern="1200" cap="none" spc="0" normalizeH="0" baseline="0" noProof="0" dirty="0">
                  <a:ln>
                    <a:noFill/>
                  </a:ln>
                  <a:solidFill>
                    <a:srgbClr val="002060"/>
                  </a:solidFill>
                  <a:effectLst/>
                  <a:uLnTx/>
                  <a:uFillTx/>
                  <a:latin typeface="Times New Roman" pitchFamily="18" charset="0"/>
                  <a:cs typeface="Times New Roman" pitchFamily="18" charset="0"/>
                  <a:sym typeface="Arial" pitchFamily="34" charset="0"/>
                </a:rPr>
                <a:t>Calcium Stearate</a:t>
              </a:r>
            </a:p>
            <a:p>
              <a:pPr marL="342900" marR="0" lvl="0" indent="-342900" algn="ctr" defTabSz="914400" rtl="0" eaLnBrk="1" fontAlgn="auto" latinLnBrk="1" hangingPunct="1">
                <a:lnSpc>
                  <a:spcPct val="100000"/>
                </a:lnSpc>
                <a:spcBef>
                  <a:spcPct val="20000"/>
                </a:spcBef>
                <a:spcAft>
                  <a:spcPts val="0"/>
                </a:spcAft>
                <a:buClrTx/>
                <a:buSzTx/>
                <a:buFont typeface="Arial" pitchFamily="34" charset="0"/>
                <a:buNone/>
                <a:tabLst/>
                <a:defRPr/>
              </a:pPr>
              <a:r>
                <a:rPr kumimoji="0" lang="zh-CN" altLang="en-US" sz="2400" b="1" i="0" u="none" strike="noStrike" kern="1200" cap="none" spc="0" normalizeH="0" baseline="0" noProof="0" dirty="0">
                  <a:ln>
                    <a:noFill/>
                  </a:ln>
                  <a:solidFill>
                    <a:srgbClr val="0070C0"/>
                  </a:solidFill>
                  <a:effectLst/>
                  <a:uLnTx/>
                  <a:uFillTx/>
                  <a:latin typeface="Times New Roman" pitchFamily="18" charset="0"/>
                  <a:cs typeface="Times New Roman" pitchFamily="18" charset="0"/>
                  <a:sym typeface="Arial" pitchFamily="34" charset="0"/>
                </a:rPr>
                <a:t>2C</a:t>
              </a:r>
              <a:r>
                <a:rPr kumimoji="0" lang="zh-CN" altLang="en-US" sz="2400" b="1" i="0" u="none" strike="noStrike" kern="1200" cap="none" spc="0" normalizeH="0" baseline="-25000" noProof="0" dirty="0">
                  <a:ln>
                    <a:noFill/>
                  </a:ln>
                  <a:solidFill>
                    <a:srgbClr val="0070C0"/>
                  </a:solidFill>
                  <a:effectLst/>
                  <a:uLnTx/>
                  <a:uFillTx/>
                  <a:latin typeface="Times New Roman" pitchFamily="18" charset="0"/>
                  <a:cs typeface="Times New Roman" pitchFamily="18" charset="0"/>
                  <a:sym typeface="Arial" pitchFamily="34" charset="0"/>
                </a:rPr>
                <a:t>17</a:t>
              </a:r>
              <a:r>
                <a:rPr kumimoji="0" lang="zh-CN" altLang="en-US" sz="2400" b="1" i="0" u="none" strike="noStrike" kern="1200" cap="none" spc="0" normalizeH="0" baseline="0" noProof="0" dirty="0">
                  <a:ln>
                    <a:noFill/>
                  </a:ln>
                  <a:solidFill>
                    <a:srgbClr val="0070C0"/>
                  </a:solidFill>
                  <a:effectLst/>
                  <a:uLnTx/>
                  <a:uFillTx/>
                  <a:latin typeface="Times New Roman" pitchFamily="18" charset="0"/>
                  <a:cs typeface="Times New Roman" pitchFamily="18" charset="0"/>
                  <a:sym typeface="Arial" pitchFamily="34" charset="0"/>
                </a:rPr>
                <a:t>H</a:t>
              </a:r>
              <a:r>
                <a:rPr kumimoji="0" lang="zh-CN" altLang="en-US" sz="2400" b="1" i="0" u="none" strike="noStrike" kern="1200" cap="none" spc="0" normalizeH="0" baseline="-25000" noProof="0" dirty="0">
                  <a:ln>
                    <a:noFill/>
                  </a:ln>
                  <a:solidFill>
                    <a:srgbClr val="0070C0"/>
                  </a:solidFill>
                  <a:effectLst/>
                  <a:uLnTx/>
                  <a:uFillTx/>
                  <a:latin typeface="Times New Roman" pitchFamily="18" charset="0"/>
                  <a:cs typeface="Times New Roman" pitchFamily="18" charset="0"/>
                  <a:sym typeface="Arial" pitchFamily="34" charset="0"/>
                </a:rPr>
                <a:t>35</a:t>
              </a:r>
              <a:r>
                <a:rPr kumimoji="0" lang="zh-CN" altLang="en-US" sz="2400" b="1" i="0" u="none" strike="noStrike" kern="1200" cap="none" spc="0" normalizeH="0" baseline="0" noProof="0" dirty="0">
                  <a:ln>
                    <a:noFill/>
                  </a:ln>
                  <a:solidFill>
                    <a:srgbClr val="0070C0"/>
                  </a:solidFill>
                  <a:effectLst/>
                  <a:uLnTx/>
                  <a:uFillTx/>
                  <a:latin typeface="Times New Roman" pitchFamily="18" charset="0"/>
                  <a:cs typeface="Times New Roman" pitchFamily="18" charset="0"/>
                  <a:sym typeface="Arial" pitchFamily="34" charset="0"/>
                </a:rPr>
                <a:t>COONa + MgSO</a:t>
              </a:r>
              <a:r>
                <a:rPr kumimoji="0" lang="zh-CN" altLang="en-US" sz="2400" b="1" i="0" u="none" strike="noStrike" kern="1200" cap="none" spc="0" normalizeH="0" baseline="-25000" noProof="0" dirty="0">
                  <a:ln>
                    <a:noFill/>
                  </a:ln>
                  <a:solidFill>
                    <a:srgbClr val="0070C0"/>
                  </a:solidFill>
                  <a:effectLst/>
                  <a:uLnTx/>
                  <a:uFillTx/>
                  <a:latin typeface="Times New Roman" pitchFamily="18" charset="0"/>
                  <a:cs typeface="Times New Roman" pitchFamily="18" charset="0"/>
                  <a:sym typeface="Arial" pitchFamily="34" charset="0"/>
                </a:rPr>
                <a:t>4</a:t>
              </a:r>
              <a:r>
                <a:rPr kumimoji="0" lang="zh-CN" altLang="en-US" sz="2400" b="1" i="0" u="none" strike="noStrike" kern="1200" cap="none" spc="0" normalizeH="0" baseline="0" noProof="0" dirty="0">
                  <a:ln>
                    <a:noFill/>
                  </a:ln>
                  <a:solidFill>
                    <a:srgbClr val="0070C0"/>
                  </a:solidFill>
                  <a:effectLst/>
                  <a:uLnTx/>
                  <a:uFillTx/>
                  <a:latin typeface="Times New Roman" pitchFamily="18" charset="0"/>
                  <a:cs typeface="Times New Roman" pitchFamily="18" charset="0"/>
                  <a:sym typeface="Arial" pitchFamily="34" charset="0"/>
                </a:rPr>
                <a:t>→(C</a:t>
              </a:r>
              <a:r>
                <a:rPr kumimoji="0" lang="zh-CN" altLang="en-US" sz="2400" b="1" i="0" u="none" strike="noStrike" kern="1200" cap="none" spc="0" normalizeH="0" baseline="-25000" noProof="0" dirty="0">
                  <a:ln>
                    <a:noFill/>
                  </a:ln>
                  <a:solidFill>
                    <a:srgbClr val="0070C0"/>
                  </a:solidFill>
                  <a:effectLst/>
                  <a:uLnTx/>
                  <a:uFillTx/>
                  <a:latin typeface="Times New Roman" pitchFamily="18" charset="0"/>
                  <a:cs typeface="Times New Roman" pitchFamily="18" charset="0"/>
                  <a:sym typeface="Arial" pitchFamily="34" charset="0"/>
                </a:rPr>
                <a:t>17</a:t>
              </a:r>
              <a:r>
                <a:rPr kumimoji="0" lang="zh-CN" altLang="en-US" sz="2400" b="1" i="0" u="none" strike="noStrike" kern="1200" cap="none" spc="0" normalizeH="0" baseline="0" noProof="0" dirty="0">
                  <a:ln>
                    <a:noFill/>
                  </a:ln>
                  <a:solidFill>
                    <a:srgbClr val="0070C0"/>
                  </a:solidFill>
                  <a:effectLst/>
                  <a:uLnTx/>
                  <a:uFillTx/>
                  <a:latin typeface="Times New Roman" pitchFamily="18" charset="0"/>
                  <a:cs typeface="Times New Roman" pitchFamily="18" charset="0"/>
                  <a:sym typeface="Arial" pitchFamily="34" charset="0"/>
                </a:rPr>
                <a:t>H</a:t>
              </a:r>
              <a:r>
                <a:rPr kumimoji="0" lang="zh-CN" altLang="en-US" sz="2400" b="1" i="0" u="none" strike="noStrike" kern="1200" cap="none" spc="0" normalizeH="0" baseline="-25000" noProof="0" dirty="0">
                  <a:ln>
                    <a:noFill/>
                  </a:ln>
                  <a:solidFill>
                    <a:srgbClr val="0070C0"/>
                  </a:solidFill>
                  <a:effectLst/>
                  <a:uLnTx/>
                  <a:uFillTx/>
                  <a:latin typeface="Times New Roman" pitchFamily="18" charset="0"/>
                  <a:cs typeface="Times New Roman" pitchFamily="18" charset="0"/>
                  <a:sym typeface="Arial" pitchFamily="34" charset="0"/>
                </a:rPr>
                <a:t>35</a:t>
              </a:r>
              <a:r>
                <a:rPr kumimoji="0" lang="zh-CN" altLang="en-US" sz="2400" b="1" i="0" u="none" strike="noStrike" kern="1200" cap="none" spc="0" normalizeH="0" baseline="0" noProof="0" dirty="0">
                  <a:ln>
                    <a:noFill/>
                  </a:ln>
                  <a:solidFill>
                    <a:srgbClr val="0070C0"/>
                  </a:solidFill>
                  <a:effectLst/>
                  <a:uLnTx/>
                  <a:uFillTx/>
                  <a:latin typeface="Times New Roman" pitchFamily="18" charset="0"/>
                  <a:cs typeface="Times New Roman" pitchFamily="18" charset="0"/>
                  <a:sym typeface="Arial" pitchFamily="34" charset="0"/>
                </a:rPr>
                <a:t>COO)</a:t>
              </a:r>
              <a:r>
                <a:rPr kumimoji="0" lang="zh-CN" altLang="en-US" sz="2400" b="1" i="0" u="none" strike="noStrike" kern="1200" cap="none" spc="0" normalizeH="0" baseline="-25000" noProof="0" dirty="0">
                  <a:ln>
                    <a:noFill/>
                  </a:ln>
                  <a:solidFill>
                    <a:srgbClr val="0070C0"/>
                  </a:solidFill>
                  <a:effectLst/>
                  <a:uLnTx/>
                  <a:uFillTx/>
                  <a:latin typeface="Times New Roman" pitchFamily="18" charset="0"/>
                  <a:cs typeface="Times New Roman" pitchFamily="18" charset="0"/>
                  <a:sym typeface="Arial" pitchFamily="34" charset="0"/>
                </a:rPr>
                <a:t>2</a:t>
              </a:r>
              <a:r>
                <a:rPr kumimoji="0" lang="zh-CN" altLang="en-US" sz="2400" b="1" i="0" u="none" strike="noStrike" kern="1200" cap="none" spc="0" normalizeH="0" baseline="0" noProof="0" dirty="0">
                  <a:ln>
                    <a:noFill/>
                  </a:ln>
                  <a:solidFill>
                    <a:srgbClr val="0070C0"/>
                  </a:solidFill>
                  <a:effectLst/>
                  <a:uLnTx/>
                  <a:uFillTx/>
                  <a:latin typeface="Times New Roman" pitchFamily="18" charset="0"/>
                  <a:cs typeface="Times New Roman" pitchFamily="18" charset="0"/>
                  <a:sym typeface="Arial" pitchFamily="34" charset="0"/>
                </a:rPr>
                <a:t>Mg↓ +Na</a:t>
              </a:r>
              <a:r>
                <a:rPr kumimoji="0" lang="zh-CN" altLang="en-US" sz="2400" b="1" i="0" u="none" strike="noStrike" kern="1200" cap="none" spc="0" normalizeH="0" baseline="-25000" noProof="0" dirty="0">
                  <a:ln>
                    <a:noFill/>
                  </a:ln>
                  <a:solidFill>
                    <a:srgbClr val="0070C0"/>
                  </a:solidFill>
                  <a:effectLst/>
                  <a:uLnTx/>
                  <a:uFillTx/>
                  <a:latin typeface="Times New Roman" pitchFamily="18" charset="0"/>
                  <a:cs typeface="Times New Roman" pitchFamily="18" charset="0"/>
                  <a:sym typeface="Arial" pitchFamily="34" charset="0"/>
                </a:rPr>
                <a:t>2</a:t>
              </a:r>
              <a:r>
                <a:rPr kumimoji="0" lang="zh-CN" altLang="en-US" sz="2400" b="1" i="0" u="none" strike="noStrike" kern="1200" cap="none" spc="0" normalizeH="0" baseline="0" noProof="0" dirty="0">
                  <a:ln>
                    <a:noFill/>
                  </a:ln>
                  <a:solidFill>
                    <a:srgbClr val="0070C0"/>
                  </a:solidFill>
                  <a:effectLst/>
                  <a:uLnTx/>
                  <a:uFillTx/>
                  <a:latin typeface="Times New Roman" pitchFamily="18" charset="0"/>
                  <a:cs typeface="Times New Roman" pitchFamily="18" charset="0"/>
                  <a:sym typeface="Arial" pitchFamily="34" charset="0"/>
                </a:rPr>
                <a:t>SO</a:t>
              </a:r>
              <a:r>
                <a:rPr kumimoji="0" lang="zh-CN" altLang="en-US" sz="2400" b="1" i="0" u="none" strike="noStrike" kern="1200" cap="none" spc="0" normalizeH="0" baseline="-25000" noProof="0" dirty="0">
                  <a:ln>
                    <a:noFill/>
                  </a:ln>
                  <a:solidFill>
                    <a:srgbClr val="0070C0"/>
                  </a:solidFill>
                  <a:effectLst/>
                  <a:uLnTx/>
                  <a:uFillTx/>
                  <a:latin typeface="Times New Roman" pitchFamily="18" charset="0"/>
                  <a:cs typeface="Times New Roman" pitchFamily="18" charset="0"/>
                  <a:sym typeface="Arial" pitchFamily="34" charset="0"/>
                </a:rPr>
                <a:t>4</a:t>
              </a:r>
            </a:p>
            <a:p>
              <a:pPr marL="342900" marR="0" lvl="0" indent="-342900" algn="ctr" defTabSz="914400" rtl="0" eaLnBrk="1" fontAlgn="auto" latinLnBrk="1" hangingPunct="1">
                <a:lnSpc>
                  <a:spcPct val="100000"/>
                </a:lnSpc>
                <a:spcBef>
                  <a:spcPct val="20000"/>
                </a:spcBef>
                <a:spcAft>
                  <a:spcPts val="0"/>
                </a:spcAft>
                <a:buClrTx/>
                <a:buSzTx/>
                <a:buFont typeface="Arial" pitchFamily="34" charset="0"/>
                <a:buNone/>
                <a:tabLst/>
                <a:defRPr/>
              </a:pPr>
              <a:r>
                <a:rPr kumimoji="0" lang="en-US" altLang="en-US" sz="2400" b="1" i="0" u="none" strike="noStrike" kern="1200" cap="none" spc="0" normalizeH="0" baseline="0" noProof="0" dirty="0">
                  <a:ln>
                    <a:noFill/>
                  </a:ln>
                  <a:solidFill>
                    <a:srgbClr val="0070C0"/>
                  </a:solidFill>
                  <a:effectLst/>
                  <a:uLnTx/>
                  <a:uFillTx/>
                  <a:latin typeface="Times New Roman" pitchFamily="18" charset="0"/>
                  <a:cs typeface="Times New Roman" pitchFamily="18" charset="0"/>
                  <a:sym typeface="Arial" pitchFamily="34" charset="0"/>
                </a:rPr>
                <a:t>                                    </a:t>
              </a:r>
              <a:r>
                <a:rPr kumimoji="0" lang="en-US" altLang="en-US" sz="2400" b="1" i="0" u="none" strike="noStrike" kern="1200" cap="none" spc="0" normalizeH="0" baseline="0" noProof="0" dirty="0">
                  <a:ln>
                    <a:noFill/>
                  </a:ln>
                  <a:solidFill>
                    <a:srgbClr val="002060"/>
                  </a:solidFill>
                  <a:effectLst/>
                  <a:uLnTx/>
                  <a:uFillTx/>
                  <a:latin typeface="Times New Roman" pitchFamily="18" charset="0"/>
                  <a:cs typeface="Times New Roman" pitchFamily="18" charset="0"/>
                  <a:sym typeface="Arial" pitchFamily="34" charset="0"/>
                </a:rPr>
                <a:t>Magnesium Stearate</a:t>
              </a:r>
              <a:endParaRPr kumimoji="0" lang="zh-CN" altLang="en-US" sz="2400" b="1" i="0" u="none" strike="noStrike" kern="1200" cap="none" spc="0" normalizeH="0" baseline="0" noProof="0" dirty="0">
                <a:ln>
                  <a:noFill/>
                </a:ln>
                <a:solidFill>
                  <a:srgbClr val="002060"/>
                </a:solidFill>
                <a:effectLst/>
                <a:uLnTx/>
                <a:uFillTx/>
                <a:latin typeface="Times New Roman" pitchFamily="18" charset="0"/>
                <a:cs typeface="Times New Roman" pitchFamily="18" charset="0"/>
                <a:sym typeface="Arial" pitchFamily="34" charset="0"/>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p:cNvGrpSpPr/>
          <p:nvPr/>
        </p:nvGrpSpPr>
        <p:grpSpPr>
          <a:xfrm>
            <a:off x="155575" y="-136525"/>
            <a:ext cx="12341225" cy="6560125"/>
            <a:chOff x="155575" y="-136525"/>
            <a:chExt cx="12341225" cy="6560125"/>
          </a:xfrm>
        </p:grpSpPr>
        <p:sp>
          <p:nvSpPr>
            <p:cNvPr id="18433" name="Rectangle 1"/>
            <p:cNvSpPr>
              <a:spLocks noChangeArrowheads="1"/>
            </p:cNvSpPr>
            <p:nvPr/>
          </p:nvSpPr>
          <p:spPr bwMode="auto">
            <a:xfrm>
              <a:off x="228600" y="914400"/>
              <a:ext cx="6477000" cy="55092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571500" marR="0" lvl="0" indent="-571500" algn="just" defTabSz="914400" rtl="0" eaLnBrk="1" fontAlgn="base" latinLnBrk="0" hangingPunct="1">
                <a:lnSpc>
                  <a:spcPct val="100000"/>
                </a:lnSpc>
                <a:spcBef>
                  <a:spcPct val="0"/>
                </a:spcBef>
                <a:spcAft>
                  <a:spcPct val="0"/>
                </a:spcAft>
                <a:buClrTx/>
                <a:buSzTx/>
                <a:buFont typeface="+mj-lt"/>
                <a:buAutoNum type="romanUcPeriod"/>
                <a:tabLst>
                  <a:tab pos="457200" algn="l"/>
                </a:tabLst>
              </a:pPr>
              <a:r>
                <a:rPr kumimoji="0" lang="en-US" sz="3200" b="1" i="0" u="none" strike="noStrike" cap="none" normalizeH="0" baseline="0" dirty="0">
                  <a:ln>
                    <a:noFill/>
                  </a:ln>
                  <a:solidFill>
                    <a:srgbClr val="C00000"/>
                  </a:solidFill>
                  <a:effectLst/>
                  <a:latin typeface="Times New Roman" pitchFamily="18" charset="0"/>
                  <a:ea typeface="Times New Roman" pitchFamily="18" charset="0"/>
                  <a:cs typeface="Times New Roman" pitchFamily="18" charset="0"/>
                </a:rPr>
                <a:t>Temporary hardness:</a:t>
              </a:r>
            </a:p>
            <a:p>
              <a:pPr marL="571500" marR="0" lvl="0" indent="-571500" algn="just" defTabSz="914400" rtl="0" eaLnBrk="1" fontAlgn="base" latinLnBrk="0" hangingPunct="1">
                <a:lnSpc>
                  <a:spcPct val="100000"/>
                </a:lnSpc>
                <a:spcBef>
                  <a:spcPct val="0"/>
                </a:spcBef>
                <a:spcAft>
                  <a:spcPct val="0"/>
                </a:spcAft>
                <a:buClrTx/>
                <a:buSzTx/>
                <a:tabLst>
                  <a:tab pos="457200" algn="l"/>
                </a:tabLst>
              </a:pPr>
              <a:endParaRPr kumimoji="0" lang="en-US" sz="3200" b="0" i="0" u="none" strike="noStrike" cap="none" normalizeH="0" baseline="0" dirty="0">
                <a:ln>
                  <a:noFill/>
                </a:ln>
                <a:solidFill>
                  <a:srgbClr val="C00000"/>
                </a:solidFill>
                <a:effectLst/>
                <a:latin typeface="Times New Roman" pitchFamily="18" charset="0"/>
                <a:cs typeface="Times New Roman" pitchFamily="18" charset="0"/>
              </a:endParaRPr>
            </a:p>
            <a:p>
              <a:pPr marL="398463" marR="0" lvl="0" indent="-398463" algn="just" defTabSz="914400" rtl="0" eaLnBrk="0" fontAlgn="base" latinLnBrk="0" hangingPunct="0">
                <a:lnSpc>
                  <a:spcPct val="100000"/>
                </a:lnSpc>
                <a:spcBef>
                  <a:spcPct val="0"/>
                </a:spcBef>
                <a:spcAft>
                  <a:spcPct val="0"/>
                </a:spcAft>
                <a:buClr>
                  <a:srgbClr val="C00000"/>
                </a:buClr>
                <a:buSzTx/>
                <a:buFont typeface="Wingdings" pitchFamily="2" charset="2"/>
                <a:buChar char="v"/>
                <a:tabLst>
                  <a:tab pos="457200" algn="l"/>
                </a:tabLst>
              </a:pPr>
              <a:r>
                <a:rPr kumimoji="0" lang="en-US" sz="24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It is caused by the presence of dissolved bicarbonates of calcium and magnesium and carbonates of Iron.</a:t>
              </a:r>
            </a:p>
            <a:p>
              <a:pPr marL="398463" marR="0" lvl="0" indent="-398463" algn="just" defTabSz="914400" rtl="0" eaLnBrk="0" fontAlgn="base" latinLnBrk="0" hangingPunct="0">
                <a:lnSpc>
                  <a:spcPct val="100000"/>
                </a:lnSpc>
                <a:spcBef>
                  <a:spcPct val="0"/>
                </a:spcBef>
                <a:spcAft>
                  <a:spcPct val="0"/>
                </a:spcAft>
                <a:buClr>
                  <a:srgbClr val="C00000"/>
                </a:buClr>
                <a:buSzTx/>
                <a:buFont typeface="Wingdings" pitchFamily="2" charset="2"/>
                <a:buChar char="v"/>
                <a:tabLst>
                  <a:tab pos="457200" algn="l"/>
                </a:tabLst>
              </a:pPr>
              <a:r>
                <a:rPr kumimoji="0" lang="en-US" sz="24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Temporary hardness is easily removed by boiling, on boiling bicarbonates are decomposed into insoluble carbonates or hydroxides.</a:t>
              </a:r>
            </a:p>
            <a:p>
              <a:pPr marL="398463" marR="0" lvl="0" indent="-398463" algn="just" defTabSz="914400" rtl="0" eaLnBrk="0" fontAlgn="base" latinLnBrk="0" hangingPunct="0">
                <a:lnSpc>
                  <a:spcPct val="100000"/>
                </a:lnSpc>
                <a:spcBef>
                  <a:spcPct val="0"/>
                </a:spcBef>
                <a:spcAft>
                  <a:spcPct val="0"/>
                </a:spcAft>
                <a:buClr>
                  <a:srgbClr val="C00000"/>
                </a:buClr>
                <a:buSzTx/>
                <a:tabLst>
                  <a:tab pos="457200" algn="l"/>
                </a:tabLst>
              </a:pPr>
              <a:endParaRPr kumimoji="0" lang="en-US" sz="24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endParaRPr>
            </a:p>
            <a:p>
              <a:pPr lvl="2" algn="just"/>
              <a:r>
                <a:rPr lang="en-US" sz="2400" b="1" dirty="0"/>
                <a:t>Ca (HCO</a:t>
              </a:r>
              <a:r>
                <a:rPr lang="en-US" sz="2400" b="1" baseline="-25000" dirty="0"/>
                <a:t>3</a:t>
              </a:r>
              <a:r>
                <a:rPr lang="en-US" sz="2400" b="1" dirty="0"/>
                <a:t>)</a:t>
              </a:r>
              <a:r>
                <a:rPr lang="en-US" sz="2400" b="1" baseline="-25000" dirty="0"/>
                <a:t>2   </a:t>
              </a:r>
              <a:r>
                <a:rPr lang="en-US" sz="2400" b="1" dirty="0"/>
                <a:t>→ CaCO</a:t>
              </a:r>
              <a:r>
                <a:rPr lang="en-US" sz="2400" b="1" baseline="-25000" dirty="0"/>
                <a:t>3</a:t>
              </a:r>
              <a:r>
                <a:rPr lang="en-US" sz="2400" b="1" dirty="0"/>
                <a:t>↓ + H</a:t>
              </a:r>
              <a:r>
                <a:rPr lang="en-US" sz="2400" b="1" baseline="-25000" dirty="0"/>
                <a:t>2</a:t>
              </a:r>
              <a:r>
                <a:rPr lang="en-US" sz="2400" b="1" dirty="0"/>
                <a:t>O + CO</a:t>
              </a:r>
              <a:r>
                <a:rPr lang="en-US" sz="2400" b="1" baseline="-25000" dirty="0"/>
                <a:t>2</a:t>
              </a:r>
              <a:r>
                <a:rPr lang="en-US" sz="2400" b="1" dirty="0"/>
                <a:t>↑</a:t>
              </a:r>
              <a:endParaRPr lang="en-US" sz="2400" dirty="0"/>
            </a:p>
            <a:p>
              <a:pPr lvl="2" algn="just"/>
              <a:r>
                <a:rPr lang="en-US" sz="2400" b="1" dirty="0"/>
                <a:t>Mg (HCO</a:t>
              </a:r>
              <a:r>
                <a:rPr lang="en-US" sz="2400" b="1" baseline="-25000" dirty="0"/>
                <a:t>3</a:t>
              </a:r>
              <a:r>
                <a:rPr lang="en-US" sz="2400" b="1" dirty="0"/>
                <a:t>)</a:t>
              </a:r>
              <a:r>
                <a:rPr lang="en-US" sz="2400" b="1" baseline="-25000" dirty="0"/>
                <a:t>2   </a:t>
              </a:r>
              <a:r>
                <a:rPr lang="en-US" sz="2400" b="1" dirty="0"/>
                <a:t>→ Mg (OH)</a:t>
              </a:r>
              <a:r>
                <a:rPr lang="en-US" sz="2400" b="1" baseline="-25000" dirty="0"/>
                <a:t> 2</a:t>
              </a:r>
              <a:r>
                <a:rPr lang="en-US" sz="2400" b="1" dirty="0"/>
                <a:t> ↓+ 2CO</a:t>
              </a:r>
              <a:r>
                <a:rPr lang="en-US" sz="2400" b="1" baseline="-25000" dirty="0"/>
                <a:t>2</a:t>
              </a:r>
              <a:r>
                <a:rPr lang="en-US" sz="2400" b="1" dirty="0"/>
                <a:t>↑</a:t>
              </a:r>
              <a:endParaRPr lang="en-US" sz="2400" dirty="0"/>
            </a:p>
            <a:p>
              <a:pPr lvl="2" algn="just"/>
              <a:r>
                <a:rPr lang="en-US" sz="2400" dirty="0"/>
                <a:t> </a:t>
              </a:r>
            </a:p>
            <a:p>
              <a:pPr marL="463550" marR="0" lvl="0" indent="-463550" algn="just" defTabSz="914400" rtl="0" eaLnBrk="0" fontAlgn="base" latinLnBrk="0" hangingPunct="0">
                <a:lnSpc>
                  <a:spcPct val="100000"/>
                </a:lnSpc>
                <a:spcBef>
                  <a:spcPct val="0"/>
                </a:spcBef>
                <a:spcAft>
                  <a:spcPct val="0"/>
                </a:spcAft>
                <a:buClr>
                  <a:srgbClr val="C00000"/>
                </a:buClr>
                <a:buSzTx/>
                <a:buFont typeface="Wingdings" pitchFamily="2" charset="2"/>
                <a:buChar char="v"/>
                <a:tabLst>
                  <a:tab pos="457200" algn="l"/>
                </a:tabLst>
              </a:pPr>
              <a:r>
                <a:rPr kumimoji="0" lang="en-US" sz="24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It is also known as carbonate hardness. </a:t>
              </a:r>
              <a:endParaRPr kumimoji="0" lang="en-US" sz="2400" b="0" i="0" u="none" strike="noStrike" cap="none" normalizeH="0" baseline="0" dirty="0">
                <a:ln>
                  <a:noFill/>
                </a:ln>
                <a:solidFill>
                  <a:schemeClr val="tx1"/>
                </a:solidFill>
                <a:effectLst/>
                <a:latin typeface="Times New Roman" pitchFamily="18" charset="0"/>
                <a:cs typeface="Times New Roman" pitchFamily="18" charset="0"/>
              </a:endParaRPr>
            </a:p>
          </p:txBody>
        </p:sp>
        <p:sp>
          <p:nvSpPr>
            <p:cNvPr id="18437" name="AutoShape 5" descr="Hardness of Water - Types, Remove ..."/>
            <p:cNvSpPr>
              <a:spLocks noChangeAspect="1" noChangeArrowheads="1"/>
            </p:cNvSpPr>
            <p:nvPr/>
          </p:nvSpPr>
          <p:spPr bwMode="auto">
            <a:xfrm>
              <a:off x="155575" y="-136525"/>
              <a:ext cx="296863" cy="296863"/>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8439" name="AutoShape 7" descr="Hardness of Water - Types, Remove ..."/>
            <p:cNvSpPr>
              <a:spLocks noChangeAspect="1" noChangeArrowheads="1"/>
            </p:cNvSpPr>
            <p:nvPr/>
          </p:nvSpPr>
          <p:spPr bwMode="auto">
            <a:xfrm>
              <a:off x="155575" y="-136525"/>
              <a:ext cx="296863" cy="296863"/>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8441" name="AutoShape 9" descr="Hardness Of Water - semesters.in"/>
            <p:cNvSpPr>
              <a:spLocks noChangeAspect="1" noChangeArrowheads="1"/>
            </p:cNvSpPr>
            <p:nvPr/>
          </p:nvSpPr>
          <p:spPr bwMode="auto">
            <a:xfrm>
              <a:off x="155575" y="-136525"/>
              <a:ext cx="296863" cy="296863"/>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8443" name="Picture 11" descr="30. Water and Sewage treatment. Hardness in water Def: Water is said to be  hard when it is difficult to form a lather with soap. It is caused by the  presence. -"/>
            <p:cNvPicPr>
              <a:picLocks noChangeAspect="1" noChangeArrowheads="1"/>
            </p:cNvPicPr>
            <p:nvPr/>
          </p:nvPicPr>
          <p:blipFill>
            <a:blip r:embed="rId2"/>
            <a:srcRect l="23611" t="40741" r="24305" b="20370"/>
            <a:stretch>
              <a:fillRect/>
            </a:stretch>
          </p:blipFill>
          <p:spPr bwMode="auto">
            <a:xfrm>
              <a:off x="6781800" y="685800"/>
              <a:ext cx="5715000" cy="5715000"/>
            </a:xfrm>
            <a:prstGeom prst="rect">
              <a:avLst/>
            </a:prstGeom>
            <a:noFill/>
          </p:spPr>
        </p:pic>
        <p:sp>
          <p:nvSpPr>
            <p:cNvPr id="8" name="TextBox 7"/>
            <p:cNvSpPr txBox="1"/>
            <p:nvPr/>
          </p:nvSpPr>
          <p:spPr>
            <a:xfrm>
              <a:off x="1295400" y="76200"/>
              <a:ext cx="4224618" cy="707886"/>
            </a:xfrm>
            <a:prstGeom prst="rect">
              <a:avLst/>
            </a:prstGeom>
            <a:noFill/>
          </p:spPr>
          <p:txBody>
            <a:bodyPr wrap="none" rtlCol="0">
              <a:spAutoFit/>
            </a:bodyPr>
            <a:lstStyle/>
            <a:p>
              <a:r>
                <a:rPr lang="en-US" sz="4000" b="1" dirty="0">
                  <a:solidFill>
                    <a:srgbClr val="7030A0"/>
                  </a:solidFill>
                  <a:latin typeface="Times New Roman" pitchFamily="18" charset="0"/>
                  <a:cs typeface="Times New Roman" pitchFamily="18" charset="0"/>
                </a:rPr>
                <a:t>Types of Hardness</a:t>
              </a: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p:cNvGrpSpPr/>
          <p:nvPr/>
        </p:nvGrpSpPr>
        <p:grpSpPr>
          <a:xfrm>
            <a:off x="460375" y="498780"/>
            <a:ext cx="11579225" cy="5825820"/>
            <a:chOff x="155575" y="-136525"/>
            <a:chExt cx="11579225" cy="5825820"/>
          </a:xfrm>
        </p:grpSpPr>
        <p:sp>
          <p:nvSpPr>
            <p:cNvPr id="23553" name="Rectangle 1"/>
            <p:cNvSpPr>
              <a:spLocks noChangeArrowheads="1"/>
            </p:cNvSpPr>
            <p:nvPr/>
          </p:nvSpPr>
          <p:spPr bwMode="auto">
            <a:xfrm>
              <a:off x="609600" y="1765280"/>
              <a:ext cx="5943600" cy="341632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398463" marR="0" lvl="0" indent="-398463" algn="just" defTabSz="914400" rtl="0" eaLnBrk="0" fontAlgn="base" latinLnBrk="0" hangingPunct="0">
                <a:lnSpc>
                  <a:spcPct val="100000"/>
                </a:lnSpc>
                <a:spcBef>
                  <a:spcPct val="0"/>
                </a:spcBef>
                <a:spcAft>
                  <a:spcPct val="0"/>
                </a:spcAft>
                <a:buClr>
                  <a:srgbClr val="C00000"/>
                </a:buClr>
                <a:buSzTx/>
                <a:buFont typeface="Wingdings" pitchFamily="2" charset="2"/>
                <a:buChar char="v"/>
                <a:tabLst/>
              </a:pPr>
              <a:r>
                <a:rPr kumimoji="0" lang="en-US" sz="24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It is caused by the presence of dissolved chlorides, and sulphates of the calcium and magnesium and iron. </a:t>
              </a:r>
            </a:p>
            <a:p>
              <a:pPr marL="398463" marR="0" lvl="0" indent="-398463" algn="just" defTabSz="914400" rtl="0" eaLnBrk="0" fontAlgn="base" latinLnBrk="0" hangingPunct="0">
                <a:lnSpc>
                  <a:spcPct val="100000"/>
                </a:lnSpc>
                <a:spcBef>
                  <a:spcPct val="0"/>
                </a:spcBef>
                <a:spcAft>
                  <a:spcPct val="0"/>
                </a:spcAft>
                <a:buClr>
                  <a:srgbClr val="C00000"/>
                </a:buClr>
                <a:buSzTx/>
                <a:buFont typeface="Wingdings" pitchFamily="2" charset="2"/>
                <a:buChar char="v"/>
                <a:tabLst/>
              </a:pPr>
              <a:r>
                <a:rPr kumimoji="0" lang="en-US" sz="24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The dissolved salts are CaCl</a:t>
              </a:r>
              <a:r>
                <a:rPr kumimoji="0" lang="en-US" sz="2400" b="0" i="0" u="none" strike="noStrike" cap="none" normalizeH="0" baseline="-30000" dirty="0">
                  <a:ln>
                    <a:noFill/>
                  </a:ln>
                  <a:solidFill>
                    <a:schemeClr val="tx1"/>
                  </a:solidFill>
                  <a:effectLst/>
                  <a:latin typeface="Times New Roman" pitchFamily="18" charset="0"/>
                  <a:ea typeface="Times New Roman" pitchFamily="18" charset="0"/>
                  <a:cs typeface="Times New Roman" pitchFamily="18" charset="0"/>
                </a:rPr>
                <a:t>2</a:t>
              </a:r>
              <a:r>
                <a:rPr kumimoji="0" lang="en-US" sz="24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 MgCl</a:t>
              </a:r>
              <a:r>
                <a:rPr kumimoji="0" lang="en-US" sz="2400" b="0" i="0" u="none" strike="noStrike" cap="none" normalizeH="0" baseline="-30000" dirty="0">
                  <a:ln>
                    <a:noFill/>
                  </a:ln>
                  <a:solidFill>
                    <a:schemeClr val="tx1"/>
                  </a:solidFill>
                  <a:effectLst/>
                  <a:latin typeface="Times New Roman" pitchFamily="18" charset="0"/>
                  <a:ea typeface="Times New Roman" pitchFamily="18" charset="0"/>
                  <a:cs typeface="Times New Roman" pitchFamily="18" charset="0"/>
                </a:rPr>
                <a:t>2</a:t>
              </a:r>
              <a:r>
                <a:rPr kumimoji="0" lang="en-US" sz="24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 CaSO</a:t>
              </a:r>
              <a:r>
                <a:rPr kumimoji="0" lang="en-US" sz="2400" b="0" i="0" u="none" strike="noStrike" cap="none" normalizeH="0" baseline="-30000" dirty="0">
                  <a:ln>
                    <a:noFill/>
                  </a:ln>
                  <a:solidFill>
                    <a:schemeClr val="tx1"/>
                  </a:solidFill>
                  <a:effectLst/>
                  <a:latin typeface="Times New Roman" pitchFamily="18" charset="0"/>
                  <a:ea typeface="Times New Roman" pitchFamily="18" charset="0"/>
                  <a:cs typeface="Times New Roman" pitchFamily="18" charset="0"/>
                </a:rPr>
                <a:t>4</a:t>
              </a:r>
              <a:r>
                <a:rPr kumimoji="0" lang="en-US" sz="24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 MgSO</a:t>
              </a:r>
              <a:r>
                <a:rPr kumimoji="0" lang="en-US" sz="2400" b="0" i="0" u="none" strike="noStrike" cap="none" normalizeH="0" baseline="-30000" dirty="0">
                  <a:ln>
                    <a:noFill/>
                  </a:ln>
                  <a:solidFill>
                    <a:schemeClr val="tx1"/>
                  </a:solidFill>
                  <a:effectLst/>
                  <a:latin typeface="Times New Roman" pitchFamily="18" charset="0"/>
                  <a:ea typeface="Times New Roman" pitchFamily="18" charset="0"/>
                  <a:cs typeface="Times New Roman" pitchFamily="18" charset="0"/>
                </a:rPr>
                <a:t>4</a:t>
              </a:r>
              <a:r>
                <a:rPr kumimoji="0" lang="en-US" sz="24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 FeSO</a:t>
              </a:r>
              <a:r>
                <a:rPr kumimoji="0" lang="en-US" sz="2400" b="0" i="0" u="none" strike="noStrike" cap="none" normalizeH="0" baseline="-30000" dirty="0">
                  <a:ln>
                    <a:noFill/>
                  </a:ln>
                  <a:solidFill>
                    <a:schemeClr val="tx1"/>
                  </a:solidFill>
                  <a:effectLst/>
                  <a:latin typeface="Times New Roman" pitchFamily="18" charset="0"/>
                  <a:ea typeface="Times New Roman" pitchFamily="18" charset="0"/>
                  <a:cs typeface="Times New Roman" pitchFamily="18" charset="0"/>
                </a:rPr>
                <a:t>4</a:t>
              </a:r>
              <a:r>
                <a:rPr kumimoji="0" lang="en-US" sz="24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 Al</a:t>
              </a:r>
              <a:r>
                <a:rPr kumimoji="0" lang="en-US" sz="2400" b="0" i="0" u="none" strike="noStrike" cap="none" normalizeH="0" baseline="-30000" dirty="0">
                  <a:ln>
                    <a:noFill/>
                  </a:ln>
                  <a:solidFill>
                    <a:schemeClr val="tx1"/>
                  </a:solidFill>
                  <a:effectLst/>
                  <a:latin typeface="Times New Roman" pitchFamily="18" charset="0"/>
                  <a:ea typeface="Times New Roman" pitchFamily="18" charset="0"/>
                  <a:cs typeface="Times New Roman" pitchFamily="18" charset="0"/>
                </a:rPr>
                <a:t>2</a:t>
              </a:r>
              <a:r>
                <a:rPr kumimoji="0" lang="en-US" sz="24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(SO</a:t>
              </a:r>
              <a:r>
                <a:rPr kumimoji="0" lang="en-US" sz="2400" b="0" i="0" u="none" strike="noStrike" cap="none" normalizeH="0" baseline="-30000" dirty="0">
                  <a:ln>
                    <a:noFill/>
                  </a:ln>
                  <a:solidFill>
                    <a:schemeClr val="tx1"/>
                  </a:solidFill>
                  <a:effectLst/>
                  <a:latin typeface="Times New Roman" pitchFamily="18" charset="0"/>
                  <a:ea typeface="Times New Roman" pitchFamily="18" charset="0"/>
                  <a:cs typeface="Times New Roman" pitchFamily="18" charset="0"/>
                </a:rPr>
                <a:t>4</a:t>
              </a:r>
              <a:r>
                <a:rPr kumimoji="0" lang="en-US" sz="24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a:t>
              </a:r>
              <a:r>
                <a:rPr kumimoji="0" lang="en-US" sz="2400" b="0" i="0" u="none" strike="noStrike" cap="none" normalizeH="0" baseline="-30000" dirty="0">
                  <a:ln>
                    <a:noFill/>
                  </a:ln>
                  <a:solidFill>
                    <a:schemeClr val="tx1"/>
                  </a:solidFill>
                  <a:effectLst/>
                  <a:latin typeface="Times New Roman" pitchFamily="18" charset="0"/>
                  <a:ea typeface="Times New Roman" pitchFamily="18" charset="0"/>
                  <a:cs typeface="Times New Roman" pitchFamily="18" charset="0"/>
                </a:rPr>
                <a:t>3</a:t>
              </a:r>
              <a:r>
                <a:rPr kumimoji="0" lang="en-US" sz="24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  etc. </a:t>
              </a:r>
            </a:p>
            <a:p>
              <a:pPr marL="398463" marR="0" lvl="0" indent="-398463" algn="just" defTabSz="914400" rtl="0" eaLnBrk="0" fontAlgn="base" latinLnBrk="0" hangingPunct="0">
                <a:lnSpc>
                  <a:spcPct val="100000"/>
                </a:lnSpc>
                <a:spcBef>
                  <a:spcPct val="0"/>
                </a:spcBef>
                <a:spcAft>
                  <a:spcPct val="0"/>
                </a:spcAft>
                <a:buClr>
                  <a:srgbClr val="C00000"/>
                </a:buClr>
                <a:buSzTx/>
                <a:buFont typeface="Wingdings" pitchFamily="2" charset="2"/>
                <a:buChar char="v"/>
                <a:tabLst/>
              </a:pPr>
              <a:r>
                <a:rPr kumimoji="0" lang="en-US" sz="24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Unlike temporary hardness, permanent hardness is not destroyed on boiling.  </a:t>
              </a:r>
            </a:p>
            <a:p>
              <a:pPr marL="398463" marR="0" lvl="0" indent="-398463" algn="just" defTabSz="914400" rtl="0" eaLnBrk="0" fontAlgn="base" latinLnBrk="0" hangingPunct="0">
                <a:lnSpc>
                  <a:spcPct val="100000"/>
                </a:lnSpc>
                <a:spcBef>
                  <a:spcPct val="0"/>
                </a:spcBef>
                <a:spcAft>
                  <a:spcPct val="0"/>
                </a:spcAft>
                <a:buClr>
                  <a:srgbClr val="C00000"/>
                </a:buClr>
                <a:buSzTx/>
                <a:buFont typeface="Wingdings" pitchFamily="2" charset="2"/>
                <a:buChar char="v"/>
                <a:tabLst/>
              </a:pPr>
              <a:r>
                <a:rPr kumimoji="0" lang="en-US" sz="24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It is also known as non carbonate   hardness.</a:t>
              </a:r>
              <a:endParaRPr kumimoji="0" lang="en-US" sz="2400" b="0" i="0" u="none" strike="noStrike" cap="none" normalizeH="0" baseline="0" dirty="0">
                <a:ln>
                  <a:noFill/>
                </a:ln>
                <a:solidFill>
                  <a:schemeClr val="tx1"/>
                </a:solidFill>
                <a:effectLst/>
                <a:latin typeface="Arial" pitchFamily="34" charset="0"/>
                <a:cs typeface="Arial" pitchFamily="34" charset="0"/>
              </a:endParaRPr>
            </a:p>
          </p:txBody>
        </p:sp>
        <p:sp>
          <p:nvSpPr>
            <p:cNvPr id="3" name="Rectangle 2"/>
            <p:cNvSpPr/>
            <p:nvPr/>
          </p:nvSpPr>
          <p:spPr>
            <a:xfrm>
              <a:off x="457200" y="587514"/>
              <a:ext cx="5569153" cy="707886"/>
            </a:xfrm>
            <a:prstGeom prst="rect">
              <a:avLst/>
            </a:prstGeom>
          </p:spPr>
          <p:txBody>
            <a:bodyPr wrap="none">
              <a:spAutoFit/>
            </a:bodyPr>
            <a:lstStyle/>
            <a:p>
              <a:pPr marL="857250" lvl="0" indent="-857250" algn="just" fontAlgn="base">
                <a:spcBef>
                  <a:spcPct val="0"/>
                </a:spcBef>
                <a:spcAft>
                  <a:spcPct val="0"/>
                </a:spcAft>
                <a:buFont typeface="+mj-lt"/>
                <a:buAutoNum type="romanUcPeriod" startAt="2"/>
              </a:pPr>
              <a:r>
                <a:rPr lang="en-US" sz="4000" b="1" dirty="0">
                  <a:solidFill>
                    <a:srgbClr val="7030A0"/>
                  </a:solidFill>
                  <a:latin typeface="Times New Roman" pitchFamily="18" charset="0"/>
                  <a:ea typeface="Times New Roman" pitchFamily="18" charset="0"/>
                  <a:cs typeface="Times New Roman" pitchFamily="18" charset="0"/>
                </a:rPr>
                <a:t>Permanent hardness</a:t>
              </a:r>
            </a:p>
          </p:txBody>
        </p:sp>
        <p:sp>
          <p:nvSpPr>
            <p:cNvPr id="23555" name="AutoShape 3" descr="Hardness Of Water - semesters.in"/>
            <p:cNvSpPr>
              <a:spLocks noChangeAspect="1" noChangeArrowheads="1"/>
            </p:cNvSpPr>
            <p:nvPr/>
          </p:nvSpPr>
          <p:spPr bwMode="auto">
            <a:xfrm>
              <a:off x="155575" y="-136525"/>
              <a:ext cx="296863" cy="296863"/>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23557" name="Picture 5" descr="How to Approach Softening Water and Reducing Hardness"/>
            <p:cNvPicPr>
              <a:picLocks noChangeAspect="1" noChangeArrowheads="1"/>
            </p:cNvPicPr>
            <p:nvPr/>
          </p:nvPicPr>
          <p:blipFill>
            <a:blip r:embed="rId2"/>
            <a:srcRect l="13408" t="8276" r="16204" b="22759"/>
            <a:stretch>
              <a:fillRect/>
            </a:stretch>
          </p:blipFill>
          <p:spPr bwMode="auto">
            <a:xfrm>
              <a:off x="6858000" y="1371600"/>
              <a:ext cx="4876800" cy="4317695"/>
            </a:xfrm>
            <a:prstGeom prst="rect">
              <a:avLst/>
            </a:prstGeom>
            <a:noFill/>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p:cNvGrpSpPr/>
          <p:nvPr/>
        </p:nvGrpSpPr>
        <p:grpSpPr>
          <a:xfrm>
            <a:off x="0" y="304800"/>
            <a:ext cx="12801600" cy="6019800"/>
            <a:chOff x="0" y="0"/>
            <a:chExt cx="12801600" cy="6019800"/>
          </a:xfrm>
        </p:grpSpPr>
        <p:sp>
          <p:nvSpPr>
            <p:cNvPr id="24578" name="Rectangle 2"/>
            <p:cNvSpPr>
              <a:spLocks noChangeArrowheads="1"/>
            </p:cNvSpPr>
            <p:nvPr/>
          </p:nvSpPr>
          <p:spPr bwMode="auto">
            <a:xfrm>
              <a:off x="381000" y="1135082"/>
              <a:ext cx="8001000" cy="397031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463550" marR="0" lvl="0" indent="-463550" algn="just" defTabSz="914400" rtl="0" eaLnBrk="1" fontAlgn="base" latinLnBrk="0" hangingPunct="1">
                <a:lnSpc>
                  <a:spcPct val="100000"/>
                </a:lnSpc>
                <a:spcBef>
                  <a:spcPct val="0"/>
                </a:spcBef>
                <a:spcAft>
                  <a:spcPct val="0"/>
                </a:spcAft>
                <a:buClr>
                  <a:srgbClr val="C00000"/>
                </a:buClr>
                <a:buSzTx/>
                <a:buFont typeface="Wingdings" pitchFamily="2" charset="2"/>
                <a:buChar char="v"/>
                <a:tabLst>
                  <a:tab pos="457200" algn="l"/>
                </a:tabLst>
              </a:pPr>
              <a:r>
                <a:rPr kumimoji="0" lang="en-US" sz="28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The hardness of water is expressed in terms of calcium carbonate equivalents.</a:t>
              </a:r>
            </a:p>
            <a:p>
              <a:pPr marL="463550" marR="0" lvl="0" indent="-463550" algn="just" defTabSz="914400" rtl="0" eaLnBrk="1" fontAlgn="base" latinLnBrk="0" hangingPunct="1">
                <a:lnSpc>
                  <a:spcPct val="100000"/>
                </a:lnSpc>
                <a:spcBef>
                  <a:spcPct val="0"/>
                </a:spcBef>
                <a:spcAft>
                  <a:spcPct val="0"/>
                </a:spcAft>
                <a:buClr>
                  <a:srgbClr val="C00000"/>
                </a:buClr>
                <a:buSzTx/>
                <a:buFont typeface="Wingdings" pitchFamily="2" charset="2"/>
                <a:buChar char="v"/>
                <a:tabLst>
                  <a:tab pos="457200" algn="l"/>
                </a:tabLst>
              </a:pPr>
              <a:r>
                <a:rPr kumimoji="0" lang="en-US" sz="28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The weights of different salts that causing hardness are converted to weight equivalent to that of calcium carbonate. </a:t>
              </a:r>
            </a:p>
            <a:p>
              <a:pPr marL="463550" marR="0" lvl="0" indent="-463550" algn="just" defTabSz="914400" rtl="0" eaLnBrk="1" fontAlgn="base" latinLnBrk="0" hangingPunct="1">
                <a:lnSpc>
                  <a:spcPct val="100000"/>
                </a:lnSpc>
                <a:spcBef>
                  <a:spcPct val="0"/>
                </a:spcBef>
                <a:spcAft>
                  <a:spcPct val="0"/>
                </a:spcAft>
                <a:buClr>
                  <a:srgbClr val="C00000"/>
                </a:buClr>
                <a:buSzTx/>
                <a:buFont typeface="Wingdings" pitchFamily="2" charset="2"/>
                <a:buChar char="v"/>
                <a:tabLst>
                  <a:tab pos="457200" algn="l"/>
                </a:tabLst>
              </a:pPr>
              <a:r>
                <a:rPr kumimoji="0" lang="en-US" sz="28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The reason for choosing CaCO</a:t>
              </a:r>
              <a:r>
                <a:rPr kumimoji="0" lang="en-US" sz="2800" b="0" i="0" u="none" strike="noStrike" cap="none" normalizeH="0" baseline="-30000" dirty="0">
                  <a:ln>
                    <a:noFill/>
                  </a:ln>
                  <a:solidFill>
                    <a:schemeClr val="tx1"/>
                  </a:solidFill>
                  <a:effectLst/>
                  <a:latin typeface="Times New Roman" pitchFamily="18" charset="0"/>
                  <a:ea typeface="Times New Roman" pitchFamily="18" charset="0"/>
                  <a:cs typeface="Times New Roman" pitchFamily="18" charset="0"/>
                </a:rPr>
                <a:t>3</a:t>
              </a:r>
              <a:r>
                <a:rPr kumimoji="0" lang="en-US" sz="28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 as standard for reporting hardness is ease in calculations as its molecular weight is exactly 100 and is insoluble in water.</a:t>
              </a:r>
              <a:endParaRPr kumimoji="0" lang="en-US" sz="2800" b="0" i="0" u="none" strike="noStrike" cap="none" normalizeH="0" baseline="0" dirty="0">
                <a:ln>
                  <a:noFill/>
                </a:ln>
                <a:solidFill>
                  <a:schemeClr val="tx1"/>
                </a:solidFill>
                <a:effectLst/>
                <a:latin typeface="Times New Roman" pitchFamily="18" charset="0"/>
                <a:cs typeface="Times New Roman" pitchFamily="18" charset="0"/>
              </a:endParaRPr>
            </a:p>
          </p:txBody>
        </p:sp>
        <p:sp>
          <p:nvSpPr>
            <p:cNvPr id="24579" name="Rectangle 3"/>
            <p:cNvSpPr>
              <a:spLocks noChangeArrowheads="1"/>
            </p:cNvSpPr>
            <p:nvPr/>
          </p:nvSpPr>
          <p:spPr bwMode="auto">
            <a:xfrm>
              <a:off x="0" y="2095500"/>
              <a:ext cx="128016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a:ln>
                    <a:noFill/>
                  </a:ln>
                  <a:solidFill>
                    <a:schemeClr val="tx1"/>
                  </a:solidFill>
                  <a:effectLst/>
                  <a:latin typeface="Calibri" pitchFamily="34" charset="0"/>
                  <a:ea typeface="Times New Roman" pitchFamily="18" charset="0"/>
                  <a:cs typeface="Times New Roman" pitchFamily="18" charset="0"/>
                </a:rPr>
                <a:t>                                      </a:t>
              </a:r>
              <a:endParaRPr kumimoji="0" lang="en-US" sz="1200" b="0" i="0" u="none" strike="noStrike" cap="none" normalizeH="0" baseline="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100" b="1" i="0" u="none" strike="noStrike" cap="none" normalizeH="0" baseline="0">
                  <a:ln>
                    <a:noFill/>
                  </a:ln>
                  <a:solidFill>
                    <a:schemeClr val="tx1"/>
                  </a:solidFill>
                  <a:effectLst/>
                  <a:latin typeface="Calibri" pitchFamily="34" charset="0"/>
                  <a:ea typeface="Times New Roman" pitchFamily="18"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24581" name="Rectangle 5"/>
            <p:cNvSpPr>
              <a:spLocks noChangeArrowheads="1"/>
            </p:cNvSpPr>
            <p:nvPr/>
          </p:nvSpPr>
          <p:spPr bwMode="auto">
            <a:xfrm>
              <a:off x="0" y="0"/>
              <a:ext cx="128016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24580" name="Picture 4"/>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685800" y="5257799"/>
              <a:ext cx="11031016" cy="762001"/>
            </a:xfrm>
            <a:prstGeom prst="rect">
              <a:avLst/>
            </a:prstGeom>
            <a:noFill/>
          </p:spPr>
        </p:pic>
        <p:sp>
          <p:nvSpPr>
            <p:cNvPr id="24582" name="Rectangle 6"/>
            <p:cNvSpPr>
              <a:spLocks noChangeArrowheads="1"/>
            </p:cNvSpPr>
            <p:nvPr/>
          </p:nvSpPr>
          <p:spPr bwMode="auto">
            <a:xfrm>
              <a:off x="0" y="860425"/>
              <a:ext cx="128016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100" b="1" i="0" u="none" strike="noStrike" cap="none" normalizeH="0" baseline="0">
                  <a:ln>
                    <a:noFill/>
                  </a:ln>
                  <a:solidFill>
                    <a:schemeClr val="tx1"/>
                  </a:solidFill>
                  <a:effectLst/>
                  <a:latin typeface="Calibri" pitchFamily="34" charset="0"/>
                  <a:ea typeface="Times New Roman" pitchFamily="18" charset="0"/>
                  <a:cs typeface="Times New Roman" pitchFamily="18" charset="0"/>
                </a:rPr>
                <a:t>                                      </a:t>
              </a:r>
              <a:endParaRPr kumimoji="0" lang="en-US" sz="1200" b="0" i="0" u="none" strike="noStrike" cap="none" normalizeH="0" baseline="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100" b="1" i="0" u="none" strike="noStrike" cap="none" normalizeH="0" baseline="0">
                  <a:ln>
                    <a:noFill/>
                  </a:ln>
                  <a:solidFill>
                    <a:schemeClr val="tx1"/>
                  </a:solidFill>
                  <a:effectLst/>
                  <a:latin typeface="Calibri" pitchFamily="34" charset="0"/>
                  <a:ea typeface="Times New Roman" pitchFamily="18" charset="0"/>
                  <a:cs typeface="Times New Roman" pitchFamily="18" charset="0"/>
                </a:rPr>
                <a:t>                                        </a:t>
              </a:r>
              <a:endParaRPr kumimoji="0" lang="en-US" sz="1800" b="0" i="0" u="none" strike="noStrike" cap="none" normalizeH="0" baseline="0">
                <a:ln>
                  <a:noFill/>
                </a:ln>
                <a:solidFill>
                  <a:schemeClr val="tx1"/>
                </a:solidFill>
                <a:effectLst/>
                <a:latin typeface="Arial" pitchFamily="34" charset="0"/>
                <a:cs typeface="Arial" pitchFamily="34" charset="0"/>
              </a:endParaRPr>
            </a:p>
          </p:txBody>
        </p:sp>
        <p:sp>
          <p:nvSpPr>
            <p:cNvPr id="8" name="Rectangle 7"/>
            <p:cNvSpPr/>
            <p:nvPr/>
          </p:nvSpPr>
          <p:spPr>
            <a:xfrm>
              <a:off x="609600" y="282714"/>
              <a:ext cx="4479431" cy="707886"/>
            </a:xfrm>
            <a:prstGeom prst="rect">
              <a:avLst/>
            </a:prstGeom>
          </p:spPr>
          <p:txBody>
            <a:bodyPr wrap="none">
              <a:spAutoFit/>
            </a:bodyPr>
            <a:lstStyle/>
            <a:p>
              <a:pPr lvl="0" fontAlgn="base">
                <a:spcBef>
                  <a:spcPct val="0"/>
                </a:spcBef>
                <a:spcAft>
                  <a:spcPct val="0"/>
                </a:spcAft>
                <a:tabLst>
                  <a:tab pos="457200" algn="l"/>
                </a:tabLst>
              </a:pPr>
              <a:r>
                <a:rPr lang="en-US" sz="4000" b="1" dirty="0">
                  <a:solidFill>
                    <a:srgbClr val="C00000"/>
                  </a:solidFill>
                  <a:latin typeface="Times New Roman" pitchFamily="18" charset="0"/>
                  <a:ea typeface="Times New Roman" pitchFamily="18" charset="0"/>
                  <a:cs typeface="Times New Roman" pitchFamily="18" charset="0"/>
                </a:rPr>
                <a:t>Degree of Hardness</a:t>
              </a:r>
              <a:endParaRPr lang="en-US" sz="4000" b="1" dirty="0">
                <a:solidFill>
                  <a:srgbClr val="C00000"/>
                </a:solidFill>
                <a:latin typeface="Times New Roman" pitchFamily="18" charset="0"/>
                <a:cs typeface="Times New Roman" pitchFamily="18" charset="0"/>
              </a:endParaRPr>
            </a:p>
          </p:txBody>
        </p:sp>
      </p:grpSp>
      <p:sp>
        <p:nvSpPr>
          <p:cNvPr id="24583" name="Rectangle 7"/>
          <p:cNvSpPr>
            <a:spLocks noChangeArrowheads="1"/>
          </p:cNvSpPr>
          <p:nvPr/>
        </p:nvSpPr>
        <p:spPr bwMode="auto">
          <a:xfrm>
            <a:off x="8686800" y="1501438"/>
            <a:ext cx="3657600" cy="3908762"/>
          </a:xfrm>
          <a:prstGeom prst="rect">
            <a:avLst/>
          </a:prstGeom>
          <a:solidFill>
            <a:schemeClr val="accent5">
              <a:lumMod val="20000"/>
              <a:lumOff val="80000"/>
            </a:schemeClr>
          </a:solidFill>
          <a:ln w="9525">
            <a:solidFill>
              <a:schemeClr val="accent2"/>
            </a:solid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800" b="1" i="0" u="none" strike="noStrike" cap="none" normalizeH="0" baseline="0" dirty="0">
                <a:ln>
                  <a:noFill/>
                </a:ln>
                <a:solidFill>
                  <a:srgbClr val="0070C0"/>
                </a:solidFill>
                <a:effectLst/>
                <a:latin typeface="Times New Roman" pitchFamily="18" charset="0"/>
                <a:ea typeface="Times New Roman" pitchFamily="18" charset="0"/>
                <a:cs typeface="Times New Roman" pitchFamily="18" charset="0"/>
              </a:rPr>
              <a:t>Hardness</a:t>
            </a:r>
            <a:r>
              <a:rPr kumimoji="0" lang="en-US" sz="2800" b="1" i="0" u="none" strike="noStrike" cap="none" normalizeH="0" dirty="0">
                <a:ln>
                  <a:noFill/>
                </a:ln>
                <a:solidFill>
                  <a:srgbClr val="0070C0"/>
                </a:solidFill>
                <a:effectLst/>
                <a:latin typeface="Times New Roman" pitchFamily="18" charset="0"/>
                <a:ea typeface="Times New Roman" pitchFamily="18" charset="0"/>
                <a:cs typeface="Times New Roman" pitchFamily="18" charset="0"/>
              </a:rPr>
              <a:t>  causing salt and molecular weight</a:t>
            </a:r>
          </a:p>
          <a:p>
            <a:pPr marL="0" marR="0" lvl="0" indent="0" algn="just" defTabSz="914400" rtl="0" eaLnBrk="1" fontAlgn="base" latinLnBrk="0" hangingPunct="1">
              <a:lnSpc>
                <a:spcPct val="100000"/>
              </a:lnSpc>
              <a:spcBef>
                <a:spcPct val="0"/>
              </a:spcBef>
              <a:spcAft>
                <a:spcPct val="0"/>
              </a:spcAft>
              <a:buClrTx/>
              <a:buSzTx/>
              <a:buFontTx/>
              <a:buNone/>
              <a:tabLst/>
            </a:pPr>
            <a:endParaRPr kumimoji="0" lang="en-US" sz="2400" b="1" i="0" u="none" strike="noStrike" cap="none" normalizeH="0" baseline="0" dirty="0">
              <a:ln>
                <a:noFill/>
              </a:ln>
              <a:solidFill>
                <a:srgbClr val="0070C0"/>
              </a:solidFill>
              <a:effectLst/>
              <a:latin typeface="Times New Roman" pitchFamily="18" charset="0"/>
              <a:ea typeface="Times New Roman" pitchFamily="18" charset="0"/>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a:ln>
                  <a:noFill/>
                </a:ln>
                <a:solidFill>
                  <a:srgbClr val="7030A0"/>
                </a:solidFill>
                <a:effectLst/>
                <a:latin typeface="Times New Roman" pitchFamily="18" charset="0"/>
                <a:ea typeface="Times New Roman" pitchFamily="18" charset="0"/>
                <a:cs typeface="Times New Roman" pitchFamily="18" charset="0"/>
              </a:rPr>
              <a:t>Ca(HCO</a:t>
            </a:r>
            <a:r>
              <a:rPr kumimoji="0" lang="en-US" sz="2400" b="1" i="0" u="none" strike="noStrike" cap="none" normalizeH="0" baseline="-30000" dirty="0">
                <a:ln>
                  <a:noFill/>
                </a:ln>
                <a:solidFill>
                  <a:srgbClr val="7030A0"/>
                </a:solidFill>
                <a:effectLst/>
                <a:latin typeface="Times New Roman" pitchFamily="18" charset="0"/>
                <a:ea typeface="Times New Roman" pitchFamily="18" charset="0"/>
                <a:cs typeface="Times New Roman" pitchFamily="18" charset="0"/>
              </a:rPr>
              <a:t>3</a:t>
            </a:r>
            <a:r>
              <a:rPr kumimoji="0" lang="en-US" sz="2400" b="1" i="0" u="none" strike="noStrike" cap="none" normalizeH="0" baseline="0" dirty="0">
                <a:ln>
                  <a:noFill/>
                </a:ln>
                <a:solidFill>
                  <a:srgbClr val="7030A0"/>
                </a:solidFill>
                <a:effectLst/>
                <a:latin typeface="Times New Roman" pitchFamily="18" charset="0"/>
                <a:ea typeface="Times New Roman" pitchFamily="18" charset="0"/>
                <a:cs typeface="Times New Roman" pitchFamily="18" charset="0"/>
              </a:rPr>
              <a:t>)</a:t>
            </a:r>
            <a:r>
              <a:rPr kumimoji="0" lang="en-US" sz="2400" b="1" i="0" u="none" strike="noStrike" cap="none" normalizeH="0" baseline="-30000" dirty="0">
                <a:ln>
                  <a:noFill/>
                </a:ln>
                <a:solidFill>
                  <a:srgbClr val="7030A0"/>
                </a:solidFill>
                <a:effectLst/>
                <a:latin typeface="Times New Roman" pitchFamily="18" charset="0"/>
                <a:ea typeface="Times New Roman" pitchFamily="18" charset="0"/>
                <a:cs typeface="Times New Roman" pitchFamily="18" charset="0"/>
              </a:rPr>
              <a:t>2</a:t>
            </a:r>
            <a:r>
              <a:rPr kumimoji="0" lang="en-US" sz="2400" b="1" i="0" u="none" strike="noStrike" cap="none" normalizeH="0" baseline="0" dirty="0">
                <a:ln>
                  <a:noFill/>
                </a:ln>
                <a:solidFill>
                  <a:srgbClr val="7030A0"/>
                </a:solidFill>
                <a:effectLst/>
                <a:latin typeface="Times New Roman" pitchFamily="18" charset="0"/>
                <a:ea typeface="Times New Roman" pitchFamily="18" charset="0"/>
                <a:cs typeface="Times New Roman" pitchFamily="18" charset="0"/>
              </a:rPr>
              <a:t> </a:t>
            </a:r>
            <a:r>
              <a:rPr lang="en-US" sz="2400" b="1" dirty="0">
                <a:solidFill>
                  <a:srgbClr val="7030A0"/>
                </a:solidFill>
                <a:latin typeface="Times New Roman" pitchFamily="18" charset="0"/>
                <a:ea typeface="Times New Roman" pitchFamily="18" charset="0"/>
                <a:cs typeface="Times New Roman" pitchFamily="18" charset="0"/>
              </a:rPr>
              <a:t>	</a:t>
            </a:r>
            <a:r>
              <a:rPr kumimoji="0" lang="en-US" sz="2400" b="1" i="0" u="none" strike="noStrike" cap="none" normalizeH="0" baseline="0" dirty="0">
                <a:ln>
                  <a:noFill/>
                </a:ln>
                <a:solidFill>
                  <a:srgbClr val="7030A0"/>
                </a:solidFill>
                <a:effectLst/>
                <a:latin typeface="Times New Roman" pitchFamily="18" charset="0"/>
                <a:ea typeface="Times New Roman" pitchFamily="18" charset="0"/>
                <a:cs typeface="Times New Roman" pitchFamily="18" charset="0"/>
              </a:rPr>
              <a:t>= 162     </a:t>
            </a:r>
            <a:endParaRPr kumimoji="0" lang="en-US" sz="2400" b="1" i="0" u="none" strike="noStrike" cap="none" normalizeH="0" baseline="0" dirty="0">
              <a:ln>
                <a:noFill/>
              </a:ln>
              <a:solidFill>
                <a:srgbClr val="7030A0"/>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1" i="0" u="none" strike="noStrike" cap="none" normalizeH="0" baseline="0" dirty="0">
                <a:ln>
                  <a:noFill/>
                </a:ln>
                <a:solidFill>
                  <a:srgbClr val="7030A0"/>
                </a:solidFill>
                <a:effectLst/>
                <a:latin typeface="Times New Roman" pitchFamily="18" charset="0"/>
                <a:ea typeface="Times New Roman" pitchFamily="18" charset="0"/>
                <a:cs typeface="Times New Roman" pitchFamily="18" charset="0"/>
              </a:rPr>
              <a:t>Mg(HCO</a:t>
            </a:r>
            <a:r>
              <a:rPr kumimoji="0" lang="en-US" sz="2400" b="1" i="0" u="none" strike="noStrike" cap="none" normalizeH="0" baseline="-30000" dirty="0">
                <a:ln>
                  <a:noFill/>
                </a:ln>
                <a:solidFill>
                  <a:srgbClr val="7030A0"/>
                </a:solidFill>
                <a:effectLst/>
                <a:latin typeface="Times New Roman" pitchFamily="18" charset="0"/>
                <a:ea typeface="Times New Roman" pitchFamily="18" charset="0"/>
                <a:cs typeface="Times New Roman" pitchFamily="18" charset="0"/>
              </a:rPr>
              <a:t>3</a:t>
            </a:r>
            <a:r>
              <a:rPr kumimoji="0" lang="en-US" sz="2400" b="1" i="0" u="none" strike="noStrike" cap="none" normalizeH="0" baseline="0" dirty="0">
                <a:ln>
                  <a:noFill/>
                </a:ln>
                <a:solidFill>
                  <a:srgbClr val="7030A0"/>
                </a:solidFill>
                <a:effectLst/>
                <a:latin typeface="Times New Roman" pitchFamily="18" charset="0"/>
                <a:ea typeface="Times New Roman" pitchFamily="18" charset="0"/>
                <a:cs typeface="Times New Roman" pitchFamily="18" charset="0"/>
              </a:rPr>
              <a:t>)</a:t>
            </a:r>
            <a:r>
              <a:rPr kumimoji="0" lang="en-US" sz="2400" b="1" i="0" u="none" strike="noStrike" cap="none" normalizeH="0" baseline="-30000" dirty="0">
                <a:ln>
                  <a:noFill/>
                </a:ln>
                <a:solidFill>
                  <a:srgbClr val="7030A0"/>
                </a:solidFill>
                <a:effectLst/>
                <a:latin typeface="Times New Roman" pitchFamily="18" charset="0"/>
                <a:ea typeface="Times New Roman" pitchFamily="18" charset="0"/>
                <a:cs typeface="Times New Roman" pitchFamily="18" charset="0"/>
              </a:rPr>
              <a:t>2</a:t>
            </a:r>
            <a:r>
              <a:rPr kumimoji="0" lang="en-US" sz="2400" b="1" i="0" u="none" strike="noStrike" cap="none" normalizeH="0" baseline="0" dirty="0">
                <a:ln>
                  <a:noFill/>
                </a:ln>
                <a:solidFill>
                  <a:srgbClr val="7030A0"/>
                </a:solidFill>
                <a:effectLst/>
                <a:latin typeface="Times New Roman" pitchFamily="18" charset="0"/>
                <a:ea typeface="Times New Roman" pitchFamily="18" charset="0"/>
                <a:cs typeface="Times New Roman" pitchFamily="18" charset="0"/>
              </a:rPr>
              <a:t> 	= 146        </a:t>
            </a:r>
            <a:endParaRPr kumimoji="0" lang="en-US" sz="2400" b="1" i="0" u="none" strike="noStrike" cap="none" normalizeH="0" baseline="0" dirty="0">
              <a:ln>
                <a:noFill/>
              </a:ln>
              <a:solidFill>
                <a:srgbClr val="7030A0"/>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1" i="0" u="none" strike="noStrike" cap="none" normalizeH="0" baseline="0" dirty="0">
                <a:ln>
                  <a:noFill/>
                </a:ln>
                <a:solidFill>
                  <a:srgbClr val="7030A0"/>
                </a:solidFill>
                <a:effectLst/>
                <a:latin typeface="Times New Roman" pitchFamily="18" charset="0"/>
                <a:ea typeface="Times New Roman" pitchFamily="18" charset="0"/>
                <a:cs typeface="Times New Roman" pitchFamily="18" charset="0"/>
              </a:rPr>
              <a:t>CaSO</a:t>
            </a:r>
            <a:r>
              <a:rPr kumimoji="0" lang="en-US" sz="2400" b="1" i="0" u="none" strike="noStrike" cap="none" normalizeH="0" baseline="-30000" dirty="0">
                <a:ln>
                  <a:noFill/>
                </a:ln>
                <a:solidFill>
                  <a:srgbClr val="7030A0"/>
                </a:solidFill>
                <a:effectLst/>
                <a:latin typeface="Times New Roman" pitchFamily="18" charset="0"/>
                <a:ea typeface="Times New Roman" pitchFamily="18" charset="0"/>
                <a:cs typeface="Times New Roman" pitchFamily="18" charset="0"/>
              </a:rPr>
              <a:t>4</a:t>
            </a:r>
            <a:r>
              <a:rPr kumimoji="0" lang="en-US" sz="2400" b="1" i="0" u="none" strike="noStrike" cap="none" normalizeH="0" baseline="0" dirty="0">
                <a:ln>
                  <a:noFill/>
                </a:ln>
                <a:solidFill>
                  <a:srgbClr val="7030A0"/>
                </a:solidFill>
                <a:effectLst/>
                <a:latin typeface="Times New Roman" pitchFamily="18" charset="0"/>
                <a:ea typeface="Times New Roman" pitchFamily="18" charset="0"/>
                <a:cs typeface="Times New Roman" pitchFamily="18" charset="0"/>
              </a:rPr>
              <a:t> 	= 136</a:t>
            </a:r>
            <a:endParaRPr kumimoji="0" lang="en-US" sz="2400" b="1" i="0" u="none" strike="noStrike" cap="none" normalizeH="0" baseline="0" dirty="0">
              <a:ln>
                <a:noFill/>
              </a:ln>
              <a:solidFill>
                <a:srgbClr val="7030A0"/>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1" i="0" u="none" strike="noStrike" cap="none" normalizeH="0" baseline="0" dirty="0">
                <a:ln>
                  <a:noFill/>
                </a:ln>
                <a:solidFill>
                  <a:srgbClr val="7030A0"/>
                </a:solidFill>
                <a:effectLst/>
                <a:latin typeface="Times New Roman" pitchFamily="18" charset="0"/>
                <a:ea typeface="Times New Roman" pitchFamily="18" charset="0"/>
                <a:cs typeface="Times New Roman" pitchFamily="18" charset="0"/>
              </a:rPr>
              <a:t>MgSO</a:t>
            </a:r>
            <a:r>
              <a:rPr kumimoji="0" lang="en-US" sz="2400" b="1" i="0" u="none" strike="noStrike" cap="none" normalizeH="0" baseline="-30000" dirty="0">
                <a:ln>
                  <a:noFill/>
                </a:ln>
                <a:solidFill>
                  <a:srgbClr val="7030A0"/>
                </a:solidFill>
                <a:effectLst/>
                <a:latin typeface="Times New Roman" pitchFamily="18" charset="0"/>
                <a:ea typeface="Times New Roman" pitchFamily="18" charset="0"/>
                <a:cs typeface="Times New Roman" pitchFamily="18" charset="0"/>
              </a:rPr>
              <a:t>4</a:t>
            </a:r>
            <a:r>
              <a:rPr kumimoji="0" lang="en-US" sz="2400" b="1" i="0" u="none" strike="noStrike" cap="none" normalizeH="0" baseline="0" dirty="0">
                <a:ln>
                  <a:noFill/>
                </a:ln>
                <a:solidFill>
                  <a:srgbClr val="7030A0"/>
                </a:solidFill>
                <a:effectLst/>
                <a:latin typeface="Times New Roman" pitchFamily="18" charset="0"/>
                <a:ea typeface="Times New Roman" pitchFamily="18" charset="0"/>
                <a:cs typeface="Times New Roman" pitchFamily="18" charset="0"/>
              </a:rPr>
              <a:t> 	=120</a:t>
            </a:r>
            <a:endParaRPr kumimoji="0" lang="en-US" sz="2400" b="1" i="0" u="none" strike="noStrike" cap="none" normalizeH="0" baseline="0" dirty="0">
              <a:ln>
                <a:noFill/>
              </a:ln>
              <a:solidFill>
                <a:srgbClr val="7030A0"/>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1" i="0" u="none" strike="noStrike" cap="none" normalizeH="0" baseline="0" dirty="0">
                <a:ln>
                  <a:noFill/>
                </a:ln>
                <a:solidFill>
                  <a:srgbClr val="7030A0"/>
                </a:solidFill>
                <a:effectLst/>
                <a:latin typeface="Times New Roman" pitchFamily="18" charset="0"/>
                <a:ea typeface="Times New Roman" pitchFamily="18" charset="0"/>
                <a:cs typeface="Times New Roman" pitchFamily="18" charset="0"/>
              </a:rPr>
              <a:t>CaCl</a:t>
            </a:r>
            <a:r>
              <a:rPr kumimoji="0" lang="en-US" sz="2400" b="1" i="0" u="none" strike="noStrike" cap="none" normalizeH="0" baseline="-30000" dirty="0">
                <a:ln>
                  <a:noFill/>
                </a:ln>
                <a:solidFill>
                  <a:srgbClr val="7030A0"/>
                </a:solidFill>
                <a:effectLst/>
                <a:latin typeface="Times New Roman" pitchFamily="18" charset="0"/>
                <a:ea typeface="Times New Roman" pitchFamily="18" charset="0"/>
                <a:cs typeface="Times New Roman" pitchFamily="18" charset="0"/>
              </a:rPr>
              <a:t>2	</a:t>
            </a:r>
            <a:r>
              <a:rPr kumimoji="0" lang="en-US" sz="2400" b="1" i="0" u="none" strike="noStrike" cap="none" normalizeH="0" baseline="0" dirty="0">
                <a:ln>
                  <a:noFill/>
                </a:ln>
                <a:solidFill>
                  <a:srgbClr val="7030A0"/>
                </a:solidFill>
                <a:effectLst/>
                <a:latin typeface="Times New Roman" pitchFamily="18" charset="0"/>
                <a:ea typeface="Times New Roman" pitchFamily="18" charset="0"/>
                <a:cs typeface="Times New Roman" pitchFamily="18" charset="0"/>
              </a:rPr>
              <a:t> 	= 110</a:t>
            </a:r>
            <a:endParaRPr kumimoji="0" lang="en-US" sz="2400" b="1" i="0" u="none" strike="noStrike" cap="none" normalizeH="0" baseline="0" dirty="0">
              <a:ln>
                <a:noFill/>
              </a:ln>
              <a:solidFill>
                <a:srgbClr val="7030A0"/>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1" i="0" u="none" strike="noStrike" cap="none" normalizeH="0" baseline="0" dirty="0">
                <a:ln>
                  <a:noFill/>
                </a:ln>
                <a:solidFill>
                  <a:srgbClr val="7030A0"/>
                </a:solidFill>
                <a:effectLst/>
                <a:latin typeface="Times New Roman" pitchFamily="18" charset="0"/>
                <a:ea typeface="Times New Roman" pitchFamily="18" charset="0"/>
                <a:cs typeface="Times New Roman" pitchFamily="18" charset="0"/>
              </a:rPr>
              <a:t>MgCl</a:t>
            </a:r>
            <a:r>
              <a:rPr kumimoji="0" lang="en-US" sz="2400" b="1" i="0" u="none" strike="noStrike" cap="none" normalizeH="0" baseline="-30000" dirty="0">
                <a:ln>
                  <a:noFill/>
                </a:ln>
                <a:solidFill>
                  <a:srgbClr val="7030A0"/>
                </a:solidFill>
                <a:effectLst/>
                <a:latin typeface="Times New Roman" pitchFamily="18" charset="0"/>
                <a:ea typeface="Times New Roman" pitchFamily="18" charset="0"/>
                <a:cs typeface="Times New Roman" pitchFamily="18" charset="0"/>
              </a:rPr>
              <a:t>2</a:t>
            </a:r>
            <a:r>
              <a:rPr kumimoji="0" lang="en-US" sz="2400" b="1" i="0" u="none" strike="noStrike" cap="none" normalizeH="0" baseline="0" dirty="0">
                <a:ln>
                  <a:noFill/>
                </a:ln>
                <a:solidFill>
                  <a:srgbClr val="7030A0"/>
                </a:solidFill>
                <a:effectLst/>
                <a:latin typeface="Times New Roman" pitchFamily="18" charset="0"/>
                <a:ea typeface="Times New Roman" pitchFamily="18" charset="0"/>
                <a:cs typeface="Times New Roman" pitchFamily="18" charset="0"/>
              </a:rPr>
              <a:t> 	= 95</a:t>
            </a:r>
            <a:endParaRPr kumimoji="0" lang="en-US" sz="2400" b="1" i="0" u="none" strike="noStrike" cap="none" normalizeH="0" baseline="0" dirty="0">
              <a:ln>
                <a:noFill/>
              </a:ln>
              <a:solidFill>
                <a:srgbClr val="7030A0"/>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1" i="0" u="none" strike="noStrike" cap="none" normalizeH="0" baseline="0" dirty="0">
                <a:ln>
                  <a:noFill/>
                </a:ln>
                <a:solidFill>
                  <a:srgbClr val="7030A0"/>
                </a:solidFill>
                <a:effectLst/>
                <a:latin typeface="Times New Roman" pitchFamily="18" charset="0"/>
                <a:ea typeface="Times New Roman" pitchFamily="18" charset="0"/>
                <a:cs typeface="Times New Roman" pitchFamily="18" charset="0"/>
              </a:rPr>
              <a:t>CaCO</a:t>
            </a:r>
            <a:r>
              <a:rPr kumimoji="0" lang="en-US" sz="2400" b="1" i="0" u="none" strike="noStrike" cap="none" normalizeH="0" baseline="-30000" dirty="0">
                <a:ln>
                  <a:noFill/>
                </a:ln>
                <a:solidFill>
                  <a:srgbClr val="7030A0"/>
                </a:solidFill>
                <a:effectLst/>
                <a:latin typeface="Times New Roman" pitchFamily="18" charset="0"/>
                <a:ea typeface="Times New Roman" pitchFamily="18" charset="0"/>
                <a:cs typeface="Times New Roman" pitchFamily="18" charset="0"/>
              </a:rPr>
              <a:t>3</a:t>
            </a:r>
            <a:r>
              <a:rPr kumimoji="0" lang="en-US" sz="2400" b="1" i="0" u="none" strike="noStrike" cap="none" normalizeH="0" baseline="0" dirty="0">
                <a:ln>
                  <a:noFill/>
                </a:ln>
                <a:solidFill>
                  <a:srgbClr val="7030A0"/>
                </a:solidFill>
                <a:effectLst/>
                <a:latin typeface="Times New Roman" pitchFamily="18" charset="0"/>
                <a:ea typeface="Times New Roman" pitchFamily="18" charset="0"/>
                <a:cs typeface="Times New Roman" pitchFamily="18" charset="0"/>
              </a:rPr>
              <a:t> 	=100</a:t>
            </a:r>
            <a:endParaRPr kumimoji="0" lang="en-US" sz="2400" b="1" i="0" u="none" strike="noStrike" cap="none" normalizeH="0" baseline="0" dirty="0">
              <a:ln>
                <a:noFill/>
              </a:ln>
              <a:solidFill>
                <a:srgbClr val="7030A0"/>
              </a:solidFill>
              <a:effectLst/>
              <a:latin typeface="Times New Roman" pitchFamily="18" charset="0"/>
              <a:cs typeface="Times New Roman"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609600"/>
            <a:ext cx="12268200" cy="6186309"/>
          </a:xfrm>
          <a:prstGeom prst="rect">
            <a:avLst/>
          </a:prstGeom>
        </p:spPr>
        <p:txBody>
          <a:bodyPr wrap="square">
            <a:spAutoFit/>
          </a:bodyPr>
          <a:lstStyle/>
          <a:p>
            <a:pPr marL="514350" lvl="0" indent="-514350" algn="just">
              <a:buClr>
                <a:srgbClr val="002060"/>
              </a:buClr>
              <a:buFont typeface="+mj-lt"/>
              <a:buAutoNum type="romanUcPeriod"/>
            </a:pPr>
            <a:r>
              <a:rPr lang="en-US" altLang="en-US" sz="2400" b="1" dirty="0">
                <a:solidFill>
                  <a:srgbClr val="7030A0"/>
                </a:solidFill>
                <a:latin typeface="Times New Roman" pitchFamily="18" charset="0"/>
                <a:cs typeface="Times New Roman" pitchFamily="18" charset="0"/>
              </a:rPr>
              <a:t>Parts per million(</a:t>
            </a:r>
            <a:r>
              <a:rPr lang="en-US" altLang="en-US" sz="2400" b="1" dirty="0" err="1">
                <a:solidFill>
                  <a:srgbClr val="7030A0"/>
                </a:solidFill>
                <a:latin typeface="Times New Roman" pitchFamily="18" charset="0"/>
                <a:cs typeface="Times New Roman" pitchFamily="18" charset="0"/>
              </a:rPr>
              <a:t>ppm</a:t>
            </a:r>
            <a:r>
              <a:rPr lang="en-US" altLang="en-US" sz="2400" b="1" dirty="0">
                <a:solidFill>
                  <a:srgbClr val="7030A0"/>
                </a:solidFill>
                <a:latin typeface="Times New Roman" pitchFamily="18" charset="0"/>
                <a:cs typeface="Times New Roman" pitchFamily="18" charset="0"/>
              </a:rPr>
              <a:t>):-</a:t>
            </a:r>
            <a:r>
              <a:rPr lang="en-US" altLang="en-US" sz="2400" dirty="0">
                <a:latin typeface="Times New Roman" pitchFamily="18" charset="0"/>
                <a:cs typeface="Times New Roman" pitchFamily="18" charset="0"/>
              </a:rPr>
              <a:t>The number of parts by weight of CaCO</a:t>
            </a:r>
            <a:r>
              <a:rPr lang="en-US" altLang="en-US" sz="2400" baseline="-25000" dirty="0">
                <a:latin typeface="Times New Roman" pitchFamily="18" charset="0"/>
                <a:cs typeface="Times New Roman" pitchFamily="18" charset="0"/>
              </a:rPr>
              <a:t>3</a:t>
            </a:r>
            <a:r>
              <a:rPr lang="en-US" altLang="en-US" sz="2400" dirty="0">
                <a:latin typeface="Times New Roman" pitchFamily="18" charset="0"/>
                <a:cs typeface="Times New Roman" pitchFamily="18" charset="0"/>
              </a:rPr>
              <a:t> present per million (10</a:t>
            </a:r>
            <a:r>
              <a:rPr lang="en-US" altLang="en-US" sz="2400" baseline="30000" dirty="0">
                <a:latin typeface="Times New Roman" pitchFamily="18" charset="0"/>
                <a:cs typeface="Times New Roman" pitchFamily="18" charset="0"/>
              </a:rPr>
              <a:t>6</a:t>
            </a:r>
            <a:r>
              <a:rPr lang="en-US" altLang="en-US" sz="2400" dirty="0">
                <a:latin typeface="Times New Roman" pitchFamily="18" charset="0"/>
                <a:cs typeface="Times New Roman" pitchFamily="18" charset="0"/>
              </a:rPr>
              <a:t>) parts by weight of water.</a:t>
            </a:r>
          </a:p>
          <a:p>
            <a:pPr marL="514350" lvl="0" indent="-514350" algn="just">
              <a:buClr>
                <a:srgbClr val="002060"/>
              </a:buClr>
            </a:pPr>
            <a:r>
              <a:rPr lang="en-US" altLang="en-US" sz="2400" dirty="0">
                <a:latin typeface="Times New Roman" pitchFamily="18" charset="0"/>
                <a:cs typeface="Times New Roman" pitchFamily="18" charset="0"/>
              </a:rPr>
              <a:t>			1ppm = 1 part of CaCO</a:t>
            </a:r>
            <a:r>
              <a:rPr lang="en-US" altLang="en-US" sz="2400" baseline="-25000" dirty="0">
                <a:latin typeface="Times New Roman" pitchFamily="18" charset="0"/>
                <a:cs typeface="Times New Roman" pitchFamily="18" charset="0"/>
              </a:rPr>
              <a:t>3</a:t>
            </a:r>
            <a:r>
              <a:rPr lang="en-US" altLang="en-US" sz="2400" dirty="0">
                <a:latin typeface="Times New Roman" pitchFamily="18" charset="0"/>
                <a:cs typeface="Times New Roman" pitchFamily="18" charset="0"/>
              </a:rPr>
              <a:t> equivalents  in 10</a:t>
            </a:r>
            <a:r>
              <a:rPr lang="en-US" altLang="en-US" sz="2400" baseline="30000" dirty="0">
                <a:latin typeface="Times New Roman" pitchFamily="18" charset="0"/>
                <a:cs typeface="Times New Roman" pitchFamily="18" charset="0"/>
              </a:rPr>
              <a:t>6</a:t>
            </a:r>
            <a:r>
              <a:rPr lang="en-US" altLang="en-US" sz="2400" dirty="0">
                <a:latin typeface="Times New Roman" pitchFamily="18" charset="0"/>
                <a:cs typeface="Times New Roman" pitchFamily="18" charset="0"/>
              </a:rPr>
              <a:t> parts of water.</a:t>
            </a:r>
          </a:p>
          <a:p>
            <a:pPr marL="514350" lvl="0" indent="-514350" algn="just">
              <a:buClr>
                <a:srgbClr val="002060"/>
              </a:buClr>
            </a:pPr>
            <a:endParaRPr lang="en-US" sz="2400" dirty="0">
              <a:latin typeface="Times New Roman" pitchFamily="18" charset="0"/>
              <a:cs typeface="Times New Roman" pitchFamily="18" charset="0"/>
            </a:endParaRPr>
          </a:p>
          <a:p>
            <a:pPr marL="514350" lvl="0" indent="-514350" algn="just">
              <a:buClr>
                <a:srgbClr val="0070C0"/>
              </a:buClr>
              <a:buFont typeface="+mj-lt"/>
              <a:buAutoNum type="romanUcPeriod" startAt="2"/>
            </a:pPr>
            <a:r>
              <a:rPr lang="en-US" altLang="en-US" sz="2400" b="1" dirty="0">
                <a:solidFill>
                  <a:srgbClr val="0070C0"/>
                </a:solidFill>
                <a:latin typeface="Times New Roman" pitchFamily="18" charset="0"/>
                <a:cs typeface="Times New Roman" pitchFamily="18" charset="0"/>
              </a:rPr>
              <a:t>Degree Clarke(</a:t>
            </a:r>
            <a:r>
              <a:rPr lang="en-US" altLang="en-US" sz="2400" b="1" baseline="30000" dirty="0" err="1">
                <a:solidFill>
                  <a:srgbClr val="0070C0"/>
                </a:solidFill>
                <a:latin typeface="Times New Roman" pitchFamily="18" charset="0"/>
                <a:cs typeface="Times New Roman" pitchFamily="18" charset="0"/>
              </a:rPr>
              <a:t>o</a:t>
            </a:r>
            <a:r>
              <a:rPr lang="en-US" altLang="en-US" sz="2400" b="1" dirty="0" err="1">
                <a:solidFill>
                  <a:srgbClr val="0070C0"/>
                </a:solidFill>
                <a:latin typeface="Times New Roman" pitchFamily="18" charset="0"/>
                <a:cs typeface="Times New Roman" pitchFamily="18" charset="0"/>
              </a:rPr>
              <a:t>Cl</a:t>
            </a:r>
            <a:r>
              <a:rPr lang="en-US" altLang="en-US" sz="2400" b="1" dirty="0">
                <a:solidFill>
                  <a:srgbClr val="0070C0"/>
                </a:solidFill>
                <a:latin typeface="Times New Roman" pitchFamily="18" charset="0"/>
                <a:cs typeface="Times New Roman" pitchFamily="18" charset="0"/>
              </a:rPr>
              <a:t>):- </a:t>
            </a:r>
            <a:r>
              <a:rPr lang="en-US" altLang="en-US" sz="2400" dirty="0">
                <a:latin typeface="Times New Roman" pitchFamily="18" charset="0"/>
                <a:cs typeface="Times New Roman" pitchFamily="18" charset="0"/>
              </a:rPr>
              <a:t>Parts of CaCO</a:t>
            </a:r>
            <a:r>
              <a:rPr lang="en-US" altLang="en-US" sz="2400" baseline="-25000" dirty="0">
                <a:latin typeface="Times New Roman" pitchFamily="18" charset="0"/>
                <a:cs typeface="Times New Roman" pitchFamily="18" charset="0"/>
              </a:rPr>
              <a:t>3</a:t>
            </a:r>
            <a:r>
              <a:rPr lang="en-US" altLang="en-US" sz="2400" dirty="0">
                <a:latin typeface="Times New Roman" pitchFamily="18" charset="0"/>
                <a:cs typeface="Times New Roman" pitchFamily="18" charset="0"/>
              </a:rPr>
              <a:t> equivalents of hardness per 70.000 parts of water.</a:t>
            </a:r>
          </a:p>
          <a:p>
            <a:pPr marL="514350" lvl="0" indent="-514350" algn="just">
              <a:buClr>
                <a:srgbClr val="0070C0"/>
              </a:buClr>
            </a:pPr>
            <a:r>
              <a:rPr lang="en-US" altLang="en-US" sz="2400" dirty="0">
                <a:latin typeface="Times New Roman" pitchFamily="18" charset="0"/>
                <a:cs typeface="Times New Roman" pitchFamily="18" charset="0"/>
              </a:rPr>
              <a:t>			1</a:t>
            </a:r>
            <a:r>
              <a:rPr lang="en-US" altLang="en-US" sz="2400" baseline="30000" dirty="0">
                <a:latin typeface="Times New Roman" pitchFamily="18" charset="0"/>
                <a:cs typeface="Times New Roman" pitchFamily="18" charset="0"/>
              </a:rPr>
              <a:t>o</a:t>
            </a:r>
            <a:r>
              <a:rPr lang="en-US" altLang="en-US" sz="2400" dirty="0">
                <a:latin typeface="Times New Roman" pitchFamily="18" charset="0"/>
                <a:cs typeface="Times New Roman" pitchFamily="18" charset="0"/>
              </a:rPr>
              <a:t>Cl = 1 part of CaCO</a:t>
            </a:r>
            <a:r>
              <a:rPr lang="en-US" altLang="en-US" sz="2400" baseline="-25000" dirty="0">
                <a:latin typeface="Times New Roman" pitchFamily="18" charset="0"/>
                <a:cs typeface="Times New Roman" pitchFamily="18" charset="0"/>
              </a:rPr>
              <a:t>3</a:t>
            </a:r>
            <a:r>
              <a:rPr lang="en-US" altLang="en-US" sz="2400" dirty="0">
                <a:latin typeface="Times New Roman" pitchFamily="18" charset="0"/>
                <a:cs typeface="Times New Roman" pitchFamily="18" charset="0"/>
              </a:rPr>
              <a:t> per 70,000 parts of water.</a:t>
            </a:r>
          </a:p>
          <a:p>
            <a:pPr marL="514350" lvl="0" indent="-514350" algn="just">
              <a:buClr>
                <a:srgbClr val="0070C0"/>
              </a:buClr>
            </a:pPr>
            <a:endParaRPr lang="en-US" sz="2400" dirty="0">
              <a:latin typeface="Times New Roman" pitchFamily="18" charset="0"/>
              <a:cs typeface="Times New Roman" pitchFamily="18" charset="0"/>
            </a:endParaRPr>
          </a:p>
          <a:p>
            <a:pPr marL="514350" lvl="0" indent="-514350" algn="just">
              <a:buClr>
                <a:srgbClr val="002060"/>
              </a:buClr>
              <a:buFont typeface="+mj-lt"/>
              <a:buAutoNum type="romanUcPeriod" startAt="3"/>
            </a:pPr>
            <a:r>
              <a:rPr lang="en-US" altLang="en-US" sz="2400" b="1" dirty="0">
                <a:solidFill>
                  <a:srgbClr val="002060"/>
                </a:solidFill>
                <a:latin typeface="Times New Roman" pitchFamily="18" charset="0"/>
                <a:cs typeface="Times New Roman" pitchFamily="18" charset="0"/>
              </a:rPr>
              <a:t>Degree French(</a:t>
            </a:r>
            <a:r>
              <a:rPr lang="en-US" altLang="en-US" sz="2400" b="1" baseline="30000" dirty="0">
                <a:solidFill>
                  <a:srgbClr val="002060"/>
                </a:solidFill>
                <a:latin typeface="Times New Roman" pitchFamily="18" charset="0"/>
                <a:cs typeface="Times New Roman" pitchFamily="18" charset="0"/>
              </a:rPr>
              <a:t>0</a:t>
            </a:r>
            <a:r>
              <a:rPr lang="en-US" altLang="en-US" sz="2400" b="1" dirty="0">
                <a:solidFill>
                  <a:srgbClr val="002060"/>
                </a:solidFill>
                <a:latin typeface="Times New Roman" pitchFamily="18" charset="0"/>
                <a:cs typeface="Times New Roman" pitchFamily="18" charset="0"/>
              </a:rPr>
              <a:t>Fr):- </a:t>
            </a:r>
            <a:r>
              <a:rPr lang="en-US" altLang="en-US" sz="2400" dirty="0">
                <a:latin typeface="Times New Roman" pitchFamily="18" charset="0"/>
                <a:cs typeface="Times New Roman" pitchFamily="18" charset="0"/>
              </a:rPr>
              <a:t>The parts of CaCO</a:t>
            </a:r>
            <a:r>
              <a:rPr lang="en-US" altLang="en-US" sz="2400" baseline="-25000" dirty="0">
                <a:latin typeface="Times New Roman" pitchFamily="18" charset="0"/>
                <a:cs typeface="Times New Roman" pitchFamily="18" charset="0"/>
              </a:rPr>
              <a:t>3</a:t>
            </a:r>
            <a:r>
              <a:rPr lang="en-US" altLang="en-US" sz="2400" dirty="0">
                <a:latin typeface="Times New Roman" pitchFamily="18" charset="0"/>
                <a:cs typeface="Times New Roman" pitchFamily="18" charset="0"/>
              </a:rPr>
              <a:t> equivalents of hardness per 10</a:t>
            </a:r>
            <a:r>
              <a:rPr lang="en-US" altLang="en-US" sz="2400" baseline="30000" dirty="0">
                <a:latin typeface="Times New Roman" pitchFamily="18" charset="0"/>
                <a:cs typeface="Times New Roman" pitchFamily="18" charset="0"/>
              </a:rPr>
              <a:t>5</a:t>
            </a:r>
            <a:r>
              <a:rPr lang="en-US" altLang="en-US" sz="2400" dirty="0">
                <a:latin typeface="Times New Roman" pitchFamily="18" charset="0"/>
                <a:cs typeface="Times New Roman" pitchFamily="18" charset="0"/>
              </a:rPr>
              <a:t> parts of water.</a:t>
            </a:r>
            <a:endParaRPr lang="en-US" sz="2400" dirty="0">
              <a:latin typeface="Times New Roman" pitchFamily="18" charset="0"/>
              <a:cs typeface="Times New Roman" pitchFamily="18" charset="0"/>
            </a:endParaRPr>
          </a:p>
          <a:p>
            <a:pPr lvl="0" algn="just">
              <a:buNone/>
            </a:pPr>
            <a:r>
              <a:rPr lang="en-US" altLang="en-US" sz="2400" dirty="0">
                <a:latin typeface="Times New Roman" pitchFamily="18" charset="0"/>
                <a:cs typeface="Times New Roman" pitchFamily="18" charset="0"/>
              </a:rPr>
              <a:t>    		1</a:t>
            </a:r>
            <a:r>
              <a:rPr lang="en-US" altLang="en-US" sz="2400" baseline="30000" dirty="0">
                <a:latin typeface="Times New Roman" pitchFamily="18" charset="0"/>
                <a:cs typeface="Times New Roman" pitchFamily="18" charset="0"/>
              </a:rPr>
              <a:t>o</a:t>
            </a:r>
            <a:r>
              <a:rPr lang="en-US" altLang="en-US" sz="2400" dirty="0">
                <a:latin typeface="Times New Roman" pitchFamily="18" charset="0"/>
                <a:cs typeface="Times New Roman" pitchFamily="18" charset="0"/>
              </a:rPr>
              <a:t>Fr = 1 part of CaCO</a:t>
            </a:r>
            <a:r>
              <a:rPr lang="en-US" altLang="en-US" sz="2400" baseline="-25000" dirty="0">
                <a:latin typeface="Times New Roman" pitchFamily="18" charset="0"/>
                <a:cs typeface="Times New Roman" pitchFamily="18" charset="0"/>
              </a:rPr>
              <a:t>3</a:t>
            </a:r>
            <a:r>
              <a:rPr lang="en-US" altLang="en-US" sz="2400" dirty="0">
                <a:latin typeface="Times New Roman" pitchFamily="18" charset="0"/>
                <a:cs typeface="Times New Roman" pitchFamily="18" charset="0"/>
              </a:rPr>
              <a:t> per 10</a:t>
            </a:r>
            <a:r>
              <a:rPr lang="en-US" altLang="en-US" sz="2400" baseline="30000" dirty="0">
                <a:latin typeface="Times New Roman" pitchFamily="18" charset="0"/>
                <a:cs typeface="Times New Roman" pitchFamily="18" charset="0"/>
              </a:rPr>
              <a:t>5</a:t>
            </a:r>
            <a:r>
              <a:rPr lang="en-US" altLang="en-US" sz="2400" dirty="0">
                <a:latin typeface="Times New Roman" pitchFamily="18" charset="0"/>
                <a:cs typeface="Times New Roman" pitchFamily="18" charset="0"/>
              </a:rPr>
              <a:t> parts of water.</a:t>
            </a:r>
          </a:p>
          <a:p>
            <a:pPr lvl="0" algn="just">
              <a:buNone/>
            </a:pPr>
            <a:endParaRPr lang="en-US" sz="2400" dirty="0">
              <a:latin typeface="Times New Roman" pitchFamily="18" charset="0"/>
              <a:cs typeface="Times New Roman" pitchFamily="18" charset="0"/>
            </a:endParaRPr>
          </a:p>
          <a:p>
            <a:pPr marL="514350" lvl="0" indent="-514350" algn="just">
              <a:buClr>
                <a:srgbClr val="7030A0"/>
              </a:buClr>
              <a:buFont typeface="+mj-lt"/>
              <a:buAutoNum type="romanUcPeriod" startAt="4"/>
            </a:pPr>
            <a:r>
              <a:rPr lang="en-US" altLang="en-GB" sz="2400" b="1" dirty="0">
                <a:solidFill>
                  <a:srgbClr val="7030A0"/>
                </a:solidFill>
                <a:latin typeface="Times New Roman" pitchFamily="18" charset="0"/>
                <a:cs typeface="Times New Roman" pitchFamily="18" charset="0"/>
              </a:rPr>
              <a:t> Milligram per litre</a:t>
            </a:r>
          </a:p>
          <a:p>
            <a:pPr marL="514350" lvl="0" indent="-514350" algn="just">
              <a:buClr>
                <a:srgbClr val="7030A0"/>
              </a:buClr>
              <a:buFont typeface="+mj-lt"/>
              <a:buAutoNum type="romanUcPeriod" startAt="4"/>
            </a:pPr>
            <a:endParaRPr lang="en-US" sz="2400" b="1" dirty="0">
              <a:solidFill>
                <a:srgbClr val="7030A0"/>
              </a:solidFill>
              <a:latin typeface="Times New Roman" pitchFamily="18" charset="0"/>
              <a:cs typeface="Times New Roman" pitchFamily="18" charset="0"/>
            </a:endParaRPr>
          </a:p>
          <a:p>
            <a:pPr lvl="0" algn="just">
              <a:buNone/>
            </a:pPr>
            <a:r>
              <a:rPr lang="en-US" altLang="en-US" sz="2400" dirty="0">
                <a:latin typeface="Times New Roman" pitchFamily="18" charset="0"/>
                <a:cs typeface="Times New Roman" pitchFamily="18" charset="0"/>
              </a:rPr>
              <a:t>		1 mg/lit = 1 mg of CaCO3 present in 1 lit of water</a:t>
            </a:r>
          </a:p>
          <a:p>
            <a:pPr lvl="0" algn="just">
              <a:buNone/>
            </a:pPr>
            <a:endParaRPr lang="en-US" sz="2400" dirty="0">
              <a:latin typeface="Times New Roman" pitchFamily="18" charset="0"/>
              <a:cs typeface="Times New Roman" pitchFamily="18" charset="0"/>
            </a:endParaRPr>
          </a:p>
          <a:p>
            <a:pPr lvl="0" algn="just" latinLnBrk="1"/>
            <a:r>
              <a:rPr lang="en-US" altLang="en-US" sz="2400" b="1" dirty="0">
                <a:solidFill>
                  <a:srgbClr val="C00000"/>
                </a:solidFill>
                <a:latin typeface="Times New Roman" pitchFamily="18" charset="0"/>
                <a:ea typeface="Times New Roman" pitchFamily="18" charset="0"/>
                <a:cs typeface="Times New Roman" pitchFamily="18" charset="0"/>
              </a:rPr>
              <a:t>Relationship between units:</a:t>
            </a:r>
            <a:endParaRPr lang="en-US" sz="2400" b="1" dirty="0">
              <a:solidFill>
                <a:srgbClr val="C00000"/>
              </a:solidFill>
              <a:latin typeface="Times New Roman" pitchFamily="18" charset="0"/>
              <a:cs typeface="Times New Roman" pitchFamily="18" charset="0"/>
            </a:endParaRPr>
          </a:p>
          <a:p>
            <a:pPr lvl="0" algn="just" latinLnBrk="1">
              <a:lnSpc>
                <a:spcPct val="150000"/>
              </a:lnSpc>
              <a:spcBef>
                <a:spcPct val="0"/>
              </a:spcBef>
            </a:pPr>
            <a:r>
              <a:rPr lang="en-US" altLang="en-US" sz="2400" dirty="0">
                <a:latin typeface="Times New Roman" pitchFamily="18" charset="0"/>
                <a:ea typeface="Times New Roman" pitchFamily="18" charset="0"/>
                <a:cs typeface="Times New Roman" pitchFamily="18" charset="0"/>
              </a:rPr>
              <a:t>		1 mg/lit = 1ppm = 0.07</a:t>
            </a:r>
            <a:r>
              <a:rPr lang="en-US" altLang="en-US" sz="2400" baseline="30000" dirty="0">
                <a:latin typeface="Times New Roman" pitchFamily="18" charset="0"/>
                <a:ea typeface="Times New Roman" pitchFamily="18" charset="0"/>
                <a:cs typeface="Times New Roman" pitchFamily="18" charset="0"/>
              </a:rPr>
              <a:t>o</a:t>
            </a:r>
            <a:r>
              <a:rPr lang="en-US" altLang="en-US" sz="2400" dirty="0">
                <a:latin typeface="Times New Roman" pitchFamily="18" charset="0"/>
                <a:ea typeface="Times New Roman" pitchFamily="18" charset="0"/>
                <a:cs typeface="Times New Roman" pitchFamily="18" charset="0"/>
              </a:rPr>
              <a:t>Cl = 0.1</a:t>
            </a:r>
            <a:r>
              <a:rPr lang="en-US" altLang="en-US" sz="2400" baseline="30000" dirty="0">
                <a:latin typeface="Times New Roman" pitchFamily="18" charset="0"/>
                <a:ea typeface="Times New Roman" pitchFamily="18" charset="0"/>
                <a:cs typeface="Times New Roman" pitchFamily="18" charset="0"/>
              </a:rPr>
              <a:t>o</a:t>
            </a:r>
            <a:r>
              <a:rPr lang="en-US" altLang="en-US" sz="2400" dirty="0">
                <a:latin typeface="Times New Roman" pitchFamily="18" charset="0"/>
                <a:ea typeface="Times New Roman" pitchFamily="18" charset="0"/>
                <a:cs typeface="Times New Roman" pitchFamily="18" charset="0"/>
              </a:rPr>
              <a:t>Fr</a:t>
            </a:r>
            <a:r>
              <a:rPr lang="en-US" altLang="en-US" sz="2400" dirty="0">
                <a:latin typeface="Times New Roman" pitchFamily="18" charset="0"/>
                <a:cs typeface="Times New Roman" pitchFamily="18" charset="0"/>
              </a:rPr>
              <a:t>     </a:t>
            </a:r>
            <a:r>
              <a:rPr lang="en-US" altLang="en-US" sz="2400" b="1" dirty="0">
                <a:solidFill>
                  <a:srgbClr val="7030A0"/>
                </a:solidFill>
                <a:latin typeface="Times New Roman" pitchFamily="18" charset="0"/>
                <a:cs typeface="Times New Roman" pitchFamily="18" charset="0"/>
              </a:rPr>
              <a:t> </a:t>
            </a:r>
            <a:endParaRPr lang="en-US" sz="2400" dirty="0">
              <a:latin typeface="Times New Roman" pitchFamily="18" charset="0"/>
              <a:cs typeface="Times New Roman" pitchFamily="18" charset="0"/>
            </a:endParaRPr>
          </a:p>
        </p:txBody>
      </p:sp>
      <p:sp>
        <p:nvSpPr>
          <p:cNvPr id="3" name="Rectangle 2"/>
          <p:cNvSpPr/>
          <p:nvPr/>
        </p:nvSpPr>
        <p:spPr>
          <a:xfrm>
            <a:off x="4038600" y="-76200"/>
            <a:ext cx="4751044" cy="769441"/>
          </a:xfrm>
          <a:prstGeom prst="rect">
            <a:avLst/>
          </a:prstGeom>
        </p:spPr>
        <p:txBody>
          <a:bodyPr wrap="none">
            <a:spAutoFit/>
          </a:bodyPr>
          <a:lstStyle/>
          <a:p>
            <a:r>
              <a:rPr lang="en-US" altLang="en-US" sz="4400" b="1" dirty="0">
                <a:solidFill>
                  <a:srgbClr val="7030A0"/>
                </a:solidFill>
                <a:latin typeface="Times New Roman" pitchFamily="18" charset="0"/>
                <a:cs typeface="Times New Roman" pitchFamily="18" charset="0"/>
              </a:rPr>
              <a:t>Units for Hardness</a:t>
            </a:r>
            <a:endParaRPr lang="en-US" sz="4400" dirty="0">
              <a:solidFill>
                <a:srgbClr val="7030A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2438400" y="1219200"/>
          <a:ext cx="7696200" cy="1121664"/>
        </p:xfrm>
        <a:graphic>
          <a:graphicData uri="http://schemas.openxmlformats.org/drawingml/2006/table">
            <a:tbl>
              <a:tblPr/>
              <a:tblGrid>
                <a:gridCol w="1447800">
                  <a:extLst>
                    <a:ext uri="{9D8B030D-6E8A-4147-A177-3AD203B41FA5}">
                      <a16:colId xmlns="" xmlns:a16="http://schemas.microsoft.com/office/drawing/2014/main" val="20000"/>
                    </a:ext>
                  </a:extLst>
                </a:gridCol>
                <a:gridCol w="1295400">
                  <a:extLst>
                    <a:ext uri="{9D8B030D-6E8A-4147-A177-3AD203B41FA5}">
                      <a16:colId xmlns="" xmlns:a16="http://schemas.microsoft.com/office/drawing/2014/main" val="20001"/>
                    </a:ext>
                  </a:extLst>
                </a:gridCol>
                <a:gridCol w="1219200">
                  <a:extLst>
                    <a:ext uri="{9D8B030D-6E8A-4147-A177-3AD203B41FA5}">
                      <a16:colId xmlns="" xmlns:a16="http://schemas.microsoft.com/office/drawing/2014/main" val="20002"/>
                    </a:ext>
                  </a:extLst>
                </a:gridCol>
                <a:gridCol w="990600">
                  <a:extLst>
                    <a:ext uri="{9D8B030D-6E8A-4147-A177-3AD203B41FA5}">
                      <a16:colId xmlns="" xmlns:a16="http://schemas.microsoft.com/office/drawing/2014/main" val="20003"/>
                    </a:ext>
                  </a:extLst>
                </a:gridCol>
                <a:gridCol w="990600">
                  <a:extLst>
                    <a:ext uri="{9D8B030D-6E8A-4147-A177-3AD203B41FA5}">
                      <a16:colId xmlns="" xmlns:a16="http://schemas.microsoft.com/office/drawing/2014/main" val="20004"/>
                    </a:ext>
                  </a:extLst>
                </a:gridCol>
                <a:gridCol w="838200">
                  <a:extLst>
                    <a:ext uri="{9D8B030D-6E8A-4147-A177-3AD203B41FA5}">
                      <a16:colId xmlns="" xmlns:a16="http://schemas.microsoft.com/office/drawing/2014/main" val="20005"/>
                    </a:ext>
                  </a:extLst>
                </a:gridCol>
                <a:gridCol w="914400">
                  <a:extLst>
                    <a:ext uri="{9D8B030D-6E8A-4147-A177-3AD203B41FA5}">
                      <a16:colId xmlns="" xmlns:a16="http://schemas.microsoft.com/office/drawing/2014/main" val="20006"/>
                    </a:ext>
                  </a:extLst>
                </a:gridCol>
              </a:tblGrid>
              <a:tr h="0">
                <a:tc>
                  <a:txBody>
                    <a:bodyPr/>
                    <a:lstStyle/>
                    <a:p>
                      <a:pPr marL="0" marR="0" algn="ctr">
                        <a:lnSpc>
                          <a:spcPct val="115000"/>
                        </a:lnSpc>
                        <a:spcBef>
                          <a:spcPts val="0"/>
                        </a:spcBef>
                        <a:spcAft>
                          <a:spcPts val="0"/>
                        </a:spcAft>
                      </a:pPr>
                      <a:r>
                        <a:rPr lang="en-US" sz="1600" b="1" dirty="0">
                          <a:latin typeface="Times New Roman" pitchFamily="18" charset="0"/>
                          <a:ea typeface="Times New Roman"/>
                          <a:cs typeface="Times New Roman" pitchFamily="18" charset="0"/>
                        </a:rPr>
                        <a:t>Impurity</a:t>
                      </a:r>
                      <a:endParaRPr lang="en-US" sz="1600" dirty="0">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b="1">
                          <a:latin typeface="Times New Roman" pitchFamily="18" charset="0"/>
                          <a:ea typeface="Times New Roman"/>
                          <a:cs typeface="Times New Roman" pitchFamily="18" charset="0"/>
                        </a:rPr>
                        <a:t>Ca(HCO</a:t>
                      </a:r>
                      <a:r>
                        <a:rPr lang="en-US" sz="1600" b="1" baseline="-25000">
                          <a:latin typeface="Times New Roman" pitchFamily="18" charset="0"/>
                          <a:ea typeface="Times New Roman"/>
                          <a:cs typeface="Times New Roman" pitchFamily="18" charset="0"/>
                        </a:rPr>
                        <a:t>3</a:t>
                      </a:r>
                      <a:r>
                        <a:rPr lang="en-US" sz="1600" b="1">
                          <a:latin typeface="Times New Roman" pitchFamily="18" charset="0"/>
                          <a:ea typeface="Times New Roman"/>
                          <a:cs typeface="Times New Roman" pitchFamily="18" charset="0"/>
                        </a:rPr>
                        <a:t>)</a:t>
                      </a:r>
                      <a:r>
                        <a:rPr lang="en-US" sz="1600" b="1" baseline="-25000">
                          <a:latin typeface="Times New Roman" pitchFamily="18" charset="0"/>
                          <a:ea typeface="Times New Roman"/>
                          <a:cs typeface="Times New Roman" pitchFamily="18" charset="0"/>
                        </a:rPr>
                        <a:t>2</a:t>
                      </a:r>
                      <a:r>
                        <a:rPr lang="en-US" sz="1600" b="1">
                          <a:latin typeface="Times New Roman" pitchFamily="18" charset="0"/>
                          <a:ea typeface="Times New Roman"/>
                          <a:cs typeface="Times New Roman" pitchFamily="18" charset="0"/>
                        </a:rPr>
                        <a:t>  </a:t>
                      </a:r>
                      <a:endParaRPr lang="en-US" sz="1600">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b="1">
                          <a:latin typeface="Times New Roman" pitchFamily="18" charset="0"/>
                          <a:ea typeface="Times New Roman"/>
                          <a:cs typeface="Times New Roman" pitchFamily="18" charset="0"/>
                        </a:rPr>
                        <a:t>Mg(HCO</a:t>
                      </a:r>
                      <a:r>
                        <a:rPr lang="en-US" sz="1600" b="1" baseline="-25000">
                          <a:latin typeface="Times New Roman" pitchFamily="18" charset="0"/>
                          <a:ea typeface="Times New Roman"/>
                          <a:cs typeface="Times New Roman" pitchFamily="18" charset="0"/>
                        </a:rPr>
                        <a:t>3</a:t>
                      </a:r>
                      <a:r>
                        <a:rPr lang="en-US" sz="1600" b="1">
                          <a:latin typeface="Times New Roman" pitchFamily="18" charset="0"/>
                          <a:ea typeface="Times New Roman"/>
                          <a:cs typeface="Times New Roman" pitchFamily="18" charset="0"/>
                        </a:rPr>
                        <a:t>)</a:t>
                      </a:r>
                      <a:endParaRPr lang="en-US" sz="1600">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b="1">
                          <a:latin typeface="Times New Roman" pitchFamily="18" charset="0"/>
                          <a:ea typeface="Times New Roman"/>
                          <a:cs typeface="Times New Roman" pitchFamily="18" charset="0"/>
                        </a:rPr>
                        <a:t>CaSO</a:t>
                      </a:r>
                      <a:r>
                        <a:rPr lang="en-US" sz="1600" b="1" baseline="-25000">
                          <a:latin typeface="Times New Roman" pitchFamily="18" charset="0"/>
                          <a:ea typeface="Times New Roman"/>
                          <a:cs typeface="Times New Roman" pitchFamily="18" charset="0"/>
                        </a:rPr>
                        <a:t>4</a:t>
                      </a:r>
                      <a:endParaRPr lang="en-US" sz="1600">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b="1">
                          <a:latin typeface="Times New Roman" pitchFamily="18" charset="0"/>
                          <a:ea typeface="Times New Roman"/>
                          <a:cs typeface="Times New Roman" pitchFamily="18" charset="0"/>
                        </a:rPr>
                        <a:t>MgSO</a:t>
                      </a:r>
                      <a:r>
                        <a:rPr lang="en-US" sz="1600" b="1" baseline="-25000">
                          <a:latin typeface="Times New Roman" pitchFamily="18" charset="0"/>
                          <a:ea typeface="Times New Roman"/>
                          <a:cs typeface="Times New Roman" pitchFamily="18" charset="0"/>
                        </a:rPr>
                        <a:t>4</a:t>
                      </a:r>
                      <a:endParaRPr lang="en-US" sz="1600">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b="1" dirty="0">
                          <a:latin typeface="Times New Roman" pitchFamily="18" charset="0"/>
                          <a:ea typeface="Times New Roman"/>
                          <a:cs typeface="Times New Roman" pitchFamily="18" charset="0"/>
                        </a:rPr>
                        <a:t>CaCl</a:t>
                      </a:r>
                      <a:r>
                        <a:rPr lang="en-US" sz="1600" b="1" baseline="-25000" dirty="0">
                          <a:latin typeface="Times New Roman" pitchFamily="18" charset="0"/>
                          <a:ea typeface="Times New Roman"/>
                          <a:cs typeface="Times New Roman" pitchFamily="18" charset="0"/>
                        </a:rPr>
                        <a:t>2</a:t>
                      </a:r>
                      <a:endParaRPr lang="en-US" sz="1600" dirty="0">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b="1" dirty="0">
                          <a:latin typeface="Times New Roman" pitchFamily="18" charset="0"/>
                          <a:ea typeface="Times New Roman"/>
                          <a:cs typeface="Times New Roman" pitchFamily="18" charset="0"/>
                        </a:rPr>
                        <a:t>MgCl</a:t>
                      </a:r>
                      <a:r>
                        <a:rPr lang="en-US" sz="1600" b="1" baseline="-25000" dirty="0">
                          <a:latin typeface="Times New Roman" pitchFamily="18" charset="0"/>
                          <a:ea typeface="Times New Roman"/>
                          <a:cs typeface="Times New Roman" pitchFamily="18" charset="0"/>
                        </a:rPr>
                        <a:t>2</a:t>
                      </a:r>
                      <a:endParaRPr lang="en-US" sz="1600" dirty="0">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0"/>
                  </a:ext>
                </a:extLst>
              </a:tr>
              <a:tr h="0">
                <a:tc>
                  <a:txBody>
                    <a:bodyPr/>
                    <a:lstStyle/>
                    <a:p>
                      <a:pPr marL="0" marR="0" algn="ctr">
                        <a:lnSpc>
                          <a:spcPct val="115000"/>
                        </a:lnSpc>
                        <a:spcBef>
                          <a:spcPts val="0"/>
                        </a:spcBef>
                        <a:spcAft>
                          <a:spcPts val="0"/>
                        </a:spcAft>
                      </a:pPr>
                      <a:r>
                        <a:rPr lang="en-US" sz="1600" b="1">
                          <a:latin typeface="Times New Roman" pitchFamily="18" charset="0"/>
                          <a:ea typeface="Times New Roman"/>
                          <a:cs typeface="Times New Roman" pitchFamily="18" charset="0"/>
                        </a:rPr>
                        <a:t>weight</a:t>
                      </a:r>
                      <a:endParaRPr lang="en-US" sz="1600">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b="1" dirty="0">
                          <a:latin typeface="Times New Roman" pitchFamily="18" charset="0"/>
                          <a:ea typeface="Times New Roman"/>
                          <a:cs typeface="Times New Roman" pitchFamily="18" charset="0"/>
                        </a:rPr>
                        <a:t>4</a:t>
                      </a:r>
                      <a:endParaRPr lang="en-US" sz="1600" dirty="0">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b="1">
                          <a:latin typeface="Times New Roman" pitchFamily="18" charset="0"/>
                          <a:ea typeface="Times New Roman"/>
                          <a:cs typeface="Times New Roman" pitchFamily="18" charset="0"/>
                        </a:rPr>
                        <a:t>8</a:t>
                      </a:r>
                      <a:endParaRPr lang="en-US" sz="1600">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b="1">
                          <a:latin typeface="Times New Roman" pitchFamily="18" charset="0"/>
                          <a:ea typeface="Times New Roman"/>
                          <a:cs typeface="Times New Roman" pitchFamily="18" charset="0"/>
                        </a:rPr>
                        <a:t>6</a:t>
                      </a:r>
                      <a:endParaRPr lang="en-US" sz="1600">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b="1">
                          <a:latin typeface="Times New Roman" pitchFamily="18" charset="0"/>
                          <a:ea typeface="Times New Roman"/>
                          <a:cs typeface="Times New Roman" pitchFamily="18" charset="0"/>
                        </a:rPr>
                        <a:t>5</a:t>
                      </a:r>
                      <a:endParaRPr lang="en-US" sz="1600">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b="1">
                          <a:latin typeface="Times New Roman" pitchFamily="18" charset="0"/>
                          <a:ea typeface="Times New Roman"/>
                          <a:cs typeface="Times New Roman" pitchFamily="18" charset="0"/>
                        </a:rPr>
                        <a:t>10</a:t>
                      </a:r>
                      <a:endParaRPr lang="en-US" sz="1600">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b="1">
                          <a:latin typeface="Times New Roman" pitchFamily="18" charset="0"/>
                          <a:ea typeface="Times New Roman"/>
                          <a:cs typeface="Times New Roman" pitchFamily="18" charset="0"/>
                        </a:rPr>
                        <a:t>12</a:t>
                      </a:r>
                      <a:endParaRPr lang="en-US" sz="1600">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1"/>
                  </a:ext>
                </a:extLst>
              </a:tr>
              <a:tr h="0">
                <a:tc>
                  <a:txBody>
                    <a:bodyPr/>
                    <a:lstStyle/>
                    <a:p>
                      <a:pPr marL="0" marR="0" algn="ctr">
                        <a:lnSpc>
                          <a:spcPct val="115000"/>
                        </a:lnSpc>
                        <a:spcBef>
                          <a:spcPts val="0"/>
                        </a:spcBef>
                        <a:spcAft>
                          <a:spcPts val="0"/>
                        </a:spcAft>
                      </a:pPr>
                      <a:r>
                        <a:rPr lang="en-US" sz="1600" b="1">
                          <a:latin typeface="Times New Roman" pitchFamily="18" charset="0"/>
                          <a:ea typeface="Times New Roman"/>
                          <a:cs typeface="Times New Roman" pitchFamily="18" charset="0"/>
                        </a:rPr>
                        <a:t>Molecular weight</a:t>
                      </a:r>
                      <a:endParaRPr lang="en-US" sz="1600">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b="1">
                          <a:latin typeface="Times New Roman" pitchFamily="18" charset="0"/>
                          <a:ea typeface="Times New Roman"/>
                          <a:cs typeface="Times New Roman" pitchFamily="18" charset="0"/>
                        </a:rPr>
                        <a:t>162</a:t>
                      </a:r>
                      <a:endParaRPr lang="en-US" sz="1600">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b="1" dirty="0">
                          <a:latin typeface="Times New Roman" pitchFamily="18" charset="0"/>
                          <a:ea typeface="Times New Roman"/>
                          <a:cs typeface="Times New Roman" pitchFamily="18" charset="0"/>
                        </a:rPr>
                        <a:t>146</a:t>
                      </a:r>
                      <a:endParaRPr lang="en-US" sz="1600" dirty="0">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b="1">
                          <a:latin typeface="Times New Roman" pitchFamily="18" charset="0"/>
                          <a:ea typeface="Times New Roman"/>
                          <a:cs typeface="Times New Roman" pitchFamily="18" charset="0"/>
                        </a:rPr>
                        <a:t>136</a:t>
                      </a:r>
                      <a:endParaRPr lang="en-US" sz="1600">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b="1">
                          <a:latin typeface="Times New Roman" pitchFamily="18" charset="0"/>
                          <a:ea typeface="Times New Roman"/>
                          <a:cs typeface="Times New Roman" pitchFamily="18" charset="0"/>
                        </a:rPr>
                        <a:t>120</a:t>
                      </a:r>
                      <a:endParaRPr lang="en-US" sz="1600">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b="1">
                          <a:latin typeface="Times New Roman" pitchFamily="18" charset="0"/>
                          <a:ea typeface="Times New Roman"/>
                          <a:cs typeface="Times New Roman" pitchFamily="18" charset="0"/>
                        </a:rPr>
                        <a:t>110</a:t>
                      </a:r>
                      <a:endParaRPr lang="en-US" sz="1600">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600" b="1" dirty="0">
                          <a:latin typeface="Times New Roman" pitchFamily="18" charset="0"/>
                          <a:ea typeface="Times New Roman"/>
                          <a:cs typeface="Times New Roman" pitchFamily="18" charset="0"/>
                        </a:rPr>
                        <a:t>95</a:t>
                      </a:r>
                      <a:endParaRPr lang="en-US" sz="1600" dirty="0">
                        <a:latin typeface="Times New Roman" pitchFamily="18" charset="0"/>
                        <a:ea typeface="Times New Roman"/>
                        <a:cs typeface="Times New Roman"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 xmlns:a16="http://schemas.microsoft.com/office/drawing/2014/main" val="10002"/>
                  </a:ext>
                </a:extLst>
              </a:tr>
            </a:tbl>
          </a:graphicData>
        </a:graphic>
      </p:graphicFrame>
      <p:sp>
        <p:nvSpPr>
          <p:cNvPr id="25601" name="Rectangle 1"/>
          <p:cNvSpPr>
            <a:spLocks noChangeArrowheads="1"/>
          </p:cNvSpPr>
          <p:nvPr/>
        </p:nvSpPr>
        <p:spPr bwMode="auto">
          <a:xfrm>
            <a:off x="228600" y="304800"/>
            <a:ext cx="12268200" cy="83099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R="0" lvl="0" algn="just" defTabSz="914400" rtl="0" eaLnBrk="1" fontAlgn="base" latinLnBrk="0" hangingPunct="1">
              <a:lnSpc>
                <a:spcPct val="100000"/>
              </a:lnSpc>
              <a:spcBef>
                <a:spcPct val="0"/>
              </a:spcBef>
              <a:spcAft>
                <a:spcPct val="0"/>
              </a:spcAft>
              <a:buClrTx/>
              <a:buSzTx/>
              <a:tabLst>
                <a:tab pos="457200" algn="l"/>
              </a:tabLst>
            </a:pPr>
            <a:r>
              <a:rPr kumimoji="0" lang="en-US" sz="2400" b="1" i="0" u="none" strike="noStrike" cap="none" normalizeH="0" baseline="0" dirty="0">
                <a:ln>
                  <a:noFill/>
                </a:ln>
                <a:solidFill>
                  <a:srgbClr val="7030A0"/>
                </a:solidFill>
                <a:effectLst/>
                <a:latin typeface="Times New Roman" pitchFamily="18" charset="0"/>
                <a:ea typeface="Times New Roman" pitchFamily="18" charset="0"/>
                <a:cs typeface="Times New Roman" pitchFamily="18" charset="0"/>
              </a:rPr>
              <a:t>A water sample on analysis is found to contain the following impurities.</a:t>
            </a:r>
            <a:r>
              <a:rPr kumimoji="0" lang="en-US" sz="2400" b="1" i="0" u="none" strike="noStrike" cap="none" normalizeH="0" dirty="0">
                <a:ln>
                  <a:noFill/>
                </a:ln>
                <a:solidFill>
                  <a:srgbClr val="7030A0"/>
                </a:solidFill>
                <a:effectLst/>
                <a:latin typeface="Times New Roman" pitchFamily="18" charset="0"/>
                <a:ea typeface="Times New Roman" pitchFamily="18" charset="0"/>
                <a:cs typeface="Times New Roman" pitchFamily="18" charset="0"/>
              </a:rPr>
              <a:t> </a:t>
            </a:r>
            <a:r>
              <a:rPr kumimoji="0" lang="en-US" sz="2400" b="1" i="0" u="none" strike="noStrike" cap="none" normalizeH="0" baseline="0" dirty="0">
                <a:ln>
                  <a:noFill/>
                </a:ln>
                <a:solidFill>
                  <a:srgbClr val="7030A0"/>
                </a:solidFill>
                <a:effectLst/>
                <a:latin typeface="Times New Roman" pitchFamily="18" charset="0"/>
                <a:ea typeface="Times New Roman" pitchFamily="18" charset="0"/>
                <a:cs typeface="Times New Roman" pitchFamily="18" charset="0"/>
              </a:rPr>
              <a:t>Calculate the temporary, permanent and total hardness of water in mg, ppm, </a:t>
            </a:r>
            <a:r>
              <a:rPr kumimoji="0" lang="en-US" sz="2400" b="1" i="0" u="none" strike="noStrike" cap="none" normalizeH="0" baseline="30000" dirty="0">
                <a:ln>
                  <a:noFill/>
                </a:ln>
                <a:solidFill>
                  <a:srgbClr val="7030A0"/>
                </a:solidFill>
                <a:effectLst/>
                <a:latin typeface="Times New Roman" pitchFamily="18" charset="0"/>
                <a:ea typeface="Times New Roman" pitchFamily="18" charset="0"/>
                <a:cs typeface="Times New Roman" pitchFamily="18" charset="0"/>
              </a:rPr>
              <a:t>o</a:t>
            </a:r>
            <a:r>
              <a:rPr kumimoji="0" lang="en-US" sz="2400" b="1" i="0" u="none" strike="noStrike" cap="none" normalizeH="0" baseline="0" dirty="0">
                <a:ln>
                  <a:noFill/>
                </a:ln>
                <a:solidFill>
                  <a:srgbClr val="7030A0"/>
                </a:solidFill>
                <a:effectLst/>
                <a:latin typeface="Times New Roman" pitchFamily="18" charset="0"/>
                <a:ea typeface="Times New Roman" pitchFamily="18" charset="0"/>
                <a:cs typeface="Times New Roman" pitchFamily="18" charset="0"/>
              </a:rPr>
              <a:t>Fr and </a:t>
            </a:r>
            <a:r>
              <a:rPr kumimoji="0" lang="en-US" sz="2400" b="1" i="0" u="none" strike="noStrike" cap="none" normalizeH="0" baseline="30000" dirty="0" err="1">
                <a:ln>
                  <a:noFill/>
                </a:ln>
                <a:solidFill>
                  <a:srgbClr val="7030A0"/>
                </a:solidFill>
                <a:effectLst/>
                <a:latin typeface="Times New Roman" pitchFamily="18" charset="0"/>
                <a:ea typeface="Times New Roman" pitchFamily="18" charset="0"/>
                <a:cs typeface="Times New Roman" pitchFamily="18" charset="0"/>
              </a:rPr>
              <a:t>o</a:t>
            </a:r>
            <a:r>
              <a:rPr kumimoji="0" lang="en-US" sz="2400" b="1" i="0" u="none" strike="noStrike" cap="none" normalizeH="0" baseline="0" dirty="0" err="1">
                <a:ln>
                  <a:noFill/>
                </a:ln>
                <a:solidFill>
                  <a:srgbClr val="7030A0"/>
                </a:solidFill>
                <a:effectLst/>
                <a:latin typeface="Times New Roman" pitchFamily="18" charset="0"/>
                <a:ea typeface="Times New Roman" pitchFamily="18" charset="0"/>
                <a:cs typeface="Times New Roman" pitchFamily="18" charset="0"/>
              </a:rPr>
              <a:t>Cl</a:t>
            </a:r>
            <a:r>
              <a:rPr kumimoji="0" lang="en-US" sz="2400" b="1" i="0" u="none" strike="noStrike" cap="none" normalizeH="0" baseline="0" dirty="0">
                <a:ln>
                  <a:noFill/>
                </a:ln>
                <a:solidFill>
                  <a:srgbClr val="7030A0"/>
                </a:solidFill>
                <a:effectLst/>
                <a:latin typeface="Times New Roman" pitchFamily="18" charset="0"/>
                <a:ea typeface="Times New Roman" pitchFamily="18" charset="0"/>
                <a:cs typeface="Times New Roman" pitchFamily="18" charset="0"/>
              </a:rPr>
              <a:t>.</a:t>
            </a:r>
            <a:endParaRPr kumimoji="0" lang="en-US" sz="2400" b="0" i="0" u="none" strike="noStrike" cap="none" normalizeH="0" baseline="0" dirty="0">
              <a:ln>
                <a:noFill/>
              </a:ln>
              <a:solidFill>
                <a:srgbClr val="7030A0"/>
              </a:solidFill>
              <a:effectLst/>
              <a:latin typeface="Times New Roman" pitchFamily="18" charset="0"/>
              <a:cs typeface="Times New Roman" pitchFamily="18" charset="0"/>
            </a:endParaRPr>
          </a:p>
        </p:txBody>
      </p:sp>
      <p:pic>
        <p:nvPicPr>
          <p:cNvPr id="25616" name="Picture 16"/>
          <p:cNvPicPr>
            <a:picLocks noChangeAspect="1" noChangeArrowheads="1"/>
          </p:cNvPicPr>
          <p:nvPr/>
        </p:nvPicPr>
        <p:blipFill>
          <a:blip r:embed="rId2"/>
          <a:srcRect t="7533" r="153"/>
          <a:stretch>
            <a:fillRect/>
          </a:stretch>
        </p:blipFill>
        <p:spPr bwMode="auto">
          <a:xfrm>
            <a:off x="304800" y="2819400"/>
            <a:ext cx="6188075" cy="3638369"/>
          </a:xfrm>
          <a:prstGeom prst="rect">
            <a:avLst/>
          </a:prstGeom>
          <a:noFill/>
          <a:ln w="9525">
            <a:noFill/>
            <a:miter lim="800000"/>
            <a:headEnd/>
            <a:tailEnd/>
          </a:ln>
          <a:effectLst/>
        </p:spPr>
      </p:pic>
      <p:sp>
        <p:nvSpPr>
          <p:cNvPr id="21" name="TextBox 20"/>
          <p:cNvSpPr txBox="1"/>
          <p:nvPr/>
        </p:nvSpPr>
        <p:spPr>
          <a:xfrm>
            <a:off x="304800" y="2133600"/>
            <a:ext cx="1826141" cy="646331"/>
          </a:xfrm>
          <a:prstGeom prst="rect">
            <a:avLst/>
          </a:prstGeom>
          <a:noFill/>
        </p:spPr>
        <p:txBody>
          <a:bodyPr wrap="none" rtlCol="0">
            <a:spAutoFit/>
          </a:bodyPr>
          <a:lstStyle/>
          <a:p>
            <a:r>
              <a:rPr lang="en-US" sz="3600" b="1" dirty="0">
                <a:solidFill>
                  <a:srgbClr val="7030A0"/>
                </a:solidFill>
                <a:latin typeface="Times New Roman" pitchFamily="18" charset="0"/>
                <a:cs typeface="Times New Roman" pitchFamily="18" charset="0"/>
              </a:rPr>
              <a:t>Solution</a:t>
            </a:r>
          </a:p>
        </p:txBody>
      </p:sp>
      <p:sp>
        <p:nvSpPr>
          <p:cNvPr id="25617" name="Rectangle 17"/>
          <p:cNvSpPr>
            <a:spLocks noChangeArrowheads="1"/>
          </p:cNvSpPr>
          <p:nvPr/>
        </p:nvSpPr>
        <p:spPr bwMode="auto">
          <a:xfrm>
            <a:off x="6477000" y="2301727"/>
            <a:ext cx="6096000" cy="452431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50000"/>
              </a:lnSpc>
              <a:spcBef>
                <a:spcPct val="0"/>
              </a:spcBef>
              <a:spcAft>
                <a:spcPct val="0"/>
              </a:spcAft>
              <a:buClrTx/>
              <a:buSzTx/>
              <a:buFontTx/>
              <a:buNone/>
              <a:tabLst/>
            </a:pPr>
            <a:r>
              <a:rPr kumimoji="0" lang="en-US" sz="1600" b="1" i="0" u="none" strike="noStrike" cap="none" normalizeH="0" baseline="0" dirty="0">
                <a:ln>
                  <a:noFill/>
                </a:ln>
                <a:solidFill>
                  <a:srgbClr val="0070C0"/>
                </a:solidFill>
                <a:effectLst/>
                <a:latin typeface="Times New Roman" pitchFamily="18" charset="0"/>
                <a:ea typeface="Times New Roman" pitchFamily="18" charset="0"/>
                <a:cs typeface="Times New Roman" pitchFamily="18" charset="0"/>
              </a:rPr>
              <a:t>Ca (HCO</a:t>
            </a:r>
            <a:r>
              <a:rPr kumimoji="0" lang="en-US" sz="1600" b="1" i="0" u="none" strike="noStrike" cap="none" normalizeH="0" baseline="-30000" dirty="0">
                <a:ln>
                  <a:noFill/>
                </a:ln>
                <a:solidFill>
                  <a:srgbClr val="0070C0"/>
                </a:solidFill>
                <a:effectLst/>
                <a:latin typeface="Times New Roman" pitchFamily="18" charset="0"/>
                <a:ea typeface="Times New Roman" pitchFamily="18" charset="0"/>
                <a:cs typeface="Times New Roman" pitchFamily="18" charset="0"/>
              </a:rPr>
              <a:t>3</a:t>
            </a:r>
            <a:r>
              <a:rPr kumimoji="0" lang="en-US" sz="1600" b="1" i="0" u="none" strike="noStrike" cap="none" normalizeH="0" baseline="0" dirty="0">
                <a:ln>
                  <a:noFill/>
                </a:ln>
                <a:solidFill>
                  <a:srgbClr val="0070C0"/>
                </a:solidFill>
                <a:effectLst/>
                <a:latin typeface="Times New Roman" pitchFamily="18" charset="0"/>
                <a:ea typeface="Times New Roman" pitchFamily="18" charset="0"/>
                <a:cs typeface="Times New Roman" pitchFamily="18" charset="0"/>
              </a:rPr>
              <a:t>)</a:t>
            </a:r>
            <a:r>
              <a:rPr kumimoji="0" lang="en-US" sz="1600" b="1" i="0" u="none" strike="noStrike" cap="none" normalizeH="0" baseline="-30000" dirty="0">
                <a:ln>
                  <a:noFill/>
                </a:ln>
                <a:solidFill>
                  <a:srgbClr val="0070C0"/>
                </a:solidFill>
                <a:effectLst/>
                <a:latin typeface="Times New Roman" pitchFamily="18" charset="0"/>
                <a:ea typeface="Times New Roman" pitchFamily="18" charset="0"/>
                <a:cs typeface="Times New Roman" pitchFamily="18" charset="0"/>
              </a:rPr>
              <a:t>2</a:t>
            </a:r>
            <a:r>
              <a:rPr kumimoji="0" lang="en-US" sz="1600" b="1" i="0" u="none" strike="noStrike" cap="none" normalizeH="0" baseline="0" dirty="0">
                <a:ln>
                  <a:noFill/>
                </a:ln>
                <a:solidFill>
                  <a:srgbClr val="0070C0"/>
                </a:solidFill>
                <a:effectLst/>
                <a:latin typeface="Times New Roman" pitchFamily="18" charset="0"/>
                <a:ea typeface="Times New Roman" pitchFamily="18" charset="0"/>
                <a:cs typeface="Times New Roman" pitchFamily="18" charset="0"/>
              </a:rPr>
              <a:t> and Mg (HCO</a:t>
            </a:r>
            <a:r>
              <a:rPr kumimoji="0" lang="en-US" sz="1600" b="1" i="0" u="none" strike="noStrike" cap="none" normalizeH="0" baseline="-30000" dirty="0">
                <a:ln>
                  <a:noFill/>
                </a:ln>
                <a:solidFill>
                  <a:srgbClr val="0070C0"/>
                </a:solidFill>
                <a:effectLst/>
                <a:latin typeface="Times New Roman" pitchFamily="18" charset="0"/>
                <a:ea typeface="Times New Roman" pitchFamily="18" charset="0"/>
                <a:cs typeface="Times New Roman" pitchFamily="18" charset="0"/>
              </a:rPr>
              <a:t>3</a:t>
            </a:r>
            <a:r>
              <a:rPr kumimoji="0" lang="en-US" sz="1600" b="1" i="0" u="none" strike="noStrike" cap="none" normalizeH="0" baseline="0" dirty="0">
                <a:ln>
                  <a:noFill/>
                </a:ln>
                <a:solidFill>
                  <a:srgbClr val="0070C0"/>
                </a:solidFill>
                <a:effectLst/>
                <a:latin typeface="Times New Roman" pitchFamily="18" charset="0"/>
                <a:ea typeface="Times New Roman" pitchFamily="18" charset="0"/>
                <a:cs typeface="Times New Roman" pitchFamily="18" charset="0"/>
              </a:rPr>
              <a:t>)</a:t>
            </a:r>
            <a:r>
              <a:rPr kumimoji="0" lang="en-US" sz="1600" b="1" i="0" u="none" strike="noStrike" cap="none" normalizeH="0" baseline="-30000" dirty="0">
                <a:ln>
                  <a:noFill/>
                </a:ln>
                <a:solidFill>
                  <a:srgbClr val="0070C0"/>
                </a:solidFill>
                <a:effectLst/>
                <a:latin typeface="Times New Roman" pitchFamily="18" charset="0"/>
                <a:ea typeface="Times New Roman" pitchFamily="18" charset="0"/>
                <a:cs typeface="Times New Roman" pitchFamily="18" charset="0"/>
              </a:rPr>
              <a:t>2</a:t>
            </a:r>
            <a:r>
              <a:rPr kumimoji="0" lang="en-US" sz="1600" b="1" i="0" u="none" strike="noStrike" cap="none" normalizeH="0" baseline="0" dirty="0">
                <a:ln>
                  <a:noFill/>
                </a:ln>
                <a:solidFill>
                  <a:srgbClr val="0070C0"/>
                </a:solidFill>
                <a:effectLst/>
                <a:latin typeface="Times New Roman" pitchFamily="18" charset="0"/>
                <a:ea typeface="Times New Roman" pitchFamily="18" charset="0"/>
                <a:cs typeface="Times New Roman" pitchFamily="18" charset="0"/>
              </a:rPr>
              <a:t> cause temporary hardness</a:t>
            </a:r>
            <a:endParaRPr kumimoji="0" lang="en-US" sz="1600" b="0" i="0" u="none" strike="noStrike" cap="none" normalizeH="0" baseline="0" dirty="0">
              <a:ln>
                <a:noFill/>
              </a:ln>
              <a:solidFill>
                <a:srgbClr val="0070C0"/>
              </a:solidFill>
              <a:effectLst/>
              <a:latin typeface="Times New Roman" pitchFamily="18" charset="0"/>
              <a:cs typeface="Times New Roman" pitchFamily="18" charset="0"/>
            </a:endParaRP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sz="1600" b="1" i="0" u="none" strike="noStrike" cap="none" normalizeH="0" baseline="0" dirty="0">
                <a:ln>
                  <a:noFill/>
                </a:ln>
                <a:solidFill>
                  <a:srgbClr val="0070C0"/>
                </a:solidFill>
                <a:effectLst/>
                <a:latin typeface="Times New Roman" pitchFamily="18" charset="0"/>
                <a:ea typeface="Times New Roman" pitchFamily="18" charset="0"/>
                <a:cs typeface="Times New Roman" pitchFamily="18" charset="0"/>
              </a:rPr>
              <a:t>2.4 + 5.4=7.8 mg or ppm</a:t>
            </a:r>
            <a:endParaRPr kumimoji="0" lang="en-US" sz="1600" b="0" i="0" u="none" strike="noStrike" cap="none" normalizeH="0" baseline="0" dirty="0">
              <a:ln>
                <a:noFill/>
              </a:ln>
              <a:solidFill>
                <a:srgbClr val="0070C0"/>
              </a:solidFill>
              <a:effectLst/>
              <a:latin typeface="Times New Roman" pitchFamily="18" charset="0"/>
              <a:cs typeface="Times New Roman" pitchFamily="18" charset="0"/>
            </a:endParaRP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sz="1600" b="1" i="0" u="none" strike="noStrike" cap="none" normalizeH="0" baseline="0" dirty="0">
                <a:ln>
                  <a:noFill/>
                </a:ln>
                <a:solidFill>
                  <a:srgbClr val="0070C0"/>
                </a:solidFill>
                <a:effectLst/>
                <a:latin typeface="Times New Roman" pitchFamily="18" charset="0"/>
                <a:ea typeface="Times New Roman" pitchFamily="18" charset="0"/>
                <a:cs typeface="Times New Roman" pitchFamily="18" charset="0"/>
              </a:rPr>
              <a:t>7.8X0.07 = 0.546 </a:t>
            </a:r>
            <a:r>
              <a:rPr kumimoji="0" lang="en-US" sz="1600" b="1" i="0" u="none" strike="noStrike" cap="none" normalizeH="0" baseline="30000" dirty="0" err="1">
                <a:ln>
                  <a:noFill/>
                </a:ln>
                <a:solidFill>
                  <a:srgbClr val="0070C0"/>
                </a:solidFill>
                <a:effectLst/>
                <a:latin typeface="Times New Roman" pitchFamily="18" charset="0"/>
                <a:ea typeface="Times New Roman" pitchFamily="18" charset="0"/>
                <a:cs typeface="Times New Roman" pitchFamily="18" charset="0"/>
              </a:rPr>
              <a:t>o</a:t>
            </a:r>
            <a:r>
              <a:rPr kumimoji="0" lang="en-US" sz="1600" b="1" i="0" u="none" strike="noStrike" cap="none" normalizeH="0" baseline="0" dirty="0" err="1">
                <a:ln>
                  <a:noFill/>
                </a:ln>
                <a:solidFill>
                  <a:srgbClr val="0070C0"/>
                </a:solidFill>
                <a:effectLst/>
                <a:latin typeface="Times New Roman" pitchFamily="18" charset="0"/>
                <a:ea typeface="Times New Roman" pitchFamily="18" charset="0"/>
                <a:cs typeface="Times New Roman" pitchFamily="18" charset="0"/>
              </a:rPr>
              <a:t>Cl</a:t>
            </a:r>
            <a:endParaRPr kumimoji="0" lang="en-US" sz="1600" b="0" i="0" u="none" strike="noStrike" cap="none" normalizeH="0" baseline="0" dirty="0">
              <a:ln>
                <a:noFill/>
              </a:ln>
              <a:solidFill>
                <a:srgbClr val="0070C0"/>
              </a:solidFill>
              <a:effectLst/>
              <a:latin typeface="Times New Roman" pitchFamily="18" charset="0"/>
              <a:cs typeface="Times New Roman" pitchFamily="18" charset="0"/>
            </a:endParaRP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sz="1600" b="1" i="0" u="none" strike="noStrike" cap="none" normalizeH="0" baseline="0" dirty="0">
                <a:ln>
                  <a:noFill/>
                </a:ln>
                <a:solidFill>
                  <a:srgbClr val="0070C0"/>
                </a:solidFill>
                <a:effectLst/>
                <a:latin typeface="Times New Roman" pitchFamily="18" charset="0"/>
                <a:ea typeface="Times New Roman" pitchFamily="18" charset="0"/>
                <a:cs typeface="Times New Roman" pitchFamily="18" charset="0"/>
              </a:rPr>
              <a:t>7.8 x 0.1 = 0.78</a:t>
            </a:r>
            <a:r>
              <a:rPr kumimoji="0" lang="en-US" sz="1600" b="0" i="0" u="none" strike="noStrike" cap="none" normalizeH="0" baseline="30000" dirty="0">
                <a:ln>
                  <a:noFill/>
                </a:ln>
                <a:solidFill>
                  <a:srgbClr val="0070C0"/>
                </a:solidFill>
                <a:effectLst/>
                <a:latin typeface="Times New Roman" pitchFamily="18" charset="0"/>
                <a:ea typeface="Times New Roman" pitchFamily="18" charset="0"/>
                <a:cs typeface="Times New Roman" pitchFamily="18" charset="0"/>
              </a:rPr>
              <a:t> </a:t>
            </a:r>
            <a:r>
              <a:rPr kumimoji="0" lang="en-US" sz="1600" b="1" i="0" u="none" strike="noStrike" cap="none" normalizeH="0" baseline="30000" dirty="0">
                <a:ln>
                  <a:noFill/>
                </a:ln>
                <a:solidFill>
                  <a:srgbClr val="0070C0"/>
                </a:solidFill>
                <a:effectLst/>
                <a:latin typeface="Times New Roman" pitchFamily="18" charset="0"/>
                <a:ea typeface="Times New Roman" pitchFamily="18" charset="0"/>
                <a:cs typeface="Times New Roman" pitchFamily="18" charset="0"/>
              </a:rPr>
              <a:t>o</a:t>
            </a:r>
            <a:r>
              <a:rPr kumimoji="0" lang="en-US" sz="1600" b="1" i="0" u="none" strike="noStrike" cap="none" normalizeH="0" baseline="0" dirty="0">
                <a:ln>
                  <a:noFill/>
                </a:ln>
                <a:solidFill>
                  <a:srgbClr val="0070C0"/>
                </a:solidFill>
                <a:effectLst/>
                <a:latin typeface="Times New Roman" pitchFamily="18" charset="0"/>
                <a:ea typeface="Times New Roman" pitchFamily="18" charset="0"/>
                <a:cs typeface="Times New Roman" pitchFamily="18" charset="0"/>
              </a:rPr>
              <a:t>Fr  </a:t>
            </a:r>
            <a:endParaRPr kumimoji="0" lang="en-US" sz="1600" b="0" i="0" u="none" strike="noStrike" cap="none" normalizeH="0" baseline="0" dirty="0">
              <a:ln>
                <a:noFill/>
              </a:ln>
              <a:solidFill>
                <a:srgbClr val="0070C0"/>
              </a:solidFill>
              <a:effectLst/>
              <a:latin typeface="Times New Roman" pitchFamily="18" charset="0"/>
              <a:cs typeface="Times New Roman" pitchFamily="18" charset="0"/>
            </a:endParaRP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sz="1600" b="1" i="0" u="none" strike="noStrike" cap="none" normalizeH="0" baseline="0" dirty="0">
                <a:ln>
                  <a:noFill/>
                </a:ln>
                <a:solidFill>
                  <a:srgbClr val="0070C0"/>
                </a:solidFill>
                <a:effectLst/>
                <a:latin typeface="Times New Roman" pitchFamily="18" charset="0"/>
                <a:ea typeface="Times New Roman" pitchFamily="18" charset="0"/>
                <a:cs typeface="Times New Roman" pitchFamily="18" charset="0"/>
              </a:rPr>
              <a:t>CaSO</a:t>
            </a:r>
            <a:r>
              <a:rPr kumimoji="0" lang="en-US" sz="1600" b="1" i="0" u="none" strike="noStrike" cap="none" normalizeH="0" baseline="-30000" dirty="0">
                <a:ln>
                  <a:noFill/>
                </a:ln>
                <a:solidFill>
                  <a:srgbClr val="0070C0"/>
                </a:solidFill>
                <a:effectLst/>
                <a:latin typeface="Times New Roman" pitchFamily="18" charset="0"/>
                <a:ea typeface="Times New Roman" pitchFamily="18" charset="0"/>
                <a:cs typeface="Times New Roman" pitchFamily="18" charset="0"/>
              </a:rPr>
              <a:t>4</a:t>
            </a:r>
            <a:r>
              <a:rPr kumimoji="0" lang="en-US" sz="1600" b="1" i="0" u="none" strike="noStrike" cap="none" normalizeH="0" baseline="0" dirty="0">
                <a:ln>
                  <a:noFill/>
                </a:ln>
                <a:solidFill>
                  <a:srgbClr val="0070C0"/>
                </a:solidFill>
                <a:effectLst/>
                <a:latin typeface="Times New Roman" pitchFamily="18" charset="0"/>
                <a:ea typeface="Times New Roman" pitchFamily="18" charset="0"/>
                <a:cs typeface="Times New Roman" pitchFamily="18" charset="0"/>
              </a:rPr>
              <a:t>, MgSO</a:t>
            </a:r>
            <a:r>
              <a:rPr kumimoji="0" lang="en-US" sz="1600" b="1" i="0" u="none" strike="noStrike" cap="none" normalizeH="0" baseline="-30000" dirty="0">
                <a:ln>
                  <a:noFill/>
                </a:ln>
                <a:solidFill>
                  <a:srgbClr val="0070C0"/>
                </a:solidFill>
                <a:effectLst/>
                <a:latin typeface="Times New Roman" pitchFamily="18" charset="0"/>
                <a:ea typeface="Times New Roman" pitchFamily="18" charset="0"/>
                <a:cs typeface="Times New Roman" pitchFamily="18" charset="0"/>
              </a:rPr>
              <a:t>4</a:t>
            </a:r>
            <a:r>
              <a:rPr kumimoji="0" lang="en-US" sz="1600" b="1" i="0" u="none" strike="noStrike" cap="none" normalizeH="0" baseline="0" dirty="0">
                <a:ln>
                  <a:noFill/>
                </a:ln>
                <a:solidFill>
                  <a:srgbClr val="0070C0"/>
                </a:solidFill>
                <a:effectLst/>
                <a:latin typeface="Times New Roman" pitchFamily="18" charset="0"/>
                <a:ea typeface="Times New Roman" pitchFamily="18" charset="0"/>
                <a:cs typeface="Times New Roman" pitchFamily="18" charset="0"/>
              </a:rPr>
              <a:t>, CaCl</a:t>
            </a:r>
            <a:r>
              <a:rPr kumimoji="0" lang="en-US" sz="1600" b="1" i="0" u="none" strike="noStrike" cap="none" normalizeH="0" baseline="-30000" dirty="0">
                <a:ln>
                  <a:noFill/>
                </a:ln>
                <a:solidFill>
                  <a:srgbClr val="0070C0"/>
                </a:solidFill>
                <a:effectLst/>
                <a:latin typeface="Times New Roman" pitchFamily="18" charset="0"/>
                <a:ea typeface="Times New Roman" pitchFamily="18" charset="0"/>
                <a:cs typeface="Times New Roman" pitchFamily="18" charset="0"/>
              </a:rPr>
              <a:t>2</a:t>
            </a:r>
            <a:r>
              <a:rPr kumimoji="0" lang="en-US" sz="1600" b="1" i="0" u="none" strike="noStrike" cap="none" normalizeH="0" baseline="0" dirty="0">
                <a:ln>
                  <a:noFill/>
                </a:ln>
                <a:solidFill>
                  <a:srgbClr val="0070C0"/>
                </a:solidFill>
                <a:effectLst/>
                <a:latin typeface="Times New Roman" pitchFamily="18" charset="0"/>
                <a:ea typeface="Times New Roman" pitchFamily="18" charset="0"/>
                <a:cs typeface="Times New Roman" pitchFamily="18" charset="0"/>
              </a:rPr>
              <a:t>, and MgCl2, cause permanent hardness</a:t>
            </a:r>
            <a:endParaRPr kumimoji="0" lang="en-US" sz="1600" b="0" i="0" u="none" strike="noStrike" cap="none" normalizeH="0" baseline="0" dirty="0">
              <a:ln>
                <a:noFill/>
              </a:ln>
              <a:solidFill>
                <a:srgbClr val="0070C0"/>
              </a:solidFill>
              <a:effectLst/>
              <a:latin typeface="Times New Roman" pitchFamily="18" charset="0"/>
              <a:cs typeface="Times New Roman" pitchFamily="18" charset="0"/>
            </a:endParaRP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sz="1600" b="1" i="0" u="none" strike="noStrike" cap="none" normalizeH="0" baseline="0" dirty="0">
                <a:ln>
                  <a:noFill/>
                </a:ln>
                <a:solidFill>
                  <a:srgbClr val="0070C0"/>
                </a:solidFill>
                <a:effectLst/>
                <a:latin typeface="Times New Roman" pitchFamily="18" charset="0"/>
                <a:ea typeface="Times New Roman" pitchFamily="18" charset="0"/>
                <a:cs typeface="Times New Roman" pitchFamily="18" charset="0"/>
              </a:rPr>
              <a:t>4.4 + 4.1 + 9.0 + 12.6 = 30.1 mg (or) ppm</a:t>
            </a:r>
            <a:endParaRPr kumimoji="0" lang="en-US" sz="1600" b="0" i="0" u="none" strike="noStrike" cap="none" normalizeH="0" baseline="0" dirty="0">
              <a:ln>
                <a:noFill/>
              </a:ln>
              <a:solidFill>
                <a:srgbClr val="0070C0"/>
              </a:solidFill>
              <a:effectLst/>
              <a:latin typeface="Times New Roman" pitchFamily="18" charset="0"/>
              <a:cs typeface="Times New Roman" pitchFamily="18" charset="0"/>
            </a:endParaRP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sz="1600" b="1" i="0" u="none" strike="noStrike" cap="none" normalizeH="0" baseline="0" dirty="0">
                <a:ln>
                  <a:noFill/>
                </a:ln>
                <a:solidFill>
                  <a:srgbClr val="0070C0"/>
                </a:solidFill>
                <a:effectLst/>
                <a:latin typeface="Times New Roman" pitchFamily="18" charset="0"/>
                <a:ea typeface="Times New Roman" pitchFamily="18" charset="0"/>
                <a:cs typeface="Times New Roman" pitchFamily="18" charset="0"/>
              </a:rPr>
              <a:t>30.1 X 0.07 = 2.1 </a:t>
            </a:r>
            <a:r>
              <a:rPr kumimoji="0" lang="en-US" sz="1600" b="1" i="0" u="none" strike="noStrike" cap="none" normalizeH="0" baseline="30000" dirty="0" err="1">
                <a:ln>
                  <a:noFill/>
                </a:ln>
                <a:solidFill>
                  <a:srgbClr val="0070C0"/>
                </a:solidFill>
                <a:effectLst/>
                <a:latin typeface="Times New Roman" pitchFamily="18" charset="0"/>
                <a:ea typeface="Times New Roman" pitchFamily="18" charset="0"/>
                <a:cs typeface="Times New Roman" pitchFamily="18" charset="0"/>
              </a:rPr>
              <a:t>o</a:t>
            </a:r>
            <a:r>
              <a:rPr kumimoji="0" lang="en-US" sz="1600" b="1" i="0" u="none" strike="noStrike" cap="none" normalizeH="0" baseline="0" dirty="0" err="1">
                <a:ln>
                  <a:noFill/>
                </a:ln>
                <a:solidFill>
                  <a:srgbClr val="0070C0"/>
                </a:solidFill>
                <a:effectLst/>
                <a:latin typeface="Times New Roman" pitchFamily="18" charset="0"/>
                <a:ea typeface="Times New Roman" pitchFamily="18" charset="0"/>
                <a:cs typeface="Times New Roman" pitchFamily="18" charset="0"/>
              </a:rPr>
              <a:t>Cl</a:t>
            </a:r>
            <a:endParaRPr kumimoji="0" lang="en-US" sz="1600" b="0" i="0" u="none" strike="noStrike" cap="none" normalizeH="0" baseline="0" dirty="0">
              <a:ln>
                <a:noFill/>
              </a:ln>
              <a:solidFill>
                <a:srgbClr val="0070C0"/>
              </a:solidFill>
              <a:effectLst/>
              <a:latin typeface="Times New Roman" pitchFamily="18" charset="0"/>
              <a:cs typeface="Times New Roman" pitchFamily="18" charset="0"/>
            </a:endParaRP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sz="1600" b="1" i="0" u="none" strike="noStrike" cap="none" normalizeH="0" baseline="0" dirty="0">
                <a:ln>
                  <a:noFill/>
                </a:ln>
                <a:solidFill>
                  <a:srgbClr val="0070C0"/>
                </a:solidFill>
                <a:effectLst/>
                <a:latin typeface="Times New Roman" pitchFamily="18" charset="0"/>
                <a:ea typeface="Times New Roman" pitchFamily="18" charset="0"/>
                <a:cs typeface="Times New Roman" pitchFamily="18" charset="0"/>
              </a:rPr>
              <a:t>30.1 X 0.1 = 3.01 </a:t>
            </a:r>
            <a:r>
              <a:rPr kumimoji="0" lang="en-US" sz="1600" b="1" i="0" u="none" strike="noStrike" cap="none" normalizeH="0" baseline="30000" dirty="0">
                <a:ln>
                  <a:noFill/>
                </a:ln>
                <a:solidFill>
                  <a:srgbClr val="0070C0"/>
                </a:solidFill>
                <a:effectLst/>
                <a:latin typeface="Times New Roman" pitchFamily="18" charset="0"/>
                <a:ea typeface="Times New Roman" pitchFamily="18" charset="0"/>
                <a:cs typeface="Times New Roman" pitchFamily="18" charset="0"/>
              </a:rPr>
              <a:t>o</a:t>
            </a:r>
            <a:r>
              <a:rPr kumimoji="0" lang="en-US" sz="1600" b="1" i="0" u="none" strike="noStrike" cap="none" normalizeH="0" baseline="0" dirty="0">
                <a:ln>
                  <a:noFill/>
                </a:ln>
                <a:solidFill>
                  <a:srgbClr val="0070C0"/>
                </a:solidFill>
                <a:effectLst/>
                <a:latin typeface="Times New Roman" pitchFamily="18" charset="0"/>
                <a:ea typeface="Times New Roman" pitchFamily="18" charset="0"/>
                <a:cs typeface="Times New Roman" pitchFamily="18" charset="0"/>
              </a:rPr>
              <a:t>Fr  </a:t>
            </a:r>
            <a:endParaRPr kumimoji="0" lang="en-US" sz="1600" b="0" i="0" u="none" strike="noStrike" cap="none" normalizeH="0" baseline="0" dirty="0">
              <a:ln>
                <a:noFill/>
              </a:ln>
              <a:solidFill>
                <a:srgbClr val="0070C0"/>
              </a:solidFill>
              <a:effectLst/>
              <a:latin typeface="Times New Roman" pitchFamily="18" charset="0"/>
              <a:cs typeface="Times New Roman" pitchFamily="18" charset="0"/>
            </a:endParaRP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sz="1600" b="1" i="0" u="none" strike="noStrike" cap="none" normalizeH="0" baseline="0" dirty="0">
                <a:ln>
                  <a:noFill/>
                </a:ln>
                <a:solidFill>
                  <a:srgbClr val="0070C0"/>
                </a:solidFill>
                <a:effectLst/>
                <a:latin typeface="Times New Roman" pitchFamily="18" charset="0"/>
                <a:ea typeface="Times New Roman" pitchFamily="18" charset="0"/>
                <a:cs typeface="Times New Roman" pitchFamily="18" charset="0"/>
              </a:rPr>
              <a:t>Total hardness = Temporary hardness + Permanent hardness</a:t>
            </a:r>
            <a:endParaRPr kumimoji="0" lang="en-US" sz="1600" b="0" i="0" u="none" strike="noStrike" cap="none" normalizeH="0" baseline="0" dirty="0">
              <a:ln>
                <a:noFill/>
              </a:ln>
              <a:solidFill>
                <a:srgbClr val="0070C0"/>
              </a:solidFill>
              <a:effectLst/>
              <a:latin typeface="Times New Roman" pitchFamily="18" charset="0"/>
              <a:cs typeface="Times New Roman" pitchFamily="18" charset="0"/>
            </a:endParaRP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sz="1600" b="1" i="0" u="none" strike="noStrike" cap="none" normalizeH="0" baseline="0" dirty="0">
                <a:ln>
                  <a:noFill/>
                </a:ln>
                <a:solidFill>
                  <a:srgbClr val="0070C0"/>
                </a:solidFill>
                <a:effectLst/>
                <a:latin typeface="Times New Roman" pitchFamily="18" charset="0"/>
                <a:ea typeface="Times New Roman" pitchFamily="18" charset="0"/>
                <a:cs typeface="Times New Roman" pitchFamily="18" charset="0"/>
              </a:rPr>
              <a:t>7.8 + 30.1 = 37.9 mg (or) ppm</a:t>
            </a:r>
            <a:endParaRPr kumimoji="0" lang="en-US" sz="1600" b="0" i="0" u="none" strike="noStrike" cap="none" normalizeH="0" baseline="0" dirty="0">
              <a:ln>
                <a:noFill/>
              </a:ln>
              <a:solidFill>
                <a:srgbClr val="0070C0"/>
              </a:solidFill>
              <a:effectLst/>
              <a:latin typeface="Times New Roman" pitchFamily="18" charset="0"/>
              <a:cs typeface="Times New Roman" pitchFamily="18" charset="0"/>
            </a:endParaRP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sz="1600" b="1" i="0" u="none" strike="noStrike" cap="none" normalizeH="0" baseline="0" dirty="0">
                <a:ln>
                  <a:noFill/>
                </a:ln>
                <a:solidFill>
                  <a:srgbClr val="0070C0"/>
                </a:solidFill>
                <a:effectLst/>
                <a:latin typeface="Times New Roman" pitchFamily="18" charset="0"/>
                <a:ea typeface="Times New Roman" pitchFamily="18" charset="0"/>
                <a:cs typeface="Times New Roman" pitchFamily="18" charset="0"/>
              </a:rPr>
              <a:t>37.9X 0.07 =2.65 </a:t>
            </a:r>
            <a:r>
              <a:rPr kumimoji="0" lang="en-US" sz="1600" b="1" i="0" u="none" strike="noStrike" cap="none" normalizeH="0" baseline="30000" dirty="0" err="1">
                <a:ln>
                  <a:noFill/>
                </a:ln>
                <a:solidFill>
                  <a:srgbClr val="0070C0"/>
                </a:solidFill>
                <a:effectLst/>
                <a:latin typeface="Times New Roman" pitchFamily="18" charset="0"/>
                <a:ea typeface="Times New Roman" pitchFamily="18" charset="0"/>
                <a:cs typeface="Times New Roman" pitchFamily="18" charset="0"/>
              </a:rPr>
              <a:t>o</a:t>
            </a:r>
            <a:r>
              <a:rPr kumimoji="0" lang="en-US" sz="1600" b="1" i="0" u="none" strike="noStrike" cap="none" normalizeH="0" baseline="0" dirty="0" err="1">
                <a:ln>
                  <a:noFill/>
                </a:ln>
                <a:solidFill>
                  <a:srgbClr val="0070C0"/>
                </a:solidFill>
                <a:effectLst/>
                <a:latin typeface="Times New Roman" pitchFamily="18" charset="0"/>
                <a:ea typeface="Times New Roman" pitchFamily="18" charset="0"/>
                <a:cs typeface="Times New Roman" pitchFamily="18" charset="0"/>
              </a:rPr>
              <a:t>Cl</a:t>
            </a:r>
            <a:endParaRPr kumimoji="0" lang="en-US" sz="1600" b="0" i="0" u="none" strike="noStrike" cap="none" normalizeH="0" baseline="0" dirty="0">
              <a:ln>
                <a:noFill/>
              </a:ln>
              <a:solidFill>
                <a:srgbClr val="0070C0"/>
              </a:solidFill>
              <a:effectLst/>
              <a:latin typeface="Times New Roman" pitchFamily="18" charset="0"/>
              <a:cs typeface="Times New Roman" pitchFamily="18" charset="0"/>
            </a:endParaRP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sz="1600" b="1" i="0" u="none" strike="noStrike" cap="none" normalizeH="0" baseline="0" dirty="0">
                <a:ln>
                  <a:noFill/>
                </a:ln>
                <a:solidFill>
                  <a:srgbClr val="0070C0"/>
                </a:solidFill>
                <a:effectLst/>
                <a:latin typeface="Times New Roman" pitchFamily="18" charset="0"/>
                <a:ea typeface="Times New Roman" pitchFamily="18" charset="0"/>
                <a:cs typeface="Times New Roman" pitchFamily="18" charset="0"/>
              </a:rPr>
              <a:t>37.9 X 0.1 = 3.79 </a:t>
            </a:r>
            <a:r>
              <a:rPr kumimoji="0" lang="en-US" sz="1600" b="1" i="0" u="none" strike="noStrike" cap="none" normalizeH="0" baseline="30000" dirty="0">
                <a:ln>
                  <a:noFill/>
                </a:ln>
                <a:solidFill>
                  <a:srgbClr val="0070C0"/>
                </a:solidFill>
                <a:effectLst/>
                <a:latin typeface="Times New Roman" pitchFamily="18" charset="0"/>
                <a:ea typeface="Times New Roman" pitchFamily="18" charset="0"/>
                <a:cs typeface="Times New Roman" pitchFamily="18" charset="0"/>
              </a:rPr>
              <a:t>o</a:t>
            </a:r>
            <a:r>
              <a:rPr kumimoji="0" lang="en-US" sz="1600" b="1" i="0" u="none" strike="noStrike" cap="none" normalizeH="0" baseline="0" dirty="0">
                <a:ln>
                  <a:noFill/>
                </a:ln>
                <a:solidFill>
                  <a:srgbClr val="0070C0"/>
                </a:solidFill>
                <a:effectLst/>
                <a:latin typeface="Times New Roman" pitchFamily="18" charset="0"/>
                <a:ea typeface="Times New Roman" pitchFamily="18" charset="0"/>
                <a:cs typeface="Times New Roman" pitchFamily="18" charset="0"/>
              </a:rPr>
              <a:t>Fr</a:t>
            </a:r>
            <a:endParaRPr kumimoji="0" lang="en-US" sz="1600" b="0" i="0" u="none" strike="noStrike" cap="none" normalizeH="0" baseline="0" dirty="0">
              <a:ln>
                <a:noFill/>
              </a:ln>
              <a:solidFill>
                <a:srgbClr val="0070C0"/>
              </a:solidFill>
              <a:effectLst/>
              <a:latin typeface="Times New Roman" pitchFamily="18" charset="0"/>
              <a:cs typeface="Times New Roman"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1"/>
          <p:cNvSpPr>
            <a:spLocks noChangeArrowheads="1"/>
          </p:cNvSpPr>
          <p:nvPr/>
        </p:nvSpPr>
        <p:spPr bwMode="auto">
          <a:xfrm>
            <a:off x="832045" y="224135"/>
            <a:ext cx="11207555" cy="461665"/>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a:ln>
                  <a:noFill/>
                </a:ln>
                <a:solidFill>
                  <a:srgbClr val="C00000"/>
                </a:solidFill>
                <a:effectLst/>
                <a:latin typeface="Times New Roman" pitchFamily="18" charset="0"/>
                <a:ea typeface="Times New Roman" pitchFamily="18" charset="0"/>
                <a:cs typeface="Times New Roman" pitchFamily="18" charset="0"/>
              </a:rPr>
              <a:t>ESTIMATION OF HARDNESS OF WATER BY COMPLEXOMETRIC METHOD</a:t>
            </a:r>
            <a:endParaRPr kumimoji="0" lang="en-US" sz="2400" b="0" i="0" u="none" strike="noStrike" cap="none" normalizeH="0" baseline="0" dirty="0">
              <a:ln>
                <a:noFill/>
              </a:ln>
              <a:solidFill>
                <a:srgbClr val="C00000"/>
              </a:solidFill>
              <a:effectLst/>
              <a:latin typeface="Arial" pitchFamily="34" charset="0"/>
              <a:cs typeface="Arial" pitchFamily="34" charset="0"/>
            </a:endParaRPr>
          </a:p>
        </p:txBody>
      </p:sp>
      <p:sp>
        <p:nvSpPr>
          <p:cNvPr id="27650" name="Rectangle 2"/>
          <p:cNvSpPr>
            <a:spLocks noChangeArrowheads="1"/>
          </p:cNvSpPr>
          <p:nvPr/>
        </p:nvSpPr>
        <p:spPr bwMode="auto">
          <a:xfrm>
            <a:off x="304800" y="762000"/>
            <a:ext cx="12192000" cy="2677656"/>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PRINCIPLE:</a:t>
            </a:r>
            <a:endParaRPr kumimoji="0" lang="en-US" sz="24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The capacity of water to precipitate soap (prevent lather) is the hardness. It is caused by dissolved calcium and magnesium salts. Bicarbonates cause temporary hardness and chlorides and sulphates permanent hardness. </a:t>
            </a:r>
            <a:endParaRPr kumimoji="0" lang="en-US" sz="24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Ethylene diamine tetra acetic acid (EDTA)</a:t>
            </a:r>
            <a:r>
              <a:rPr kumimoji="0" lang="en-US" sz="2400" b="0" i="0" u="none" strike="noStrike" cap="none" normalizeH="0" baseline="0" dirty="0">
                <a:ln>
                  <a:noFill/>
                </a:ln>
                <a:solidFill>
                  <a:srgbClr val="000000"/>
                </a:solidFill>
                <a:effectLst/>
                <a:latin typeface="Times New Roman" pitchFamily="18" charset="0"/>
                <a:ea typeface="Times New Roman" pitchFamily="18" charset="0"/>
                <a:cs typeface="Times New Roman" pitchFamily="18" charset="0"/>
              </a:rPr>
              <a:t> is a c</a:t>
            </a:r>
            <a:r>
              <a:rPr kumimoji="0" lang="en-US" sz="24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omplexing agent, </a:t>
            </a:r>
            <a:r>
              <a:rPr kumimoji="0" lang="en-US" sz="2400" b="0" i="0" u="none" strike="noStrike" cap="none" normalizeH="0" baseline="0" dirty="0" err="1">
                <a:ln>
                  <a:noFill/>
                </a:ln>
                <a:solidFill>
                  <a:schemeClr val="tx1"/>
                </a:solidFill>
                <a:effectLst/>
                <a:latin typeface="Times New Roman" pitchFamily="18" charset="0"/>
                <a:ea typeface="Times New Roman" pitchFamily="18" charset="0"/>
                <a:cs typeface="Times New Roman" pitchFamily="18" charset="0"/>
              </a:rPr>
              <a:t>hexa</a:t>
            </a:r>
            <a:r>
              <a:rPr kumimoji="0" lang="en-US" sz="24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-dentate ligand and forms complexes with Ca</a:t>
            </a:r>
            <a:r>
              <a:rPr kumimoji="0" lang="en-US" sz="2400" b="0" i="0" u="none" strike="noStrike" cap="none" normalizeH="0" baseline="30000" dirty="0">
                <a:ln>
                  <a:noFill/>
                </a:ln>
                <a:solidFill>
                  <a:schemeClr val="tx1"/>
                </a:solidFill>
                <a:effectLst/>
                <a:latin typeface="Times New Roman" pitchFamily="18" charset="0"/>
                <a:ea typeface="Times New Roman" pitchFamily="18" charset="0"/>
                <a:cs typeface="Times New Roman" pitchFamily="18" charset="0"/>
              </a:rPr>
              <a:t>2+</a:t>
            </a:r>
            <a:r>
              <a:rPr kumimoji="0" lang="en-US" sz="24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 Mg</a:t>
            </a:r>
            <a:r>
              <a:rPr kumimoji="0" lang="en-US" sz="2400" b="0" i="0" u="none" strike="noStrike" cap="none" normalizeH="0" baseline="30000" dirty="0">
                <a:ln>
                  <a:noFill/>
                </a:ln>
                <a:solidFill>
                  <a:schemeClr val="tx1"/>
                </a:solidFill>
                <a:effectLst/>
                <a:latin typeface="Times New Roman" pitchFamily="18" charset="0"/>
                <a:ea typeface="Times New Roman" pitchFamily="18" charset="0"/>
                <a:cs typeface="Times New Roman" pitchFamily="18" charset="0"/>
              </a:rPr>
              <a:t>2+</a:t>
            </a:r>
            <a:r>
              <a:rPr kumimoji="0" lang="en-US" sz="24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 ions. Hence the titration is complexometric titration. Eriochrome Black-T is the indicator and is blue in colour in Free State.</a:t>
            </a:r>
            <a:endParaRPr kumimoji="0" lang="en-US" sz="2400" b="0" i="0" u="none" strike="noStrike" cap="none" normalizeH="0" baseline="0" dirty="0">
              <a:ln>
                <a:noFill/>
              </a:ln>
              <a:solidFill>
                <a:schemeClr val="tx1"/>
              </a:solidFill>
              <a:effectLst/>
              <a:latin typeface="Times New Roman" pitchFamily="18" charset="0"/>
              <a:cs typeface="Times New Roman" pitchFamily="18" charset="0"/>
            </a:endParaRPr>
          </a:p>
        </p:txBody>
      </p:sp>
      <p:graphicFrame>
        <p:nvGraphicFramePr>
          <p:cNvPr id="4" name="Table 3"/>
          <p:cNvGraphicFramePr>
            <a:graphicFrameLocks noGrp="1"/>
          </p:cNvGraphicFramePr>
          <p:nvPr/>
        </p:nvGraphicFramePr>
        <p:xfrm>
          <a:off x="4086225" y="3323844"/>
          <a:ext cx="4629150" cy="210312"/>
        </p:xfrm>
        <a:graphic>
          <a:graphicData uri="http://schemas.openxmlformats.org/drawingml/2006/table">
            <a:tbl>
              <a:tblPr/>
              <a:tblGrid>
                <a:gridCol w="2114550">
                  <a:extLst>
                    <a:ext uri="{9D8B030D-6E8A-4147-A177-3AD203B41FA5}">
                      <a16:colId xmlns="" xmlns:a16="http://schemas.microsoft.com/office/drawing/2014/main" val="20000"/>
                    </a:ext>
                  </a:extLst>
                </a:gridCol>
                <a:gridCol w="2514600">
                  <a:extLst>
                    <a:ext uri="{9D8B030D-6E8A-4147-A177-3AD203B41FA5}">
                      <a16:colId xmlns="" xmlns:a16="http://schemas.microsoft.com/office/drawing/2014/main" val="20001"/>
                    </a:ext>
                  </a:extLst>
                </a:gridCol>
              </a:tblGrid>
              <a:tr h="0">
                <a:tc>
                  <a:txBody>
                    <a:bodyPr/>
                    <a:lstStyle/>
                    <a:p>
                      <a:pPr marL="0" marR="0" algn="ctr">
                        <a:lnSpc>
                          <a:spcPct val="115000"/>
                        </a:lnSpc>
                        <a:spcBef>
                          <a:spcPts val="0"/>
                        </a:spcBef>
                        <a:spcAft>
                          <a:spcPts val="0"/>
                        </a:spcAft>
                      </a:pPr>
                      <a:endParaRPr lang="en-US" sz="1200">
                        <a:latin typeface="Times New Roman"/>
                        <a:ea typeface="Times New Roman"/>
                        <a:cs typeface="Times New Roman"/>
                      </a:endParaRPr>
                    </a:p>
                  </a:txBody>
                  <a:tcPr marL="68580" marR="68580" marT="0" marB="0">
                    <a:lnL>
                      <a:noFill/>
                    </a:lnL>
                    <a:lnR>
                      <a:noFill/>
                    </a:lnR>
                    <a:lnT>
                      <a:noFill/>
                    </a:lnT>
                    <a:lnB>
                      <a:noFill/>
                    </a:lnB>
                  </a:tcPr>
                </a:tc>
                <a:tc>
                  <a:txBody>
                    <a:bodyPr/>
                    <a:lstStyle/>
                    <a:p>
                      <a:pPr marL="0" marR="0" algn="ctr">
                        <a:lnSpc>
                          <a:spcPct val="115000"/>
                        </a:lnSpc>
                        <a:spcBef>
                          <a:spcPts val="0"/>
                        </a:spcBef>
                        <a:spcAft>
                          <a:spcPts val="0"/>
                        </a:spcAft>
                      </a:pPr>
                      <a:endParaRPr lang="en-US" sz="1200" dirty="0">
                        <a:latin typeface="Times New Roman"/>
                        <a:ea typeface="Times New Roman"/>
                        <a:cs typeface="Times New Roman"/>
                      </a:endParaRPr>
                    </a:p>
                  </a:txBody>
                  <a:tcPr marL="68580" marR="68580" marT="0" marB="0">
                    <a:lnL>
                      <a:noFill/>
                    </a:lnL>
                    <a:lnR>
                      <a:noFill/>
                    </a:lnR>
                    <a:lnT>
                      <a:noFill/>
                    </a:lnT>
                    <a:lnB>
                      <a:noFill/>
                    </a:lnB>
                  </a:tcPr>
                </a:tc>
                <a:extLst>
                  <a:ext uri="{0D108BD9-81ED-4DB2-BD59-A6C34878D82A}">
                    <a16:rowId xmlns="" xmlns:a16="http://schemas.microsoft.com/office/drawing/2014/main" val="10000"/>
                  </a:ext>
                </a:extLst>
              </a:tr>
            </a:tbl>
          </a:graphicData>
        </a:graphic>
      </p:graphicFrame>
      <p:graphicFrame>
        <p:nvGraphicFramePr>
          <p:cNvPr id="27651" name="Object 3"/>
          <p:cNvGraphicFramePr>
            <a:graphicFrameLocks noChangeAspect="1"/>
          </p:cNvGraphicFramePr>
          <p:nvPr/>
        </p:nvGraphicFramePr>
        <p:xfrm>
          <a:off x="7077995" y="4038600"/>
          <a:ext cx="3285205" cy="2370835"/>
        </p:xfrm>
        <a:graphic>
          <a:graphicData uri="http://schemas.openxmlformats.org/presentationml/2006/ole">
            <mc:AlternateContent xmlns:mc="http://schemas.openxmlformats.org/markup-compatibility/2006">
              <mc:Choice xmlns:v="urn:schemas-microsoft-com:vml" Requires="v">
                <p:oleObj spid="_x0000_s1042" name="CS ChemDraw Drawing" r:id="rId3" imgW="2140899" imgH="1360564" progId="ChemDraw.Document.6.0">
                  <p:embed/>
                </p:oleObj>
              </mc:Choice>
              <mc:Fallback>
                <p:oleObj name="CS ChemDraw Drawing" r:id="rId3" imgW="2140899" imgH="1360564" progId="ChemDraw.Document.6.0">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77995" y="4038600"/>
                        <a:ext cx="3285205" cy="237083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7654" name="AutoShape 6" descr="Ca²⁺/Mg²⁺ titration ..."/>
          <p:cNvSpPr>
            <a:spLocks noChangeAspect="1" noChangeArrowheads="1"/>
          </p:cNvSpPr>
          <p:nvPr/>
        </p:nvSpPr>
        <p:spPr bwMode="auto">
          <a:xfrm>
            <a:off x="155575" y="-136525"/>
            <a:ext cx="296863" cy="296863"/>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9" name="Picture 8" descr="http://homepages.ius.edu/DSPURLOC/c121/images/EDTA.gif"/>
          <p:cNvPicPr>
            <a:picLocks/>
          </p:cNvPicPr>
          <p:nvPr/>
        </p:nvPicPr>
        <p:blipFill>
          <a:blip r:embed="rId5"/>
          <a:srcRect t="8000" r="12000"/>
          <a:stretch>
            <a:fillRect/>
          </a:stretch>
        </p:blipFill>
        <p:spPr>
          <a:xfrm>
            <a:off x="2133600" y="4267200"/>
            <a:ext cx="4191000" cy="21336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304800" y="780871"/>
            <a:ext cx="12115800" cy="120032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When EBT is added to the hard water at p</a:t>
            </a:r>
            <a:r>
              <a:rPr kumimoji="0" lang="en-US" sz="2400" b="0" i="0" u="none" strike="noStrike" cap="none" normalizeH="0" baseline="30000" dirty="0">
                <a:ln>
                  <a:noFill/>
                </a:ln>
                <a:solidFill>
                  <a:schemeClr val="tx1"/>
                </a:solidFill>
                <a:effectLst/>
                <a:latin typeface="Times New Roman" pitchFamily="18" charset="0"/>
                <a:ea typeface="Times New Roman" pitchFamily="18" charset="0"/>
                <a:cs typeface="Times New Roman" pitchFamily="18" charset="0"/>
              </a:rPr>
              <a:t>H</a:t>
            </a:r>
            <a:r>
              <a:rPr kumimoji="0" lang="en-US" sz="24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 = 10, it gives wine-red colored unstable complexes with Ca</a:t>
            </a:r>
            <a:r>
              <a:rPr kumimoji="0" lang="en-US" sz="2400" b="0" i="0" u="none" strike="noStrike" cap="none" normalizeH="0" baseline="30000" dirty="0">
                <a:ln>
                  <a:noFill/>
                </a:ln>
                <a:solidFill>
                  <a:schemeClr val="tx1"/>
                </a:solidFill>
                <a:effectLst/>
                <a:latin typeface="Times New Roman" pitchFamily="18" charset="0"/>
                <a:ea typeface="Times New Roman" pitchFamily="18" charset="0"/>
                <a:cs typeface="Times New Roman" pitchFamily="18" charset="0"/>
              </a:rPr>
              <a:t>2+</a:t>
            </a:r>
            <a:r>
              <a:rPr kumimoji="0" lang="en-US" sz="24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 and Mg</a:t>
            </a:r>
            <a:r>
              <a:rPr kumimoji="0" lang="en-US" sz="2400" b="0" i="0" u="none" strike="noStrike" cap="none" normalizeH="0" baseline="30000" dirty="0">
                <a:ln>
                  <a:noFill/>
                </a:ln>
                <a:solidFill>
                  <a:schemeClr val="tx1"/>
                </a:solidFill>
                <a:effectLst/>
                <a:latin typeface="Times New Roman" pitchFamily="18" charset="0"/>
                <a:ea typeface="Times New Roman" pitchFamily="18" charset="0"/>
                <a:cs typeface="Times New Roman" pitchFamily="18" charset="0"/>
              </a:rPr>
              <a:t>2+</a:t>
            </a:r>
            <a:r>
              <a:rPr kumimoji="0" lang="en-US" sz="24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 ions. The solution turns blue when this mixture is titrated against EDTA solution.</a:t>
            </a:r>
            <a:endParaRPr kumimoji="0" lang="en-US" sz="2400" b="0" i="0" u="none" strike="noStrike" cap="none" normalizeH="0" baseline="0" dirty="0">
              <a:ln>
                <a:noFill/>
              </a:ln>
              <a:solidFill>
                <a:schemeClr val="tx1"/>
              </a:solidFill>
              <a:effectLst/>
              <a:latin typeface="Times New Roman" pitchFamily="18" charset="0"/>
              <a:cs typeface="Times New Roman" pitchFamily="18" charset="0"/>
            </a:endParaRPr>
          </a:p>
        </p:txBody>
      </p:sp>
      <p:pic>
        <p:nvPicPr>
          <p:cNvPr id="28673" name="Picture 3"/>
          <p:cNvPicPr>
            <a:picLocks noChangeAspect="1" noChangeArrowheads="1"/>
          </p:cNvPicPr>
          <p:nvPr/>
        </p:nvPicPr>
        <p:blipFill>
          <a:blip r:embed="rId2"/>
          <a:srcRect/>
          <a:stretch>
            <a:fillRect/>
          </a:stretch>
        </p:blipFill>
        <p:spPr bwMode="auto">
          <a:xfrm>
            <a:off x="152400" y="2438400"/>
            <a:ext cx="8305799" cy="2895600"/>
          </a:xfrm>
          <a:prstGeom prst="rect">
            <a:avLst/>
          </a:prstGeom>
          <a:noFill/>
        </p:spPr>
      </p:pic>
      <p:sp>
        <p:nvSpPr>
          <p:cNvPr id="28675" name="Rectangle 3"/>
          <p:cNvSpPr>
            <a:spLocks noChangeArrowheads="1"/>
          </p:cNvSpPr>
          <p:nvPr/>
        </p:nvSpPr>
        <p:spPr bwMode="auto">
          <a:xfrm>
            <a:off x="0" y="1981200"/>
            <a:ext cx="128016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pic>
        <p:nvPicPr>
          <p:cNvPr id="5" name="Picture 8" descr="Titration of water hardness (complexometry explained). Bonus: Calcium in  milk - YouTube"/>
          <p:cNvPicPr>
            <a:picLocks noChangeAspect="1" noChangeArrowheads="1"/>
          </p:cNvPicPr>
          <p:nvPr/>
        </p:nvPicPr>
        <p:blipFill>
          <a:blip r:embed="rId3"/>
          <a:srcRect l="7625" r="11550"/>
          <a:stretch>
            <a:fillRect/>
          </a:stretch>
        </p:blipFill>
        <p:spPr bwMode="auto">
          <a:xfrm>
            <a:off x="8382000" y="2057400"/>
            <a:ext cx="4148059" cy="3116263"/>
          </a:xfrm>
          <a:prstGeom prst="rect">
            <a:avLst/>
          </a:prstGeom>
          <a:noFill/>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1"/>
          <p:cNvSpPr>
            <a:spLocks noChangeArrowheads="1"/>
          </p:cNvSpPr>
          <p:nvPr/>
        </p:nvSpPr>
        <p:spPr bwMode="auto">
          <a:xfrm>
            <a:off x="152402" y="2122944"/>
            <a:ext cx="9813924" cy="2677656"/>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a:ln>
                  <a:noFill/>
                </a:ln>
                <a:solidFill>
                  <a:srgbClr val="7030A0"/>
                </a:solidFill>
                <a:effectLst/>
                <a:latin typeface="Times New Roman" pitchFamily="18" charset="0"/>
                <a:ea typeface="Times New Roman" pitchFamily="18" charset="0"/>
                <a:cs typeface="Times New Roman" pitchFamily="18" charset="0"/>
              </a:rPr>
              <a:t>Part-2</a:t>
            </a:r>
            <a:endParaRPr kumimoji="0" lang="en-US" sz="2400" b="0" i="0" u="none" strike="noStrike" cap="none" normalizeH="0" baseline="0" dirty="0">
              <a:ln>
                <a:noFill/>
              </a:ln>
              <a:solidFill>
                <a:srgbClr val="7030A0"/>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400" b="1" i="0" u="none" strike="noStrike" cap="none" normalizeH="0" baseline="0" dirty="0">
                <a:ln>
                  <a:noFill/>
                </a:ln>
                <a:solidFill>
                  <a:srgbClr val="7030A0"/>
                </a:solidFill>
                <a:effectLst/>
                <a:latin typeface="Times New Roman" pitchFamily="18" charset="0"/>
                <a:ea typeface="Times New Roman" pitchFamily="18" charset="0"/>
                <a:cs typeface="Times New Roman" pitchFamily="18" charset="0"/>
              </a:rPr>
              <a:t>Standardization of EDTA</a:t>
            </a:r>
            <a:endParaRPr kumimoji="0" lang="en-US" sz="2400" b="0" i="0" u="none" strike="noStrike" cap="none" normalizeH="0" baseline="0" dirty="0">
              <a:ln>
                <a:noFill/>
              </a:ln>
              <a:solidFill>
                <a:srgbClr val="7030A0"/>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Pipette out 10ml. of Standard hard water into a conical flask.  Add 5ml (approx.) of buffer solution and 2 to 3 drops of Eriochrome black-T indicator.  The solution attains wine-red colour. Titrate the contents of the conical flask against the EDTA solution until the colour changes to blue. Note the burette reading and repeat the titration to get concurrent values. </a:t>
            </a:r>
            <a:endParaRPr kumimoji="0" lang="en-US" sz="2400" b="0" i="0" u="none" strike="noStrike" cap="none" normalizeH="0" baseline="0" dirty="0">
              <a:ln>
                <a:noFill/>
              </a:ln>
              <a:solidFill>
                <a:schemeClr val="tx1"/>
              </a:solidFill>
              <a:effectLst/>
              <a:latin typeface="Times New Roman" pitchFamily="18" charset="0"/>
              <a:cs typeface="Times New Roman" pitchFamily="18" charset="0"/>
            </a:endParaRPr>
          </a:p>
        </p:txBody>
      </p:sp>
      <p:sp>
        <p:nvSpPr>
          <p:cNvPr id="30722" name="Rectangle 2"/>
          <p:cNvSpPr>
            <a:spLocks noChangeArrowheads="1"/>
          </p:cNvSpPr>
          <p:nvPr/>
        </p:nvSpPr>
        <p:spPr bwMode="auto">
          <a:xfrm>
            <a:off x="252234" y="4842808"/>
            <a:ext cx="5691366" cy="193899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N</a:t>
            </a:r>
            <a:r>
              <a:rPr kumimoji="0" lang="en-US" sz="2400" b="0" i="0" u="none" strike="noStrike" cap="none" normalizeH="0" baseline="-30000" dirty="0">
                <a:ln>
                  <a:noFill/>
                </a:ln>
                <a:solidFill>
                  <a:schemeClr val="tx1"/>
                </a:solidFill>
                <a:effectLst/>
                <a:latin typeface="Times New Roman" pitchFamily="18" charset="0"/>
                <a:ea typeface="Times New Roman" pitchFamily="18" charset="0"/>
                <a:cs typeface="Times New Roman" pitchFamily="18" charset="0"/>
              </a:rPr>
              <a:t>1</a:t>
            </a:r>
            <a:r>
              <a:rPr kumimoji="0" lang="en-US" sz="24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V</a:t>
            </a:r>
            <a:r>
              <a:rPr kumimoji="0" lang="en-US" sz="2400" b="0" i="0" u="none" strike="noStrike" cap="none" normalizeH="0" baseline="-30000" dirty="0">
                <a:ln>
                  <a:noFill/>
                </a:ln>
                <a:solidFill>
                  <a:schemeClr val="tx1"/>
                </a:solidFill>
                <a:effectLst/>
                <a:latin typeface="Times New Roman" pitchFamily="18" charset="0"/>
                <a:ea typeface="Times New Roman" pitchFamily="18" charset="0"/>
                <a:cs typeface="Times New Roman" pitchFamily="18" charset="0"/>
              </a:rPr>
              <a:t>1</a:t>
            </a:r>
            <a:r>
              <a:rPr kumimoji="0" lang="en-US" sz="24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 (Standard hard water) = N</a:t>
            </a:r>
            <a:r>
              <a:rPr kumimoji="0" lang="en-US" sz="2400" b="0" i="0" u="none" strike="noStrike" cap="none" normalizeH="0" baseline="-30000" dirty="0">
                <a:ln>
                  <a:noFill/>
                </a:ln>
                <a:solidFill>
                  <a:schemeClr val="tx1"/>
                </a:solidFill>
                <a:effectLst/>
                <a:latin typeface="Times New Roman" pitchFamily="18" charset="0"/>
                <a:ea typeface="Times New Roman" pitchFamily="18" charset="0"/>
                <a:cs typeface="Times New Roman" pitchFamily="18" charset="0"/>
              </a:rPr>
              <a:t>2</a:t>
            </a:r>
            <a:r>
              <a:rPr kumimoji="0" lang="en-US" sz="24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V</a:t>
            </a:r>
            <a:r>
              <a:rPr kumimoji="0" lang="en-US" sz="2400" b="0" i="0" u="none" strike="noStrike" cap="none" normalizeH="0" baseline="-30000" dirty="0">
                <a:ln>
                  <a:noFill/>
                </a:ln>
                <a:solidFill>
                  <a:schemeClr val="tx1"/>
                </a:solidFill>
                <a:effectLst/>
                <a:latin typeface="Times New Roman" pitchFamily="18" charset="0"/>
                <a:ea typeface="Times New Roman" pitchFamily="18" charset="0"/>
                <a:cs typeface="Times New Roman" pitchFamily="18" charset="0"/>
              </a:rPr>
              <a:t>2</a:t>
            </a:r>
            <a:r>
              <a:rPr kumimoji="0" lang="en-US" sz="24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 (EDTA)</a:t>
            </a:r>
            <a:endParaRPr kumimoji="0" lang="en-US" sz="24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Normality of standard hard water (N</a:t>
            </a:r>
            <a:r>
              <a:rPr kumimoji="0" lang="en-US" sz="2400" b="0" i="0" u="none" strike="noStrike" cap="none" normalizeH="0" baseline="-30000" dirty="0">
                <a:ln>
                  <a:noFill/>
                </a:ln>
                <a:solidFill>
                  <a:schemeClr val="tx1"/>
                </a:solidFill>
                <a:effectLst/>
                <a:latin typeface="Times New Roman" pitchFamily="18" charset="0"/>
                <a:ea typeface="Times New Roman" pitchFamily="18" charset="0"/>
                <a:cs typeface="Times New Roman" pitchFamily="18" charset="0"/>
              </a:rPr>
              <a:t>1</a:t>
            </a:r>
            <a:r>
              <a:rPr kumimoji="0" lang="en-US" sz="24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 =</a:t>
            </a:r>
            <a:endParaRPr kumimoji="0" lang="en-US" sz="24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Volume of standard hard water (V</a:t>
            </a:r>
            <a:r>
              <a:rPr kumimoji="0" lang="en-US" sz="2400" b="0" i="0" u="none" strike="noStrike" cap="none" normalizeH="0" baseline="-30000" dirty="0">
                <a:ln>
                  <a:noFill/>
                </a:ln>
                <a:solidFill>
                  <a:schemeClr val="tx1"/>
                </a:solidFill>
                <a:effectLst/>
                <a:latin typeface="Times New Roman" pitchFamily="18" charset="0"/>
                <a:ea typeface="Times New Roman" pitchFamily="18" charset="0"/>
                <a:cs typeface="Times New Roman" pitchFamily="18" charset="0"/>
              </a:rPr>
              <a:t>1</a:t>
            </a:r>
            <a:r>
              <a:rPr kumimoji="0" lang="en-US" sz="24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 = 10 ml.</a:t>
            </a:r>
            <a:endParaRPr kumimoji="0" lang="en-US" sz="24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Normality of EDTA (N</a:t>
            </a:r>
            <a:r>
              <a:rPr kumimoji="0" lang="en-US" sz="2400" b="0" i="0" u="none" strike="noStrike" cap="none" normalizeH="0" baseline="-30000" dirty="0">
                <a:ln>
                  <a:noFill/>
                </a:ln>
                <a:solidFill>
                  <a:schemeClr val="tx1"/>
                </a:solidFill>
                <a:effectLst/>
                <a:latin typeface="Times New Roman" pitchFamily="18" charset="0"/>
                <a:ea typeface="Times New Roman" pitchFamily="18" charset="0"/>
                <a:cs typeface="Times New Roman" pitchFamily="18" charset="0"/>
              </a:rPr>
              <a:t>2</a:t>
            </a:r>
            <a:r>
              <a:rPr kumimoji="0" lang="en-US" sz="24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 =?</a:t>
            </a:r>
            <a:endParaRPr kumimoji="0" lang="en-US" sz="24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Volume of EDTA used in 2</a:t>
            </a:r>
            <a:r>
              <a:rPr kumimoji="0" lang="en-US" sz="2400" b="0" i="0" u="none" strike="noStrike" cap="none" normalizeH="0" baseline="30000" dirty="0">
                <a:ln>
                  <a:noFill/>
                </a:ln>
                <a:solidFill>
                  <a:schemeClr val="tx1"/>
                </a:solidFill>
                <a:effectLst/>
                <a:latin typeface="Times New Roman" pitchFamily="18" charset="0"/>
                <a:ea typeface="Times New Roman" pitchFamily="18" charset="0"/>
                <a:cs typeface="Times New Roman" pitchFamily="18" charset="0"/>
              </a:rPr>
              <a:t>nd</a:t>
            </a:r>
            <a:r>
              <a:rPr kumimoji="0" lang="en-US" sz="24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 step (V</a:t>
            </a:r>
            <a:r>
              <a:rPr kumimoji="0" lang="en-US" sz="2400" b="0" i="0" u="none" strike="noStrike" cap="none" normalizeH="0" baseline="-30000" dirty="0">
                <a:ln>
                  <a:noFill/>
                </a:ln>
                <a:solidFill>
                  <a:schemeClr val="tx1"/>
                </a:solidFill>
                <a:effectLst/>
                <a:latin typeface="Times New Roman" pitchFamily="18" charset="0"/>
                <a:ea typeface="Times New Roman" pitchFamily="18" charset="0"/>
                <a:cs typeface="Times New Roman" pitchFamily="18" charset="0"/>
              </a:rPr>
              <a:t>2</a:t>
            </a:r>
            <a:r>
              <a:rPr kumimoji="0" lang="en-US" sz="24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 =?</a:t>
            </a:r>
            <a:endParaRPr kumimoji="0" lang="en-US" sz="2400" b="0" i="0" u="none" strike="noStrike" cap="none" normalizeH="0" baseline="0" dirty="0">
              <a:ln>
                <a:noFill/>
              </a:ln>
              <a:solidFill>
                <a:schemeClr val="tx1"/>
              </a:solidFill>
              <a:effectLst/>
              <a:latin typeface="Times New Roman" pitchFamily="18" charset="0"/>
              <a:cs typeface="Times New Roman" pitchFamily="18" charset="0"/>
            </a:endParaRPr>
          </a:p>
        </p:txBody>
      </p:sp>
      <p:pic>
        <p:nvPicPr>
          <p:cNvPr id="30724" name="Picture 4" descr="Acids and Bases I | Biology | Visionlearning"/>
          <p:cNvPicPr>
            <a:picLocks noChangeAspect="1" noChangeArrowheads="1"/>
          </p:cNvPicPr>
          <p:nvPr/>
        </p:nvPicPr>
        <p:blipFill>
          <a:blip r:embed="rId3"/>
          <a:srcRect/>
          <a:stretch>
            <a:fillRect/>
          </a:stretch>
        </p:blipFill>
        <p:spPr bwMode="auto">
          <a:xfrm>
            <a:off x="9966325" y="2057400"/>
            <a:ext cx="2530475" cy="4517213"/>
          </a:xfrm>
          <a:prstGeom prst="rect">
            <a:avLst/>
          </a:prstGeom>
          <a:noFill/>
        </p:spPr>
      </p:pic>
      <mc:AlternateContent xmlns:mc="http://schemas.openxmlformats.org/markup-compatibility/2006">
        <mc:Choice xmlns:a14="http://schemas.microsoft.com/office/drawing/2010/main" Requires="a14">
          <p:sp>
            <p:nvSpPr>
              <p:cNvPr id="2" name="Rectangle 2"/>
              <p:cNvSpPr>
                <a:spLocks noChangeArrowheads="1"/>
              </p:cNvSpPr>
              <p:nvPr/>
            </p:nvSpPr>
            <p:spPr bwMode="auto">
              <a:xfrm>
                <a:off x="152401" y="95269"/>
                <a:ext cx="12496799" cy="2952731"/>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PROCEDURE</a:t>
                </a:r>
                <a:endParaRPr kumimoji="0" lang="en-US" sz="24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1" i="0" u="none" strike="noStrike" cap="none" normalizeH="0" baseline="0" dirty="0" smtClean="0">
                    <a:ln>
                      <a:noFill/>
                    </a:ln>
                    <a:solidFill>
                      <a:srgbClr val="7030A0"/>
                    </a:solidFill>
                    <a:effectLst/>
                    <a:latin typeface="Times New Roman" pitchFamily="18" charset="0"/>
                    <a:ea typeface="Times New Roman" pitchFamily="18" charset="0"/>
                    <a:cs typeface="Times New Roman" pitchFamily="18" charset="0"/>
                  </a:rPr>
                  <a:t>Part-1: Preparation of standard hard water</a:t>
                </a:r>
                <a:endParaRPr kumimoji="0" lang="en-US" sz="2400" b="0" i="0" u="none" strike="noStrike" cap="none" normalizeH="0" baseline="0" dirty="0" smtClean="0">
                  <a:ln>
                    <a:noFill/>
                  </a:ln>
                  <a:solidFill>
                    <a:srgbClr val="7030A0"/>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Take 0.01 grams of Epsom salt and transfer it into a 100 ml. standard flask.  Add few ml. of distilled water and shake properly to get clear solution. Make up the solution up to the mark of the standard flask by adding distilled water.</a:t>
                </a:r>
                <a:endParaRPr kumimoji="0" lang="en-US" sz="2400" b="0" i="0" u="none" strike="noStrike" cap="none" normalizeH="0" baseline="0" dirty="0" smtClean="0">
                  <a:ln>
                    <a:noFill/>
                  </a:ln>
                  <a:solidFill>
                    <a:schemeClr val="tx1"/>
                  </a:solidFill>
                  <a:effectLst/>
                  <a:latin typeface="Times New Roman" pitchFamily="18" charset="0"/>
                  <a:cs typeface="Times New Roman" pitchFamily="18" charset="0"/>
                </a:endParaRPr>
              </a:p>
              <a:p>
                <a:pPr eaLnBrk="0" fontAlgn="base" hangingPunct="0">
                  <a:spcBef>
                    <a:spcPct val="0"/>
                  </a:spcBef>
                  <a:spcAft>
                    <a:spcPct val="0"/>
                  </a:spcAft>
                </a:pPr>
                <a:r>
                  <a:rPr lang="en-US" sz="2400" b="1" dirty="0" smtClean="0"/>
                  <a:t>                                                   Normality </a:t>
                </a:r>
                <a:r>
                  <a:rPr lang="en-US" sz="2400" b="1" dirty="0"/>
                  <a:t>(N</a:t>
                </a:r>
                <a:r>
                  <a:rPr lang="en-US" sz="2400" b="1" baseline="-25000" dirty="0"/>
                  <a:t>1</a:t>
                </a:r>
                <a:r>
                  <a:rPr lang="en-US" sz="2400" b="1" dirty="0"/>
                  <a:t>) = </a:t>
                </a:r>
                <a14:m>
                  <m:oMath xmlns:m="http://schemas.openxmlformats.org/officeDocument/2006/math">
                    <m:f>
                      <m:fPr>
                        <m:ctrlPr>
                          <a:rPr lang="en-US" sz="2400" i="1"/>
                        </m:ctrlPr>
                      </m:fPr>
                      <m:num>
                        <m:r>
                          <m:rPr>
                            <m:nor/>
                          </m:rPr>
                          <a:rPr lang="en-US" sz="2400"/>
                          <m:t>Weight</m:t>
                        </m:r>
                        <m:r>
                          <m:rPr>
                            <m:nor/>
                          </m:rPr>
                          <a:rPr lang="en-US" sz="2400" i="1"/>
                          <m:t> </m:t>
                        </m:r>
                      </m:num>
                      <m:den>
                        <m:r>
                          <m:rPr>
                            <m:nor/>
                          </m:rPr>
                          <a:rPr lang="en-US" sz="2400"/>
                          <m:t>Equivalent</m:t>
                        </m:r>
                        <m:r>
                          <m:rPr>
                            <m:nor/>
                          </m:rPr>
                          <a:rPr lang="en-US" sz="2400" i="1"/>
                          <m:t> </m:t>
                        </m:r>
                        <m:r>
                          <m:rPr>
                            <m:nor/>
                          </m:rPr>
                          <a:rPr lang="en-US" sz="2400"/>
                          <m:t>weight</m:t>
                        </m:r>
                        <m:r>
                          <m:rPr>
                            <m:nor/>
                          </m:rPr>
                          <a:rPr lang="en-US" sz="2400" i="1"/>
                          <m:t> </m:t>
                        </m:r>
                      </m:den>
                    </m:f>
                    <m:f>
                      <m:fPr>
                        <m:ctrlPr>
                          <a:rPr lang="en-US" sz="2400" i="1"/>
                        </m:ctrlPr>
                      </m:fPr>
                      <m:num>
                        <m:r>
                          <m:rPr>
                            <m:nor/>
                          </m:rPr>
                          <a:rPr lang="en-US" sz="2400"/>
                          <m:t>1000</m:t>
                        </m:r>
                        <m:r>
                          <m:rPr>
                            <m:nor/>
                          </m:rPr>
                          <a:rPr lang="en-US" sz="2400" i="1"/>
                          <m:t> </m:t>
                        </m:r>
                      </m:num>
                      <m:den>
                        <m:r>
                          <m:rPr>
                            <m:nor/>
                          </m:rPr>
                          <a:rPr lang="en-US" sz="2400"/>
                          <m:t>V</m:t>
                        </m:r>
                        <m:r>
                          <m:rPr>
                            <m:nor/>
                          </m:rPr>
                          <a:rPr lang="en-US" sz="2400" baseline="-25000"/>
                          <m:t>ml</m:t>
                        </m:r>
                        <m:r>
                          <m:rPr>
                            <m:nor/>
                          </m:rPr>
                          <a:rPr lang="en-US" sz="2400" i="1"/>
                          <m:t> </m:t>
                        </m:r>
                      </m:den>
                    </m:f>
                  </m:oMath>
                </a14:m>
                <a:endParaRPr lang="en-US" sz="2400" dirty="0"/>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smtClean="0">
                  <a:ln>
                    <a:noFill/>
                  </a:ln>
                  <a:solidFill>
                    <a:schemeClr val="tx1"/>
                  </a:solidFill>
                  <a:effectLst/>
                  <a:latin typeface="Times New Roman" pitchFamily="18" charset="0"/>
                  <a:cs typeface="Times New Roman" pitchFamily="18" charset="0"/>
                </a:endParaRPr>
              </a:p>
            </p:txBody>
          </p:sp>
        </mc:Choice>
        <mc:Fallback>
          <p:sp>
            <p:nvSpPr>
              <p:cNvPr id="2" name="Rectangle 2"/>
              <p:cNvSpPr>
                <a:spLocks noRot="1" noChangeAspect="1" noMove="1" noResize="1" noEditPoints="1" noAdjustHandles="1" noChangeArrowheads="1" noChangeShapeType="1" noTextEdit="1"/>
              </p:cNvSpPr>
              <p:nvPr/>
            </p:nvSpPr>
            <p:spPr bwMode="auto">
              <a:xfrm>
                <a:off x="152401" y="95269"/>
                <a:ext cx="12496799" cy="2952731"/>
              </a:xfrm>
              <a:prstGeom prst="rect">
                <a:avLst/>
              </a:prstGeom>
              <a:blipFill rotWithShape="1">
                <a:blip r:embed="rId4"/>
                <a:stretch>
                  <a:fillRect l="-732" t="-1240" r="-488"/>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Text Box 22"/>
              <p:cNvSpPr txBox="1">
                <a:spLocks/>
              </p:cNvSpPr>
              <p:nvPr/>
            </p:nvSpPr>
            <p:spPr>
              <a:xfrm>
                <a:off x="2251710" y="8326755"/>
                <a:ext cx="3271520" cy="533400"/>
              </a:xfrm>
              <a:prstGeom prst="rect">
                <a:avLst/>
              </a:prstGeom>
              <a:noFill/>
            </p:spPr>
            <p:txBody>
              <a:bodyPr wrap="square" lIns="0" tIns="0" rIns="0" bIns="0" rtlCol="0">
                <a:noAutofit/>
              </a:bodyPr>
              <a:lstStyle/>
              <a:p>
                <a:pPr marL="228600" marR="0" algn="ctr">
                  <a:lnSpc>
                    <a:spcPct val="115000"/>
                  </a:lnSpc>
                  <a:spcBef>
                    <a:spcPts val="0"/>
                  </a:spcBef>
                  <a:spcAft>
                    <a:spcPts val="0"/>
                  </a:spcAft>
                </a:pPr>
                <a:r>
                  <a:rPr lang="en-US" sz="1200" b="1" kern="1200">
                    <a:solidFill>
                      <a:srgbClr val="000000"/>
                    </a:solidFill>
                    <a:effectLst/>
                    <a:latin typeface="Times New Roman"/>
                    <a:ea typeface="Times New Roman"/>
                    <a:cs typeface="Times New Roman"/>
                  </a:rPr>
                  <a:t>Normality (N</a:t>
                </a:r>
                <a:r>
                  <a:rPr lang="en-US" sz="1200" b="1" kern="1200" baseline="-25000">
                    <a:solidFill>
                      <a:srgbClr val="000000"/>
                    </a:solidFill>
                    <a:effectLst/>
                    <a:latin typeface="Times New Roman"/>
                    <a:ea typeface="Times New Roman"/>
                    <a:cs typeface="Times New Roman"/>
                  </a:rPr>
                  <a:t>1</a:t>
                </a:r>
                <a:r>
                  <a:rPr lang="en-US" sz="1200" b="1" kern="1200">
                    <a:solidFill>
                      <a:srgbClr val="000000"/>
                    </a:solidFill>
                    <a:effectLst/>
                    <a:latin typeface="Times New Roman"/>
                    <a:ea typeface="Times New Roman"/>
                    <a:cs typeface="Times New Roman"/>
                  </a:rPr>
                  <a:t>) = </a:t>
                </a:r>
                <a14:m>
                  <m:oMath xmlns:m="http://schemas.openxmlformats.org/officeDocument/2006/math">
                    <m:f>
                      <m:fPr>
                        <m:ctrlPr>
                          <a:rPr lang="en-US" sz="1800" i="1" kern="1200">
                            <a:solidFill>
                              <a:srgbClr val="000000"/>
                            </a:solidFill>
                            <a:effectLst/>
                            <a:latin typeface="Cambria Math"/>
                            <a:ea typeface="Times New Roman"/>
                            <a:cs typeface="Times New Roman"/>
                          </a:rPr>
                        </m:ctrlPr>
                      </m:fPr>
                      <m:num>
                        <m:r>
                          <m:rPr>
                            <m:nor/>
                          </m:rPr>
                          <a:rPr lang="en-US" sz="1800" kern="1200">
                            <a:solidFill>
                              <a:srgbClr val="000000"/>
                            </a:solidFill>
                            <a:effectLst/>
                            <a:latin typeface="Calibri"/>
                            <a:ea typeface="Times New Roman"/>
                            <a:cs typeface="Times New Roman"/>
                          </a:rPr>
                          <m:t>Weight</m:t>
                        </m:r>
                        <m:r>
                          <m:rPr>
                            <m:nor/>
                          </m:rPr>
                          <a:rPr lang="en-US" sz="1800" i="1" kern="1200">
                            <a:solidFill>
                              <a:srgbClr val="000000"/>
                            </a:solidFill>
                            <a:effectLst/>
                            <a:latin typeface="Calibri"/>
                            <a:ea typeface="Times New Roman"/>
                            <a:cs typeface="Times New Roman"/>
                          </a:rPr>
                          <m:t> </m:t>
                        </m:r>
                      </m:num>
                      <m:den>
                        <m:r>
                          <m:rPr>
                            <m:nor/>
                          </m:rPr>
                          <a:rPr lang="en-US" sz="1800" kern="1200">
                            <a:solidFill>
                              <a:srgbClr val="000000"/>
                            </a:solidFill>
                            <a:effectLst/>
                            <a:latin typeface="Calibri"/>
                            <a:ea typeface="Times New Roman"/>
                            <a:cs typeface="Times New Roman"/>
                          </a:rPr>
                          <m:t>Equivalent</m:t>
                        </m:r>
                        <m:r>
                          <m:rPr>
                            <m:nor/>
                          </m:rPr>
                          <a:rPr lang="en-US" sz="1800" i="1" kern="1200">
                            <a:solidFill>
                              <a:srgbClr val="000000"/>
                            </a:solidFill>
                            <a:effectLst/>
                            <a:latin typeface="Calibri"/>
                            <a:ea typeface="Times New Roman"/>
                            <a:cs typeface="Times New Roman"/>
                          </a:rPr>
                          <m:t> </m:t>
                        </m:r>
                        <m:r>
                          <m:rPr>
                            <m:nor/>
                          </m:rPr>
                          <a:rPr lang="en-US" sz="1800" kern="1200">
                            <a:solidFill>
                              <a:srgbClr val="000000"/>
                            </a:solidFill>
                            <a:effectLst/>
                            <a:latin typeface="Calibri"/>
                            <a:ea typeface="Times New Roman"/>
                            <a:cs typeface="Times New Roman"/>
                          </a:rPr>
                          <m:t>weight</m:t>
                        </m:r>
                        <m:r>
                          <m:rPr>
                            <m:nor/>
                          </m:rPr>
                          <a:rPr lang="en-US" sz="1800" i="1" kern="1200">
                            <a:solidFill>
                              <a:srgbClr val="000000"/>
                            </a:solidFill>
                            <a:effectLst/>
                            <a:latin typeface="Calibri"/>
                            <a:ea typeface="Times New Roman"/>
                            <a:cs typeface="Times New Roman"/>
                          </a:rPr>
                          <m:t> </m:t>
                        </m:r>
                      </m:den>
                    </m:f>
                    <m:f>
                      <m:fPr>
                        <m:ctrlPr>
                          <a:rPr lang="en-US" sz="1800" i="1" kern="1200">
                            <a:solidFill>
                              <a:srgbClr val="000000"/>
                            </a:solidFill>
                            <a:effectLst/>
                            <a:latin typeface="Cambria Math"/>
                            <a:ea typeface="Times New Roman"/>
                            <a:cs typeface="Times New Roman"/>
                          </a:rPr>
                        </m:ctrlPr>
                      </m:fPr>
                      <m:num>
                        <m:r>
                          <m:rPr>
                            <m:nor/>
                          </m:rPr>
                          <a:rPr lang="en-US" sz="1800" kern="1200">
                            <a:solidFill>
                              <a:srgbClr val="000000"/>
                            </a:solidFill>
                            <a:effectLst/>
                            <a:latin typeface="Calibri"/>
                            <a:ea typeface="Times New Roman"/>
                            <a:cs typeface="Times New Roman"/>
                          </a:rPr>
                          <m:t>1000</m:t>
                        </m:r>
                        <m:r>
                          <m:rPr>
                            <m:nor/>
                          </m:rPr>
                          <a:rPr lang="en-US" sz="1800" i="1" kern="1200">
                            <a:solidFill>
                              <a:srgbClr val="000000"/>
                            </a:solidFill>
                            <a:effectLst/>
                            <a:latin typeface="Calibri"/>
                            <a:ea typeface="Times New Roman"/>
                            <a:cs typeface="Times New Roman"/>
                          </a:rPr>
                          <m:t> </m:t>
                        </m:r>
                      </m:num>
                      <m:den>
                        <m:r>
                          <m:rPr>
                            <m:nor/>
                          </m:rPr>
                          <a:rPr lang="en-US" sz="1800" kern="1200">
                            <a:solidFill>
                              <a:srgbClr val="000000"/>
                            </a:solidFill>
                            <a:effectLst/>
                            <a:latin typeface="Calibri"/>
                            <a:ea typeface="Times New Roman"/>
                            <a:cs typeface="Times New Roman"/>
                          </a:rPr>
                          <m:t>V</m:t>
                        </m:r>
                        <m:r>
                          <m:rPr>
                            <m:nor/>
                          </m:rPr>
                          <a:rPr lang="en-US" sz="1800" kern="1200" baseline="-25000">
                            <a:solidFill>
                              <a:srgbClr val="000000"/>
                            </a:solidFill>
                            <a:effectLst/>
                            <a:latin typeface="Calibri"/>
                            <a:ea typeface="Times New Roman"/>
                            <a:cs typeface="Times New Roman"/>
                          </a:rPr>
                          <m:t>ml</m:t>
                        </m:r>
                        <m:r>
                          <m:rPr>
                            <m:nor/>
                          </m:rPr>
                          <a:rPr lang="en-US" sz="1800" i="1" kern="1200">
                            <a:solidFill>
                              <a:srgbClr val="000000"/>
                            </a:solidFill>
                            <a:effectLst/>
                            <a:latin typeface="Calibri"/>
                            <a:ea typeface="Times New Roman"/>
                            <a:cs typeface="Times New Roman"/>
                          </a:rPr>
                          <m:t> </m:t>
                        </m:r>
                      </m:den>
                    </m:f>
                  </m:oMath>
                </a14:m>
                <a:endParaRPr lang="en-US" sz="1100">
                  <a:effectLst/>
                  <a:latin typeface="Calibri"/>
                  <a:ea typeface="Times New Roman"/>
                  <a:cs typeface="Times New Roman"/>
                </a:endParaRPr>
              </a:p>
            </p:txBody>
          </p:sp>
        </mc:Choice>
        <mc:Fallback>
          <p:sp>
            <p:nvSpPr>
              <p:cNvPr id="6" name="Text Box 22"/>
              <p:cNvSpPr txBox="1">
                <a:spLocks noRot="1" noChangeAspect="1" noMove="1" noResize="1" noEditPoints="1" noAdjustHandles="1" noChangeArrowheads="1" noChangeShapeType="1" noTextEdit="1"/>
              </p:cNvSpPr>
              <p:nvPr/>
            </p:nvSpPr>
            <p:spPr>
              <a:xfrm>
                <a:off x="2251710" y="8326755"/>
                <a:ext cx="3271520" cy="533400"/>
              </a:xfrm>
              <a:prstGeom prst="rect">
                <a:avLst/>
              </a:prstGeom>
              <a:blipFill rotWithShape="1">
                <a:blip r:embed="rId5"/>
                <a:stretch>
                  <a:fillRect t="-6897" b="-45977"/>
                </a:stretch>
              </a:blipFill>
            </p:spPr>
            <p:txBody>
              <a:bodyPr/>
              <a:lstStyle/>
              <a:p>
                <a:r>
                  <a:rPr lang="en-US">
                    <a:noFill/>
                  </a:rPr>
                  <a:t> </a:t>
                </a:r>
              </a:p>
            </p:txBody>
          </p:sp>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1"/>
          <p:cNvSpPr>
            <a:spLocks noChangeArrowheads="1"/>
          </p:cNvSpPr>
          <p:nvPr/>
        </p:nvSpPr>
        <p:spPr bwMode="auto">
          <a:xfrm>
            <a:off x="76200" y="130076"/>
            <a:ext cx="12573000" cy="2308324"/>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a:ln>
                  <a:noFill/>
                </a:ln>
                <a:solidFill>
                  <a:srgbClr val="7030A0"/>
                </a:solidFill>
                <a:effectLst/>
                <a:latin typeface="Times New Roman" pitchFamily="18" charset="0"/>
                <a:ea typeface="Times New Roman" pitchFamily="18" charset="0"/>
                <a:cs typeface="Times New Roman" pitchFamily="18" charset="0"/>
              </a:rPr>
              <a:t>Part-3</a:t>
            </a:r>
            <a:endParaRPr kumimoji="0" lang="en-US" sz="2400" b="0" i="0" u="none" strike="noStrike" cap="none" normalizeH="0" baseline="0" dirty="0">
              <a:ln>
                <a:noFill/>
              </a:ln>
              <a:solidFill>
                <a:srgbClr val="7030A0"/>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400" b="1" i="0" u="none" strike="noStrike" cap="none" normalizeH="0" baseline="0" dirty="0">
                <a:ln>
                  <a:noFill/>
                </a:ln>
                <a:solidFill>
                  <a:srgbClr val="7030A0"/>
                </a:solidFill>
                <a:effectLst/>
                <a:latin typeface="Times New Roman" pitchFamily="18" charset="0"/>
                <a:ea typeface="Times New Roman" pitchFamily="18" charset="0"/>
                <a:cs typeface="Times New Roman" pitchFamily="18" charset="0"/>
              </a:rPr>
              <a:t>Determination of total hardness of test sample of water</a:t>
            </a:r>
            <a:endParaRPr kumimoji="0" lang="en-US" sz="2400" b="0" i="0" u="none" strike="noStrike" cap="none" normalizeH="0" baseline="0" dirty="0">
              <a:ln>
                <a:noFill/>
              </a:ln>
              <a:solidFill>
                <a:srgbClr val="7030A0"/>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Pipette out 10ml. of test water sample into the conical flask.  Add 5ml (approx) of buffer and 2 to 3 drops of Eriochrome Black-T indicator.  The solution attains wine-red colour. Titrate the contents of the conical flask against EDTA solution till the colour changes from wine-red to blue.  Note the burette reading and repeat the titration to get concurrent values.</a:t>
            </a:r>
            <a:endParaRPr kumimoji="0" lang="en-US" sz="2400" b="0" i="0" u="none" strike="noStrike" cap="none" normalizeH="0" baseline="0" dirty="0">
              <a:ln>
                <a:noFill/>
              </a:ln>
              <a:solidFill>
                <a:schemeClr val="tx1"/>
              </a:solidFill>
              <a:effectLst/>
              <a:latin typeface="Times New Roman" pitchFamily="18" charset="0"/>
              <a:cs typeface="Times New Roman" pitchFamily="18" charset="0"/>
            </a:endParaRPr>
          </a:p>
        </p:txBody>
      </p:sp>
      <p:sp>
        <p:nvSpPr>
          <p:cNvPr id="31746" name="Rectangle 2"/>
          <p:cNvSpPr>
            <a:spLocks noChangeArrowheads="1"/>
          </p:cNvSpPr>
          <p:nvPr/>
        </p:nvSpPr>
        <p:spPr bwMode="auto">
          <a:xfrm>
            <a:off x="228600" y="3658612"/>
            <a:ext cx="8915400" cy="304698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N</a:t>
            </a:r>
            <a:r>
              <a:rPr kumimoji="0" lang="en-US" sz="2400" b="0" i="0" u="none" strike="noStrike" cap="none" normalizeH="0" baseline="-30000" dirty="0">
                <a:ln>
                  <a:noFill/>
                </a:ln>
                <a:solidFill>
                  <a:schemeClr val="tx1"/>
                </a:solidFill>
                <a:effectLst/>
                <a:latin typeface="Times New Roman" pitchFamily="18" charset="0"/>
                <a:ea typeface="Times New Roman" pitchFamily="18" charset="0"/>
                <a:cs typeface="Times New Roman" pitchFamily="18" charset="0"/>
              </a:rPr>
              <a:t>2</a:t>
            </a:r>
            <a:r>
              <a:rPr kumimoji="0" lang="en-US" sz="24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V</a:t>
            </a:r>
            <a:r>
              <a:rPr kumimoji="0" lang="en-US" sz="2400" b="0" i="0" u="none" strike="noStrike" cap="none" normalizeH="0" baseline="-30000" dirty="0">
                <a:ln>
                  <a:noFill/>
                </a:ln>
                <a:solidFill>
                  <a:schemeClr val="tx1"/>
                </a:solidFill>
                <a:effectLst/>
                <a:latin typeface="Times New Roman" pitchFamily="18" charset="0"/>
                <a:ea typeface="Times New Roman" pitchFamily="18" charset="0"/>
                <a:cs typeface="Times New Roman" pitchFamily="18" charset="0"/>
              </a:rPr>
              <a:t>2</a:t>
            </a:r>
            <a:r>
              <a:rPr kumimoji="0" lang="en-US" sz="24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 (EDTA) = N</a:t>
            </a:r>
            <a:r>
              <a:rPr kumimoji="0" lang="en-US" sz="2400" b="0" i="0" u="none" strike="noStrike" cap="none" normalizeH="0" baseline="-30000" dirty="0">
                <a:ln>
                  <a:noFill/>
                </a:ln>
                <a:solidFill>
                  <a:schemeClr val="tx1"/>
                </a:solidFill>
                <a:effectLst/>
                <a:latin typeface="Times New Roman" pitchFamily="18" charset="0"/>
                <a:ea typeface="Times New Roman" pitchFamily="18" charset="0"/>
                <a:cs typeface="Times New Roman" pitchFamily="18" charset="0"/>
              </a:rPr>
              <a:t>3</a:t>
            </a:r>
            <a:r>
              <a:rPr kumimoji="0" lang="en-US" sz="24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V</a:t>
            </a:r>
            <a:r>
              <a:rPr kumimoji="0" lang="en-US" sz="2400" b="0" i="0" u="none" strike="noStrike" cap="none" normalizeH="0" baseline="-30000" dirty="0">
                <a:ln>
                  <a:noFill/>
                </a:ln>
                <a:solidFill>
                  <a:schemeClr val="tx1"/>
                </a:solidFill>
                <a:effectLst/>
                <a:latin typeface="Times New Roman" pitchFamily="18" charset="0"/>
                <a:ea typeface="Times New Roman" pitchFamily="18" charset="0"/>
                <a:cs typeface="Times New Roman" pitchFamily="18" charset="0"/>
              </a:rPr>
              <a:t>3</a:t>
            </a:r>
            <a:r>
              <a:rPr kumimoji="0" lang="en-US" sz="24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 (Test water sample)</a:t>
            </a:r>
            <a:endParaRPr kumimoji="0" lang="en-US" sz="24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Normality of test water sample (N</a:t>
            </a:r>
            <a:r>
              <a:rPr kumimoji="0" lang="en-US" sz="2400" b="0" i="0" u="none" strike="noStrike" cap="none" normalizeH="0" baseline="-30000" dirty="0">
                <a:ln>
                  <a:noFill/>
                </a:ln>
                <a:solidFill>
                  <a:schemeClr val="tx1"/>
                </a:solidFill>
                <a:effectLst/>
                <a:latin typeface="Times New Roman" pitchFamily="18" charset="0"/>
                <a:ea typeface="Times New Roman" pitchFamily="18" charset="0"/>
                <a:cs typeface="Times New Roman" pitchFamily="18" charset="0"/>
              </a:rPr>
              <a:t>3</a:t>
            </a:r>
            <a:r>
              <a:rPr kumimoji="0" lang="en-US" sz="24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 =</a:t>
            </a:r>
            <a:endParaRPr kumimoji="0" lang="en-US" sz="24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Volume of test water sample (V</a:t>
            </a:r>
            <a:r>
              <a:rPr kumimoji="0" lang="en-US" sz="2400" b="0" i="0" u="none" strike="noStrike" cap="none" normalizeH="0" baseline="-30000" dirty="0">
                <a:ln>
                  <a:noFill/>
                </a:ln>
                <a:solidFill>
                  <a:schemeClr val="tx1"/>
                </a:solidFill>
                <a:effectLst/>
                <a:latin typeface="Times New Roman" pitchFamily="18" charset="0"/>
                <a:ea typeface="Times New Roman" pitchFamily="18" charset="0"/>
                <a:cs typeface="Times New Roman" pitchFamily="18" charset="0"/>
              </a:rPr>
              <a:t>3</a:t>
            </a:r>
            <a:r>
              <a:rPr kumimoji="0" lang="en-US" sz="24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 = 10 ml.</a:t>
            </a:r>
            <a:endParaRPr kumimoji="0" lang="en-US" sz="24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Normality of EDTA (N</a:t>
            </a:r>
            <a:r>
              <a:rPr kumimoji="0" lang="en-US" sz="2400" b="0" i="0" u="none" strike="noStrike" cap="none" normalizeH="0" baseline="-30000" dirty="0">
                <a:ln>
                  <a:noFill/>
                </a:ln>
                <a:solidFill>
                  <a:schemeClr val="tx1"/>
                </a:solidFill>
                <a:effectLst/>
                <a:latin typeface="Times New Roman" pitchFamily="18" charset="0"/>
                <a:ea typeface="Times New Roman" pitchFamily="18" charset="0"/>
                <a:cs typeface="Times New Roman" pitchFamily="18" charset="0"/>
              </a:rPr>
              <a:t>2</a:t>
            </a:r>
            <a:r>
              <a:rPr kumimoji="0" lang="en-US" sz="24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 =?</a:t>
            </a:r>
            <a:endParaRPr kumimoji="0" lang="en-US" sz="24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Volume of EDTA used in 3</a:t>
            </a:r>
            <a:r>
              <a:rPr kumimoji="0" lang="en-US" sz="2400" b="0" i="0" u="none" strike="noStrike" cap="none" normalizeH="0" baseline="30000" dirty="0">
                <a:ln>
                  <a:noFill/>
                </a:ln>
                <a:solidFill>
                  <a:schemeClr val="tx1"/>
                </a:solidFill>
                <a:effectLst/>
                <a:latin typeface="Times New Roman" pitchFamily="18" charset="0"/>
                <a:ea typeface="Times New Roman" pitchFamily="18" charset="0"/>
                <a:cs typeface="Times New Roman" pitchFamily="18" charset="0"/>
              </a:rPr>
              <a:t>rd</a:t>
            </a:r>
            <a:r>
              <a:rPr kumimoji="0" lang="en-US" sz="24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 step (V</a:t>
            </a:r>
            <a:r>
              <a:rPr kumimoji="0" lang="en-US" sz="2400" b="0" i="0" u="none" strike="noStrike" cap="none" normalizeH="0" baseline="-30000" dirty="0">
                <a:ln>
                  <a:noFill/>
                </a:ln>
                <a:solidFill>
                  <a:schemeClr val="tx1"/>
                </a:solidFill>
                <a:effectLst/>
                <a:latin typeface="Times New Roman" pitchFamily="18" charset="0"/>
                <a:ea typeface="Times New Roman" pitchFamily="18" charset="0"/>
                <a:cs typeface="Times New Roman" pitchFamily="18" charset="0"/>
              </a:rPr>
              <a:t>2</a:t>
            </a:r>
            <a:r>
              <a:rPr kumimoji="0" lang="en-US" sz="24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 =?</a:t>
            </a:r>
            <a:endParaRPr kumimoji="0" lang="en-US" sz="24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The total hardness of the test sample of water is calculated as follows</a:t>
            </a:r>
            <a:endParaRPr kumimoji="0" lang="en-US" sz="24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Total hardness = N</a:t>
            </a:r>
            <a:r>
              <a:rPr kumimoji="0" lang="en-US" sz="2400" b="0" i="0" u="none" strike="noStrike" cap="none" normalizeH="0" baseline="-30000" dirty="0">
                <a:ln>
                  <a:noFill/>
                </a:ln>
                <a:solidFill>
                  <a:schemeClr val="tx1"/>
                </a:solidFill>
                <a:effectLst/>
                <a:latin typeface="Times New Roman" pitchFamily="18" charset="0"/>
                <a:ea typeface="Times New Roman" pitchFamily="18" charset="0"/>
                <a:cs typeface="Times New Roman" pitchFamily="18" charset="0"/>
              </a:rPr>
              <a:t>3</a:t>
            </a:r>
            <a:r>
              <a:rPr kumimoji="0" lang="en-US" sz="24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 × 50 × 1000 = ----- mg/lit or ppm.</a:t>
            </a:r>
            <a:endParaRPr lang="en-US" sz="2400" dirty="0">
              <a:latin typeface="Times New Roman" pitchFamily="18" charset="0"/>
              <a:ea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The total hardness of water is ------------ mg/lit or ppm.</a:t>
            </a:r>
            <a:r>
              <a:rPr kumimoji="0" lang="en-US" sz="2400" b="1" i="0" u="none" strike="noStrike" cap="none" normalizeH="0" baseline="0" dirty="0">
                <a:ln>
                  <a:noFill/>
                </a:ln>
                <a:solidFill>
                  <a:schemeClr val="tx1"/>
                </a:solidFill>
                <a:effectLst/>
                <a:latin typeface="Times New Roman" pitchFamily="18" charset="0"/>
                <a:ea typeface="Times New Roman" pitchFamily="18" charset="0"/>
                <a:cs typeface="Times New Roman" pitchFamily="18" charset="0"/>
              </a:rPr>
              <a:t>	</a:t>
            </a:r>
            <a:endParaRPr kumimoji="0" lang="en-US" sz="2400" b="0" i="0" u="none" strike="noStrike" cap="none" normalizeH="0" baseline="0" dirty="0">
              <a:ln>
                <a:noFill/>
              </a:ln>
              <a:solidFill>
                <a:schemeClr val="tx1"/>
              </a:solidFill>
              <a:effectLst/>
              <a:latin typeface="Times New Roman" pitchFamily="18" charset="0"/>
              <a:cs typeface="Times New Roman" pitchFamily="18" charset="0"/>
            </a:endParaRPr>
          </a:p>
        </p:txBody>
      </p:sp>
      <p:pic>
        <p:nvPicPr>
          <p:cNvPr id="31748" name="Picture 4" descr="Determination of Hardness by EDTA Method"/>
          <p:cNvPicPr>
            <a:picLocks noChangeAspect="1" noChangeArrowheads="1"/>
          </p:cNvPicPr>
          <p:nvPr/>
        </p:nvPicPr>
        <p:blipFill>
          <a:blip r:embed="rId2"/>
          <a:srcRect l="4305" t="40895" r="5296" b="3622"/>
          <a:stretch>
            <a:fillRect/>
          </a:stretch>
        </p:blipFill>
        <p:spPr bwMode="auto">
          <a:xfrm>
            <a:off x="5510048" y="2590800"/>
            <a:ext cx="7062952" cy="2971800"/>
          </a:xfrm>
          <a:prstGeom prst="rect">
            <a:avLst/>
          </a:prstGeom>
          <a:noFill/>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152400"/>
            <a:ext cx="12496800" cy="2677656"/>
          </a:xfrm>
          <a:prstGeom prst="rect">
            <a:avLst/>
          </a:prstGeom>
        </p:spPr>
        <p:txBody>
          <a:bodyPr wrap="square">
            <a:spAutoFit/>
          </a:bodyPr>
          <a:lstStyle/>
          <a:p>
            <a:pPr lvl="0" algn="just" fontAlgn="base">
              <a:spcBef>
                <a:spcPct val="0"/>
              </a:spcBef>
              <a:spcAft>
                <a:spcPct val="0"/>
              </a:spcAft>
            </a:pPr>
            <a:r>
              <a:rPr lang="en-US" sz="2400" b="1" dirty="0">
                <a:solidFill>
                  <a:srgbClr val="7030A0"/>
                </a:solidFill>
                <a:latin typeface="Times New Roman" pitchFamily="18" charset="0"/>
                <a:ea typeface="Times New Roman" pitchFamily="18" charset="0"/>
                <a:cs typeface="Times New Roman" pitchFamily="18" charset="0"/>
              </a:rPr>
              <a:t>Part-4</a:t>
            </a:r>
            <a:endParaRPr lang="en-US" sz="2400" dirty="0">
              <a:solidFill>
                <a:srgbClr val="7030A0"/>
              </a:solidFill>
              <a:latin typeface="Times New Roman" pitchFamily="18" charset="0"/>
              <a:cs typeface="Times New Roman" pitchFamily="18" charset="0"/>
            </a:endParaRPr>
          </a:p>
          <a:p>
            <a:pPr lvl="0" algn="just" eaLnBrk="0" fontAlgn="base" hangingPunct="0">
              <a:spcBef>
                <a:spcPct val="0"/>
              </a:spcBef>
              <a:spcAft>
                <a:spcPct val="0"/>
              </a:spcAft>
            </a:pPr>
            <a:r>
              <a:rPr lang="en-US" sz="2400" b="1" dirty="0">
                <a:solidFill>
                  <a:srgbClr val="7030A0"/>
                </a:solidFill>
                <a:latin typeface="Times New Roman" pitchFamily="18" charset="0"/>
                <a:ea typeface="Times New Roman" pitchFamily="18" charset="0"/>
                <a:cs typeface="Times New Roman" pitchFamily="18" charset="0"/>
              </a:rPr>
              <a:t>Determination of Permanent hardness of test sample of water</a:t>
            </a:r>
            <a:endParaRPr lang="en-US" sz="2400" dirty="0">
              <a:solidFill>
                <a:srgbClr val="7030A0"/>
              </a:solidFill>
              <a:latin typeface="Times New Roman" pitchFamily="18" charset="0"/>
              <a:cs typeface="Times New Roman" pitchFamily="18" charset="0"/>
            </a:endParaRPr>
          </a:p>
          <a:p>
            <a:pPr lvl="0" algn="just" eaLnBrk="0" fontAlgn="base" hangingPunct="0">
              <a:spcBef>
                <a:spcPct val="0"/>
              </a:spcBef>
              <a:spcAft>
                <a:spcPct val="0"/>
              </a:spcAft>
            </a:pPr>
            <a:r>
              <a:rPr lang="en-US" sz="2400" dirty="0">
                <a:latin typeface="Times New Roman" pitchFamily="18" charset="0"/>
                <a:ea typeface="Times New Roman" pitchFamily="18" charset="0"/>
                <a:cs typeface="Times New Roman" pitchFamily="18" charset="0"/>
              </a:rPr>
              <a:t>Take 50ml of water in beaker , boil for 10 minutes and filter the water. Pipette out 10ml. of boiled test water sample into the conical flask.  Add 5ml (approx) of buffer and 2 to 3 drops of Eriochrome Black-T indicator.  The solution attains wine-red colour. Titrate the contents of the conical flask against EDTA solution till the colour changes from wine-red to blue.  Note the burette reading and repeat the titration to get concurrent values.</a:t>
            </a:r>
            <a:endParaRPr lang="en-US" sz="2400" dirty="0">
              <a:latin typeface="Times New Roman" pitchFamily="18" charset="0"/>
              <a:cs typeface="Times New Roman" pitchFamily="18" charset="0"/>
            </a:endParaRPr>
          </a:p>
        </p:txBody>
      </p:sp>
      <p:sp>
        <p:nvSpPr>
          <p:cNvPr id="3" name="Rectangle 2"/>
          <p:cNvSpPr/>
          <p:nvPr/>
        </p:nvSpPr>
        <p:spPr>
          <a:xfrm>
            <a:off x="304800" y="3081278"/>
            <a:ext cx="8077200" cy="2862322"/>
          </a:xfrm>
          <a:prstGeom prst="rect">
            <a:avLst/>
          </a:prstGeom>
        </p:spPr>
        <p:txBody>
          <a:bodyPr wrap="square">
            <a:spAutoFit/>
          </a:bodyPr>
          <a:lstStyle/>
          <a:p>
            <a:pPr lvl="0" algn="just" fontAlgn="base">
              <a:spcBef>
                <a:spcPct val="0"/>
              </a:spcBef>
              <a:spcAft>
                <a:spcPct val="0"/>
              </a:spcAft>
            </a:pPr>
            <a:r>
              <a:rPr lang="en-US" sz="2000" dirty="0">
                <a:latin typeface="Times New Roman" pitchFamily="18" charset="0"/>
                <a:ea typeface="Times New Roman" pitchFamily="18" charset="0"/>
                <a:cs typeface="Times New Roman" pitchFamily="18" charset="0"/>
              </a:rPr>
              <a:t>N</a:t>
            </a:r>
            <a:r>
              <a:rPr lang="en-US" sz="2000" baseline="-30000" dirty="0">
                <a:latin typeface="Times New Roman" pitchFamily="18" charset="0"/>
                <a:ea typeface="Times New Roman" pitchFamily="18" charset="0"/>
                <a:cs typeface="Times New Roman" pitchFamily="18" charset="0"/>
              </a:rPr>
              <a:t>2</a:t>
            </a:r>
            <a:r>
              <a:rPr lang="en-US" sz="2000" dirty="0">
                <a:latin typeface="Times New Roman" pitchFamily="18" charset="0"/>
                <a:ea typeface="Times New Roman" pitchFamily="18" charset="0"/>
                <a:cs typeface="Times New Roman" pitchFamily="18" charset="0"/>
              </a:rPr>
              <a:t>V</a:t>
            </a:r>
            <a:r>
              <a:rPr lang="en-US" sz="2000" baseline="-30000" dirty="0">
                <a:latin typeface="Times New Roman" pitchFamily="18" charset="0"/>
                <a:ea typeface="Times New Roman" pitchFamily="18" charset="0"/>
                <a:cs typeface="Times New Roman" pitchFamily="18" charset="0"/>
              </a:rPr>
              <a:t>2</a:t>
            </a:r>
            <a:r>
              <a:rPr lang="en-US" sz="2000" dirty="0">
                <a:latin typeface="Times New Roman" pitchFamily="18" charset="0"/>
                <a:ea typeface="Times New Roman" pitchFamily="18" charset="0"/>
                <a:cs typeface="Times New Roman" pitchFamily="18" charset="0"/>
              </a:rPr>
              <a:t> (EDTA) = N</a:t>
            </a:r>
            <a:r>
              <a:rPr lang="en-US" sz="2000" baseline="-30000" dirty="0">
                <a:latin typeface="Times New Roman" pitchFamily="18" charset="0"/>
                <a:ea typeface="Times New Roman" pitchFamily="18" charset="0"/>
                <a:cs typeface="Times New Roman" pitchFamily="18" charset="0"/>
              </a:rPr>
              <a:t>4</a:t>
            </a:r>
            <a:r>
              <a:rPr lang="en-US" sz="2000" dirty="0">
                <a:latin typeface="Times New Roman" pitchFamily="18" charset="0"/>
                <a:ea typeface="Times New Roman" pitchFamily="18" charset="0"/>
                <a:cs typeface="Times New Roman" pitchFamily="18" charset="0"/>
              </a:rPr>
              <a:t>V</a:t>
            </a:r>
            <a:r>
              <a:rPr lang="en-US" sz="2000" baseline="-30000" dirty="0">
                <a:latin typeface="Times New Roman" pitchFamily="18" charset="0"/>
                <a:ea typeface="Times New Roman" pitchFamily="18" charset="0"/>
                <a:cs typeface="Times New Roman" pitchFamily="18" charset="0"/>
              </a:rPr>
              <a:t>4</a:t>
            </a:r>
            <a:r>
              <a:rPr lang="en-US" sz="2000" dirty="0">
                <a:latin typeface="Times New Roman" pitchFamily="18" charset="0"/>
                <a:ea typeface="Times New Roman" pitchFamily="18" charset="0"/>
                <a:cs typeface="Times New Roman" pitchFamily="18" charset="0"/>
              </a:rPr>
              <a:t> (boiled Test water sample)</a:t>
            </a:r>
            <a:endParaRPr lang="en-US" sz="2000" dirty="0">
              <a:latin typeface="Times New Roman" pitchFamily="18" charset="0"/>
              <a:cs typeface="Times New Roman" pitchFamily="18" charset="0"/>
            </a:endParaRPr>
          </a:p>
          <a:p>
            <a:pPr lvl="0" algn="just" eaLnBrk="0" fontAlgn="base" hangingPunct="0">
              <a:spcBef>
                <a:spcPct val="0"/>
              </a:spcBef>
              <a:spcAft>
                <a:spcPct val="0"/>
              </a:spcAft>
            </a:pPr>
            <a:r>
              <a:rPr lang="en-US" sz="2000" dirty="0">
                <a:latin typeface="Times New Roman" pitchFamily="18" charset="0"/>
                <a:ea typeface="Times New Roman" pitchFamily="18" charset="0"/>
                <a:cs typeface="Times New Roman" pitchFamily="18" charset="0"/>
              </a:rPr>
              <a:t>Normality of boiled test water sample (N</a:t>
            </a:r>
            <a:r>
              <a:rPr lang="en-US" sz="2000" baseline="-30000" dirty="0">
                <a:latin typeface="Times New Roman" pitchFamily="18" charset="0"/>
                <a:ea typeface="Times New Roman" pitchFamily="18" charset="0"/>
                <a:cs typeface="Times New Roman" pitchFamily="18" charset="0"/>
              </a:rPr>
              <a:t>4</a:t>
            </a:r>
            <a:r>
              <a:rPr lang="en-US" sz="2000" dirty="0">
                <a:latin typeface="Times New Roman" pitchFamily="18" charset="0"/>
                <a:ea typeface="Times New Roman" pitchFamily="18" charset="0"/>
                <a:cs typeface="Times New Roman" pitchFamily="18" charset="0"/>
              </a:rPr>
              <a:t>) =</a:t>
            </a:r>
            <a:endParaRPr lang="en-US" sz="2000" dirty="0">
              <a:latin typeface="Times New Roman" pitchFamily="18" charset="0"/>
              <a:cs typeface="Times New Roman" pitchFamily="18" charset="0"/>
            </a:endParaRPr>
          </a:p>
          <a:p>
            <a:pPr lvl="0" algn="just" eaLnBrk="0" fontAlgn="base" hangingPunct="0">
              <a:spcBef>
                <a:spcPct val="0"/>
              </a:spcBef>
              <a:spcAft>
                <a:spcPct val="0"/>
              </a:spcAft>
            </a:pPr>
            <a:r>
              <a:rPr lang="en-US" sz="2000" dirty="0">
                <a:latin typeface="Times New Roman" pitchFamily="18" charset="0"/>
                <a:ea typeface="Times New Roman" pitchFamily="18" charset="0"/>
                <a:cs typeface="Times New Roman" pitchFamily="18" charset="0"/>
              </a:rPr>
              <a:t>Volume of boiled test water sample (V</a:t>
            </a:r>
            <a:r>
              <a:rPr lang="en-US" sz="2000" baseline="-30000" dirty="0">
                <a:latin typeface="Times New Roman" pitchFamily="18" charset="0"/>
                <a:ea typeface="Times New Roman" pitchFamily="18" charset="0"/>
                <a:cs typeface="Times New Roman" pitchFamily="18" charset="0"/>
              </a:rPr>
              <a:t>4</a:t>
            </a:r>
            <a:r>
              <a:rPr lang="en-US" sz="2000" dirty="0">
                <a:latin typeface="Times New Roman" pitchFamily="18" charset="0"/>
                <a:ea typeface="Times New Roman" pitchFamily="18" charset="0"/>
                <a:cs typeface="Times New Roman" pitchFamily="18" charset="0"/>
              </a:rPr>
              <a:t>) = 10 ml.</a:t>
            </a:r>
            <a:endParaRPr lang="en-US" sz="2000" dirty="0">
              <a:latin typeface="Times New Roman" pitchFamily="18" charset="0"/>
              <a:cs typeface="Times New Roman" pitchFamily="18" charset="0"/>
            </a:endParaRPr>
          </a:p>
          <a:p>
            <a:pPr lvl="0" algn="just" eaLnBrk="0" fontAlgn="base" hangingPunct="0">
              <a:spcBef>
                <a:spcPct val="0"/>
              </a:spcBef>
              <a:spcAft>
                <a:spcPct val="0"/>
              </a:spcAft>
            </a:pPr>
            <a:r>
              <a:rPr lang="en-US" sz="2000" dirty="0">
                <a:latin typeface="Times New Roman" pitchFamily="18" charset="0"/>
                <a:ea typeface="Times New Roman" pitchFamily="18" charset="0"/>
                <a:cs typeface="Times New Roman" pitchFamily="18" charset="0"/>
              </a:rPr>
              <a:t>Normality of EDTA (N</a:t>
            </a:r>
            <a:r>
              <a:rPr lang="en-US" sz="2000" baseline="-30000" dirty="0">
                <a:latin typeface="Times New Roman" pitchFamily="18" charset="0"/>
                <a:ea typeface="Times New Roman" pitchFamily="18" charset="0"/>
                <a:cs typeface="Times New Roman" pitchFamily="18" charset="0"/>
              </a:rPr>
              <a:t>2</a:t>
            </a:r>
            <a:r>
              <a:rPr lang="en-US" sz="2000" dirty="0">
                <a:latin typeface="Times New Roman" pitchFamily="18" charset="0"/>
                <a:ea typeface="Times New Roman" pitchFamily="18" charset="0"/>
                <a:cs typeface="Times New Roman" pitchFamily="18" charset="0"/>
              </a:rPr>
              <a:t>) =?</a:t>
            </a:r>
            <a:endParaRPr lang="en-US" sz="2000" dirty="0">
              <a:latin typeface="Times New Roman" pitchFamily="18" charset="0"/>
              <a:cs typeface="Times New Roman" pitchFamily="18" charset="0"/>
            </a:endParaRPr>
          </a:p>
          <a:p>
            <a:pPr lvl="0" algn="just" eaLnBrk="0" fontAlgn="base" hangingPunct="0">
              <a:spcBef>
                <a:spcPct val="0"/>
              </a:spcBef>
              <a:spcAft>
                <a:spcPct val="0"/>
              </a:spcAft>
            </a:pPr>
            <a:r>
              <a:rPr lang="en-US" sz="2000" dirty="0">
                <a:latin typeface="Times New Roman" pitchFamily="18" charset="0"/>
                <a:ea typeface="Times New Roman" pitchFamily="18" charset="0"/>
                <a:cs typeface="Times New Roman" pitchFamily="18" charset="0"/>
              </a:rPr>
              <a:t>Volume of EDTA used in 4</a:t>
            </a:r>
            <a:r>
              <a:rPr lang="en-US" sz="2000" baseline="30000" dirty="0">
                <a:latin typeface="Times New Roman" pitchFamily="18" charset="0"/>
                <a:ea typeface="Times New Roman" pitchFamily="18" charset="0"/>
                <a:cs typeface="Times New Roman" pitchFamily="18" charset="0"/>
              </a:rPr>
              <a:t>th</a:t>
            </a:r>
            <a:r>
              <a:rPr lang="en-US" sz="2000" dirty="0">
                <a:latin typeface="Times New Roman" pitchFamily="18" charset="0"/>
                <a:ea typeface="Times New Roman" pitchFamily="18" charset="0"/>
                <a:cs typeface="Times New Roman" pitchFamily="18" charset="0"/>
              </a:rPr>
              <a:t> step (V</a:t>
            </a:r>
            <a:r>
              <a:rPr lang="en-US" sz="2000" baseline="-30000" dirty="0">
                <a:latin typeface="Times New Roman" pitchFamily="18" charset="0"/>
                <a:ea typeface="Times New Roman" pitchFamily="18" charset="0"/>
                <a:cs typeface="Times New Roman" pitchFamily="18" charset="0"/>
              </a:rPr>
              <a:t>2</a:t>
            </a:r>
            <a:r>
              <a:rPr lang="en-US" sz="2000" dirty="0">
                <a:latin typeface="Times New Roman" pitchFamily="18" charset="0"/>
                <a:ea typeface="Times New Roman" pitchFamily="18" charset="0"/>
                <a:cs typeface="Times New Roman" pitchFamily="18" charset="0"/>
              </a:rPr>
              <a:t>) =?</a:t>
            </a:r>
            <a:endParaRPr lang="en-US" sz="2000" dirty="0">
              <a:latin typeface="Times New Roman" pitchFamily="18" charset="0"/>
              <a:cs typeface="Times New Roman" pitchFamily="18" charset="0"/>
            </a:endParaRPr>
          </a:p>
          <a:p>
            <a:pPr lvl="0" algn="just" eaLnBrk="0" fontAlgn="base" hangingPunct="0">
              <a:spcBef>
                <a:spcPct val="0"/>
              </a:spcBef>
              <a:spcAft>
                <a:spcPct val="0"/>
              </a:spcAft>
            </a:pPr>
            <a:r>
              <a:rPr lang="en-US" sz="2000" dirty="0">
                <a:latin typeface="Times New Roman" pitchFamily="18" charset="0"/>
                <a:ea typeface="Times New Roman" pitchFamily="18" charset="0"/>
                <a:cs typeface="Times New Roman" pitchFamily="18" charset="0"/>
              </a:rPr>
              <a:t>The permanent hardness of the test sample of water is calculated as follows</a:t>
            </a:r>
            <a:endParaRPr lang="en-US" sz="2000" dirty="0">
              <a:latin typeface="Times New Roman" pitchFamily="18" charset="0"/>
              <a:cs typeface="Times New Roman" pitchFamily="18" charset="0"/>
            </a:endParaRPr>
          </a:p>
          <a:p>
            <a:pPr lvl="0" algn="just" eaLnBrk="0" fontAlgn="base" hangingPunct="0">
              <a:spcBef>
                <a:spcPct val="0"/>
              </a:spcBef>
              <a:spcAft>
                <a:spcPct val="0"/>
              </a:spcAft>
            </a:pPr>
            <a:r>
              <a:rPr lang="en-US" sz="2000" dirty="0">
                <a:latin typeface="Times New Roman" pitchFamily="18" charset="0"/>
                <a:ea typeface="Times New Roman" pitchFamily="18" charset="0"/>
                <a:cs typeface="Times New Roman" pitchFamily="18" charset="0"/>
              </a:rPr>
              <a:t>Permanent  hardness = N</a:t>
            </a:r>
            <a:r>
              <a:rPr lang="en-US" sz="2000" baseline="-30000" dirty="0">
                <a:latin typeface="Times New Roman" pitchFamily="18" charset="0"/>
                <a:ea typeface="Times New Roman" pitchFamily="18" charset="0"/>
                <a:cs typeface="Times New Roman" pitchFamily="18" charset="0"/>
              </a:rPr>
              <a:t>4</a:t>
            </a:r>
            <a:r>
              <a:rPr lang="en-US" sz="2000" dirty="0">
                <a:latin typeface="Times New Roman" pitchFamily="18" charset="0"/>
                <a:ea typeface="Times New Roman" pitchFamily="18" charset="0"/>
                <a:cs typeface="Times New Roman" pitchFamily="18" charset="0"/>
              </a:rPr>
              <a:t> × 50 × 1000 = ----- mg/lit or ppm.</a:t>
            </a:r>
          </a:p>
          <a:p>
            <a:pPr lvl="0" algn="just" eaLnBrk="0" fontAlgn="base" hangingPunct="0">
              <a:spcBef>
                <a:spcPct val="0"/>
              </a:spcBef>
              <a:spcAft>
                <a:spcPct val="0"/>
              </a:spcAft>
            </a:pPr>
            <a:r>
              <a:rPr lang="en-US" sz="2000" dirty="0">
                <a:latin typeface="Times New Roman" pitchFamily="18" charset="0"/>
                <a:ea typeface="Times New Roman" pitchFamily="18" charset="0"/>
                <a:cs typeface="Times New Roman" pitchFamily="18" charset="0"/>
              </a:rPr>
              <a:t>The total hardness  = Permanent hardness + Temporary hardness.</a:t>
            </a:r>
          </a:p>
          <a:p>
            <a:pPr lvl="0" algn="just" eaLnBrk="0" fontAlgn="base" hangingPunct="0">
              <a:spcBef>
                <a:spcPct val="0"/>
              </a:spcBef>
              <a:spcAft>
                <a:spcPct val="0"/>
              </a:spcAft>
            </a:pPr>
            <a:r>
              <a:rPr lang="en-US" sz="2000" dirty="0">
                <a:latin typeface="Times New Roman" pitchFamily="18" charset="0"/>
                <a:ea typeface="Times New Roman" pitchFamily="18" charset="0"/>
                <a:cs typeface="Times New Roman" pitchFamily="18" charset="0"/>
              </a:rPr>
              <a:t>Temporary hardness = The total hardness - Permanent hardness</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152400"/>
            <a:ext cx="12268200" cy="1569660"/>
          </a:xfrm>
          <a:prstGeom prst="rect">
            <a:avLst/>
          </a:prstGeom>
        </p:spPr>
        <p:txBody>
          <a:bodyPr wrap="square">
            <a:spAutoFit/>
          </a:bodyPr>
          <a:lstStyle/>
          <a:p>
            <a:pPr algn="just"/>
            <a:r>
              <a:rPr lang="en-US" sz="2400" dirty="0">
                <a:solidFill>
                  <a:srgbClr val="002060"/>
                </a:solidFill>
                <a:latin typeface="Times New Roman" pitchFamily="18" charset="0"/>
                <a:cs typeface="Times New Roman" pitchFamily="18" charset="0"/>
              </a:rPr>
              <a:t>1.0 gm of Epsom salt was dissolved in 100 ml of distilled water. 50 ml of this solution required 45 ml of EDTA solution for titration. 50 ml of test hard water sample required 28 ml of EDTA and after boiling and filtering required 15 ml of EDTA solution. Calculate the total hardness, permanent hardness and temporary hardness of water.</a:t>
            </a:r>
            <a:r>
              <a:rPr lang="en-US" sz="2400" dirty="0">
                <a:latin typeface="Times New Roman" pitchFamily="18" charset="0"/>
                <a:cs typeface="Times New Roman" pitchFamily="18" charset="0"/>
              </a:rPr>
              <a:t> </a:t>
            </a:r>
          </a:p>
        </p:txBody>
      </p:sp>
      <p:sp>
        <p:nvSpPr>
          <p:cNvPr id="50178" name="Rectangle 2"/>
          <p:cNvSpPr>
            <a:spLocks noChangeArrowheads="1"/>
          </p:cNvSpPr>
          <p:nvPr/>
        </p:nvSpPr>
        <p:spPr bwMode="auto">
          <a:xfrm>
            <a:off x="0" y="0"/>
            <a:ext cx="128016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50177" name="Picture 1"/>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7010400" y="1752601"/>
            <a:ext cx="2209800" cy="601046"/>
          </a:xfrm>
          <a:prstGeom prst="rect">
            <a:avLst/>
          </a:prstGeom>
          <a:noFill/>
        </p:spPr>
      </p:pic>
      <p:grpSp>
        <p:nvGrpSpPr>
          <p:cNvPr id="11" name="Group 10"/>
          <p:cNvGrpSpPr/>
          <p:nvPr/>
        </p:nvGrpSpPr>
        <p:grpSpPr>
          <a:xfrm>
            <a:off x="647131" y="1752601"/>
            <a:ext cx="6363269" cy="645240"/>
            <a:chOff x="112435" y="1752601"/>
            <a:chExt cx="5650625" cy="645240"/>
          </a:xfrm>
        </p:grpSpPr>
        <p:pic>
          <p:nvPicPr>
            <p:cNvPr id="3" name="Picture 1"/>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3036955" y="1752601"/>
              <a:ext cx="2272653" cy="645240"/>
            </a:xfrm>
            <a:prstGeom prst="rect">
              <a:avLst/>
            </a:prstGeom>
            <a:noFill/>
          </p:spPr>
        </p:pic>
        <p:sp>
          <p:nvSpPr>
            <p:cNvPr id="5" name="Rectangle 4"/>
            <p:cNvSpPr/>
            <p:nvPr/>
          </p:nvSpPr>
          <p:spPr>
            <a:xfrm>
              <a:off x="112435" y="1905000"/>
              <a:ext cx="3621365" cy="400110"/>
            </a:xfrm>
            <a:prstGeom prst="rect">
              <a:avLst/>
            </a:prstGeom>
          </p:spPr>
          <p:txBody>
            <a:bodyPr wrap="square">
              <a:spAutoFit/>
            </a:bodyPr>
            <a:lstStyle/>
            <a:p>
              <a:pPr marL="347663" indent="-347663">
                <a:buClr>
                  <a:srgbClr val="C00000"/>
                </a:buClr>
                <a:buFont typeface="Wingdings" pitchFamily="2" charset="2"/>
                <a:buChar char="Ø"/>
              </a:pPr>
              <a:r>
                <a:rPr lang="en-US" sz="2000" dirty="0">
                  <a:solidFill>
                    <a:srgbClr val="000000"/>
                  </a:solidFill>
                  <a:latin typeface="Times New Roman" pitchFamily="18" charset="0"/>
                  <a:ea typeface="Times New Roman" pitchFamily="18" charset="0"/>
                  <a:cs typeface="Times New Roman" pitchFamily="18" charset="0"/>
                </a:rPr>
                <a:t>Normality of St.HW (N</a:t>
              </a:r>
              <a:r>
                <a:rPr lang="en-US" sz="2000" baseline="-30000" dirty="0">
                  <a:solidFill>
                    <a:srgbClr val="000000"/>
                  </a:solidFill>
                  <a:latin typeface="Times New Roman" pitchFamily="18" charset="0"/>
                  <a:ea typeface="Times New Roman" pitchFamily="18" charset="0"/>
                  <a:cs typeface="Times New Roman" pitchFamily="18" charset="0"/>
                </a:rPr>
                <a:t>1</a:t>
              </a:r>
              <a:r>
                <a:rPr lang="en-US" sz="2000" dirty="0">
                  <a:solidFill>
                    <a:srgbClr val="000000"/>
                  </a:solidFill>
                  <a:latin typeface="Times New Roman" pitchFamily="18" charset="0"/>
                  <a:ea typeface="Times New Roman" pitchFamily="18" charset="0"/>
                  <a:cs typeface="Times New Roman" pitchFamily="18" charset="0"/>
                </a:rPr>
                <a:t>) =</a:t>
              </a:r>
              <a:endParaRPr lang="en-US" sz="2000" dirty="0"/>
            </a:p>
          </p:txBody>
        </p:sp>
        <p:sp>
          <p:nvSpPr>
            <p:cNvPr id="8" name="TextBox 7"/>
            <p:cNvSpPr txBox="1"/>
            <p:nvPr/>
          </p:nvSpPr>
          <p:spPr>
            <a:xfrm>
              <a:off x="5405270" y="1828800"/>
              <a:ext cx="357790" cy="461665"/>
            </a:xfrm>
            <a:prstGeom prst="rect">
              <a:avLst/>
            </a:prstGeom>
            <a:noFill/>
          </p:spPr>
          <p:txBody>
            <a:bodyPr wrap="none" rtlCol="0">
              <a:spAutoFit/>
            </a:bodyPr>
            <a:lstStyle/>
            <a:p>
              <a:r>
                <a:rPr lang="en-US" sz="2400" dirty="0">
                  <a:latin typeface="Times New Roman" pitchFamily="18" charset="0"/>
                  <a:cs typeface="Times New Roman" pitchFamily="18" charset="0"/>
                </a:rPr>
                <a:t>=</a:t>
              </a:r>
            </a:p>
          </p:txBody>
        </p:sp>
      </p:grpSp>
      <p:sp>
        <p:nvSpPr>
          <p:cNvPr id="9" name="Rectangle 8"/>
          <p:cNvSpPr/>
          <p:nvPr/>
        </p:nvSpPr>
        <p:spPr>
          <a:xfrm>
            <a:off x="659373" y="2590800"/>
            <a:ext cx="7722627" cy="400110"/>
          </a:xfrm>
          <a:prstGeom prst="rect">
            <a:avLst/>
          </a:prstGeom>
        </p:spPr>
        <p:txBody>
          <a:bodyPr wrap="none">
            <a:spAutoFit/>
          </a:bodyPr>
          <a:lstStyle/>
          <a:p>
            <a:pPr marL="282575" indent="-282575" algn="just" fontAlgn="base">
              <a:spcBef>
                <a:spcPct val="0"/>
              </a:spcBef>
              <a:spcAft>
                <a:spcPct val="0"/>
              </a:spcAft>
              <a:buClr>
                <a:srgbClr val="C00000"/>
              </a:buClr>
              <a:buFont typeface="Wingdings" pitchFamily="2" charset="2"/>
              <a:buChar char="Ø"/>
            </a:pPr>
            <a:r>
              <a:rPr lang="en-US" sz="2000" dirty="0">
                <a:solidFill>
                  <a:srgbClr val="002060"/>
                </a:solidFill>
                <a:latin typeface="Times New Roman" pitchFamily="18" charset="0"/>
                <a:ea typeface="Times New Roman" pitchFamily="18" charset="0"/>
                <a:cs typeface="Times New Roman" pitchFamily="18" charset="0"/>
              </a:rPr>
              <a:t>N</a:t>
            </a:r>
            <a:r>
              <a:rPr lang="en-US" sz="2000" baseline="-30000" dirty="0">
                <a:solidFill>
                  <a:srgbClr val="002060"/>
                </a:solidFill>
                <a:latin typeface="Times New Roman" pitchFamily="18" charset="0"/>
                <a:ea typeface="Times New Roman" pitchFamily="18" charset="0"/>
                <a:cs typeface="Times New Roman" pitchFamily="18" charset="0"/>
              </a:rPr>
              <a:t>1</a:t>
            </a:r>
            <a:r>
              <a:rPr lang="en-US" sz="2000" dirty="0">
                <a:solidFill>
                  <a:srgbClr val="002060"/>
                </a:solidFill>
                <a:latin typeface="Times New Roman" pitchFamily="18" charset="0"/>
                <a:ea typeface="Times New Roman" pitchFamily="18" charset="0"/>
                <a:cs typeface="Times New Roman" pitchFamily="18" charset="0"/>
              </a:rPr>
              <a:t>V</a:t>
            </a:r>
            <a:r>
              <a:rPr lang="en-US" sz="2000" baseline="-30000" dirty="0">
                <a:solidFill>
                  <a:srgbClr val="002060"/>
                </a:solidFill>
                <a:latin typeface="Times New Roman" pitchFamily="18" charset="0"/>
                <a:ea typeface="Times New Roman" pitchFamily="18" charset="0"/>
                <a:cs typeface="Times New Roman" pitchFamily="18" charset="0"/>
              </a:rPr>
              <a:t>1</a:t>
            </a:r>
            <a:r>
              <a:rPr lang="en-US" sz="2000" dirty="0">
                <a:solidFill>
                  <a:srgbClr val="002060"/>
                </a:solidFill>
                <a:latin typeface="Times New Roman" pitchFamily="18" charset="0"/>
                <a:ea typeface="Times New Roman" pitchFamily="18" charset="0"/>
                <a:cs typeface="Times New Roman" pitchFamily="18" charset="0"/>
              </a:rPr>
              <a:t> (St. HW) = N</a:t>
            </a:r>
            <a:r>
              <a:rPr lang="en-US" sz="2000" baseline="-30000" dirty="0">
                <a:solidFill>
                  <a:srgbClr val="002060"/>
                </a:solidFill>
                <a:latin typeface="Times New Roman" pitchFamily="18" charset="0"/>
                <a:ea typeface="Times New Roman" pitchFamily="18" charset="0"/>
                <a:cs typeface="Times New Roman" pitchFamily="18" charset="0"/>
              </a:rPr>
              <a:t>2</a:t>
            </a:r>
            <a:r>
              <a:rPr lang="en-US" sz="2000" dirty="0">
                <a:solidFill>
                  <a:srgbClr val="002060"/>
                </a:solidFill>
                <a:latin typeface="Times New Roman" pitchFamily="18" charset="0"/>
                <a:ea typeface="Times New Roman" pitchFamily="18" charset="0"/>
                <a:cs typeface="Times New Roman" pitchFamily="18" charset="0"/>
              </a:rPr>
              <a:t>V</a:t>
            </a:r>
            <a:r>
              <a:rPr lang="en-US" sz="2000" baseline="-30000" dirty="0">
                <a:solidFill>
                  <a:srgbClr val="002060"/>
                </a:solidFill>
                <a:latin typeface="Times New Roman" pitchFamily="18" charset="0"/>
                <a:ea typeface="Times New Roman" pitchFamily="18" charset="0"/>
                <a:cs typeface="Times New Roman" pitchFamily="18" charset="0"/>
              </a:rPr>
              <a:t>2</a:t>
            </a:r>
            <a:r>
              <a:rPr lang="en-US" sz="2000" dirty="0">
                <a:solidFill>
                  <a:srgbClr val="002060"/>
                </a:solidFill>
                <a:latin typeface="Times New Roman" pitchFamily="18" charset="0"/>
                <a:ea typeface="Times New Roman" pitchFamily="18" charset="0"/>
                <a:cs typeface="Times New Roman" pitchFamily="18" charset="0"/>
              </a:rPr>
              <a:t> (EDTA) = 0.08 × 50 = N</a:t>
            </a:r>
            <a:r>
              <a:rPr lang="en-US" sz="2000" baseline="-30000" dirty="0">
                <a:solidFill>
                  <a:srgbClr val="002060"/>
                </a:solidFill>
                <a:latin typeface="Times New Roman" pitchFamily="18" charset="0"/>
                <a:ea typeface="Times New Roman" pitchFamily="18" charset="0"/>
                <a:cs typeface="Times New Roman" pitchFamily="18" charset="0"/>
              </a:rPr>
              <a:t>2</a:t>
            </a:r>
            <a:r>
              <a:rPr lang="en-US" sz="2000" dirty="0">
                <a:solidFill>
                  <a:srgbClr val="002060"/>
                </a:solidFill>
                <a:latin typeface="Times New Roman" pitchFamily="18" charset="0"/>
                <a:ea typeface="Times New Roman" pitchFamily="18" charset="0"/>
                <a:cs typeface="Times New Roman" pitchFamily="18" charset="0"/>
              </a:rPr>
              <a:t> × 45, N</a:t>
            </a:r>
            <a:r>
              <a:rPr lang="en-US" sz="2000" baseline="-30000" dirty="0">
                <a:solidFill>
                  <a:srgbClr val="002060"/>
                </a:solidFill>
                <a:latin typeface="Times New Roman" pitchFamily="18" charset="0"/>
                <a:ea typeface="Times New Roman" pitchFamily="18" charset="0"/>
                <a:cs typeface="Times New Roman" pitchFamily="18" charset="0"/>
              </a:rPr>
              <a:t>2</a:t>
            </a:r>
            <a:r>
              <a:rPr lang="en-US" sz="2000" dirty="0">
                <a:solidFill>
                  <a:srgbClr val="002060"/>
                </a:solidFill>
                <a:latin typeface="Times New Roman" pitchFamily="18" charset="0"/>
                <a:ea typeface="Times New Roman" pitchFamily="18" charset="0"/>
                <a:cs typeface="Times New Roman" pitchFamily="18" charset="0"/>
              </a:rPr>
              <a:t> = 0.088N</a:t>
            </a:r>
            <a:endParaRPr lang="en-US" sz="2000" dirty="0">
              <a:solidFill>
                <a:srgbClr val="002060"/>
              </a:solidFill>
              <a:latin typeface="Times New Roman" pitchFamily="18" charset="0"/>
              <a:cs typeface="Times New Roman" pitchFamily="18" charset="0"/>
            </a:endParaRPr>
          </a:p>
        </p:txBody>
      </p:sp>
      <p:sp>
        <p:nvSpPr>
          <p:cNvPr id="12" name="Rectangle 11"/>
          <p:cNvSpPr/>
          <p:nvPr/>
        </p:nvSpPr>
        <p:spPr>
          <a:xfrm>
            <a:off x="609600" y="3200400"/>
            <a:ext cx="7453322" cy="400110"/>
          </a:xfrm>
          <a:prstGeom prst="rect">
            <a:avLst/>
          </a:prstGeom>
        </p:spPr>
        <p:txBody>
          <a:bodyPr wrap="none">
            <a:spAutoFit/>
          </a:bodyPr>
          <a:lstStyle/>
          <a:p>
            <a:pPr marL="347663" indent="-347663" algn="just" fontAlgn="base">
              <a:spcBef>
                <a:spcPct val="0"/>
              </a:spcBef>
              <a:spcAft>
                <a:spcPct val="0"/>
              </a:spcAft>
              <a:buClr>
                <a:srgbClr val="C00000"/>
              </a:buClr>
              <a:buFont typeface="Wingdings" pitchFamily="2" charset="2"/>
              <a:buChar char="Ø"/>
            </a:pPr>
            <a:r>
              <a:rPr lang="en-US" sz="2000" dirty="0">
                <a:solidFill>
                  <a:srgbClr val="7030A0"/>
                </a:solidFill>
                <a:latin typeface="Times New Roman" pitchFamily="18" charset="0"/>
                <a:ea typeface="Times New Roman" pitchFamily="18" charset="0"/>
                <a:cs typeface="Times New Roman" pitchFamily="18" charset="0"/>
              </a:rPr>
              <a:t>N</a:t>
            </a:r>
            <a:r>
              <a:rPr lang="en-US" sz="2000" baseline="-30000" dirty="0">
                <a:solidFill>
                  <a:srgbClr val="7030A0"/>
                </a:solidFill>
                <a:latin typeface="Times New Roman" pitchFamily="18" charset="0"/>
                <a:ea typeface="Times New Roman" pitchFamily="18" charset="0"/>
                <a:cs typeface="Times New Roman" pitchFamily="18" charset="0"/>
              </a:rPr>
              <a:t>2</a:t>
            </a:r>
            <a:r>
              <a:rPr lang="en-US" sz="2000" dirty="0">
                <a:solidFill>
                  <a:srgbClr val="7030A0"/>
                </a:solidFill>
                <a:latin typeface="Times New Roman" pitchFamily="18" charset="0"/>
                <a:ea typeface="Times New Roman" pitchFamily="18" charset="0"/>
                <a:cs typeface="Times New Roman" pitchFamily="18" charset="0"/>
              </a:rPr>
              <a:t>V</a:t>
            </a:r>
            <a:r>
              <a:rPr lang="en-US" sz="2000" baseline="-30000" dirty="0">
                <a:solidFill>
                  <a:srgbClr val="7030A0"/>
                </a:solidFill>
                <a:latin typeface="Times New Roman" pitchFamily="18" charset="0"/>
                <a:ea typeface="Times New Roman" pitchFamily="18" charset="0"/>
                <a:cs typeface="Times New Roman" pitchFamily="18" charset="0"/>
              </a:rPr>
              <a:t>2</a:t>
            </a:r>
            <a:r>
              <a:rPr lang="en-US" sz="2000" dirty="0">
                <a:solidFill>
                  <a:srgbClr val="7030A0"/>
                </a:solidFill>
                <a:latin typeface="Times New Roman" pitchFamily="18" charset="0"/>
                <a:ea typeface="Times New Roman" pitchFamily="18" charset="0"/>
                <a:cs typeface="Times New Roman" pitchFamily="18" charset="0"/>
              </a:rPr>
              <a:t> (EDTA) = N</a:t>
            </a:r>
            <a:r>
              <a:rPr lang="en-US" sz="2000" baseline="-30000" dirty="0">
                <a:solidFill>
                  <a:srgbClr val="7030A0"/>
                </a:solidFill>
                <a:latin typeface="Times New Roman" pitchFamily="18" charset="0"/>
                <a:ea typeface="Times New Roman" pitchFamily="18" charset="0"/>
                <a:cs typeface="Times New Roman" pitchFamily="18" charset="0"/>
              </a:rPr>
              <a:t>3</a:t>
            </a:r>
            <a:r>
              <a:rPr lang="en-US" sz="2000" dirty="0">
                <a:solidFill>
                  <a:srgbClr val="7030A0"/>
                </a:solidFill>
                <a:latin typeface="Times New Roman" pitchFamily="18" charset="0"/>
                <a:ea typeface="Times New Roman" pitchFamily="18" charset="0"/>
                <a:cs typeface="Times New Roman" pitchFamily="18" charset="0"/>
              </a:rPr>
              <a:t>V</a:t>
            </a:r>
            <a:r>
              <a:rPr lang="en-US" sz="2000" baseline="-30000" dirty="0">
                <a:solidFill>
                  <a:srgbClr val="7030A0"/>
                </a:solidFill>
                <a:latin typeface="Times New Roman" pitchFamily="18" charset="0"/>
                <a:ea typeface="Times New Roman" pitchFamily="18" charset="0"/>
                <a:cs typeface="Times New Roman" pitchFamily="18" charset="0"/>
              </a:rPr>
              <a:t>3</a:t>
            </a:r>
            <a:r>
              <a:rPr lang="en-US" sz="2000" dirty="0">
                <a:solidFill>
                  <a:srgbClr val="7030A0"/>
                </a:solidFill>
                <a:latin typeface="Times New Roman" pitchFamily="18" charset="0"/>
                <a:ea typeface="Times New Roman" pitchFamily="18" charset="0"/>
                <a:cs typeface="Times New Roman" pitchFamily="18" charset="0"/>
              </a:rPr>
              <a:t> (TWS) = 0.088 × 28 = N</a:t>
            </a:r>
            <a:r>
              <a:rPr lang="en-US" sz="2000" baseline="-30000" dirty="0">
                <a:solidFill>
                  <a:srgbClr val="7030A0"/>
                </a:solidFill>
                <a:latin typeface="Times New Roman" pitchFamily="18" charset="0"/>
                <a:ea typeface="Times New Roman" pitchFamily="18" charset="0"/>
                <a:cs typeface="Times New Roman" pitchFamily="18" charset="0"/>
              </a:rPr>
              <a:t>3</a:t>
            </a:r>
            <a:r>
              <a:rPr lang="en-US" sz="2000" dirty="0">
                <a:solidFill>
                  <a:srgbClr val="7030A0"/>
                </a:solidFill>
                <a:latin typeface="Times New Roman" pitchFamily="18" charset="0"/>
                <a:ea typeface="Times New Roman" pitchFamily="18" charset="0"/>
                <a:cs typeface="Times New Roman" pitchFamily="18" charset="0"/>
              </a:rPr>
              <a:t> × 50, N</a:t>
            </a:r>
            <a:r>
              <a:rPr lang="en-US" sz="2000" baseline="-30000" dirty="0">
                <a:solidFill>
                  <a:srgbClr val="7030A0"/>
                </a:solidFill>
                <a:latin typeface="Times New Roman" pitchFamily="18" charset="0"/>
                <a:ea typeface="Times New Roman" pitchFamily="18" charset="0"/>
                <a:cs typeface="Times New Roman" pitchFamily="18" charset="0"/>
              </a:rPr>
              <a:t>3</a:t>
            </a:r>
            <a:r>
              <a:rPr lang="en-US" sz="2000" dirty="0">
                <a:solidFill>
                  <a:srgbClr val="7030A0"/>
                </a:solidFill>
                <a:latin typeface="Times New Roman" pitchFamily="18" charset="0"/>
                <a:ea typeface="Times New Roman" pitchFamily="18" charset="0"/>
                <a:cs typeface="Times New Roman" pitchFamily="18" charset="0"/>
              </a:rPr>
              <a:t> = 0.049N</a:t>
            </a:r>
            <a:endParaRPr lang="en-US" sz="2000" dirty="0">
              <a:solidFill>
                <a:srgbClr val="7030A0"/>
              </a:solidFill>
              <a:latin typeface="Times New Roman" pitchFamily="18" charset="0"/>
              <a:cs typeface="Times New Roman" pitchFamily="18" charset="0"/>
            </a:endParaRPr>
          </a:p>
        </p:txBody>
      </p:sp>
      <p:sp>
        <p:nvSpPr>
          <p:cNvPr id="13" name="Rectangle 12"/>
          <p:cNvSpPr/>
          <p:nvPr/>
        </p:nvSpPr>
        <p:spPr>
          <a:xfrm>
            <a:off x="609600" y="3867090"/>
            <a:ext cx="8594084" cy="400110"/>
          </a:xfrm>
          <a:prstGeom prst="rect">
            <a:avLst/>
          </a:prstGeom>
        </p:spPr>
        <p:txBody>
          <a:bodyPr wrap="none">
            <a:spAutoFit/>
          </a:bodyPr>
          <a:lstStyle/>
          <a:p>
            <a:pPr marL="347663" lvl="0" indent="-347663" algn="just" eaLnBrk="0" fontAlgn="base" hangingPunct="0">
              <a:spcBef>
                <a:spcPct val="0"/>
              </a:spcBef>
              <a:spcAft>
                <a:spcPct val="0"/>
              </a:spcAft>
              <a:buClr>
                <a:srgbClr val="C00000"/>
              </a:buClr>
              <a:buFont typeface="Wingdings" pitchFamily="2" charset="2"/>
              <a:buChar char="Ø"/>
            </a:pPr>
            <a:r>
              <a:rPr lang="en-US" sz="2000" dirty="0">
                <a:solidFill>
                  <a:srgbClr val="0070C0"/>
                </a:solidFill>
                <a:latin typeface="Times New Roman" pitchFamily="18" charset="0"/>
                <a:ea typeface="Times New Roman" pitchFamily="18" charset="0"/>
                <a:cs typeface="Times New Roman" pitchFamily="18" charset="0"/>
              </a:rPr>
              <a:t>Total hardness = N</a:t>
            </a:r>
            <a:r>
              <a:rPr lang="en-US" sz="2000" baseline="-30000" dirty="0">
                <a:solidFill>
                  <a:srgbClr val="0070C0"/>
                </a:solidFill>
                <a:latin typeface="Times New Roman" pitchFamily="18" charset="0"/>
                <a:ea typeface="Times New Roman" pitchFamily="18" charset="0"/>
                <a:cs typeface="Times New Roman" pitchFamily="18" charset="0"/>
              </a:rPr>
              <a:t>3</a:t>
            </a:r>
            <a:r>
              <a:rPr lang="en-US" sz="2000" dirty="0">
                <a:solidFill>
                  <a:srgbClr val="0070C0"/>
                </a:solidFill>
                <a:latin typeface="Times New Roman" pitchFamily="18" charset="0"/>
                <a:ea typeface="Times New Roman" pitchFamily="18" charset="0"/>
                <a:cs typeface="Times New Roman" pitchFamily="18" charset="0"/>
              </a:rPr>
              <a:t> × 50 × 1000 = 0.049 × 50 × 1000  = 2450 mg/lit (or) ppm.</a:t>
            </a:r>
          </a:p>
        </p:txBody>
      </p:sp>
      <p:sp>
        <p:nvSpPr>
          <p:cNvPr id="14" name="Rectangle 13"/>
          <p:cNvSpPr/>
          <p:nvPr/>
        </p:nvSpPr>
        <p:spPr>
          <a:xfrm>
            <a:off x="609600" y="4476690"/>
            <a:ext cx="7753276" cy="400110"/>
          </a:xfrm>
          <a:prstGeom prst="rect">
            <a:avLst/>
          </a:prstGeom>
        </p:spPr>
        <p:txBody>
          <a:bodyPr wrap="none">
            <a:spAutoFit/>
          </a:bodyPr>
          <a:lstStyle/>
          <a:p>
            <a:pPr marL="347663" indent="-347663" algn="just" fontAlgn="base">
              <a:spcBef>
                <a:spcPct val="0"/>
              </a:spcBef>
              <a:spcAft>
                <a:spcPct val="0"/>
              </a:spcAft>
              <a:buClr>
                <a:srgbClr val="C00000"/>
              </a:buClr>
              <a:buFont typeface="Wingdings" pitchFamily="2" charset="2"/>
              <a:buChar char="Ø"/>
            </a:pPr>
            <a:r>
              <a:rPr lang="en-US" sz="2000" dirty="0">
                <a:solidFill>
                  <a:srgbClr val="002060"/>
                </a:solidFill>
                <a:latin typeface="Times New Roman" pitchFamily="18" charset="0"/>
                <a:ea typeface="Times New Roman" pitchFamily="18" charset="0"/>
                <a:cs typeface="Times New Roman" pitchFamily="18" charset="0"/>
              </a:rPr>
              <a:t>N</a:t>
            </a:r>
            <a:r>
              <a:rPr lang="en-US" sz="2000" baseline="-30000" dirty="0">
                <a:solidFill>
                  <a:srgbClr val="002060"/>
                </a:solidFill>
                <a:latin typeface="Times New Roman" pitchFamily="18" charset="0"/>
                <a:ea typeface="Times New Roman" pitchFamily="18" charset="0"/>
                <a:cs typeface="Times New Roman" pitchFamily="18" charset="0"/>
              </a:rPr>
              <a:t>2</a:t>
            </a:r>
            <a:r>
              <a:rPr lang="en-US" sz="2000" dirty="0">
                <a:solidFill>
                  <a:srgbClr val="002060"/>
                </a:solidFill>
                <a:latin typeface="Times New Roman" pitchFamily="18" charset="0"/>
                <a:ea typeface="Times New Roman" pitchFamily="18" charset="0"/>
                <a:cs typeface="Times New Roman" pitchFamily="18" charset="0"/>
              </a:rPr>
              <a:t>V</a:t>
            </a:r>
            <a:r>
              <a:rPr lang="en-US" sz="2000" baseline="-30000" dirty="0">
                <a:solidFill>
                  <a:srgbClr val="002060"/>
                </a:solidFill>
                <a:latin typeface="Times New Roman" pitchFamily="18" charset="0"/>
                <a:ea typeface="Times New Roman" pitchFamily="18" charset="0"/>
                <a:cs typeface="Times New Roman" pitchFamily="18" charset="0"/>
              </a:rPr>
              <a:t>2</a:t>
            </a:r>
            <a:r>
              <a:rPr lang="en-US" sz="2000" dirty="0">
                <a:solidFill>
                  <a:srgbClr val="002060"/>
                </a:solidFill>
                <a:latin typeface="Times New Roman" pitchFamily="18" charset="0"/>
                <a:ea typeface="Times New Roman" pitchFamily="18" charset="0"/>
                <a:cs typeface="Times New Roman" pitchFamily="18" charset="0"/>
              </a:rPr>
              <a:t> (EDTA) = N</a:t>
            </a:r>
            <a:r>
              <a:rPr lang="en-US" sz="2000" baseline="-30000" dirty="0">
                <a:solidFill>
                  <a:srgbClr val="002060"/>
                </a:solidFill>
                <a:latin typeface="Times New Roman" pitchFamily="18" charset="0"/>
                <a:ea typeface="Times New Roman" pitchFamily="18" charset="0"/>
                <a:cs typeface="Times New Roman" pitchFamily="18" charset="0"/>
              </a:rPr>
              <a:t>4</a:t>
            </a:r>
            <a:r>
              <a:rPr lang="en-US" sz="2000" dirty="0">
                <a:solidFill>
                  <a:srgbClr val="002060"/>
                </a:solidFill>
                <a:latin typeface="Times New Roman" pitchFamily="18" charset="0"/>
                <a:ea typeface="Times New Roman" pitchFamily="18" charset="0"/>
                <a:cs typeface="Times New Roman" pitchFamily="18" charset="0"/>
              </a:rPr>
              <a:t>V</a:t>
            </a:r>
            <a:r>
              <a:rPr lang="en-US" sz="2000" baseline="-30000" dirty="0">
                <a:solidFill>
                  <a:srgbClr val="002060"/>
                </a:solidFill>
                <a:latin typeface="Times New Roman" pitchFamily="18" charset="0"/>
                <a:ea typeface="Times New Roman" pitchFamily="18" charset="0"/>
                <a:cs typeface="Times New Roman" pitchFamily="18" charset="0"/>
              </a:rPr>
              <a:t>4</a:t>
            </a:r>
            <a:r>
              <a:rPr lang="en-US" sz="2000" dirty="0">
                <a:solidFill>
                  <a:srgbClr val="002060"/>
                </a:solidFill>
                <a:latin typeface="Times New Roman" pitchFamily="18" charset="0"/>
                <a:ea typeface="Times New Roman" pitchFamily="18" charset="0"/>
                <a:cs typeface="Times New Roman" pitchFamily="18" charset="0"/>
              </a:rPr>
              <a:t> (boiled TWS) = 0.088 × 15 = N</a:t>
            </a:r>
            <a:r>
              <a:rPr lang="en-US" sz="2000" baseline="-30000" dirty="0">
                <a:solidFill>
                  <a:srgbClr val="002060"/>
                </a:solidFill>
                <a:latin typeface="Times New Roman" pitchFamily="18" charset="0"/>
                <a:ea typeface="Times New Roman" pitchFamily="18" charset="0"/>
                <a:cs typeface="Times New Roman" pitchFamily="18" charset="0"/>
              </a:rPr>
              <a:t>4</a:t>
            </a:r>
            <a:r>
              <a:rPr lang="en-US" sz="2000" dirty="0">
                <a:solidFill>
                  <a:srgbClr val="002060"/>
                </a:solidFill>
                <a:latin typeface="Times New Roman" pitchFamily="18" charset="0"/>
                <a:ea typeface="Times New Roman" pitchFamily="18" charset="0"/>
                <a:cs typeface="Times New Roman" pitchFamily="18" charset="0"/>
              </a:rPr>
              <a:t> × 50 = 0.026N</a:t>
            </a:r>
            <a:endParaRPr lang="en-US" sz="2000" dirty="0">
              <a:solidFill>
                <a:srgbClr val="002060"/>
              </a:solidFill>
              <a:latin typeface="Times New Roman" pitchFamily="18" charset="0"/>
              <a:cs typeface="Times New Roman" pitchFamily="18" charset="0"/>
            </a:endParaRPr>
          </a:p>
        </p:txBody>
      </p:sp>
      <p:sp>
        <p:nvSpPr>
          <p:cNvPr id="15" name="Rectangle 14"/>
          <p:cNvSpPr/>
          <p:nvPr/>
        </p:nvSpPr>
        <p:spPr>
          <a:xfrm>
            <a:off x="609600" y="5086290"/>
            <a:ext cx="8954695" cy="400110"/>
          </a:xfrm>
          <a:prstGeom prst="rect">
            <a:avLst/>
          </a:prstGeom>
        </p:spPr>
        <p:txBody>
          <a:bodyPr wrap="none">
            <a:spAutoFit/>
          </a:bodyPr>
          <a:lstStyle/>
          <a:p>
            <a:pPr marL="282575" lvl="0" indent="-282575" algn="just" eaLnBrk="0" fontAlgn="base" hangingPunct="0">
              <a:spcBef>
                <a:spcPct val="0"/>
              </a:spcBef>
              <a:spcAft>
                <a:spcPct val="0"/>
              </a:spcAft>
              <a:buClr>
                <a:srgbClr val="C00000"/>
              </a:buClr>
              <a:buFont typeface="Wingdings" pitchFamily="2" charset="2"/>
              <a:buChar char="Ø"/>
            </a:pPr>
            <a:r>
              <a:rPr lang="en-US" sz="2000" dirty="0">
                <a:solidFill>
                  <a:srgbClr val="7030A0"/>
                </a:solidFill>
                <a:latin typeface="Times New Roman" pitchFamily="18" charset="0"/>
                <a:ea typeface="Times New Roman" pitchFamily="18" charset="0"/>
                <a:cs typeface="Times New Roman" pitchFamily="18" charset="0"/>
              </a:rPr>
              <a:t>Permanent  hardness = N</a:t>
            </a:r>
            <a:r>
              <a:rPr lang="en-US" sz="2000" baseline="-30000" dirty="0">
                <a:solidFill>
                  <a:srgbClr val="7030A0"/>
                </a:solidFill>
                <a:latin typeface="Times New Roman" pitchFamily="18" charset="0"/>
                <a:ea typeface="Times New Roman" pitchFamily="18" charset="0"/>
                <a:cs typeface="Times New Roman" pitchFamily="18" charset="0"/>
              </a:rPr>
              <a:t>4</a:t>
            </a:r>
            <a:r>
              <a:rPr lang="en-US" sz="2000" dirty="0">
                <a:solidFill>
                  <a:srgbClr val="7030A0"/>
                </a:solidFill>
                <a:latin typeface="Times New Roman" pitchFamily="18" charset="0"/>
                <a:ea typeface="Times New Roman" pitchFamily="18" charset="0"/>
                <a:cs typeface="Times New Roman" pitchFamily="18" charset="0"/>
              </a:rPr>
              <a:t> × 50 × 1000 = 0.026 × 50 × 1000= 1300 mg/lit (or) ppm.</a:t>
            </a:r>
          </a:p>
        </p:txBody>
      </p:sp>
      <p:sp>
        <p:nvSpPr>
          <p:cNvPr id="16" name="Rectangle 15"/>
          <p:cNvSpPr/>
          <p:nvPr/>
        </p:nvSpPr>
        <p:spPr>
          <a:xfrm>
            <a:off x="609600" y="5616714"/>
            <a:ext cx="11506200" cy="707886"/>
          </a:xfrm>
          <a:prstGeom prst="rect">
            <a:avLst/>
          </a:prstGeom>
        </p:spPr>
        <p:txBody>
          <a:bodyPr wrap="square">
            <a:spAutoFit/>
          </a:bodyPr>
          <a:lstStyle/>
          <a:p>
            <a:pPr marL="347663" lvl="0" indent="-347663" algn="just" eaLnBrk="0" fontAlgn="base" hangingPunct="0">
              <a:spcBef>
                <a:spcPct val="0"/>
              </a:spcBef>
              <a:spcAft>
                <a:spcPct val="0"/>
              </a:spcAft>
              <a:buClr>
                <a:srgbClr val="C00000"/>
              </a:buClr>
              <a:buFont typeface="Wingdings" pitchFamily="2" charset="2"/>
              <a:buChar char="Ø"/>
            </a:pPr>
            <a:r>
              <a:rPr lang="en-US" sz="2000" dirty="0">
                <a:solidFill>
                  <a:srgbClr val="002060"/>
                </a:solidFill>
                <a:latin typeface="Times New Roman" pitchFamily="18" charset="0"/>
                <a:ea typeface="Times New Roman" pitchFamily="18" charset="0"/>
                <a:cs typeface="Times New Roman" pitchFamily="18" charset="0"/>
              </a:rPr>
              <a:t>The total hardness  = Permanent hardness + Temporary hardness.</a:t>
            </a:r>
          </a:p>
          <a:p>
            <a:pPr marL="347663" lvl="0" indent="-347663" algn="just" eaLnBrk="0" fontAlgn="base" hangingPunct="0">
              <a:spcBef>
                <a:spcPct val="0"/>
              </a:spcBef>
              <a:spcAft>
                <a:spcPct val="0"/>
              </a:spcAft>
            </a:pPr>
            <a:r>
              <a:rPr lang="en-US" sz="2000" dirty="0">
                <a:solidFill>
                  <a:srgbClr val="002060"/>
                </a:solidFill>
                <a:latin typeface="Times New Roman" pitchFamily="18" charset="0"/>
                <a:ea typeface="Times New Roman" pitchFamily="18" charset="0"/>
                <a:cs typeface="Times New Roman" pitchFamily="18" charset="0"/>
              </a:rPr>
              <a:t>	Temporary hardness = The total hardness - Permanent hardness = 2450- 1300 = 1150 mg/ lit (or) ppm</a:t>
            </a:r>
            <a:endParaRPr lang="en-US" sz="2000" dirty="0">
              <a:solidFill>
                <a:srgbClr val="00206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p:cNvGrpSpPr/>
          <p:nvPr/>
        </p:nvGrpSpPr>
        <p:grpSpPr>
          <a:xfrm>
            <a:off x="228600" y="358914"/>
            <a:ext cx="12317345" cy="5889486"/>
            <a:chOff x="228600" y="358914"/>
            <a:chExt cx="12317345" cy="5889486"/>
          </a:xfrm>
        </p:grpSpPr>
        <p:sp>
          <p:nvSpPr>
            <p:cNvPr id="86017" name="Rectangle 1"/>
            <p:cNvSpPr>
              <a:spLocks noChangeArrowheads="1"/>
            </p:cNvSpPr>
            <p:nvPr/>
          </p:nvSpPr>
          <p:spPr bwMode="auto">
            <a:xfrm>
              <a:off x="228600" y="1354753"/>
              <a:ext cx="6629400" cy="489364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566738" marR="0" lvl="0" indent="-566738" algn="just" defTabSz="914400" rtl="0" eaLnBrk="0" fontAlgn="base" latinLnBrk="0" hangingPunct="0">
                <a:lnSpc>
                  <a:spcPct val="100000"/>
                </a:lnSpc>
                <a:spcBef>
                  <a:spcPct val="0"/>
                </a:spcBef>
                <a:spcAft>
                  <a:spcPct val="0"/>
                </a:spcAft>
                <a:buClr>
                  <a:srgbClr val="C00000"/>
                </a:buClr>
                <a:buSzTx/>
                <a:buFont typeface="Wingdings" pitchFamily="2" charset="2"/>
                <a:buChar char="v"/>
                <a:tabLst>
                  <a:tab pos="457200" algn="l"/>
                </a:tabLst>
              </a:pP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The water supplied by municipality should be fit for human consumption. </a:t>
              </a:r>
            </a:p>
            <a:p>
              <a:pPr marL="566738" marR="0" lvl="0" indent="-566738" algn="just" defTabSz="914400" rtl="0" eaLnBrk="0" fontAlgn="base" latinLnBrk="0" hangingPunct="0">
                <a:lnSpc>
                  <a:spcPct val="100000"/>
                </a:lnSpc>
                <a:spcBef>
                  <a:spcPct val="0"/>
                </a:spcBef>
                <a:spcAft>
                  <a:spcPct val="0"/>
                </a:spcAft>
                <a:buClr>
                  <a:srgbClr val="C00000"/>
                </a:buClr>
                <a:buSzTx/>
                <a:buFont typeface="Wingdings" pitchFamily="2" charset="2"/>
                <a:buChar char="v"/>
                <a:tabLst>
                  <a:tab pos="457200" algn="l"/>
                </a:tabLst>
              </a:pP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It should satisfy the following requirements:</a:t>
              </a:r>
              <a:endParaRPr kumimoji="0" lang="en-US" sz="2400" b="0" i="0" u="none" strike="noStrike" cap="none" normalizeH="0" baseline="0" dirty="0">
                <a:ln>
                  <a:noFill/>
                </a:ln>
                <a:solidFill>
                  <a:schemeClr val="tx1"/>
                </a:solidFill>
                <a:effectLst/>
                <a:latin typeface="Times New Roman" pitchFamily="18" charset="0"/>
                <a:cs typeface="Times New Roman" pitchFamily="18" charset="0"/>
              </a:endParaRPr>
            </a:p>
            <a:p>
              <a:pPr marL="1087438" lvl="2" indent="-457200" algn="just" eaLnBrk="0" fontAlgn="base" hangingPunct="0">
                <a:spcBef>
                  <a:spcPct val="0"/>
                </a:spcBef>
                <a:spcAft>
                  <a:spcPct val="0"/>
                </a:spcAft>
                <a:buClr>
                  <a:srgbClr val="0070C0"/>
                </a:buClr>
                <a:buFont typeface="+mj-lt"/>
                <a:buAutoNum type="arabicParenR"/>
                <a:tabLst>
                  <a:tab pos="457200" algn="l"/>
                </a:tabLst>
              </a:pP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It should be colorless, odourless, and pleasant to taste.</a:t>
              </a:r>
            </a:p>
            <a:p>
              <a:pPr marL="1087438" lvl="2" indent="-457200" algn="just" eaLnBrk="0" fontAlgn="base" hangingPunct="0">
                <a:spcBef>
                  <a:spcPct val="0"/>
                </a:spcBef>
                <a:spcAft>
                  <a:spcPct val="0"/>
                </a:spcAft>
                <a:buClr>
                  <a:srgbClr val="0070C0"/>
                </a:buClr>
                <a:buFont typeface="+mj-lt"/>
                <a:buAutoNum type="arabicParenR"/>
                <a:tabLst>
                  <a:tab pos="457200" algn="l"/>
                </a:tabLst>
              </a:pP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Turbidity should not exceed 10 ppm.</a:t>
              </a:r>
            </a:p>
            <a:p>
              <a:pPr marL="1087438" lvl="2" indent="-457200" algn="just" eaLnBrk="0" fontAlgn="base" hangingPunct="0">
                <a:spcBef>
                  <a:spcPct val="0"/>
                </a:spcBef>
                <a:spcAft>
                  <a:spcPct val="0"/>
                </a:spcAft>
                <a:buClr>
                  <a:srgbClr val="0070C0"/>
                </a:buClr>
                <a:buFont typeface="+mj-lt"/>
                <a:buAutoNum type="arabicParenR"/>
                <a:tabLst>
                  <a:tab pos="457200" algn="l"/>
                </a:tabLst>
              </a:pP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TDS should not exceed 500 ppm.</a:t>
              </a:r>
            </a:p>
            <a:p>
              <a:pPr marL="1087438" lvl="2" indent="-457200" algn="just" eaLnBrk="0" fontAlgn="base" hangingPunct="0">
                <a:spcBef>
                  <a:spcPct val="0"/>
                </a:spcBef>
                <a:spcAft>
                  <a:spcPct val="0"/>
                </a:spcAft>
                <a:buClr>
                  <a:srgbClr val="0070C0"/>
                </a:buClr>
                <a:buFont typeface="+mj-lt"/>
                <a:buAutoNum type="arabicParenR"/>
                <a:tabLst>
                  <a:tab pos="457200" algn="l"/>
                </a:tabLst>
              </a:pP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It should not be very alkaline (pH 8.0).</a:t>
              </a:r>
            </a:p>
            <a:p>
              <a:pPr marL="1087438" lvl="2" indent="-457200" algn="just" eaLnBrk="0" fontAlgn="base" hangingPunct="0">
                <a:spcBef>
                  <a:spcPct val="0"/>
                </a:spcBef>
                <a:spcAft>
                  <a:spcPct val="0"/>
                </a:spcAft>
                <a:buClr>
                  <a:srgbClr val="0070C0"/>
                </a:buClr>
                <a:buFont typeface="+mj-lt"/>
                <a:buAutoNum type="arabicParenR"/>
                <a:tabLst>
                  <a:tab pos="457200" algn="l"/>
                </a:tabLst>
              </a:pP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It should be free from dissolved gases.(H</a:t>
              </a:r>
              <a:r>
                <a:rPr kumimoji="0" lang="en-US" sz="2400" b="0" i="0" u="none" strike="noStrike" cap="none" normalizeH="0" baseline="-30000" dirty="0">
                  <a:ln>
                    <a:noFill/>
                  </a:ln>
                  <a:solidFill>
                    <a:schemeClr val="tx1"/>
                  </a:solidFill>
                  <a:effectLst/>
                  <a:latin typeface="Times New Roman" pitchFamily="18" charset="0"/>
                  <a:ea typeface="Calibri" pitchFamily="34" charset="0"/>
                  <a:cs typeface="Times New Roman" pitchFamily="18" charset="0"/>
                </a:rPr>
                <a:t>2</a:t>
              </a: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S,CO</a:t>
              </a:r>
              <a:r>
                <a:rPr kumimoji="0" lang="en-US" sz="2400" b="0" i="0" u="none" strike="noStrike" cap="none" normalizeH="0" baseline="-30000" dirty="0">
                  <a:ln>
                    <a:noFill/>
                  </a:ln>
                  <a:solidFill>
                    <a:schemeClr val="tx1"/>
                  </a:solidFill>
                  <a:effectLst/>
                  <a:latin typeface="Times New Roman" pitchFamily="18" charset="0"/>
                  <a:ea typeface="Calibri" pitchFamily="34" charset="0"/>
                  <a:cs typeface="Times New Roman" pitchFamily="18" charset="0"/>
                </a:rPr>
                <a:t>2</a:t>
              </a: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a:t>
              </a:r>
            </a:p>
            <a:p>
              <a:pPr marL="1087438" lvl="2" indent="-457200" algn="just" eaLnBrk="0" fontAlgn="base" hangingPunct="0">
                <a:spcBef>
                  <a:spcPct val="0"/>
                </a:spcBef>
                <a:spcAft>
                  <a:spcPct val="0"/>
                </a:spcAft>
                <a:buClr>
                  <a:srgbClr val="0070C0"/>
                </a:buClr>
                <a:buFont typeface="+mj-lt"/>
                <a:buAutoNum type="arabicParenR"/>
                <a:tabLst>
                  <a:tab pos="457200" algn="l"/>
                </a:tabLst>
              </a:pP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It should be free from objectionable minerals such as Pb, As, Cs, Mn.</a:t>
              </a:r>
            </a:p>
            <a:p>
              <a:pPr marL="1087438" lvl="2" indent="-457200" algn="just" eaLnBrk="0" fontAlgn="base" hangingPunct="0">
                <a:spcBef>
                  <a:spcPct val="0"/>
                </a:spcBef>
                <a:spcAft>
                  <a:spcPct val="0"/>
                </a:spcAft>
                <a:buClr>
                  <a:srgbClr val="0070C0"/>
                </a:buClr>
                <a:buFont typeface="+mj-lt"/>
                <a:buAutoNum type="arabicParenR"/>
                <a:tabLst>
                  <a:tab pos="457200" algn="l"/>
                </a:tabLst>
              </a:pPr>
              <a:r>
                <a:rPr lang="en-US" sz="2400" dirty="0">
                  <a:latin typeface="Times New Roman" pitchFamily="18" charset="0"/>
                  <a:ea typeface="Calibri" pitchFamily="34" charset="0"/>
                  <a:cs typeface="Times New Roman" pitchFamily="18" charset="0"/>
                </a:rPr>
                <a:t>It should be free from pathogenic organism.</a:t>
              </a:r>
              <a:endParaRPr kumimoji="0" lang="en-US" sz="2400" b="0" i="0" u="none" strike="noStrike" cap="none" normalizeH="0" baseline="0" dirty="0">
                <a:ln>
                  <a:noFill/>
                </a:ln>
                <a:solidFill>
                  <a:schemeClr val="tx1"/>
                </a:solidFill>
                <a:effectLst/>
                <a:latin typeface="Times New Roman" pitchFamily="18" charset="0"/>
                <a:cs typeface="Times New Roman" pitchFamily="18" charset="0"/>
              </a:endParaRPr>
            </a:p>
          </p:txBody>
        </p:sp>
        <p:sp>
          <p:nvSpPr>
            <p:cNvPr id="3" name="Rectangle 2"/>
            <p:cNvSpPr/>
            <p:nvPr/>
          </p:nvSpPr>
          <p:spPr>
            <a:xfrm>
              <a:off x="609600" y="358914"/>
              <a:ext cx="11561114" cy="707886"/>
            </a:xfrm>
            <a:prstGeom prst="rect">
              <a:avLst/>
            </a:prstGeom>
          </p:spPr>
          <p:txBody>
            <a:bodyPr wrap="none">
              <a:spAutoFit/>
            </a:bodyPr>
            <a:lstStyle/>
            <a:p>
              <a:pPr lvl="0" fontAlgn="base">
                <a:spcBef>
                  <a:spcPct val="0"/>
                </a:spcBef>
                <a:spcAft>
                  <a:spcPct val="0"/>
                </a:spcAft>
                <a:tabLst>
                  <a:tab pos="457200" algn="l"/>
                </a:tabLst>
              </a:pPr>
              <a:r>
                <a:rPr lang="en-US" sz="4000" b="1" dirty="0">
                  <a:solidFill>
                    <a:srgbClr val="C00000"/>
                  </a:solidFill>
                  <a:latin typeface="Times New Roman" pitchFamily="18" charset="0"/>
                  <a:ea typeface="Calibri" pitchFamily="34" charset="0"/>
                  <a:cs typeface="Times New Roman" pitchFamily="18" charset="0"/>
                </a:rPr>
                <a:t>Specifications of </a:t>
              </a:r>
              <a:r>
                <a:rPr lang="en-US" sz="4000" b="1" dirty="0" smtClean="0">
                  <a:solidFill>
                    <a:srgbClr val="C00000"/>
                  </a:solidFill>
                  <a:latin typeface="Times New Roman" pitchFamily="18" charset="0"/>
                  <a:ea typeface="Calibri" pitchFamily="34" charset="0"/>
                  <a:cs typeface="Times New Roman" pitchFamily="18" charset="0"/>
                </a:rPr>
                <a:t>Potable </a:t>
              </a:r>
              <a:r>
                <a:rPr lang="en-US" sz="4000" b="1" dirty="0">
                  <a:solidFill>
                    <a:srgbClr val="C00000"/>
                  </a:solidFill>
                  <a:latin typeface="Times New Roman" pitchFamily="18" charset="0"/>
                  <a:ea typeface="Calibri" pitchFamily="34" charset="0"/>
                  <a:cs typeface="Times New Roman" pitchFamily="18" charset="0"/>
                </a:rPr>
                <a:t>or </a:t>
              </a:r>
              <a:r>
                <a:rPr lang="en-US" sz="4000" b="1" dirty="0" smtClean="0">
                  <a:solidFill>
                    <a:srgbClr val="C00000"/>
                  </a:solidFill>
                  <a:latin typeface="Times New Roman" pitchFamily="18" charset="0"/>
                  <a:ea typeface="Calibri" pitchFamily="34" charset="0"/>
                  <a:cs typeface="Times New Roman" pitchFamily="18" charset="0"/>
                </a:rPr>
                <a:t>Domestic </a:t>
              </a:r>
              <a:r>
                <a:rPr lang="en-US" sz="4000" b="1" dirty="0" smtClean="0">
                  <a:solidFill>
                    <a:srgbClr val="C00000"/>
                  </a:solidFill>
                  <a:latin typeface="Times New Roman" pitchFamily="18" charset="0"/>
                  <a:ea typeface="Calibri" pitchFamily="34" charset="0"/>
                  <a:cs typeface="Times New Roman" pitchFamily="18" charset="0"/>
                </a:rPr>
                <a:t>W</a:t>
              </a:r>
              <a:r>
                <a:rPr lang="en-US" sz="4000" b="1" dirty="0" smtClean="0">
                  <a:solidFill>
                    <a:srgbClr val="C00000"/>
                  </a:solidFill>
                  <a:latin typeface="Times New Roman" pitchFamily="18" charset="0"/>
                  <a:ea typeface="Calibri" pitchFamily="34" charset="0"/>
                  <a:cs typeface="Times New Roman" pitchFamily="18" charset="0"/>
                </a:rPr>
                <a:t>ater (WHO)</a:t>
              </a:r>
              <a:endParaRPr lang="en-US" sz="4000" dirty="0">
                <a:solidFill>
                  <a:srgbClr val="C00000"/>
                </a:solidFill>
                <a:latin typeface="Times New Roman" pitchFamily="18" charset="0"/>
                <a:cs typeface="Times New Roman" pitchFamily="18" charset="0"/>
              </a:endParaRPr>
            </a:p>
          </p:txBody>
        </p:sp>
        <p:pic>
          <p:nvPicPr>
            <p:cNvPr id="86019" name="Picture 3" descr="What Is Municipal Water? - Apure"/>
            <p:cNvPicPr>
              <a:picLocks noChangeAspect="1" noChangeArrowheads="1"/>
            </p:cNvPicPr>
            <p:nvPr/>
          </p:nvPicPr>
          <p:blipFill>
            <a:blip r:embed="rId2"/>
            <a:srcRect/>
            <a:stretch>
              <a:fillRect/>
            </a:stretch>
          </p:blipFill>
          <p:spPr bwMode="auto">
            <a:xfrm>
              <a:off x="7010400" y="1524000"/>
              <a:ext cx="5535545" cy="4648200"/>
            </a:xfrm>
            <a:prstGeom prst="rect">
              <a:avLst/>
            </a:prstGeom>
            <a:noFill/>
          </p:spPr>
        </p:pic>
      </p:grpSp>
    </p:spTree>
    <p:extLst>
      <p:ext uri="{BB962C8B-B14F-4D97-AF65-F5344CB8AC3E}">
        <p14:creationId xmlns:p14="http://schemas.microsoft.com/office/powerpoint/2010/main" val="32075188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1"/>
          <p:cNvSpPr>
            <a:spLocks noChangeArrowheads="1"/>
          </p:cNvSpPr>
          <p:nvPr/>
        </p:nvSpPr>
        <p:spPr bwMode="auto">
          <a:xfrm>
            <a:off x="304800" y="1143000"/>
            <a:ext cx="6019800" cy="526297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463550" marR="0" lvl="0" indent="-463550" algn="just" defTabSz="914400" rtl="0" eaLnBrk="1" fontAlgn="base" latinLnBrk="0" hangingPunct="1">
              <a:lnSpc>
                <a:spcPct val="100000"/>
              </a:lnSpc>
              <a:spcBef>
                <a:spcPct val="0"/>
              </a:spcBef>
              <a:spcAft>
                <a:spcPct val="0"/>
              </a:spcAft>
              <a:buClr>
                <a:srgbClr val="C00000"/>
              </a:buClr>
              <a:buSzTx/>
              <a:buFont typeface="Wingdings" pitchFamily="2" charset="2"/>
              <a:buChar char="v"/>
              <a:tabLst/>
            </a:pP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Treatment of water for drinking purposes mainly includes the removal of suspended impurities, colloidal impurities and harmful pathogenic bacteria. </a:t>
            </a:r>
          </a:p>
          <a:p>
            <a:pPr marL="463550" marR="0" lvl="0" indent="-463550" algn="just" defTabSz="914400" rtl="0" eaLnBrk="1" fontAlgn="base" latinLnBrk="0" hangingPunct="1">
              <a:lnSpc>
                <a:spcPct val="100000"/>
              </a:lnSpc>
              <a:spcBef>
                <a:spcPct val="0"/>
              </a:spcBef>
              <a:spcAft>
                <a:spcPct val="0"/>
              </a:spcAft>
              <a:buClr>
                <a:srgbClr val="C00000"/>
              </a:buClr>
              <a:buSzTx/>
              <a:buFont typeface="Wingdings" pitchFamily="2" charset="2"/>
              <a:buChar char="v"/>
              <a:tabLst/>
            </a:pP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The following stages are involved in purification</a:t>
            </a:r>
            <a:endParaRPr kumimoji="0" lang="en-US" sz="2400" b="0" i="0" u="none" strike="noStrike" cap="none" normalizeH="0" baseline="0" dirty="0">
              <a:ln>
                <a:noFill/>
              </a:ln>
              <a:solidFill>
                <a:schemeClr val="tx1"/>
              </a:solidFill>
              <a:effectLst/>
              <a:latin typeface="Times New Roman" pitchFamily="18" charset="0"/>
              <a:cs typeface="Times New Roman" pitchFamily="18" charset="0"/>
            </a:endParaRPr>
          </a:p>
          <a:p>
            <a:pPr lvl="4" algn="just" eaLnBrk="0" fontAlgn="base" hangingPunct="0">
              <a:spcBef>
                <a:spcPct val="0"/>
              </a:spcBef>
              <a:spcAft>
                <a:spcPct val="0"/>
              </a:spcAft>
            </a:pPr>
            <a:r>
              <a:rPr kumimoji="0" lang="en-US" sz="2400" b="1" i="0" u="none" strike="noStrike" cap="none" normalizeH="0" baseline="0" dirty="0">
                <a:ln>
                  <a:noFill/>
                </a:ln>
                <a:solidFill>
                  <a:srgbClr val="002060"/>
                </a:solidFill>
                <a:effectLst/>
                <a:latin typeface="Times New Roman" pitchFamily="18" charset="0"/>
                <a:ea typeface="Calibri" pitchFamily="34" charset="0"/>
                <a:cs typeface="Times New Roman" pitchFamily="18" charset="0"/>
              </a:rPr>
              <a:t>1. Screening</a:t>
            </a:r>
            <a:endParaRPr kumimoji="0" lang="en-US" sz="2400" b="1" i="0" u="none" strike="noStrike" cap="none" normalizeH="0" baseline="0" dirty="0">
              <a:ln>
                <a:noFill/>
              </a:ln>
              <a:solidFill>
                <a:srgbClr val="002060"/>
              </a:solidFill>
              <a:effectLst/>
              <a:latin typeface="Times New Roman" pitchFamily="18" charset="0"/>
              <a:cs typeface="Times New Roman" pitchFamily="18" charset="0"/>
            </a:endParaRPr>
          </a:p>
          <a:p>
            <a:pPr lvl="4" algn="just" eaLnBrk="0" fontAlgn="base" hangingPunct="0">
              <a:spcBef>
                <a:spcPct val="0"/>
              </a:spcBef>
              <a:spcAft>
                <a:spcPct val="0"/>
              </a:spcAft>
            </a:pPr>
            <a:r>
              <a:rPr kumimoji="0" lang="en-US" sz="2400" b="1" i="0" u="none" strike="noStrike" cap="none" normalizeH="0" baseline="0" dirty="0">
                <a:ln>
                  <a:noFill/>
                </a:ln>
                <a:solidFill>
                  <a:srgbClr val="002060"/>
                </a:solidFill>
                <a:effectLst/>
                <a:latin typeface="Times New Roman" pitchFamily="18" charset="0"/>
                <a:ea typeface="Calibri" pitchFamily="34" charset="0"/>
                <a:cs typeface="Times New Roman" pitchFamily="18" charset="0"/>
              </a:rPr>
              <a:t>2. Sedimentation</a:t>
            </a:r>
            <a:endParaRPr kumimoji="0" lang="en-US" sz="2400" b="1" i="0" u="none" strike="noStrike" cap="none" normalizeH="0" baseline="0" dirty="0">
              <a:ln>
                <a:noFill/>
              </a:ln>
              <a:solidFill>
                <a:srgbClr val="002060"/>
              </a:solidFill>
              <a:effectLst/>
              <a:latin typeface="Times New Roman" pitchFamily="18" charset="0"/>
              <a:cs typeface="Times New Roman" pitchFamily="18" charset="0"/>
            </a:endParaRPr>
          </a:p>
          <a:p>
            <a:pPr lvl="4" algn="just" eaLnBrk="0" fontAlgn="base" hangingPunct="0">
              <a:spcBef>
                <a:spcPct val="0"/>
              </a:spcBef>
              <a:spcAft>
                <a:spcPct val="0"/>
              </a:spcAft>
            </a:pPr>
            <a:r>
              <a:rPr kumimoji="0" lang="en-US" sz="2400" b="1" i="0" u="none" strike="noStrike" cap="none" normalizeH="0" baseline="0" dirty="0">
                <a:ln>
                  <a:noFill/>
                </a:ln>
                <a:solidFill>
                  <a:srgbClr val="002060"/>
                </a:solidFill>
                <a:effectLst/>
                <a:latin typeface="Times New Roman" pitchFamily="18" charset="0"/>
                <a:ea typeface="Calibri" pitchFamily="34" charset="0"/>
                <a:cs typeface="Times New Roman" pitchFamily="18" charset="0"/>
              </a:rPr>
              <a:t>3. Coagulation </a:t>
            </a:r>
            <a:endParaRPr kumimoji="0" lang="en-US" sz="2400" b="1" i="0" u="none" strike="noStrike" cap="none" normalizeH="0" baseline="0" dirty="0">
              <a:ln>
                <a:noFill/>
              </a:ln>
              <a:solidFill>
                <a:srgbClr val="002060"/>
              </a:solidFill>
              <a:effectLst/>
              <a:latin typeface="Times New Roman" pitchFamily="18" charset="0"/>
              <a:cs typeface="Times New Roman" pitchFamily="18" charset="0"/>
            </a:endParaRPr>
          </a:p>
          <a:p>
            <a:pPr lvl="4" algn="just" eaLnBrk="0" fontAlgn="base" hangingPunct="0">
              <a:spcBef>
                <a:spcPct val="0"/>
              </a:spcBef>
              <a:spcAft>
                <a:spcPct val="0"/>
              </a:spcAft>
            </a:pPr>
            <a:r>
              <a:rPr kumimoji="0" lang="en-US" sz="2400" b="1" i="0" u="none" strike="noStrike" cap="none" normalizeH="0" baseline="0" dirty="0">
                <a:ln>
                  <a:noFill/>
                </a:ln>
                <a:solidFill>
                  <a:srgbClr val="002060"/>
                </a:solidFill>
                <a:effectLst/>
                <a:latin typeface="Times New Roman" pitchFamily="18" charset="0"/>
                <a:ea typeface="Calibri" pitchFamily="34" charset="0"/>
                <a:cs typeface="Times New Roman" pitchFamily="18" charset="0"/>
              </a:rPr>
              <a:t>4. Filtration</a:t>
            </a:r>
            <a:endParaRPr kumimoji="0" lang="en-US" sz="2400" b="1" i="0" u="none" strike="noStrike" cap="none" normalizeH="0" baseline="0" dirty="0">
              <a:ln>
                <a:noFill/>
              </a:ln>
              <a:solidFill>
                <a:srgbClr val="002060"/>
              </a:solidFill>
              <a:effectLst/>
              <a:latin typeface="Times New Roman" pitchFamily="18" charset="0"/>
              <a:cs typeface="Times New Roman" pitchFamily="18" charset="0"/>
            </a:endParaRPr>
          </a:p>
          <a:p>
            <a:pPr lvl="4" algn="just" eaLnBrk="0" fontAlgn="base" hangingPunct="0">
              <a:spcBef>
                <a:spcPct val="0"/>
              </a:spcBef>
              <a:spcAft>
                <a:spcPct val="0"/>
              </a:spcAft>
            </a:pPr>
            <a:r>
              <a:rPr kumimoji="0" lang="en-US" sz="2400" b="1" i="0" u="none" strike="noStrike" cap="none" normalizeH="0" baseline="0" dirty="0">
                <a:ln>
                  <a:noFill/>
                </a:ln>
                <a:solidFill>
                  <a:srgbClr val="002060"/>
                </a:solidFill>
                <a:effectLst/>
                <a:latin typeface="Times New Roman" pitchFamily="18" charset="0"/>
                <a:ea typeface="Calibri" pitchFamily="34" charset="0"/>
                <a:cs typeface="Times New Roman" pitchFamily="18" charset="0"/>
              </a:rPr>
              <a:t>5. Disinfection</a:t>
            </a:r>
            <a:endParaRPr kumimoji="0" lang="en-US" sz="2400" b="1" i="0" u="none" strike="noStrike" cap="none" normalizeH="0" baseline="0" dirty="0">
              <a:ln>
                <a:noFill/>
              </a:ln>
              <a:solidFill>
                <a:srgbClr val="002060"/>
              </a:solidFill>
              <a:effectLst/>
              <a:latin typeface="Times New Roman" pitchFamily="18" charset="0"/>
              <a:cs typeface="Times New Roman" pitchFamily="18" charset="0"/>
            </a:endParaRPr>
          </a:p>
          <a:p>
            <a:pPr marL="463550" marR="0" lvl="0" indent="-463550" algn="just" defTabSz="914400" rtl="0" eaLnBrk="0" fontAlgn="base" latinLnBrk="0" hangingPunct="0">
              <a:lnSpc>
                <a:spcPct val="100000"/>
              </a:lnSpc>
              <a:spcBef>
                <a:spcPct val="0"/>
              </a:spcBef>
              <a:spcAft>
                <a:spcPct val="0"/>
              </a:spcAft>
              <a:buClr>
                <a:srgbClr val="C00000"/>
              </a:buClr>
              <a:buSzTx/>
              <a:buFont typeface="Wingdings" pitchFamily="2" charset="2"/>
              <a:buChar char="v"/>
              <a:tabLst/>
            </a:pP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As required, other steps will be added, depending on the chemistry of the treated water.</a:t>
            </a:r>
            <a:endParaRPr kumimoji="0" lang="en-US" sz="2400" b="0" i="0" u="none" strike="noStrike" cap="none" normalizeH="0" baseline="0" dirty="0">
              <a:ln>
                <a:noFill/>
              </a:ln>
              <a:solidFill>
                <a:schemeClr val="tx1"/>
              </a:solidFill>
              <a:effectLst/>
              <a:latin typeface="Times New Roman" pitchFamily="18" charset="0"/>
              <a:cs typeface="Times New Roman" pitchFamily="18" charset="0"/>
            </a:endParaRPr>
          </a:p>
        </p:txBody>
      </p:sp>
      <p:sp>
        <p:nvSpPr>
          <p:cNvPr id="3" name="Rectangle 2"/>
          <p:cNvSpPr/>
          <p:nvPr/>
        </p:nvSpPr>
        <p:spPr>
          <a:xfrm>
            <a:off x="3572717" y="228600"/>
            <a:ext cx="5951309" cy="707886"/>
          </a:xfrm>
          <a:prstGeom prst="rect">
            <a:avLst/>
          </a:prstGeom>
        </p:spPr>
        <p:txBody>
          <a:bodyPr wrap="none">
            <a:spAutoFit/>
          </a:bodyPr>
          <a:lstStyle/>
          <a:p>
            <a:r>
              <a:rPr lang="en-US" altLang="zh-CN" sz="4000" b="1" dirty="0">
                <a:solidFill>
                  <a:srgbClr val="C00000"/>
                </a:solidFill>
                <a:latin typeface="Times New Roman" pitchFamily="18" charset="0"/>
                <a:cs typeface="Times New Roman" pitchFamily="18" charset="0"/>
              </a:rPr>
              <a:t>Portable </a:t>
            </a:r>
            <a:r>
              <a:rPr lang="en-US" altLang="zh-CN" sz="4000" b="1" dirty="0" smtClean="0">
                <a:solidFill>
                  <a:srgbClr val="C00000"/>
                </a:solidFill>
                <a:latin typeface="Times New Roman" pitchFamily="18" charset="0"/>
                <a:cs typeface="Times New Roman" pitchFamily="18" charset="0"/>
              </a:rPr>
              <a:t>W</a:t>
            </a:r>
            <a:r>
              <a:rPr lang="zh-CN" altLang="en-US" sz="4000" b="1" dirty="0" smtClean="0">
                <a:solidFill>
                  <a:srgbClr val="C00000"/>
                </a:solidFill>
                <a:latin typeface="Times New Roman" pitchFamily="18" charset="0"/>
                <a:cs typeface="Times New Roman" pitchFamily="18" charset="0"/>
              </a:rPr>
              <a:t>ater </a:t>
            </a:r>
            <a:r>
              <a:rPr lang="en-US" altLang="zh-CN" sz="4000" b="1" dirty="0">
                <a:solidFill>
                  <a:srgbClr val="C00000"/>
                </a:solidFill>
                <a:latin typeface="Times New Roman" pitchFamily="18" charset="0"/>
                <a:cs typeface="Times New Roman" pitchFamily="18" charset="0"/>
              </a:rPr>
              <a:t>T</a:t>
            </a:r>
            <a:r>
              <a:rPr lang="zh-CN" altLang="en-US" sz="4000" b="1" dirty="0" smtClean="0">
                <a:solidFill>
                  <a:srgbClr val="C00000"/>
                </a:solidFill>
                <a:latin typeface="Times New Roman" pitchFamily="18" charset="0"/>
                <a:cs typeface="Times New Roman" pitchFamily="18" charset="0"/>
              </a:rPr>
              <a:t>reatment</a:t>
            </a:r>
            <a:endParaRPr lang="en-US" sz="4000" dirty="0">
              <a:solidFill>
                <a:srgbClr val="C00000"/>
              </a:solidFill>
              <a:latin typeface="Times New Roman" pitchFamily="18" charset="0"/>
              <a:cs typeface="Times New Roman" pitchFamily="18" charset="0"/>
            </a:endParaRPr>
          </a:p>
        </p:txBody>
      </p:sp>
      <p:sp>
        <p:nvSpPr>
          <p:cNvPr id="51203" name="AutoShape 3" descr="Portable Water Purification System ..."/>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51205" name="AutoShape 5" descr="Stainless Steel Portable Water Purification System, Water Storage Capacity:  1000 L at Rs 250000 in Ambala"/>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51207" name="AutoShape 7" descr="Stainless Steel Portable Water Purification System, Water Storage Capacity: 1000 L"/>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51209" name="AutoShape 9" descr="https://5.imimg.com/data5/TH/IK/OW/SELLER-3566160/portable-water-purification-system-1000x1000.jp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51211" name="Picture 11" descr="1000 L Water Purification System"/>
          <p:cNvPicPr>
            <a:picLocks noChangeAspect="1" noChangeArrowheads="1"/>
          </p:cNvPicPr>
          <p:nvPr/>
        </p:nvPicPr>
        <p:blipFill>
          <a:blip r:embed="rId2"/>
          <a:srcRect t="11929" r="-1282" b="11743"/>
          <a:stretch>
            <a:fillRect/>
          </a:stretch>
        </p:blipFill>
        <p:spPr bwMode="auto">
          <a:xfrm>
            <a:off x="6629400" y="1066800"/>
            <a:ext cx="5791200" cy="5351362"/>
          </a:xfrm>
          <a:prstGeom prst="rect">
            <a:avLst/>
          </a:prstGeom>
          <a:noFill/>
        </p:spPr>
      </p:pic>
    </p:spTree>
    <p:extLst>
      <p:ext uri="{BB962C8B-B14F-4D97-AF65-F5344CB8AC3E}">
        <p14:creationId xmlns:p14="http://schemas.microsoft.com/office/powerpoint/2010/main" val="4172569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p:cNvGrpSpPr/>
          <p:nvPr/>
        </p:nvGrpSpPr>
        <p:grpSpPr>
          <a:xfrm>
            <a:off x="381000" y="381000"/>
            <a:ext cx="12115800" cy="5778520"/>
            <a:chOff x="381000" y="304800"/>
            <a:chExt cx="12115800" cy="5778520"/>
          </a:xfrm>
        </p:grpSpPr>
        <p:sp>
          <p:nvSpPr>
            <p:cNvPr id="2" name="Rectangle 1"/>
            <p:cNvSpPr/>
            <p:nvPr/>
          </p:nvSpPr>
          <p:spPr>
            <a:xfrm>
              <a:off x="381000" y="304800"/>
              <a:ext cx="12115800" cy="2308324"/>
            </a:xfrm>
            <a:prstGeom prst="rect">
              <a:avLst/>
            </a:prstGeom>
          </p:spPr>
          <p:txBody>
            <a:bodyPr wrap="square">
              <a:spAutoFit/>
            </a:bodyPr>
            <a:lstStyle/>
            <a:p>
              <a:pPr marL="342900" indent="-342900" algn="just">
                <a:buFont typeface="+mj-lt"/>
                <a:buAutoNum type="arabicParenR"/>
              </a:pPr>
              <a:r>
                <a:rPr lang="en-US" sz="2400" b="1" dirty="0">
                  <a:solidFill>
                    <a:srgbClr val="C00000"/>
                  </a:solidFill>
                  <a:latin typeface="Times New Roman" pitchFamily="18" charset="0"/>
                  <a:cs typeface="Times New Roman" pitchFamily="18" charset="0"/>
                </a:rPr>
                <a:t>Screening </a:t>
              </a:r>
            </a:p>
            <a:p>
              <a:pPr marL="347663" algn="just"/>
              <a:r>
                <a:rPr lang="en-US" sz="2400" dirty="0">
                  <a:latin typeface="Times New Roman" pitchFamily="18" charset="0"/>
                  <a:cs typeface="Times New Roman" pitchFamily="18" charset="0"/>
                </a:rPr>
                <a:t>Screens remove large floating or suspended solids in the process of inflow. Materials like leaves, paper, twigs, and other debris are removed so as to avoid equipment or plant damage.</a:t>
              </a:r>
            </a:p>
            <a:p>
              <a:pPr marL="347663" indent="-347663" algn="just">
                <a:buClr>
                  <a:srgbClr val="C00000"/>
                </a:buClr>
                <a:buFont typeface="+mj-lt"/>
                <a:buAutoNum type="arabicParenR" startAt="2"/>
              </a:pPr>
              <a:r>
                <a:rPr lang="en-US" sz="2400" b="1" dirty="0">
                  <a:solidFill>
                    <a:srgbClr val="C00000"/>
                  </a:solidFill>
                  <a:latin typeface="Times New Roman" pitchFamily="18" charset="0"/>
                  <a:cs typeface="Times New Roman" pitchFamily="18" charset="0"/>
                </a:rPr>
                <a:t>Aeration: </a:t>
              </a:r>
              <a:r>
                <a:rPr lang="en-US" sz="2400" dirty="0">
                  <a:latin typeface="Times New Roman" pitchFamily="18" charset="0"/>
                  <a:cs typeface="Times New Roman" pitchFamily="18" charset="0"/>
                </a:rPr>
                <a:t>The water is then subjected to aeration(reacting with air) which helps in exchange of gases between water and air, increases the oxygen content and removes the impurities like iron, manganese and dissolved gases like</a:t>
              </a:r>
              <a:r>
                <a:rPr lang="en-US" sz="2400" dirty="0"/>
                <a:t> H</a:t>
              </a:r>
              <a:r>
                <a:rPr lang="en-US" sz="2400" baseline="-25000" dirty="0"/>
                <a:t>2</a:t>
              </a:r>
              <a:r>
                <a:rPr lang="en-US" sz="2400" dirty="0"/>
                <a:t>S, CO</a:t>
              </a:r>
              <a:r>
                <a:rPr lang="en-US" sz="2400" baseline="-25000" dirty="0"/>
                <a:t>2</a:t>
              </a:r>
              <a:r>
                <a:rPr lang="en-US" sz="2400" dirty="0"/>
                <a:t> and NH</a:t>
              </a:r>
              <a:r>
                <a:rPr lang="en-US" sz="2400" baseline="-25000" dirty="0"/>
                <a:t>3</a:t>
              </a:r>
              <a:endParaRPr lang="en-US" sz="2400" dirty="0"/>
            </a:p>
          </p:txBody>
        </p:sp>
        <p:sp>
          <p:nvSpPr>
            <p:cNvPr id="3" name="Rectangle 2"/>
            <p:cNvSpPr/>
            <p:nvPr/>
          </p:nvSpPr>
          <p:spPr>
            <a:xfrm>
              <a:off x="457200" y="2667000"/>
              <a:ext cx="4419600" cy="3416320"/>
            </a:xfrm>
            <a:prstGeom prst="rect">
              <a:avLst/>
            </a:prstGeom>
          </p:spPr>
          <p:txBody>
            <a:bodyPr wrap="square">
              <a:spAutoFit/>
            </a:bodyPr>
            <a:lstStyle/>
            <a:p>
              <a:pPr marL="457200" indent="-457200" algn="just">
                <a:buClr>
                  <a:srgbClr val="C00000"/>
                </a:buClr>
                <a:buFont typeface="+mj-lt"/>
                <a:buAutoNum type="arabicParenR" startAt="3"/>
              </a:pPr>
              <a:r>
                <a:rPr lang="en-US" sz="2400" b="1" dirty="0">
                  <a:solidFill>
                    <a:srgbClr val="C00000"/>
                  </a:solidFill>
                  <a:latin typeface="Times New Roman" pitchFamily="18" charset="0"/>
                  <a:cs typeface="Times New Roman" pitchFamily="18" charset="0"/>
                </a:rPr>
                <a:t>Sedimentation : </a:t>
              </a:r>
              <a:r>
                <a:rPr lang="en-US" sz="2400" dirty="0">
                  <a:latin typeface="Times New Roman" pitchFamily="18" charset="0"/>
                  <a:cs typeface="Times New Roman" pitchFamily="18" charset="0"/>
                </a:rPr>
                <a:t>The process of removing big sized suspended solid particles from water is called as plain sedimentation. In this process, water is stored in big tanks for several hours. 70% of solid particles settle down due to force of gravity.</a:t>
              </a:r>
            </a:p>
          </p:txBody>
        </p:sp>
      </p:grpSp>
      <p:pic>
        <p:nvPicPr>
          <p:cNvPr id="4" name="Picture 3" descr="sedimentation"/>
          <p:cNvPicPr>
            <a:picLocks/>
          </p:cNvPicPr>
          <p:nvPr/>
        </p:nvPicPr>
        <p:blipFill>
          <a:blip r:embed="rId2"/>
          <a:srcRect/>
          <a:stretch>
            <a:fillRect/>
          </a:stretch>
        </p:blipFill>
        <p:spPr>
          <a:xfrm>
            <a:off x="5181600" y="2819400"/>
            <a:ext cx="7239000" cy="3581400"/>
          </a:xfrm>
          <a:prstGeom prst="rect">
            <a:avLst/>
          </a:prstGeom>
          <a:noFill/>
          <a:ln>
            <a:noFill/>
          </a:ln>
        </p:spPr>
      </p:pic>
    </p:spTree>
    <p:extLst>
      <p:ext uri="{BB962C8B-B14F-4D97-AF65-F5344CB8AC3E}">
        <p14:creationId xmlns:p14="http://schemas.microsoft.com/office/powerpoint/2010/main" val="22862823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2097196" descr="coagulation"/>
          <p:cNvPicPr>
            <a:picLocks/>
          </p:cNvPicPr>
          <p:nvPr/>
        </p:nvPicPr>
        <p:blipFill>
          <a:blip r:embed="rId2"/>
          <a:srcRect/>
          <a:stretch>
            <a:fillRect/>
          </a:stretch>
        </p:blipFill>
        <p:spPr>
          <a:xfrm>
            <a:off x="8305800" y="228600"/>
            <a:ext cx="3962400" cy="2743200"/>
          </a:xfrm>
          <a:prstGeom prst="rect">
            <a:avLst/>
          </a:prstGeom>
          <a:noFill/>
          <a:ln>
            <a:noFill/>
          </a:ln>
        </p:spPr>
      </p:pic>
      <p:grpSp>
        <p:nvGrpSpPr>
          <p:cNvPr id="7" name="Group 6"/>
          <p:cNvGrpSpPr/>
          <p:nvPr/>
        </p:nvGrpSpPr>
        <p:grpSpPr>
          <a:xfrm>
            <a:off x="152400" y="228600"/>
            <a:ext cx="12115800" cy="6019800"/>
            <a:chOff x="152400" y="228600"/>
            <a:chExt cx="12115800" cy="6019800"/>
          </a:xfrm>
        </p:grpSpPr>
        <p:sp>
          <p:nvSpPr>
            <p:cNvPr id="89089" name="Rectangle 1"/>
            <p:cNvSpPr>
              <a:spLocks noChangeArrowheads="1"/>
            </p:cNvSpPr>
            <p:nvPr/>
          </p:nvSpPr>
          <p:spPr bwMode="auto">
            <a:xfrm>
              <a:off x="152400" y="228600"/>
              <a:ext cx="7848600" cy="563231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457200" marR="0" lvl="0" indent="-457200" algn="just" defTabSz="914400" rtl="0" eaLnBrk="1" fontAlgn="base" latinLnBrk="0" hangingPunct="1">
                <a:lnSpc>
                  <a:spcPct val="100000"/>
                </a:lnSpc>
                <a:spcBef>
                  <a:spcPct val="0"/>
                </a:spcBef>
                <a:spcAft>
                  <a:spcPct val="0"/>
                </a:spcAft>
                <a:buClr>
                  <a:srgbClr val="C00000"/>
                </a:buClr>
                <a:buSzTx/>
                <a:buFont typeface="+mj-lt"/>
                <a:buAutoNum type="arabicParenR" startAt="4"/>
                <a:tabLst/>
              </a:pPr>
              <a:r>
                <a:rPr lang="en-US" sz="2400" b="1" dirty="0">
                  <a:solidFill>
                    <a:srgbClr val="C00000"/>
                  </a:solidFill>
                  <a:latin typeface="Times New Roman" pitchFamily="18" charset="0"/>
                  <a:ea typeface="Calibri" pitchFamily="34" charset="0"/>
                  <a:cs typeface="Times New Roman" pitchFamily="18" charset="0"/>
                </a:rPr>
                <a:t>C</a:t>
              </a:r>
              <a:r>
                <a:rPr kumimoji="0" lang="en-US" sz="2400" b="1" i="0" u="none" strike="noStrike" cap="none" normalizeH="0" baseline="0" dirty="0">
                  <a:ln>
                    <a:noFill/>
                  </a:ln>
                  <a:solidFill>
                    <a:srgbClr val="C00000"/>
                  </a:solidFill>
                  <a:effectLst/>
                  <a:latin typeface="Times New Roman" pitchFamily="18" charset="0"/>
                  <a:ea typeface="Calibri" pitchFamily="34" charset="0"/>
                  <a:cs typeface="Times New Roman" pitchFamily="18" charset="0"/>
                </a:rPr>
                <a:t>oagulation</a:t>
              </a: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 This is the process of removing fine suspended and colloidal impurities by adding coagulants like potassium alum (K</a:t>
              </a:r>
              <a:r>
                <a:rPr kumimoji="0" lang="en-US" sz="2400" b="0" i="0" u="none" strike="noStrike" cap="none" normalizeH="0" baseline="-30000" dirty="0">
                  <a:ln>
                    <a:noFill/>
                  </a:ln>
                  <a:solidFill>
                    <a:schemeClr val="tx1"/>
                  </a:solidFill>
                  <a:effectLst/>
                  <a:latin typeface="Times New Roman" pitchFamily="18" charset="0"/>
                  <a:ea typeface="Calibri" pitchFamily="34" charset="0"/>
                  <a:cs typeface="Times New Roman" pitchFamily="18" charset="0"/>
                </a:rPr>
                <a:t>2</a:t>
              </a: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SO</a:t>
              </a:r>
              <a:r>
                <a:rPr kumimoji="0" lang="en-US" sz="2400" b="0" i="0" u="none" strike="noStrike" cap="none" normalizeH="0" baseline="-30000" dirty="0">
                  <a:ln>
                    <a:noFill/>
                  </a:ln>
                  <a:solidFill>
                    <a:schemeClr val="tx1"/>
                  </a:solidFill>
                  <a:effectLst/>
                  <a:latin typeface="Times New Roman" pitchFamily="18" charset="0"/>
                  <a:ea typeface="Calibri" pitchFamily="34" charset="0"/>
                  <a:cs typeface="Times New Roman" pitchFamily="18" charset="0"/>
                </a:rPr>
                <a:t>4</a:t>
              </a: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Al</a:t>
              </a:r>
              <a:r>
                <a:rPr kumimoji="0" lang="en-US" sz="2400" b="0" i="0" u="none" strike="noStrike" cap="none" normalizeH="0" baseline="-30000" dirty="0">
                  <a:ln>
                    <a:noFill/>
                  </a:ln>
                  <a:solidFill>
                    <a:schemeClr val="tx1"/>
                  </a:solidFill>
                  <a:effectLst/>
                  <a:latin typeface="Times New Roman" pitchFamily="18" charset="0"/>
                  <a:ea typeface="Calibri" pitchFamily="34" charset="0"/>
                  <a:cs typeface="Times New Roman" pitchFamily="18" charset="0"/>
                </a:rPr>
                <a:t>2</a:t>
              </a: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(SO</a:t>
              </a:r>
              <a:r>
                <a:rPr kumimoji="0" lang="en-US" sz="2400" b="0" i="0" u="none" strike="noStrike" cap="none" normalizeH="0" baseline="-30000" dirty="0">
                  <a:ln>
                    <a:noFill/>
                  </a:ln>
                  <a:solidFill>
                    <a:schemeClr val="tx1"/>
                  </a:solidFill>
                  <a:effectLst/>
                  <a:latin typeface="Times New Roman" pitchFamily="18" charset="0"/>
                  <a:ea typeface="Calibri" pitchFamily="34" charset="0"/>
                  <a:cs typeface="Times New Roman" pitchFamily="18" charset="0"/>
                </a:rPr>
                <a:t>4</a:t>
              </a: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a:t>
              </a:r>
              <a:r>
                <a:rPr kumimoji="0" lang="en-US" sz="2400" b="0" i="0" u="none" strike="noStrike" cap="none" normalizeH="0" baseline="-30000" dirty="0">
                  <a:ln>
                    <a:noFill/>
                  </a:ln>
                  <a:solidFill>
                    <a:schemeClr val="tx1"/>
                  </a:solidFill>
                  <a:effectLst/>
                  <a:latin typeface="Times New Roman" pitchFamily="18" charset="0"/>
                  <a:ea typeface="Calibri" pitchFamily="34" charset="0"/>
                  <a:cs typeface="Times New Roman" pitchFamily="18" charset="0"/>
                </a:rPr>
                <a:t>3</a:t>
              </a: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24H</a:t>
              </a:r>
              <a:r>
                <a:rPr kumimoji="0" lang="en-US" sz="2400" b="0" i="0" u="none" strike="noStrike" cap="none" normalizeH="0" baseline="-30000" dirty="0">
                  <a:ln>
                    <a:noFill/>
                  </a:ln>
                  <a:solidFill>
                    <a:schemeClr val="tx1"/>
                  </a:solidFill>
                  <a:effectLst/>
                  <a:latin typeface="Times New Roman" pitchFamily="18" charset="0"/>
                  <a:ea typeface="Calibri" pitchFamily="34" charset="0"/>
                  <a:cs typeface="Times New Roman" pitchFamily="18" charset="0"/>
                </a:rPr>
                <a:t>2</a:t>
              </a: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O), Ferrous sulphate (FeSO</a:t>
              </a:r>
              <a:r>
                <a:rPr kumimoji="0" lang="en-US" sz="2400" b="0" i="0" u="none" strike="noStrike" cap="none" normalizeH="0" baseline="-30000" dirty="0">
                  <a:ln>
                    <a:noFill/>
                  </a:ln>
                  <a:solidFill>
                    <a:schemeClr val="tx1"/>
                  </a:solidFill>
                  <a:effectLst/>
                  <a:latin typeface="Times New Roman" pitchFamily="18" charset="0"/>
                  <a:ea typeface="Calibri" pitchFamily="34" charset="0"/>
                  <a:cs typeface="Times New Roman" pitchFamily="18" charset="0"/>
                </a:rPr>
                <a:t>4</a:t>
              </a: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Sodium aluminate (NaAlO</a:t>
              </a:r>
              <a:r>
                <a:rPr kumimoji="0" lang="en-US" sz="2400" b="0" i="0" u="none" strike="noStrike" cap="none" normalizeH="0" baseline="-30000" dirty="0">
                  <a:ln>
                    <a:noFill/>
                  </a:ln>
                  <a:solidFill>
                    <a:schemeClr val="tx1"/>
                  </a:solidFill>
                  <a:effectLst/>
                  <a:latin typeface="Times New Roman" pitchFamily="18" charset="0"/>
                  <a:ea typeface="Calibri" pitchFamily="34" charset="0"/>
                  <a:cs typeface="Times New Roman" pitchFamily="18" charset="0"/>
                </a:rPr>
                <a:t>2</a:t>
              </a: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a:t>
              </a:r>
            </a:p>
            <a:p>
              <a:pPr marL="457200" marR="0" lvl="0" indent="-457200" algn="just" defTabSz="914400" rtl="0" eaLnBrk="1" fontAlgn="base" latinLnBrk="0" hangingPunct="1">
                <a:lnSpc>
                  <a:spcPct val="100000"/>
                </a:lnSpc>
                <a:spcBef>
                  <a:spcPct val="0"/>
                </a:spcBef>
                <a:spcAft>
                  <a:spcPct val="0"/>
                </a:spcAft>
                <a:buClr>
                  <a:srgbClr val="C00000"/>
                </a:buClr>
                <a:buSzTx/>
                <a:tabLst/>
              </a:pPr>
              <a:r>
                <a:rPr lang="en-US" sz="2400" dirty="0">
                  <a:latin typeface="Times New Roman" pitchFamily="18" charset="0"/>
                  <a:ea typeface="Calibri" pitchFamily="34" charset="0"/>
                  <a:cs typeface="Times New Roman" pitchFamily="18" charset="0"/>
                </a:rPr>
                <a:t>	</a:t>
              </a: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When coagulant is added to water, floc formation takes place due to hydroxide formation which can gather tiny particles together to form bigger particles and settle down quickly.</a:t>
              </a:r>
            </a:p>
            <a:p>
              <a:pPr marL="457200" marR="0" lvl="0" indent="-457200" algn="just" defTabSz="914400" rtl="0" eaLnBrk="1" fontAlgn="base" latinLnBrk="0" hangingPunct="1">
                <a:lnSpc>
                  <a:spcPct val="100000"/>
                </a:lnSpc>
                <a:spcBef>
                  <a:spcPct val="0"/>
                </a:spcBef>
                <a:spcAft>
                  <a:spcPct val="0"/>
                </a:spcAft>
                <a:buClr>
                  <a:srgbClr val="C00000"/>
                </a:buClr>
                <a:buSzTx/>
                <a:buFont typeface="+mj-lt"/>
                <a:buAutoNum type="arabicParenR" startAt="5"/>
                <a:tabLst/>
              </a:pPr>
              <a:r>
                <a:rPr lang="en-US" sz="2400" b="1" dirty="0">
                  <a:solidFill>
                    <a:srgbClr val="C00000"/>
                  </a:solidFill>
                  <a:latin typeface="Times New Roman" pitchFamily="18" charset="0"/>
                  <a:cs typeface="Times New Roman" pitchFamily="18" charset="0"/>
                </a:rPr>
                <a:t>Filtration: </a:t>
              </a:r>
              <a:r>
                <a:rPr lang="en-US" sz="2400" dirty="0">
                  <a:latin typeface="Times New Roman" pitchFamily="18" charset="0"/>
                  <a:cs typeface="Times New Roman" pitchFamily="18" charset="0"/>
                </a:rPr>
                <a:t>The process of passing a liquid containing suspended impurities through a suitable porous material so as to effectively removed suspended impurities and some microorganisms is called filtration. </a:t>
              </a:r>
            </a:p>
            <a:p>
              <a:pPr marL="457200" lvl="0" indent="-457200" algn="just" fontAlgn="base">
                <a:spcBef>
                  <a:spcPct val="0"/>
                </a:spcBef>
                <a:spcAft>
                  <a:spcPct val="0"/>
                </a:spcAft>
                <a:buClr>
                  <a:srgbClr val="C00000"/>
                </a:buClr>
              </a:pPr>
              <a:r>
                <a:rPr lang="en-US" sz="2400" dirty="0">
                  <a:latin typeface="Times New Roman" pitchFamily="18" charset="0"/>
                  <a:cs typeface="Times New Roman" pitchFamily="18" charset="0"/>
                </a:rPr>
                <a:t>	It is a mechanical process. When water flows through a filter bed, many suspended particles are unable to pass through the gaps and settle in the bed.</a:t>
              </a:r>
              <a:endParaRPr kumimoji="0" lang="en-US" sz="2400" b="0" i="0" u="none" strike="noStrike" cap="none" normalizeH="0" baseline="0" dirty="0">
                <a:ln>
                  <a:noFill/>
                </a:ln>
                <a:solidFill>
                  <a:schemeClr val="tx1"/>
                </a:solidFill>
                <a:effectLst/>
                <a:latin typeface="Times New Roman" pitchFamily="18" charset="0"/>
                <a:cs typeface="Times New Roman" pitchFamily="18" charset="0"/>
              </a:endParaRPr>
            </a:p>
          </p:txBody>
        </p:sp>
        <p:pic>
          <p:nvPicPr>
            <p:cNvPr id="89091" name="Picture 3" descr="Low Cost Filtration of Domestic Wastewater for Irrigation Purpose"/>
            <p:cNvPicPr>
              <a:picLocks noChangeAspect="1" noChangeArrowheads="1"/>
            </p:cNvPicPr>
            <p:nvPr/>
          </p:nvPicPr>
          <p:blipFill>
            <a:blip r:embed="rId3"/>
            <a:srcRect l="20818"/>
            <a:stretch>
              <a:fillRect/>
            </a:stretch>
          </p:blipFill>
          <p:spPr bwMode="auto">
            <a:xfrm>
              <a:off x="8229600" y="3200400"/>
              <a:ext cx="4038600" cy="3048000"/>
            </a:xfrm>
            <a:prstGeom prst="rect">
              <a:avLst/>
            </a:prstGeom>
            <a:noFill/>
          </p:spPr>
        </p:pic>
      </p:grpSp>
    </p:spTree>
    <p:extLst>
      <p:ext uri="{BB962C8B-B14F-4D97-AF65-F5344CB8AC3E}">
        <p14:creationId xmlns:p14="http://schemas.microsoft.com/office/powerpoint/2010/main" val="6902137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Rectangle 1"/>
          <p:cNvSpPr>
            <a:spLocks noChangeArrowheads="1"/>
          </p:cNvSpPr>
          <p:nvPr/>
        </p:nvSpPr>
        <p:spPr bwMode="auto">
          <a:xfrm>
            <a:off x="304800" y="489466"/>
            <a:ext cx="12268200" cy="600164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457200" marR="0" lvl="0" indent="-457200" algn="just" defTabSz="914400" rtl="0" eaLnBrk="1" fontAlgn="base" latinLnBrk="0" hangingPunct="1">
              <a:lnSpc>
                <a:spcPct val="100000"/>
              </a:lnSpc>
              <a:spcBef>
                <a:spcPct val="0"/>
              </a:spcBef>
              <a:spcAft>
                <a:spcPct val="0"/>
              </a:spcAft>
              <a:buClr>
                <a:srgbClr val="C00000"/>
              </a:buClr>
              <a:buSzTx/>
              <a:buFont typeface="+mj-lt"/>
              <a:buAutoNum type="arabicParenR" startAt="6"/>
              <a:tabLst>
                <a:tab pos="457200" algn="l"/>
              </a:tabLst>
            </a:pPr>
            <a:r>
              <a:rPr kumimoji="0" lang="en-US" sz="2400" b="1" i="0" u="none" strike="noStrike" cap="none" normalizeH="0" baseline="0" dirty="0">
                <a:ln>
                  <a:noFill/>
                </a:ln>
                <a:solidFill>
                  <a:srgbClr val="C00000"/>
                </a:solidFill>
                <a:effectLst/>
                <a:latin typeface="Times New Roman" pitchFamily="18" charset="0"/>
                <a:ea typeface="Calibri" pitchFamily="34" charset="0"/>
                <a:cs typeface="Times New Roman" pitchFamily="18" charset="0"/>
              </a:rPr>
              <a:t>Disinfection or sterilization: </a:t>
            </a: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The process of killing pathogenic bacteria and other microorganisms is called disinfection or sterilization.</a:t>
            </a:r>
            <a:r>
              <a:rPr kumimoji="0" lang="en-US" sz="2400" b="0" i="0" u="none" strike="noStrike" cap="none" normalizeH="0" dirty="0">
                <a:ln>
                  <a:noFill/>
                </a:ln>
                <a:solidFill>
                  <a:schemeClr val="tx1"/>
                </a:solidFill>
                <a:effectLst/>
                <a:latin typeface="Times New Roman" pitchFamily="18" charset="0"/>
                <a:ea typeface="Calibri" pitchFamily="34" charset="0"/>
                <a:cs typeface="Times New Roman" pitchFamily="18" charset="0"/>
              </a:rPr>
              <a:t> </a:t>
            </a: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The chemicals used for killing bacteria are called disinfectants.</a:t>
            </a:r>
            <a:endParaRPr lang="en-US" sz="2400" dirty="0">
              <a:latin typeface="Times New Roman" pitchFamily="18" charset="0"/>
              <a:cs typeface="Times New Roman" pitchFamily="18" charset="0"/>
            </a:endParaRPr>
          </a:p>
          <a:p>
            <a:pPr marL="457200" marR="0" lvl="0" indent="-457200" algn="just" defTabSz="914400" rtl="0" eaLnBrk="1" fontAlgn="base" latinLnBrk="0" hangingPunct="1">
              <a:lnSpc>
                <a:spcPct val="100000"/>
              </a:lnSpc>
              <a:spcBef>
                <a:spcPct val="0"/>
              </a:spcBef>
              <a:spcAft>
                <a:spcPct val="0"/>
              </a:spcAft>
              <a:buClr>
                <a:srgbClr val="C00000"/>
              </a:buClr>
              <a:buSzTx/>
              <a:tabLst>
                <a:tab pos="457200" algn="l"/>
              </a:tabLst>
            </a:pPr>
            <a:r>
              <a:rPr kumimoji="0" lang="en-US" sz="2400" b="1" i="0" u="none" strike="noStrike" cap="none" normalizeH="0" baseline="0" dirty="0">
                <a:ln>
                  <a:noFill/>
                </a:ln>
                <a:solidFill>
                  <a:srgbClr val="C00000"/>
                </a:solidFill>
                <a:effectLst/>
                <a:latin typeface="Times New Roman" pitchFamily="18" charset="0"/>
                <a:ea typeface="Calibri" pitchFamily="34" charset="0"/>
                <a:cs typeface="Times New Roman" pitchFamily="18" charset="0"/>
              </a:rPr>
              <a:t>	Chlorination: </a:t>
            </a: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The process of adding chlorine to water is called chlorination. Chlorine gas is a very good disinfectant, which can be bubbled in the water. </a:t>
            </a:r>
          </a:p>
          <a:p>
            <a:pPr marL="457200" marR="0" lvl="0" indent="-457200" algn="just" defTabSz="914400" rtl="0" eaLnBrk="1" fontAlgn="base" latinLnBrk="0" hangingPunct="1">
              <a:lnSpc>
                <a:spcPct val="100000"/>
              </a:lnSpc>
              <a:spcBef>
                <a:spcPct val="0"/>
              </a:spcBef>
              <a:spcAft>
                <a:spcPct val="0"/>
              </a:spcAft>
              <a:buClr>
                <a:srgbClr val="C00000"/>
              </a:buClr>
              <a:buSzTx/>
              <a:tabLst>
                <a:tab pos="457200" algn="l"/>
              </a:tabLst>
            </a:pPr>
            <a:r>
              <a:rPr lang="en-US" sz="2400" dirty="0">
                <a:latin typeface="Times New Roman" pitchFamily="18" charset="0"/>
                <a:ea typeface="Calibri" pitchFamily="34" charset="0"/>
                <a:cs typeface="Times New Roman" pitchFamily="18" charset="0"/>
              </a:rPr>
              <a:t>	</a:t>
            </a: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In this process calculated amount of chlorine gas is passed in order to destroy the pathogenic bacteria is called chlorination. Chlorine is also reacts with water and generates hypochlorous acid and nascent oxygen, which acts a powerful oxidizing agent and kills the bacteria </a:t>
            </a:r>
            <a:endParaRPr kumimoji="0" lang="en-US" sz="24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tab pos="457200" algn="l"/>
              </a:tabLst>
            </a:pPr>
            <a:r>
              <a:rPr kumimoji="0" lang="en-US" sz="2400" b="1" i="0" u="none" strike="noStrike" cap="none" normalizeH="0" baseline="0" dirty="0">
                <a:ln>
                  <a:noFill/>
                </a:ln>
                <a:solidFill>
                  <a:srgbClr val="7030A0"/>
                </a:solidFill>
                <a:effectLst/>
                <a:latin typeface="Times New Roman" pitchFamily="18" charset="0"/>
                <a:ea typeface="Calibri" pitchFamily="34" charset="0"/>
                <a:cs typeface="Times New Roman" pitchFamily="18" charset="0"/>
              </a:rPr>
              <a:t>Cl</a:t>
            </a:r>
            <a:r>
              <a:rPr kumimoji="0" lang="en-US" sz="2400" b="1" i="0" u="none" strike="noStrike" cap="none" normalizeH="0" baseline="-30000" dirty="0">
                <a:ln>
                  <a:noFill/>
                </a:ln>
                <a:solidFill>
                  <a:srgbClr val="7030A0"/>
                </a:solidFill>
                <a:effectLst/>
                <a:latin typeface="Times New Roman" pitchFamily="18" charset="0"/>
                <a:ea typeface="Calibri" pitchFamily="34" charset="0"/>
                <a:cs typeface="Times New Roman" pitchFamily="18" charset="0"/>
              </a:rPr>
              <a:t>2 </a:t>
            </a:r>
            <a:r>
              <a:rPr kumimoji="0" lang="en-US" sz="2400" b="1" i="0" u="none" strike="noStrike" cap="none" normalizeH="0" baseline="0" dirty="0">
                <a:ln>
                  <a:noFill/>
                </a:ln>
                <a:solidFill>
                  <a:srgbClr val="7030A0"/>
                </a:solidFill>
                <a:effectLst/>
                <a:latin typeface="Times New Roman" pitchFamily="18" charset="0"/>
                <a:ea typeface="Calibri" pitchFamily="34" charset="0"/>
                <a:cs typeface="Times New Roman" pitchFamily="18" charset="0"/>
              </a:rPr>
              <a:t>+ H</a:t>
            </a:r>
            <a:r>
              <a:rPr kumimoji="0" lang="en-US" sz="2400" b="1" i="0" u="none" strike="noStrike" cap="none" normalizeH="0" baseline="-30000" dirty="0">
                <a:ln>
                  <a:noFill/>
                </a:ln>
                <a:solidFill>
                  <a:srgbClr val="7030A0"/>
                </a:solidFill>
                <a:effectLst/>
                <a:latin typeface="Times New Roman" pitchFamily="18" charset="0"/>
                <a:ea typeface="Calibri" pitchFamily="34" charset="0"/>
                <a:cs typeface="Times New Roman" pitchFamily="18" charset="0"/>
              </a:rPr>
              <a:t>2</a:t>
            </a:r>
            <a:r>
              <a:rPr kumimoji="0" lang="en-US" sz="2400" b="1" i="0" u="none" strike="noStrike" cap="none" normalizeH="0" baseline="0" dirty="0">
                <a:ln>
                  <a:noFill/>
                </a:ln>
                <a:solidFill>
                  <a:srgbClr val="7030A0"/>
                </a:solidFill>
                <a:effectLst/>
                <a:latin typeface="Times New Roman" pitchFamily="18" charset="0"/>
                <a:ea typeface="Calibri" pitchFamily="34" charset="0"/>
                <a:cs typeface="Times New Roman" pitchFamily="18" charset="0"/>
              </a:rPr>
              <a:t>O → HCl + HOCl</a:t>
            </a:r>
            <a:endParaRPr kumimoji="0" lang="en-US" sz="2400" b="1" i="0" u="none" strike="noStrike" cap="none" normalizeH="0" baseline="0" dirty="0">
              <a:ln>
                <a:noFill/>
              </a:ln>
              <a:solidFill>
                <a:srgbClr val="7030A0"/>
              </a:solidFill>
              <a:effectLst/>
              <a:latin typeface="Times New Roman" pitchFamily="18" charset="0"/>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tab pos="457200" algn="l"/>
              </a:tabLst>
            </a:pPr>
            <a:r>
              <a:rPr kumimoji="0" lang="en-US" sz="2400" b="1" i="0" u="none" strike="noStrike" cap="none" normalizeH="0" baseline="0" dirty="0">
                <a:ln>
                  <a:noFill/>
                </a:ln>
                <a:solidFill>
                  <a:srgbClr val="7030A0"/>
                </a:solidFill>
                <a:effectLst/>
                <a:latin typeface="Times New Roman" pitchFamily="18" charset="0"/>
                <a:ea typeface="Calibri" pitchFamily="34" charset="0"/>
                <a:cs typeface="Times New Roman" pitchFamily="18" charset="0"/>
              </a:rPr>
              <a:t>Bacteria + HOCl → killed bacteria</a:t>
            </a:r>
            <a:endParaRPr kumimoji="0" lang="en-US" sz="2400" b="1" i="0" u="none" strike="noStrike" cap="none" normalizeH="0" baseline="0" dirty="0">
              <a:ln>
                <a:noFill/>
              </a:ln>
              <a:solidFill>
                <a:srgbClr val="7030A0"/>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kumimoji="0" lang="en-US" sz="2400" b="1" i="0" u="none" strike="noStrike" cap="none" normalizeH="0" baseline="0" dirty="0">
                <a:ln>
                  <a:noFill/>
                </a:ln>
                <a:solidFill>
                  <a:srgbClr val="7030A0"/>
                </a:solidFill>
                <a:effectLst/>
                <a:latin typeface="Times New Roman" pitchFamily="18" charset="0"/>
                <a:ea typeface="Calibri" pitchFamily="34" charset="0"/>
                <a:cs typeface="Times New Roman" pitchFamily="18" charset="0"/>
              </a:rPr>
              <a:t>Advantages: </a:t>
            </a:r>
            <a:endParaRPr kumimoji="0" lang="en-US" sz="2400" b="1" i="0" u="none" strike="noStrike" cap="none" normalizeH="0" baseline="0" dirty="0">
              <a:ln>
                <a:noFill/>
              </a:ln>
              <a:solidFill>
                <a:srgbClr val="7030A0"/>
              </a:solidFill>
              <a:effectLst/>
              <a:latin typeface="Times New Roman" pitchFamily="18" charset="0"/>
              <a:cs typeface="Times New Roman" pitchFamily="18" charset="0"/>
            </a:endParaRPr>
          </a:p>
          <a:p>
            <a:pPr marL="1377950" lvl="2" indent="-463550" algn="just" eaLnBrk="0" fontAlgn="base" hangingPunct="0">
              <a:spcBef>
                <a:spcPct val="0"/>
              </a:spcBef>
              <a:spcAft>
                <a:spcPct val="0"/>
              </a:spcAft>
              <a:buClr>
                <a:srgbClr val="7030A0"/>
              </a:buClr>
              <a:buFont typeface="Wingdings" pitchFamily="2" charset="2"/>
              <a:buChar char="v"/>
              <a:tabLst>
                <a:tab pos="457200" algn="l"/>
              </a:tabLst>
            </a:pP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Storage requires less space, Effective and economical </a:t>
            </a:r>
          </a:p>
          <a:p>
            <a:pPr marL="1377950" lvl="2" indent="-463550" algn="just" eaLnBrk="0" fontAlgn="base" hangingPunct="0">
              <a:spcBef>
                <a:spcPct val="0"/>
              </a:spcBef>
              <a:spcAft>
                <a:spcPct val="0"/>
              </a:spcAft>
              <a:buClr>
                <a:srgbClr val="7030A0"/>
              </a:buClr>
              <a:buFont typeface="Wingdings" pitchFamily="2" charset="2"/>
              <a:buChar char="v"/>
              <a:tabLst>
                <a:tab pos="457200" algn="l"/>
              </a:tabLst>
            </a:pP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Produce no salts, Ideal disinfectant </a:t>
            </a:r>
          </a:p>
          <a:p>
            <a:pPr marL="0" marR="0" lvl="0" indent="0" algn="just" defTabSz="914400" rtl="0" eaLnBrk="0" fontAlgn="base" latinLnBrk="0" hangingPunct="0">
              <a:lnSpc>
                <a:spcPct val="100000"/>
              </a:lnSpc>
              <a:spcBef>
                <a:spcPct val="0"/>
              </a:spcBef>
              <a:spcAft>
                <a:spcPct val="0"/>
              </a:spcAft>
              <a:buClr>
                <a:srgbClr val="7030A0"/>
              </a:buClr>
              <a:buSzTx/>
              <a:tabLst>
                <a:tab pos="457200" algn="l"/>
              </a:tabLst>
            </a:pPr>
            <a:r>
              <a:rPr kumimoji="0" lang="en-US" sz="2400" b="1" i="0" u="none" strike="noStrike" cap="none" normalizeH="0" baseline="0" dirty="0">
                <a:ln>
                  <a:noFill/>
                </a:ln>
                <a:solidFill>
                  <a:srgbClr val="C00000"/>
                </a:solidFill>
                <a:effectLst/>
                <a:latin typeface="Times New Roman" pitchFamily="18" charset="0"/>
                <a:ea typeface="Calibri" pitchFamily="34" charset="0"/>
                <a:cs typeface="Times New Roman" pitchFamily="18" charset="0"/>
              </a:rPr>
              <a:t>Disadvantages: </a:t>
            </a:r>
          </a:p>
          <a:p>
            <a:pPr marL="1312863" lvl="2" indent="-398463" algn="just" eaLnBrk="0" fontAlgn="base" hangingPunct="0">
              <a:spcBef>
                <a:spcPct val="0"/>
              </a:spcBef>
              <a:spcAft>
                <a:spcPct val="0"/>
              </a:spcAft>
              <a:buClr>
                <a:srgbClr val="7030A0"/>
              </a:buClr>
              <a:buFont typeface="Wingdings" pitchFamily="2" charset="2"/>
              <a:buChar char="v"/>
              <a:tabLst>
                <a:tab pos="457200" algn="l"/>
              </a:tabLst>
            </a:pP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Excess of chlorine causes unpleasant taste and odour.</a:t>
            </a:r>
          </a:p>
          <a:p>
            <a:pPr marL="1312863" lvl="2" indent="-398463" algn="just" eaLnBrk="0" fontAlgn="base" hangingPunct="0">
              <a:spcBef>
                <a:spcPct val="0"/>
              </a:spcBef>
              <a:spcAft>
                <a:spcPct val="0"/>
              </a:spcAft>
              <a:buClr>
                <a:srgbClr val="7030A0"/>
              </a:buClr>
              <a:buFont typeface="Wingdings" pitchFamily="2" charset="2"/>
              <a:buChar char="v"/>
              <a:tabLst>
                <a:tab pos="457200" algn="l"/>
              </a:tabLst>
            </a:pP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More effective at below p</a:t>
            </a:r>
            <a:r>
              <a:rPr kumimoji="0" lang="en-US" sz="2400" b="0" i="0" u="none" strike="noStrike" cap="none" normalizeH="0" baseline="30000" dirty="0">
                <a:ln>
                  <a:noFill/>
                </a:ln>
                <a:solidFill>
                  <a:schemeClr val="tx1"/>
                </a:solidFill>
                <a:effectLst/>
                <a:latin typeface="Times New Roman" pitchFamily="18" charset="0"/>
                <a:ea typeface="Calibri" pitchFamily="34" charset="0"/>
                <a:cs typeface="Times New Roman" pitchFamily="18" charset="0"/>
              </a:rPr>
              <a:t>H</a:t>
            </a: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6.5 and less effective at higher p</a:t>
            </a:r>
            <a:r>
              <a:rPr kumimoji="0" lang="en-US" sz="2400" b="0" i="0" u="none" strike="noStrike" cap="none" normalizeH="0" baseline="30000" dirty="0">
                <a:ln>
                  <a:noFill/>
                </a:ln>
                <a:solidFill>
                  <a:schemeClr val="tx1"/>
                </a:solidFill>
                <a:effectLst/>
                <a:latin typeface="Times New Roman" pitchFamily="18" charset="0"/>
                <a:ea typeface="Calibri" pitchFamily="34" charset="0"/>
                <a:cs typeface="Times New Roman" pitchFamily="18" charset="0"/>
              </a:rPr>
              <a:t>H </a:t>
            </a: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values.</a:t>
            </a:r>
          </a:p>
        </p:txBody>
      </p:sp>
    </p:spTree>
    <p:extLst>
      <p:ext uri="{BB962C8B-B14F-4D97-AF65-F5344CB8AC3E}">
        <p14:creationId xmlns:p14="http://schemas.microsoft.com/office/powerpoint/2010/main" val="36898383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840963" y="76200"/>
            <a:ext cx="9119676" cy="523220"/>
          </a:xfrm>
          <a:prstGeom prst="rect">
            <a:avLst/>
          </a:prstGeom>
        </p:spPr>
        <p:txBody>
          <a:bodyPr wrap="none">
            <a:spAutoFit/>
          </a:bodyPr>
          <a:lstStyle/>
          <a:p>
            <a:pPr algn="ctr"/>
            <a:r>
              <a:rPr lang="en-US" sz="2800" b="1" dirty="0">
                <a:solidFill>
                  <a:srgbClr val="C00000"/>
                </a:solidFill>
                <a:latin typeface="Times New Roman" pitchFamily="18" charset="0"/>
                <a:cs typeface="Times New Roman" pitchFamily="18" charset="0"/>
              </a:rPr>
              <a:t>Break </a:t>
            </a:r>
            <a:r>
              <a:rPr lang="en-US" sz="2800" b="1" dirty="0" smtClean="0">
                <a:solidFill>
                  <a:srgbClr val="C00000"/>
                </a:solidFill>
                <a:latin typeface="Times New Roman" pitchFamily="18" charset="0"/>
                <a:cs typeface="Times New Roman" pitchFamily="18" charset="0"/>
              </a:rPr>
              <a:t>Point Chlorination </a:t>
            </a:r>
            <a:r>
              <a:rPr lang="en-US" sz="2800" b="1" dirty="0">
                <a:solidFill>
                  <a:srgbClr val="C00000"/>
                </a:solidFill>
                <a:latin typeface="Times New Roman" pitchFamily="18" charset="0"/>
                <a:cs typeface="Times New Roman" pitchFamily="18" charset="0"/>
              </a:rPr>
              <a:t>(or) </a:t>
            </a:r>
            <a:r>
              <a:rPr lang="en-US" sz="2800" b="1" dirty="0" smtClean="0">
                <a:solidFill>
                  <a:srgbClr val="C00000"/>
                </a:solidFill>
                <a:latin typeface="Times New Roman" pitchFamily="18" charset="0"/>
                <a:cs typeface="Times New Roman" pitchFamily="18" charset="0"/>
              </a:rPr>
              <a:t>Free Residual Chlorination </a:t>
            </a:r>
            <a:endParaRPr lang="en-US" sz="2800" b="1" dirty="0">
              <a:solidFill>
                <a:srgbClr val="C00000"/>
              </a:solidFill>
              <a:latin typeface="Times New Roman" pitchFamily="18" charset="0"/>
              <a:cs typeface="Times New Roman" pitchFamily="18" charset="0"/>
            </a:endParaRPr>
          </a:p>
        </p:txBody>
      </p:sp>
      <p:sp>
        <p:nvSpPr>
          <p:cNvPr id="4" name="Rectangle 3"/>
          <p:cNvSpPr/>
          <p:nvPr/>
        </p:nvSpPr>
        <p:spPr>
          <a:xfrm>
            <a:off x="304800" y="685800"/>
            <a:ext cx="12268200" cy="5632311"/>
          </a:xfrm>
          <a:prstGeom prst="rect">
            <a:avLst/>
          </a:prstGeom>
        </p:spPr>
        <p:txBody>
          <a:bodyPr wrap="square">
            <a:spAutoFit/>
          </a:bodyPr>
          <a:lstStyle/>
          <a:p>
            <a:pPr marL="342900" indent="-342900" algn="just">
              <a:buFont typeface="Wingdings" pitchFamily="2" charset="2"/>
              <a:buChar char="v"/>
            </a:pPr>
            <a:r>
              <a:rPr lang="en-US" sz="2400" dirty="0">
                <a:latin typeface="Times New Roman" pitchFamily="18" charset="0"/>
                <a:cs typeface="Times New Roman" pitchFamily="18" charset="0"/>
              </a:rPr>
              <a:t>Chlorination is one of the most common methods used in water treatment, primarily for disinfection. </a:t>
            </a:r>
            <a:endParaRPr lang="en-US" sz="2400" dirty="0" smtClean="0">
              <a:latin typeface="Times New Roman" pitchFamily="18" charset="0"/>
              <a:cs typeface="Times New Roman" pitchFamily="18" charset="0"/>
            </a:endParaRPr>
          </a:p>
          <a:p>
            <a:pPr marL="342900" indent="-342900" algn="just">
              <a:buFont typeface="Wingdings" pitchFamily="2" charset="2"/>
              <a:buChar char="v"/>
            </a:pPr>
            <a:r>
              <a:rPr lang="en-US" sz="2400" dirty="0" smtClean="0">
                <a:latin typeface="Times New Roman" pitchFamily="18" charset="0"/>
                <a:cs typeface="Times New Roman" pitchFamily="18" charset="0"/>
              </a:rPr>
              <a:t>During </a:t>
            </a:r>
            <a:r>
              <a:rPr lang="en-US" sz="2400" dirty="0">
                <a:latin typeface="Times New Roman" pitchFamily="18" charset="0"/>
                <a:cs typeface="Times New Roman" pitchFamily="18" charset="0"/>
              </a:rPr>
              <a:t>the process, </a:t>
            </a:r>
            <a:r>
              <a:rPr lang="en-US" sz="2400" dirty="0" smtClean="0">
                <a:latin typeface="Times New Roman" pitchFamily="18" charset="0"/>
                <a:cs typeface="Times New Roman" pitchFamily="18" charset="0"/>
              </a:rPr>
              <a:t>Chlorine </a:t>
            </a:r>
            <a:r>
              <a:rPr lang="en-US" sz="2400" dirty="0">
                <a:latin typeface="Times New Roman" pitchFamily="18" charset="0"/>
                <a:cs typeface="Times New Roman" pitchFamily="18" charset="0"/>
              </a:rPr>
              <a:t>(Cl₂), </a:t>
            </a:r>
            <a:r>
              <a:rPr lang="en-US" sz="2400" dirty="0" smtClean="0">
                <a:latin typeface="Times New Roman" pitchFamily="18" charset="0"/>
                <a:cs typeface="Times New Roman" pitchFamily="18" charset="0"/>
              </a:rPr>
              <a:t>Hypochlorous </a:t>
            </a:r>
            <a:r>
              <a:rPr lang="en-US" sz="2400" dirty="0">
                <a:latin typeface="Times New Roman" pitchFamily="18" charset="0"/>
                <a:cs typeface="Times New Roman" pitchFamily="18" charset="0"/>
              </a:rPr>
              <a:t>acid (HOCl), or </a:t>
            </a:r>
            <a:r>
              <a:rPr lang="en-US" sz="2400" dirty="0" smtClean="0">
                <a:latin typeface="Times New Roman" pitchFamily="18" charset="0"/>
                <a:cs typeface="Times New Roman" pitchFamily="18" charset="0"/>
              </a:rPr>
              <a:t>Sodium </a:t>
            </a:r>
            <a:r>
              <a:rPr lang="en-US" sz="2400" dirty="0">
                <a:latin typeface="Times New Roman" pitchFamily="18" charset="0"/>
                <a:cs typeface="Times New Roman" pitchFamily="18" charset="0"/>
              </a:rPr>
              <a:t>hypochlorite (NaOCl) is added to water. </a:t>
            </a:r>
            <a:endParaRPr lang="en-US" sz="2400" dirty="0" smtClean="0">
              <a:latin typeface="Times New Roman" pitchFamily="18" charset="0"/>
              <a:cs typeface="Times New Roman" pitchFamily="18" charset="0"/>
            </a:endParaRPr>
          </a:p>
          <a:p>
            <a:pPr marL="342900" indent="-342900" algn="just">
              <a:buFont typeface="Wingdings" pitchFamily="2" charset="2"/>
              <a:buChar char="v"/>
            </a:pPr>
            <a:r>
              <a:rPr lang="en-US" sz="2400" dirty="0" smtClean="0">
                <a:latin typeface="Times New Roman" pitchFamily="18" charset="0"/>
                <a:cs typeface="Times New Roman" pitchFamily="18" charset="0"/>
              </a:rPr>
              <a:t>Apart </a:t>
            </a:r>
            <a:r>
              <a:rPr lang="en-US" sz="2400" dirty="0">
                <a:latin typeface="Times New Roman" pitchFamily="18" charset="0"/>
                <a:cs typeface="Times New Roman" pitchFamily="18" charset="0"/>
              </a:rPr>
              <a:t>from killing microorganisms, it can also help in removing or controlling some chemical impurities.</a:t>
            </a:r>
          </a:p>
          <a:p>
            <a:pPr marL="1828800" lvl="3" indent="-457200" algn="just">
              <a:buFont typeface="+mj-lt"/>
              <a:buAutoNum type="arabicPeriod"/>
            </a:pPr>
            <a:r>
              <a:rPr lang="en-US" sz="2400" b="1" dirty="0">
                <a:solidFill>
                  <a:srgbClr val="0070C0"/>
                </a:solidFill>
                <a:latin typeface="Times New Roman" pitchFamily="18" charset="0"/>
                <a:cs typeface="Times New Roman" pitchFamily="18" charset="0"/>
              </a:rPr>
              <a:t>Microbial Contaminants: </a:t>
            </a:r>
            <a:r>
              <a:rPr lang="en-US" sz="2400" dirty="0">
                <a:latin typeface="Times New Roman" pitchFamily="18" charset="0"/>
                <a:cs typeface="Times New Roman" pitchFamily="18" charset="0"/>
              </a:rPr>
              <a:t>Bacteria (E. coli, Salmonella, Vibrio cholera), Viruses (Hepatitis A, enteroviruses), Protozoa (Giardia and Cryptosporidium) and other </a:t>
            </a:r>
            <a:r>
              <a:rPr lang="en-US" sz="2400" dirty="0" smtClean="0">
                <a:latin typeface="Times New Roman" pitchFamily="18" charset="0"/>
                <a:cs typeface="Times New Roman" pitchFamily="18" charset="0"/>
              </a:rPr>
              <a:t>pathogens.</a:t>
            </a:r>
          </a:p>
          <a:p>
            <a:pPr marL="1828800" lvl="3" indent="-457200" algn="just">
              <a:buFont typeface="+mj-lt"/>
              <a:buAutoNum type="arabicPeriod"/>
            </a:pPr>
            <a:r>
              <a:rPr lang="en-US" sz="2400" b="1" dirty="0" smtClean="0">
                <a:solidFill>
                  <a:srgbClr val="0070C0"/>
                </a:solidFill>
                <a:latin typeface="Times New Roman" pitchFamily="18" charset="0"/>
                <a:cs typeface="Times New Roman" pitchFamily="18" charset="0"/>
              </a:rPr>
              <a:t>Organic </a:t>
            </a:r>
            <a:r>
              <a:rPr lang="en-US" sz="2400" b="1" dirty="0">
                <a:solidFill>
                  <a:srgbClr val="0070C0"/>
                </a:solidFill>
                <a:latin typeface="Times New Roman" pitchFamily="18" charset="0"/>
                <a:cs typeface="Times New Roman" pitchFamily="18" charset="0"/>
              </a:rPr>
              <a:t>Impurities: </a:t>
            </a:r>
            <a:r>
              <a:rPr lang="en-US" sz="2400" dirty="0">
                <a:latin typeface="Times New Roman" pitchFamily="18" charset="0"/>
                <a:cs typeface="Times New Roman" pitchFamily="18" charset="0"/>
              </a:rPr>
              <a:t>Organic matter (like phenols, hydrogen sulfide, and certain amines</a:t>
            </a:r>
            <a:r>
              <a:rPr lang="en-US" sz="2400" dirty="0" smtClean="0">
                <a:latin typeface="Times New Roman" pitchFamily="18" charset="0"/>
                <a:cs typeface="Times New Roman" pitchFamily="18" charset="0"/>
              </a:rPr>
              <a:t>).</a:t>
            </a:r>
          </a:p>
          <a:p>
            <a:pPr marL="1828800" lvl="3" indent="-457200" algn="just">
              <a:buFont typeface="+mj-lt"/>
              <a:buAutoNum type="arabicPeriod"/>
            </a:pPr>
            <a:r>
              <a:rPr lang="en-US" sz="2400" b="1" dirty="0" smtClean="0">
                <a:solidFill>
                  <a:srgbClr val="0070C0"/>
                </a:solidFill>
                <a:latin typeface="Times New Roman" pitchFamily="18" charset="0"/>
                <a:cs typeface="Times New Roman" pitchFamily="18" charset="0"/>
              </a:rPr>
              <a:t>Inorganic </a:t>
            </a:r>
            <a:r>
              <a:rPr lang="en-US" sz="2400" b="1" dirty="0">
                <a:solidFill>
                  <a:srgbClr val="0070C0"/>
                </a:solidFill>
                <a:latin typeface="Times New Roman" pitchFamily="18" charset="0"/>
                <a:cs typeface="Times New Roman" pitchFamily="18" charset="0"/>
              </a:rPr>
              <a:t>Impurities: </a:t>
            </a:r>
            <a:r>
              <a:rPr lang="en-US" sz="2400" dirty="0">
                <a:latin typeface="Times New Roman" pitchFamily="18" charset="0"/>
                <a:cs typeface="Times New Roman" pitchFamily="18" charset="0"/>
              </a:rPr>
              <a:t>Iron (Fe²⁺) ,  Manganese (Mn²⁺), Hydrogen sulfide (H₂S), Nitrite (NO₂⁻</a:t>
            </a:r>
            <a:r>
              <a:rPr lang="en-US" sz="2400" dirty="0" smtClean="0">
                <a:latin typeface="Times New Roman" pitchFamily="18" charset="0"/>
                <a:cs typeface="Times New Roman" pitchFamily="18" charset="0"/>
              </a:rPr>
              <a:t>).</a:t>
            </a:r>
          </a:p>
          <a:p>
            <a:pPr marL="1828800" lvl="3" indent="-457200" algn="just">
              <a:buFont typeface="+mj-lt"/>
              <a:buAutoNum type="arabicPeriod"/>
            </a:pPr>
            <a:r>
              <a:rPr lang="en-US" sz="2400" b="1" dirty="0" smtClean="0">
                <a:solidFill>
                  <a:srgbClr val="0070C0"/>
                </a:solidFill>
                <a:latin typeface="Times New Roman" pitchFamily="18" charset="0"/>
                <a:cs typeface="Times New Roman" pitchFamily="18" charset="0"/>
              </a:rPr>
              <a:t>Limitations: </a:t>
            </a:r>
            <a:r>
              <a:rPr lang="en-US" sz="2400" dirty="0" smtClean="0">
                <a:latin typeface="Times New Roman" pitchFamily="18" charset="0"/>
                <a:cs typeface="Times New Roman" pitchFamily="18" charset="0"/>
              </a:rPr>
              <a:t>Chlorination </a:t>
            </a:r>
            <a:r>
              <a:rPr lang="en-US" sz="2400" dirty="0">
                <a:latin typeface="Times New Roman" pitchFamily="18" charset="0"/>
                <a:cs typeface="Times New Roman" pitchFamily="18" charset="0"/>
              </a:rPr>
              <a:t>does not remove dissolved salts (hardness, fluorides, nitrates, chlorides, sulfates, etc.).  It may produce disinfection.</a:t>
            </a:r>
          </a:p>
        </p:txBody>
      </p:sp>
    </p:spTree>
    <p:extLst>
      <p:ext uri="{BB962C8B-B14F-4D97-AF65-F5344CB8AC3E}">
        <p14:creationId xmlns:p14="http://schemas.microsoft.com/office/powerpoint/2010/main" val="38917816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5"/>
          <p:cNvPicPr>
            <a:picLocks noChangeAspect="1" noChangeArrowheads="1"/>
          </p:cNvPicPr>
          <p:nvPr/>
        </p:nvPicPr>
        <p:blipFill>
          <a:blip r:embed="rId2"/>
          <a:srcRect l="2581" t="13889" r="2581"/>
          <a:stretch>
            <a:fillRect/>
          </a:stretch>
        </p:blipFill>
        <p:spPr bwMode="auto">
          <a:xfrm>
            <a:off x="304800" y="304800"/>
            <a:ext cx="11887200" cy="6248400"/>
          </a:xfrm>
          <a:prstGeom prst="rect">
            <a:avLst/>
          </a:prstGeom>
          <a:noFill/>
          <a:ln w="9525">
            <a:noFill/>
            <a:miter lim="800000"/>
            <a:headEnd/>
            <a:tailEnd/>
          </a:ln>
          <a:effectLst/>
        </p:spPr>
      </p:pic>
    </p:spTree>
    <p:extLst>
      <p:ext uri="{BB962C8B-B14F-4D97-AF65-F5344CB8AC3E}">
        <p14:creationId xmlns:p14="http://schemas.microsoft.com/office/powerpoint/2010/main" val="23215020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228600"/>
            <a:ext cx="12192000" cy="6370975"/>
          </a:xfrm>
          <a:prstGeom prst="rect">
            <a:avLst/>
          </a:prstGeom>
        </p:spPr>
        <p:txBody>
          <a:bodyPr wrap="square">
            <a:spAutoFit/>
          </a:bodyPr>
          <a:lstStyle/>
          <a:p>
            <a:pPr marL="342900" indent="-342900" algn="just">
              <a:buFont typeface="Wingdings" pitchFamily="2" charset="2"/>
              <a:buChar char="v"/>
            </a:pPr>
            <a:r>
              <a:rPr lang="en-US" sz="2400" dirty="0" smtClean="0">
                <a:latin typeface="Times New Roman" pitchFamily="18" charset="0"/>
                <a:cs typeface="Times New Roman" pitchFamily="18" charset="0"/>
              </a:rPr>
              <a:t>The </a:t>
            </a:r>
            <a:r>
              <a:rPr lang="en-US" sz="2400" dirty="0">
                <a:latin typeface="Times New Roman" pitchFamily="18" charset="0"/>
                <a:cs typeface="Times New Roman" pitchFamily="18" charset="0"/>
              </a:rPr>
              <a:t>breakpoint chlorination curve explains what happens when chlorine is added to water containing ammonia and other reducing </a:t>
            </a:r>
            <a:r>
              <a:rPr lang="en-US" sz="2400" dirty="0" smtClean="0">
                <a:latin typeface="Times New Roman" pitchFamily="18" charset="0"/>
                <a:cs typeface="Times New Roman" pitchFamily="18" charset="0"/>
              </a:rPr>
              <a:t>agents.</a:t>
            </a:r>
          </a:p>
          <a:p>
            <a:pPr marL="342900" indent="-342900" algn="just">
              <a:buFont typeface="Wingdings" pitchFamily="2" charset="2"/>
              <a:buChar char="v"/>
            </a:pPr>
            <a:r>
              <a:rPr lang="en-US" sz="2400" dirty="0" smtClean="0">
                <a:latin typeface="Times New Roman" pitchFamily="18" charset="0"/>
                <a:cs typeface="Times New Roman" pitchFamily="18" charset="0"/>
              </a:rPr>
              <a:t>It </a:t>
            </a:r>
            <a:r>
              <a:rPr lang="en-US" sz="2400" dirty="0">
                <a:latin typeface="Times New Roman" pitchFamily="18" charset="0"/>
                <a:cs typeface="Times New Roman" pitchFamily="18" charset="0"/>
              </a:rPr>
              <a:t>is widely used in water treatment to understand chlorine demand, chloramine formation, and the point where free chlorine becomes available for effective disinfection.</a:t>
            </a:r>
          </a:p>
          <a:p>
            <a:pPr marL="1428750" lvl="2" indent="-514350" algn="just">
              <a:buFont typeface="+mj-lt"/>
              <a:buAutoNum type="romanUcPeriod"/>
            </a:pPr>
            <a:r>
              <a:rPr lang="en-US" sz="2400" b="1" dirty="0" smtClean="0">
                <a:solidFill>
                  <a:srgbClr val="C00000"/>
                </a:solidFill>
                <a:latin typeface="Times New Roman" pitchFamily="18" charset="0"/>
                <a:cs typeface="Times New Roman" pitchFamily="18" charset="0"/>
              </a:rPr>
              <a:t>Zone-1 (Chlorine Demand): </a:t>
            </a:r>
            <a:r>
              <a:rPr lang="en-US" sz="2400" dirty="0" smtClean="0">
                <a:latin typeface="Times New Roman" pitchFamily="18" charset="0"/>
                <a:cs typeface="Times New Roman" pitchFamily="18" charset="0"/>
              </a:rPr>
              <a:t>Chlorine </a:t>
            </a:r>
            <a:r>
              <a:rPr lang="en-US" sz="2400" dirty="0">
                <a:latin typeface="Times New Roman" pitchFamily="18" charset="0"/>
                <a:cs typeface="Times New Roman" pitchFamily="18" charset="0"/>
              </a:rPr>
              <a:t>is consumed by reducing agents such as iron, manganese, sulfide, and </a:t>
            </a:r>
            <a:r>
              <a:rPr lang="en-US" sz="2400" dirty="0" smtClean="0">
                <a:latin typeface="Times New Roman" pitchFamily="18" charset="0"/>
                <a:cs typeface="Times New Roman" pitchFamily="18" charset="0"/>
              </a:rPr>
              <a:t>nitrite. No </a:t>
            </a:r>
            <a:r>
              <a:rPr lang="en-US" sz="2400" dirty="0">
                <a:latin typeface="Times New Roman" pitchFamily="18" charset="0"/>
                <a:cs typeface="Times New Roman" pitchFamily="18" charset="0"/>
              </a:rPr>
              <a:t>chlorine residual remains in the </a:t>
            </a:r>
            <a:r>
              <a:rPr lang="en-US" sz="2400" dirty="0" smtClean="0">
                <a:latin typeface="Times New Roman" pitchFamily="18" charset="0"/>
                <a:cs typeface="Times New Roman" pitchFamily="18" charset="0"/>
              </a:rPr>
              <a:t>water. Chlorine </a:t>
            </a:r>
            <a:r>
              <a:rPr lang="en-US" sz="2400" dirty="0">
                <a:latin typeface="Times New Roman" pitchFamily="18" charset="0"/>
                <a:cs typeface="Times New Roman" pitchFamily="18" charset="0"/>
              </a:rPr>
              <a:t>is 'used up' neutralizing </a:t>
            </a:r>
            <a:r>
              <a:rPr lang="en-US" sz="2400" dirty="0" smtClean="0">
                <a:latin typeface="Times New Roman" pitchFamily="18" charset="0"/>
                <a:cs typeface="Times New Roman" pitchFamily="18" charset="0"/>
              </a:rPr>
              <a:t>impurities.</a:t>
            </a:r>
          </a:p>
          <a:p>
            <a:pPr marL="1428750" lvl="2" indent="-514350" algn="just">
              <a:buFont typeface="+mj-lt"/>
              <a:buAutoNum type="romanUcPeriod"/>
            </a:pPr>
            <a:r>
              <a:rPr lang="en-US" sz="2400" b="1" dirty="0" smtClean="0">
                <a:solidFill>
                  <a:srgbClr val="C00000"/>
                </a:solidFill>
                <a:latin typeface="Times New Roman" pitchFamily="18" charset="0"/>
                <a:cs typeface="Times New Roman" pitchFamily="18" charset="0"/>
              </a:rPr>
              <a:t>Zone-2 (Formation </a:t>
            </a:r>
            <a:r>
              <a:rPr lang="en-US" sz="2400" b="1" dirty="0">
                <a:solidFill>
                  <a:srgbClr val="C00000"/>
                </a:solidFill>
                <a:latin typeface="Times New Roman" pitchFamily="18" charset="0"/>
                <a:cs typeface="Times New Roman" pitchFamily="18" charset="0"/>
              </a:rPr>
              <a:t>of </a:t>
            </a:r>
            <a:r>
              <a:rPr lang="en-US" sz="2400" b="1" dirty="0" smtClean="0">
                <a:solidFill>
                  <a:srgbClr val="C00000"/>
                </a:solidFill>
                <a:latin typeface="Times New Roman" pitchFamily="18" charset="0"/>
                <a:cs typeface="Times New Roman" pitchFamily="18" charset="0"/>
              </a:rPr>
              <a:t>Chloramines): </a:t>
            </a:r>
            <a:r>
              <a:rPr lang="en-US" sz="2400" dirty="0" smtClean="0">
                <a:latin typeface="Times New Roman" pitchFamily="18" charset="0"/>
                <a:cs typeface="Times New Roman" pitchFamily="18" charset="0"/>
              </a:rPr>
              <a:t>Chlorine </a:t>
            </a:r>
            <a:r>
              <a:rPr lang="en-US" sz="2400" dirty="0">
                <a:latin typeface="Times New Roman" pitchFamily="18" charset="0"/>
                <a:cs typeface="Times New Roman" pitchFamily="18" charset="0"/>
              </a:rPr>
              <a:t>reacts with ammonia to form </a:t>
            </a:r>
            <a:r>
              <a:rPr lang="en-US" sz="2400" dirty="0" smtClean="0">
                <a:latin typeface="Times New Roman" pitchFamily="18" charset="0"/>
                <a:cs typeface="Times New Roman" pitchFamily="18" charset="0"/>
              </a:rPr>
              <a:t>monochloramine. Some </a:t>
            </a:r>
            <a:r>
              <a:rPr lang="en-US" sz="2400" dirty="0">
                <a:latin typeface="Times New Roman" pitchFamily="18" charset="0"/>
                <a:cs typeface="Times New Roman" pitchFamily="18" charset="0"/>
              </a:rPr>
              <a:t>chlorinated organic compounds may also </a:t>
            </a:r>
            <a:r>
              <a:rPr lang="en-US" sz="2400" dirty="0" smtClean="0">
                <a:latin typeface="Times New Roman" pitchFamily="18" charset="0"/>
                <a:cs typeface="Times New Roman" pitchFamily="18" charset="0"/>
              </a:rPr>
              <a:t>form. Combined </a:t>
            </a:r>
            <a:r>
              <a:rPr lang="en-US" sz="2400" dirty="0">
                <a:latin typeface="Times New Roman" pitchFamily="18" charset="0"/>
                <a:cs typeface="Times New Roman" pitchFamily="18" charset="0"/>
              </a:rPr>
              <a:t>chlorine residuals (chloramines) </a:t>
            </a:r>
            <a:r>
              <a:rPr lang="en-US" sz="2400" dirty="0" smtClean="0">
                <a:latin typeface="Times New Roman" pitchFamily="18" charset="0"/>
                <a:cs typeface="Times New Roman" pitchFamily="18" charset="0"/>
              </a:rPr>
              <a:t>appear.</a:t>
            </a:r>
          </a:p>
          <a:p>
            <a:pPr marL="1428750" lvl="2" indent="-514350" algn="just">
              <a:buFont typeface="+mj-lt"/>
              <a:buAutoNum type="romanUcPeriod"/>
            </a:pPr>
            <a:r>
              <a:rPr lang="en-US" sz="2400" b="1" dirty="0" smtClean="0">
                <a:solidFill>
                  <a:srgbClr val="C00000"/>
                </a:solidFill>
                <a:latin typeface="Times New Roman" pitchFamily="18" charset="0"/>
                <a:cs typeface="Times New Roman" pitchFamily="18" charset="0"/>
              </a:rPr>
              <a:t>Zone-3 (Chloramine </a:t>
            </a:r>
            <a:r>
              <a:rPr lang="en-US" sz="2400" b="1" dirty="0">
                <a:solidFill>
                  <a:srgbClr val="C00000"/>
                </a:solidFill>
                <a:latin typeface="Times New Roman" pitchFamily="18" charset="0"/>
                <a:cs typeface="Times New Roman" pitchFamily="18" charset="0"/>
              </a:rPr>
              <a:t>Conversion &amp; Nuisance </a:t>
            </a:r>
            <a:r>
              <a:rPr lang="en-US" sz="2400" b="1" dirty="0" smtClean="0">
                <a:solidFill>
                  <a:srgbClr val="C00000"/>
                </a:solidFill>
                <a:latin typeface="Times New Roman" pitchFamily="18" charset="0"/>
                <a:cs typeface="Times New Roman" pitchFamily="18" charset="0"/>
              </a:rPr>
              <a:t>Residuals): </a:t>
            </a:r>
            <a:r>
              <a:rPr lang="en-US" sz="2400" dirty="0" smtClean="0">
                <a:latin typeface="Times New Roman" pitchFamily="18" charset="0"/>
                <a:cs typeface="Times New Roman" pitchFamily="18" charset="0"/>
              </a:rPr>
              <a:t>Additional </a:t>
            </a:r>
            <a:r>
              <a:rPr lang="en-US" sz="2400" dirty="0">
                <a:latin typeface="Times New Roman" pitchFamily="18" charset="0"/>
                <a:cs typeface="Times New Roman" pitchFamily="18" charset="0"/>
              </a:rPr>
              <a:t>chlorine converts monochloramine into dichloramine and nitrogen </a:t>
            </a:r>
            <a:r>
              <a:rPr lang="en-US" sz="2400" dirty="0" smtClean="0">
                <a:latin typeface="Times New Roman" pitchFamily="18" charset="0"/>
                <a:cs typeface="Times New Roman" pitchFamily="18" charset="0"/>
              </a:rPr>
              <a:t>trichloride. Combined </a:t>
            </a:r>
            <a:r>
              <a:rPr lang="en-US" sz="2400" dirty="0">
                <a:latin typeface="Times New Roman" pitchFamily="18" charset="0"/>
                <a:cs typeface="Times New Roman" pitchFamily="18" charset="0"/>
              </a:rPr>
              <a:t>chlorine residuals start to </a:t>
            </a:r>
            <a:r>
              <a:rPr lang="en-US" sz="2400" dirty="0" smtClean="0">
                <a:latin typeface="Times New Roman" pitchFamily="18" charset="0"/>
                <a:cs typeface="Times New Roman" pitchFamily="18" charset="0"/>
              </a:rPr>
              <a:t>decrease. These </a:t>
            </a:r>
            <a:r>
              <a:rPr lang="en-US" sz="2400" dirty="0">
                <a:latin typeface="Times New Roman" pitchFamily="18" charset="0"/>
                <a:cs typeface="Times New Roman" pitchFamily="18" charset="0"/>
              </a:rPr>
              <a:t>are considered nuisance residuals as they cause taste and odor </a:t>
            </a:r>
            <a:r>
              <a:rPr lang="en-US" sz="2400" dirty="0" smtClean="0">
                <a:latin typeface="Times New Roman" pitchFamily="18" charset="0"/>
                <a:cs typeface="Times New Roman" pitchFamily="18" charset="0"/>
              </a:rPr>
              <a:t>problems.</a:t>
            </a:r>
          </a:p>
          <a:p>
            <a:pPr marL="1428750" lvl="2" indent="-514350" algn="just">
              <a:buFont typeface="+mj-lt"/>
              <a:buAutoNum type="romanUcPeriod"/>
            </a:pPr>
            <a:r>
              <a:rPr lang="en-US" sz="2400" b="1" dirty="0" smtClean="0">
                <a:solidFill>
                  <a:srgbClr val="C00000"/>
                </a:solidFill>
                <a:latin typeface="Times New Roman" pitchFamily="18" charset="0"/>
                <a:cs typeface="Times New Roman" pitchFamily="18" charset="0"/>
              </a:rPr>
              <a:t>Zone-4 (Breakpoint Chlorination): </a:t>
            </a:r>
            <a:r>
              <a:rPr lang="en-US" sz="2400" dirty="0" smtClean="0">
                <a:latin typeface="Times New Roman" pitchFamily="18" charset="0"/>
                <a:cs typeface="Times New Roman" pitchFamily="18" charset="0"/>
              </a:rPr>
              <a:t>At </a:t>
            </a:r>
            <a:r>
              <a:rPr lang="en-US" sz="2400" dirty="0">
                <a:latin typeface="Times New Roman" pitchFamily="18" charset="0"/>
                <a:cs typeface="Times New Roman" pitchFamily="18" charset="0"/>
              </a:rPr>
              <a:t>the breakpoint, all ammonia and chloramines are oxidized and </a:t>
            </a:r>
            <a:r>
              <a:rPr lang="en-US" sz="2400" dirty="0" smtClean="0">
                <a:latin typeface="Times New Roman" pitchFamily="18" charset="0"/>
                <a:cs typeface="Times New Roman" pitchFamily="18" charset="0"/>
              </a:rPr>
              <a:t>destroyed. Beyond </a:t>
            </a:r>
            <a:r>
              <a:rPr lang="en-US" sz="2400" dirty="0">
                <a:latin typeface="Times New Roman" pitchFamily="18" charset="0"/>
                <a:cs typeface="Times New Roman" pitchFamily="18" charset="0"/>
              </a:rPr>
              <a:t>this point, free chlorine residuals (HOCl and OCl⁻) </a:t>
            </a:r>
            <a:r>
              <a:rPr lang="en-US" sz="2400" dirty="0" smtClean="0">
                <a:latin typeface="Times New Roman" pitchFamily="18" charset="0"/>
                <a:cs typeface="Times New Roman" pitchFamily="18" charset="0"/>
              </a:rPr>
              <a:t>appear. Free </a:t>
            </a:r>
            <a:r>
              <a:rPr lang="en-US" sz="2400" dirty="0">
                <a:latin typeface="Times New Roman" pitchFamily="18" charset="0"/>
                <a:cs typeface="Times New Roman" pitchFamily="18" charset="0"/>
              </a:rPr>
              <a:t>chlorine is the most effective </a:t>
            </a:r>
            <a:r>
              <a:rPr lang="en-US" sz="2400" dirty="0" smtClean="0">
                <a:latin typeface="Times New Roman" pitchFamily="18" charset="0"/>
                <a:cs typeface="Times New Roman" pitchFamily="18" charset="0"/>
              </a:rPr>
              <a:t>disinfectant.</a:t>
            </a:r>
            <a:endParaRPr lang="en-US" sz="2400" b="1" dirty="0">
              <a:latin typeface="Times New Roman" pitchFamily="18" charset="0"/>
              <a:cs typeface="Times New Roman" pitchFamily="18" charset="0"/>
            </a:endParaRPr>
          </a:p>
        </p:txBody>
      </p:sp>
    </p:spTree>
    <p:extLst>
      <p:ext uri="{BB962C8B-B14F-4D97-AF65-F5344CB8AC3E}">
        <p14:creationId xmlns:p14="http://schemas.microsoft.com/office/powerpoint/2010/main" val="26273572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228600"/>
            <a:ext cx="12192000" cy="1569660"/>
          </a:xfrm>
          <a:prstGeom prst="rect">
            <a:avLst/>
          </a:prstGeom>
        </p:spPr>
        <p:txBody>
          <a:bodyPr wrap="square">
            <a:spAutoFit/>
          </a:bodyPr>
          <a:lstStyle/>
          <a:p>
            <a:pPr algn="just"/>
            <a:r>
              <a:rPr lang="en-US" sz="2400" dirty="0">
                <a:latin typeface="Times New Roman" pitchFamily="18" charset="0"/>
                <a:cs typeface="Times New Roman" pitchFamily="18" charset="0"/>
              </a:rPr>
              <a:t>Breakpoint chlorination is the process of adding sufficient free chlorine to water to oxidize all reducing compounds and ammonia, thereby satisfying the water's chlorine demand and producing a free residual chlorine that acts as a potent disinfectant. </a:t>
            </a:r>
            <a:endParaRPr lang="en-US" sz="2400" dirty="0" smtClean="0">
              <a:latin typeface="Times New Roman" pitchFamily="18" charset="0"/>
              <a:cs typeface="Times New Roman" pitchFamily="18" charset="0"/>
            </a:endParaRPr>
          </a:p>
          <a:p>
            <a:pPr algn="just"/>
            <a:endParaRPr lang="en-US" sz="2400" dirty="0">
              <a:latin typeface="Times New Roman" pitchFamily="18" charset="0"/>
              <a:cs typeface="Times New Roman" pitchFamily="18" charset="0"/>
            </a:endParaRPr>
          </a:p>
        </p:txBody>
      </p:sp>
      <p:graphicFrame>
        <p:nvGraphicFramePr>
          <p:cNvPr id="3" name="Table 2"/>
          <p:cNvGraphicFramePr>
            <a:graphicFrameLocks noGrp="1"/>
          </p:cNvGraphicFramePr>
          <p:nvPr>
            <p:extLst>
              <p:ext uri="{D42A27DB-BD31-4B8C-83A1-F6EECF244321}">
                <p14:modId xmlns:p14="http://schemas.microsoft.com/office/powerpoint/2010/main" val="3348862748"/>
              </p:ext>
            </p:extLst>
          </p:nvPr>
        </p:nvGraphicFramePr>
        <p:xfrm>
          <a:off x="533400" y="1773936"/>
          <a:ext cx="11658600" cy="4172522"/>
        </p:xfrm>
        <a:graphic>
          <a:graphicData uri="http://schemas.openxmlformats.org/drawingml/2006/table">
            <a:tbl>
              <a:tblPr firstRow="1" firstCol="1" bandRow="1">
                <a:tableStyleId>{5C22544A-7EE6-4342-B048-85BDC9FD1C3A}</a:tableStyleId>
              </a:tblPr>
              <a:tblGrid>
                <a:gridCol w="5105400"/>
                <a:gridCol w="6553200"/>
              </a:tblGrid>
              <a:tr h="0">
                <a:tc>
                  <a:txBody>
                    <a:bodyPr/>
                    <a:lstStyle/>
                    <a:p>
                      <a:pPr marL="0" marR="0" algn="ctr">
                        <a:lnSpc>
                          <a:spcPct val="115000"/>
                        </a:lnSpc>
                        <a:spcBef>
                          <a:spcPts val="0"/>
                        </a:spcBef>
                        <a:spcAft>
                          <a:spcPts val="0"/>
                        </a:spcAft>
                      </a:pPr>
                      <a:r>
                        <a:rPr lang="en-US" sz="2400" dirty="0">
                          <a:effectLst/>
                          <a:latin typeface="Times New Roman" pitchFamily="18" charset="0"/>
                          <a:cs typeface="Times New Roman" pitchFamily="18" charset="0"/>
                        </a:rPr>
                        <a:t>Impurity</a:t>
                      </a:r>
                      <a:endParaRPr lang="en-US" sz="2400" dirty="0">
                        <a:effectLst/>
                        <a:latin typeface="Times New Roman" pitchFamily="18" charset="0"/>
                        <a:ea typeface="MS Mincho"/>
                        <a:cs typeface="Times New Roman" pitchFamily="18" charset="0"/>
                      </a:endParaRPr>
                    </a:p>
                  </a:txBody>
                  <a:tcPr marL="68580" marR="68580" marT="0" marB="0"/>
                </a:tc>
                <a:tc>
                  <a:txBody>
                    <a:bodyPr/>
                    <a:lstStyle/>
                    <a:p>
                      <a:pPr marL="0" marR="0" algn="ctr">
                        <a:lnSpc>
                          <a:spcPct val="115000"/>
                        </a:lnSpc>
                        <a:spcBef>
                          <a:spcPts val="0"/>
                        </a:spcBef>
                        <a:spcAft>
                          <a:spcPts val="0"/>
                        </a:spcAft>
                      </a:pPr>
                      <a:r>
                        <a:rPr lang="en-US" sz="2400" dirty="0">
                          <a:effectLst/>
                          <a:latin typeface="Times New Roman" pitchFamily="18" charset="0"/>
                          <a:cs typeface="Times New Roman" pitchFamily="18" charset="0"/>
                        </a:rPr>
                        <a:t>Effect of Chlorination</a:t>
                      </a:r>
                      <a:endParaRPr lang="en-US" sz="2400" dirty="0">
                        <a:effectLst/>
                        <a:latin typeface="Times New Roman" pitchFamily="18" charset="0"/>
                        <a:ea typeface="MS Mincho"/>
                        <a:cs typeface="Times New Roman" pitchFamily="18" charset="0"/>
                      </a:endParaRPr>
                    </a:p>
                  </a:txBody>
                  <a:tcPr marL="68580" marR="68580" marT="0" marB="0"/>
                </a:tc>
              </a:tr>
              <a:tr h="0">
                <a:tc>
                  <a:txBody>
                    <a:bodyPr/>
                    <a:lstStyle/>
                    <a:p>
                      <a:pPr marL="0" marR="0" indent="0">
                        <a:lnSpc>
                          <a:spcPct val="115000"/>
                        </a:lnSpc>
                        <a:spcBef>
                          <a:spcPts val="0"/>
                        </a:spcBef>
                        <a:spcAft>
                          <a:spcPts val="0"/>
                        </a:spcAft>
                        <a:buFont typeface="+mj-lt"/>
                        <a:buNone/>
                      </a:pPr>
                      <a:r>
                        <a:rPr lang="en-US" sz="2400" dirty="0" smtClean="0">
                          <a:effectLst/>
                          <a:latin typeface="Times New Roman" pitchFamily="18" charset="0"/>
                          <a:cs typeface="Times New Roman" pitchFamily="18" charset="0"/>
                        </a:rPr>
                        <a:t>1. Organic </a:t>
                      </a:r>
                      <a:r>
                        <a:rPr lang="en-US" sz="2400" dirty="0">
                          <a:effectLst/>
                          <a:latin typeface="Times New Roman" pitchFamily="18" charset="0"/>
                          <a:cs typeface="Times New Roman" pitchFamily="18" charset="0"/>
                        </a:rPr>
                        <a:t>impurities (phenols, algae, odor compounds)</a:t>
                      </a:r>
                      <a:endParaRPr lang="en-US" sz="2400" dirty="0">
                        <a:effectLst/>
                        <a:latin typeface="Times New Roman" pitchFamily="18" charset="0"/>
                        <a:ea typeface="MS Mincho"/>
                        <a:cs typeface="Times New Roman" pitchFamily="18" charset="0"/>
                      </a:endParaRPr>
                    </a:p>
                  </a:txBody>
                  <a:tcPr marL="68580" marR="68580" marT="0" marB="0"/>
                </a:tc>
                <a:tc>
                  <a:txBody>
                    <a:bodyPr/>
                    <a:lstStyle/>
                    <a:p>
                      <a:pPr marL="0" marR="0">
                        <a:lnSpc>
                          <a:spcPct val="115000"/>
                        </a:lnSpc>
                        <a:spcBef>
                          <a:spcPts val="0"/>
                        </a:spcBef>
                        <a:spcAft>
                          <a:spcPts val="0"/>
                        </a:spcAft>
                      </a:pPr>
                      <a:r>
                        <a:rPr lang="en-US" sz="2400">
                          <a:effectLst/>
                          <a:latin typeface="Times New Roman" pitchFamily="18" charset="0"/>
                          <a:cs typeface="Times New Roman" pitchFamily="18" charset="0"/>
                        </a:rPr>
                        <a:t>Oxidized, reducing taste and odor problems.</a:t>
                      </a:r>
                      <a:endParaRPr lang="en-US" sz="2400">
                        <a:effectLst/>
                        <a:latin typeface="Times New Roman" pitchFamily="18" charset="0"/>
                        <a:ea typeface="MS Mincho"/>
                        <a:cs typeface="Times New Roman" pitchFamily="18" charset="0"/>
                      </a:endParaRPr>
                    </a:p>
                  </a:txBody>
                  <a:tcPr marL="68580" marR="68580" marT="0" marB="0"/>
                </a:tc>
              </a:tr>
              <a:tr h="0">
                <a:tc>
                  <a:txBody>
                    <a:bodyPr/>
                    <a:lstStyle/>
                    <a:p>
                      <a:pPr marL="0" marR="0" indent="0">
                        <a:lnSpc>
                          <a:spcPct val="115000"/>
                        </a:lnSpc>
                        <a:spcBef>
                          <a:spcPts val="0"/>
                        </a:spcBef>
                        <a:spcAft>
                          <a:spcPts val="0"/>
                        </a:spcAft>
                        <a:buFont typeface="+mj-lt"/>
                        <a:buNone/>
                      </a:pPr>
                      <a:r>
                        <a:rPr lang="en-US" sz="2400" dirty="0" smtClean="0">
                          <a:effectLst/>
                          <a:latin typeface="Times New Roman" pitchFamily="18" charset="0"/>
                          <a:cs typeface="Times New Roman" pitchFamily="18" charset="0"/>
                        </a:rPr>
                        <a:t>2. Iron </a:t>
                      </a:r>
                      <a:r>
                        <a:rPr lang="en-US" sz="2400" dirty="0">
                          <a:effectLst/>
                          <a:latin typeface="Times New Roman" pitchFamily="18" charset="0"/>
                          <a:cs typeface="Times New Roman" pitchFamily="18" charset="0"/>
                        </a:rPr>
                        <a:t>(Fe²⁺)</a:t>
                      </a:r>
                      <a:endParaRPr lang="en-US" sz="2400" dirty="0">
                        <a:effectLst/>
                        <a:latin typeface="Times New Roman" pitchFamily="18" charset="0"/>
                        <a:ea typeface="MS Mincho"/>
                        <a:cs typeface="Times New Roman" pitchFamily="18" charset="0"/>
                      </a:endParaRPr>
                    </a:p>
                  </a:txBody>
                  <a:tcPr marL="68580" marR="68580" marT="0" marB="0"/>
                </a:tc>
                <a:tc>
                  <a:txBody>
                    <a:bodyPr/>
                    <a:lstStyle/>
                    <a:p>
                      <a:pPr marL="0" marR="0">
                        <a:lnSpc>
                          <a:spcPct val="115000"/>
                        </a:lnSpc>
                        <a:spcBef>
                          <a:spcPts val="0"/>
                        </a:spcBef>
                        <a:spcAft>
                          <a:spcPts val="0"/>
                        </a:spcAft>
                      </a:pPr>
                      <a:r>
                        <a:rPr lang="en-US" sz="2400">
                          <a:effectLst/>
                          <a:latin typeface="Times New Roman" pitchFamily="18" charset="0"/>
                          <a:cs typeface="Times New Roman" pitchFamily="18" charset="0"/>
                        </a:rPr>
                        <a:t>Oxidized to Fe³⁺ and precipitated as ferric hydroxide.</a:t>
                      </a:r>
                      <a:endParaRPr lang="en-US" sz="2400">
                        <a:effectLst/>
                        <a:latin typeface="Times New Roman" pitchFamily="18" charset="0"/>
                        <a:ea typeface="MS Mincho"/>
                        <a:cs typeface="Times New Roman" pitchFamily="18" charset="0"/>
                      </a:endParaRPr>
                    </a:p>
                  </a:txBody>
                  <a:tcPr marL="68580" marR="68580" marT="0" marB="0"/>
                </a:tc>
              </a:tr>
              <a:tr h="0">
                <a:tc>
                  <a:txBody>
                    <a:bodyPr/>
                    <a:lstStyle/>
                    <a:p>
                      <a:pPr marL="0" marR="0">
                        <a:lnSpc>
                          <a:spcPct val="115000"/>
                        </a:lnSpc>
                        <a:spcBef>
                          <a:spcPts val="0"/>
                        </a:spcBef>
                        <a:spcAft>
                          <a:spcPts val="0"/>
                        </a:spcAft>
                      </a:pPr>
                      <a:r>
                        <a:rPr lang="en-US" sz="2400" dirty="0" smtClean="0">
                          <a:effectLst/>
                          <a:latin typeface="Times New Roman" pitchFamily="18" charset="0"/>
                          <a:cs typeface="Times New Roman" pitchFamily="18" charset="0"/>
                        </a:rPr>
                        <a:t>3. Manganese </a:t>
                      </a:r>
                      <a:r>
                        <a:rPr lang="en-US" sz="2400" dirty="0">
                          <a:effectLst/>
                          <a:latin typeface="Times New Roman" pitchFamily="18" charset="0"/>
                          <a:cs typeface="Times New Roman" pitchFamily="18" charset="0"/>
                        </a:rPr>
                        <a:t>(Mn²⁺)</a:t>
                      </a:r>
                      <a:endParaRPr lang="en-US" sz="2400" dirty="0">
                        <a:effectLst/>
                        <a:latin typeface="Times New Roman" pitchFamily="18" charset="0"/>
                        <a:ea typeface="MS Mincho"/>
                        <a:cs typeface="Times New Roman" pitchFamily="18" charset="0"/>
                      </a:endParaRPr>
                    </a:p>
                  </a:txBody>
                  <a:tcPr marL="68580" marR="68580" marT="0" marB="0"/>
                </a:tc>
                <a:tc>
                  <a:txBody>
                    <a:bodyPr/>
                    <a:lstStyle/>
                    <a:p>
                      <a:pPr marL="0" marR="0">
                        <a:lnSpc>
                          <a:spcPct val="115000"/>
                        </a:lnSpc>
                        <a:spcBef>
                          <a:spcPts val="0"/>
                        </a:spcBef>
                        <a:spcAft>
                          <a:spcPts val="0"/>
                        </a:spcAft>
                      </a:pPr>
                      <a:r>
                        <a:rPr lang="en-US" sz="2400">
                          <a:effectLst/>
                          <a:latin typeface="Times New Roman" pitchFamily="18" charset="0"/>
                          <a:cs typeface="Times New Roman" pitchFamily="18" charset="0"/>
                        </a:rPr>
                        <a:t>Oxidized to MnO₂ precipitate.</a:t>
                      </a:r>
                      <a:endParaRPr lang="en-US" sz="2400">
                        <a:effectLst/>
                        <a:latin typeface="Times New Roman" pitchFamily="18" charset="0"/>
                        <a:ea typeface="MS Mincho"/>
                        <a:cs typeface="Times New Roman" pitchFamily="18" charset="0"/>
                      </a:endParaRPr>
                    </a:p>
                  </a:txBody>
                  <a:tcPr marL="68580" marR="68580" marT="0" marB="0"/>
                </a:tc>
              </a:tr>
              <a:tr h="0">
                <a:tc>
                  <a:txBody>
                    <a:bodyPr/>
                    <a:lstStyle/>
                    <a:p>
                      <a:pPr marL="0" marR="0">
                        <a:lnSpc>
                          <a:spcPct val="115000"/>
                        </a:lnSpc>
                        <a:spcBef>
                          <a:spcPts val="0"/>
                        </a:spcBef>
                        <a:spcAft>
                          <a:spcPts val="0"/>
                        </a:spcAft>
                      </a:pPr>
                      <a:r>
                        <a:rPr lang="en-US" sz="2400" dirty="0" smtClean="0">
                          <a:effectLst/>
                          <a:latin typeface="Times New Roman" pitchFamily="18" charset="0"/>
                          <a:cs typeface="Times New Roman" pitchFamily="18" charset="0"/>
                        </a:rPr>
                        <a:t>4. Hydrogen </a:t>
                      </a:r>
                      <a:r>
                        <a:rPr lang="en-US" sz="2400" dirty="0">
                          <a:effectLst/>
                          <a:latin typeface="Times New Roman" pitchFamily="18" charset="0"/>
                          <a:cs typeface="Times New Roman" pitchFamily="18" charset="0"/>
                        </a:rPr>
                        <a:t>sulfide (H₂S)</a:t>
                      </a:r>
                      <a:endParaRPr lang="en-US" sz="2400" dirty="0">
                        <a:effectLst/>
                        <a:latin typeface="Times New Roman" pitchFamily="18" charset="0"/>
                        <a:ea typeface="MS Mincho"/>
                        <a:cs typeface="Times New Roman" pitchFamily="18" charset="0"/>
                      </a:endParaRPr>
                    </a:p>
                  </a:txBody>
                  <a:tcPr marL="68580" marR="68580" marT="0" marB="0"/>
                </a:tc>
                <a:tc>
                  <a:txBody>
                    <a:bodyPr/>
                    <a:lstStyle/>
                    <a:p>
                      <a:pPr marL="0" marR="0">
                        <a:lnSpc>
                          <a:spcPct val="115000"/>
                        </a:lnSpc>
                        <a:spcBef>
                          <a:spcPts val="0"/>
                        </a:spcBef>
                        <a:spcAft>
                          <a:spcPts val="0"/>
                        </a:spcAft>
                      </a:pPr>
                      <a:r>
                        <a:rPr lang="en-US" sz="2400">
                          <a:effectLst/>
                          <a:latin typeface="Times New Roman" pitchFamily="18" charset="0"/>
                          <a:cs typeface="Times New Roman" pitchFamily="18" charset="0"/>
                        </a:rPr>
                        <a:t>Oxidized to elemental sulfur or sulfate, removing foul odor.</a:t>
                      </a:r>
                      <a:endParaRPr lang="en-US" sz="2400">
                        <a:effectLst/>
                        <a:latin typeface="Times New Roman" pitchFamily="18" charset="0"/>
                        <a:ea typeface="MS Mincho"/>
                        <a:cs typeface="Times New Roman" pitchFamily="18" charset="0"/>
                      </a:endParaRPr>
                    </a:p>
                  </a:txBody>
                  <a:tcPr marL="68580" marR="68580" marT="0" marB="0"/>
                </a:tc>
              </a:tr>
              <a:tr h="0">
                <a:tc>
                  <a:txBody>
                    <a:bodyPr/>
                    <a:lstStyle/>
                    <a:p>
                      <a:pPr marL="0" marR="0">
                        <a:lnSpc>
                          <a:spcPct val="115000"/>
                        </a:lnSpc>
                        <a:spcBef>
                          <a:spcPts val="0"/>
                        </a:spcBef>
                        <a:spcAft>
                          <a:spcPts val="0"/>
                        </a:spcAft>
                      </a:pPr>
                      <a:r>
                        <a:rPr lang="en-US" sz="2400" dirty="0" smtClean="0">
                          <a:effectLst/>
                          <a:latin typeface="Times New Roman" pitchFamily="18" charset="0"/>
                          <a:cs typeface="Times New Roman" pitchFamily="18" charset="0"/>
                        </a:rPr>
                        <a:t>5. Nitrites </a:t>
                      </a:r>
                      <a:r>
                        <a:rPr lang="en-US" sz="2400" dirty="0">
                          <a:effectLst/>
                          <a:latin typeface="Times New Roman" pitchFamily="18" charset="0"/>
                          <a:cs typeface="Times New Roman" pitchFamily="18" charset="0"/>
                        </a:rPr>
                        <a:t>(NO₂⁻)</a:t>
                      </a:r>
                      <a:endParaRPr lang="en-US" sz="2400" dirty="0">
                        <a:effectLst/>
                        <a:latin typeface="Times New Roman" pitchFamily="18" charset="0"/>
                        <a:ea typeface="MS Mincho"/>
                        <a:cs typeface="Times New Roman" pitchFamily="18" charset="0"/>
                      </a:endParaRPr>
                    </a:p>
                  </a:txBody>
                  <a:tcPr marL="68580" marR="68580" marT="0" marB="0"/>
                </a:tc>
                <a:tc>
                  <a:txBody>
                    <a:bodyPr/>
                    <a:lstStyle/>
                    <a:p>
                      <a:pPr marL="0" marR="0">
                        <a:lnSpc>
                          <a:spcPct val="115000"/>
                        </a:lnSpc>
                        <a:spcBef>
                          <a:spcPts val="0"/>
                        </a:spcBef>
                        <a:spcAft>
                          <a:spcPts val="0"/>
                        </a:spcAft>
                      </a:pPr>
                      <a:r>
                        <a:rPr lang="en-US" sz="2400" dirty="0">
                          <a:effectLst/>
                          <a:latin typeface="Times New Roman" pitchFamily="18" charset="0"/>
                          <a:cs typeface="Times New Roman" pitchFamily="18" charset="0"/>
                        </a:rPr>
                        <a:t>Oxidized to nitrates (NO₃⁻).</a:t>
                      </a:r>
                      <a:endParaRPr lang="en-US" sz="2400" dirty="0">
                        <a:effectLst/>
                        <a:latin typeface="Times New Roman" pitchFamily="18" charset="0"/>
                        <a:ea typeface="MS Mincho"/>
                        <a:cs typeface="Times New Roman" pitchFamily="18" charset="0"/>
                      </a:endParaRPr>
                    </a:p>
                  </a:txBody>
                  <a:tcPr marL="68580" marR="68580" marT="0" marB="0"/>
                </a:tc>
              </a:tr>
              <a:tr h="0">
                <a:tc>
                  <a:txBody>
                    <a:bodyPr/>
                    <a:lstStyle/>
                    <a:p>
                      <a:pPr marL="0" marR="0">
                        <a:lnSpc>
                          <a:spcPct val="115000"/>
                        </a:lnSpc>
                        <a:spcBef>
                          <a:spcPts val="0"/>
                        </a:spcBef>
                        <a:spcAft>
                          <a:spcPts val="0"/>
                        </a:spcAft>
                      </a:pPr>
                      <a:r>
                        <a:rPr lang="en-US" sz="2400" dirty="0" smtClean="0">
                          <a:effectLst/>
                          <a:latin typeface="Times New Roman" pitchFamily="18" charset="0"/>
                          <a:cs typeface="Times New Roman" pitchFamily="18" charset="0"/>
                        </a:rPr>
                        <a:t>6. Bacteria</a:t>
                      </a:r>
                      <a:r>
                        <a:rPr lang="en-US" sz="2400" dirty="0">
                          <a:effectLst/>
                          <a:latin typeface="Times New Roman" pitchFamily="18" charset="0"/>
                          <a:cs typeface="Times New Roman" pitchFamily="18" charset="0"/>
                        </a:rPr>
                        <a:t>, Viruses, Protozoa</a:t>
                      </a:r>
                      <a:endParaRPr lang="en-US" sz="2400" dirty="0">
                        <a:effectLst/>
                        <a:latin typeface="Times New Roman" pitchFamily="18" charset="0"/>
                        <a:ea typeface="MS Mincho"/>
                        <a:cs typeface="Times New Roman" pitchFamily="18" charset="0"/>
                      </a:endParaRPr>
                    </a:p>
                  </a:txBody>
                  <a:tcPr marL="68580" marR="68580" marT="0" marB="0"/>
                </a:tc>
                <a:tc>
                  <a:txBody>
                    <a:bodyPr/>
                    <a:lstStyle/>
                    <a:p>
                      <a:pPr marL="0" marR="0">
                        <a:lnSpc>
                          <a:spcPct val="115000"/>
                        </a:lnSpc>
                        <a:spcBef>
                          <a:spcPts val="0"/>
                        </a:spcBef>
                        <a:spcAft>
                          <a:spcPts val="0"/>
                        </a:spcAft>
                      </a:pPr>
                      <a:r>
                        <a:rPr lang="en-US" sz="2400" dirty="0">
                          <a:effectLst/>
                          <a:latin typeface="Times New Roman" pitchFamily="18" charset="0"/>
                          <a:cs typeface="Times New Roman" pitchFamily="18" charset="0"/>
                        </a:rPr>
                        <a:t>Destroyed or inactivated by chlorine (disinfection).</a:t>
                      </a:r>
                      <a:endParaRPr lang="en-US" sz="2400" dirty="0">
                        <a:effectLst/>
                        <a:latin typeface="Times New Roman" pitchFamily="18" charset="0"/>
                        <a:ea typeface="MS Mincho"/>
                        <a:cs typeface="Times New Roman" pitchFamily="18" charset="0"/>
                      </a:endParaRPr>
                    </a:p>
                  </a:txBody>
                  <a:tcPr marL="68580" marR="68580" marT="0" marB="0"/>
                </a:tc>
              </a:tr>
            </a:tbl>
          </a:graphicData>
        </a:graphic>
      </p:graphicFrame>
    </p:spTree>
    <p:extLst>
      <p:ext uri="{BB962C8B-B14F-4D97-AF65-F5344CB8AC3E}">
        <p14:creationId xmlns:p14="http://schemas.microsoft.com/office/powerpoint/2010/main" val="15794645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914400"/>
            <a:ext cx="12420600" cy="5632311"/>
          </a:xfrm>
          <a:prstGeom prst="rect">
            <a:avLst/>
          </a:prstGeom>
        </p:spPr>
        <p:txBody>
          <a:bodyPr wrap="square">
            <a:spAutoFit/>
          </a:bodyPr>
          <a:lstStyle/>
          <a:p>
            <a:pPr marL="342900" indent="-342900" algn="just">
              <a:buFont typeface="Wingdings" pitchFamily="2" charset="2"/>
              <a:buChar char="v"/>
            </a:pPr>
            <a:r>
              <a:rPr lang="en-US" sz="2400" dirty="0" smtClean="0">
                <a:latin typeface="Times New Roman" pitchFamily="18" charset="0"/>
                <a:cs typeface="Times New Roman" pitchFamily="18" charset="0"/>
              </a:rPr>
              <a:t>The </a:t>
            </a:r>
            <a:r>
              <a:rPr lang="en-US" sz="2400" dirty="0">
                <a:latin typeface="Times New Roman" pitchFamily="18" charset="0"/>
                <a:cs typeface="Times New Roman" pitchFamily="18" charset="0"/>
              </a:rPr>
              <a:t>Nalgonda Technique is a simple and widely used method for defluoridation of drinking (potable) water, developed by the National Environmental Engineering Research Institute (NEERI), </a:t>
            </a:r>
            <a:r>
              <a:rPr lang="en-US" sz="2400" dirty="0" smtClean="0">
                <a:latin typeface="Times New Roman" pitchFamily="18" charset="0"/>
                <a:cs typeface="Times New Roman" pitchFamily="18" charset="0"/>
              </a:rPr>
              <a:t>Nagpur.</a:t>
            </a:r>
          </a:p>
          <a:p>
            <a:pPr marL="342900" indent="-342900" algn="just">
              <a:buFont typeface="Wingdings" pitchFamily="2" charset="2"/>
              <a:buChar char="v"/>
            </a:pPr>
            <a:r>
              <a:rPr lang="en-US" sz="2400" dirty="0" smtClean="0">
                <a:latin typeface="Times New Roman" pitchFamily="18" charset="0"/>
                <a:cs typeface="Times New Roman" pitchFamily="18" charset="0"/>
              </a:rPr>
              <a:t>It </a:t>
            </a:r>
            <a:r>
              <a:rPr lang="en-US" sz="2400" dirty="0">
                <a:latin typeface="Times New Roman" pitchFamily="18" charset="0"/>
                <a:cs typeface="Times New Roman" pitchFamily="18" charset="0"/>
              </a:rPr>
              <a:t>is particularly suitable for rural and semi-urban areas in India where groundwater has high fluoride </a:t>
            </a:r>
            <a:r>
              <a:rPr lang="en-US" sz="2400" dirty="0" smtClean="0">
                <a:latin typeface="Times New Roman" pitchFamily="18" charset="0"/>
                <a:cs typeface="Times New Roman" pitchFamily="18" charset="0"/>
              </a:rPr>
              <a:t>content.</a:t>
            </a:r>
          </a:p>
          <a:p>
            <a:pPr algn="just"/>
            <a:endParaRPr lang="en-US" sz="2400" dirty="0" smtClean="0">
              <a:latin typeface="Times New Roman" pitchFamily="18" charset="0"/>
              <a:cs typeface="Times New Roman" pitchFamily="18" charset="0"/>
            </a:endParaRPr>
          </a:p>
          <a:p>
            <a:pPr marL="342900" indent="-342900" algn="just">
              <a:buFont typeface="Wingdings" pitchFamily="2" charset="2"/>
              <a:buChar char="v"/>
            </a:pPr>
            <a:r>
              <a:rPr lang="en-US" sz="2400" b="1" dirty="0" smtClean="0">
                <a:solidFill>
                  <a:srgbClr val="0070C0"/>
                </a:solidFill>
                <a:latin typeface="Times New Roman" pitchFamily="18" charset="0"/>
                <a:cs typeface="Times New Roman" pitchFamily="18" charset="0"/>
              </a:rPr>
              <a:t>PRINCIPLE: </a:t>
            </a:r>
            <a:r>
              <a:rPr lang="en-US" sz="2400" dirty="0" smtClean="0">
                <a:latin typeface="Times New Roman" pitchFamily="18" charset="0"/>
                <a:cs typeface="Times New Roman" pitchFamily="18" charset="0"/>
              </a:rPr>
              <a:t>The </a:t>
            </a:r>
            <a:r>
              <a:rPr lang="en-US" sz="2400" dirty="0">
                <a:latin typeface="Times New Roman" pitchFamily="18" charset="0"/>
                <a:cs typeface="Times New Roman" pitchFamily="18" charset="0"/>
              </a:rPr>
              <a:t>technique works on the principle of chemical precipitation, adsorption, and coagulation–flocculation. Fluoride ions are removed by adding chemicals such as alum </a:t>
            </a:r>
            <a:r>
              <a:rPr lang="en-US" sz="2400" dirty="0" smtClean="0">
                <a:latin typeface="Times New Roman" pitchFamily="18" charset="0"/>
                <a:cs typeface="Times New Roman" pitchFamily="18" charset="0"/>
              </a:rPr>
              <a:t>(aluminum </a:t>
            </a:r>
            <a:r>
              <a:rPr lang="en-US" sz="2400" dirty="0">
                <a:latin typeface="Times New Roman" pitchFamily="18" charset="0"/>
                <a:cs typeface="Times New Roman" pitchFamily="18" charset="0"/>
              </a:rPr>
              <a:t>sulfate), lime, and bleaching powder, which form insoluble complexes and settle along with suspended </a:t>
            </a:r>
            <a:r>
              <a:rPr lang="en-US" sz="2400" dirty="0" smtClean="0">
                <a:latin typeface="Times New Roman" pitchFamily="18" charset="0"/>
                <a:cs typeface="Times New Roman" pitchFamily="18" charset="0"/>
              </a:rPr>
              <a:t>impurities.</a:t>
            </a:r>
          </a:p>
          <a:p>
            <a:pPr algn="just"/>
            <a:endParaRPr lang="en-US" sz="2400" dirty="0" smtClean="0">
              <a:latin typeface="Times New Roman" pitchFamily="18" charset="0"/>
              <a:cs typeface="Times New Roman" pitchFamily="18" charset="0"/>
            </a:endParaRPr>
          </a:p>
          <a:p>
            <a:pPr marL="342900" indent="-342900" algn="just">
              <a:buFont typeface="Wingdings" pitchFamily="2" charset="2"/>
              <a:buChar char="v"/>
            </a:pPr>
            <a:r>
              <a:rPr lang="en-US" sz="2400" b="1" dirty="0" smtClean="0">
                <a:solidFill>
                  <a:srgbClr val="0070C0"/>
                </a:solidFill>
                <a:latin typeface="Times New Roman" pitchFamily="18" charset="0"/>
                <a:cs typeface="Times New Roman" pitchFamily="18" charset="0"/>
              </a:rPr>
              <a:t>Chemicals Used:</a:t>
            </a:r>
            <a:endParaRPr lang="en-US" sz="2400" b="1" dirty="0">
              <a:solidFill>
                <a:srgbClr val="0070C0"/>
              </a:solidFill>
              <a:latin typeface="Times New Roman" pitchFamily="18" charset="0"/>
              <a:cs typeface="Times New Roman" pitchFamily="18" charset="0"/>
            </a:endParaRPr>
          </a:p>
          <a:p>
            <a:pPr lvl="5" algn="just"/>
            <a:r>
              <a:rPr lang="en-US" sz="2400" dirty="0">
                <a:latin typeface="Times New Roman" pitchFamily="18" charset="0"/>
                <a:cs typeface="Times New Roman" pitchFamily="18" charset="0"/>
              </a:rPr>
              <a:t>1. </a:t>
            </a:r>
            <a:r>
              <a:rPr lang="en-US" sz="2400" dirty="0">
                <a:solidFill>
                  <a:srgbClr val="C00000"/>
                </a:solidFill>
                <a:latin typeface="Times New Roman" pitchFamily="18" charset="0"/>
                <a:cs typeface="Times New Roman" pitchFamily="18" charset="0"/>
              </a:rPr>
              <a:t>Alum (Al₂(SO₄)₃·18H₂O) </a:t>
            </a:r>
            <a:r>
              <a:rPr lang="en-US" sz="2400" dirty="0">
                <a:latin typeface="Times New Roman" pitchFamily="18" charset="0"/>
                <a:cs typeface="Times New Roman" pitchFamily="18" charset="0"/>
              </a:rPr>
              <a:t>– acts as coagulant and precipitates fluoride.</a:t>
            </a:r>
          </a:p>
          <a:p>
            <a:pPr lvl="5" algn="just"/>
            <a:r>
              <a:rPr lang="en-US" sz="2400" dirty="0">
                <a:latin typeface="Times New Roman" pitchFamily="18" charset="0"/>
                <a:cs typeface="Times New Roman" pitchFamily="18" charset="0"/>
              </a:rPr>
              <a:t>2. </a:t>
            </a:r>
            <a:r>
              <a:rPr lang="en-US" sz="2400" dirty="0">
                <a:solidFill>
                  <a:srgbClr val="C00000"/>
                </a:solidFill>
                <a:latin typeface="Times New Roman" pitchFamily="18" charset="0"/>
                <a:cs typeface="Times New Roman" pitchFamily="18" charset="0"/>
              </a:rPr>
              <a:t>Lime (Ca(OH)₂) </a:t>
            </a:r>
            <a:r>
              <a:rPr lang="en-US" sz="2400" dirty="0">
                <a:latin typeface="Times New Roman" pitchFamily="18" charset="0"/>
                <a:cs typeface="Times New Roman" pitchFamily="18" charset="0"/>
              </a:rPr>
              <a:t>– aids in </a:t>
            </a:r>
            <a:r>
              <a:rPr lang="en-US" sz="2400" dirty="0" smtClean="0">
                <a:latin typeface="Times New Roman" pitchFamily="18" charset="0"/>
                <a:cs typeface="Times New Roman" pitchFamily="18" charset="0"/>
              </a:rPr>
              <a:t>floc. </a:t>
            </a:r>
            <a:r>
              <a:rPr lang="en-US" sz="2400" dirty="0">
                <a:latin typeface="Times New Roman" pitchFamily="18" charset="0"/>
                <a:cs typeface="Times New Roman" pitchFamily="18" charset="0"/>
              </a:rPr>
              <a:t>formation and pH adjustment.</a:t>
            </a:r>
          </a:p>
          <a:p>
            <a:pPr lvl="5" algn="just"/>
            <a:r>
              <a:rPr lang="en-US" sz="2400" dirty="0">
                <a:latin typeface="Times New Roman" pitchFamily="18" charset="0"/>
                <a:cs typeface="Times New Roman" pitchFamily="18" charset="0"/>
              </a:rPr>
              <a:t>3. </a:t>
            </a:r>
            <a:r>
              <a:rPr lang="en-US" sz="2400" dirty="0">
                <a:solidFill>
                  <a:srgbClr val="C00000"/>
                </a:solidFill>
                <a:latin typeface="Times New Roman" pitchFamily="18" charset="0"/>
                <a:cs typeface="Times New Roman" pitchFamily="18" charset="0"/>
              </a:rPr>
              <a:t>Bleaching powder (Ca(OCl)₂) </a:t>
            </a:r>
            <a:r>
              <a:rPr lang="en-US" sz="2400" dirty="0">
                <a:latin typeface="Times New Roman" pitchFamily="18" charset="0"/>
                <a:cs typeface="Times New Roman" pitchFamily="18" charset="0"/>
              </a:rPr>
              <a:t>– disinfects the treated water</a:t>
            </a:r>
            <a:r>
              <a:rPr lang="en-US" sz="2400" dirty="0" smtClean="0">
                <a:latin typeface="Times New Roman" pitchFamily="18" charset="0"/>
                <a:cs typeface="Times New Roman" pitchFamily="18" charset="0"/>
              </a:rPr>
              <a:t>.</a:t>
            </a:r>
            <a:endParaRPr lang="en-US" sz="2400" dirty="0">
              <a:latin typeface="Times New Roman" pitchFamily="18" charset="0"/>
              <a:cs typeface="Times New Roman" pitchFamily="18" charset="0"/>
            </a:endParaRPr>
          </a:p>
        </p:txBody>
      </p:sp>
      <p:sp>
        <p:nvSpPr>
          <p:cNvPr id="3" name="Rectangle 2"/>
          <p:cNvSpPr/>
          <p:nvPr/>
        </p:nvSpPr>
        <p:spPr>
          <a:xfrm>
            <a:off x="1392572" y="304800"/>
            <a:ext cx="10037428" cy="584775"/>
          </a:xfrm>
          <a:prstGeom prst="rect">
            <a:avLst/>
          </a:prstGeom>
        </p:spPr>
        <p:txBody>
          <a:bodyPr wrap="none">
            <a:spAutoFit/>
          </a:bodyPr>
          <a:lstStyle/>
          <a:p>
            <a:r>
              <a:rPr lang="en-US" sz="3200" b="1" dirty="0">
                <a:solidFill>
                  <a:srgbClr val="C00000"/>
                </a:solidFill>
                <a:latin typeface="Times New Roman" pitchFamily="18" charset="0"/>
                <a:cs typeface="Times New Roman" pitchFamily="18" charset="0"/>
              </a:rPr>
              <a:t>Defluoridation of Potable Water by Nalgonda Technique</a:t>
            </a:r>
            <a:endParaRPr lang="en-US" sz="3200" b="1" dirty="0">
              <a:solidFill>
                <a:srgbClr val="C00000"/>
              </a:solidFill>
              <a:latin typeface="Times New Roman" pitchFamily="18" charset="0"/>
              <a:cs typeface="Times New Roman" pitchFamily="18" charset="0"/>
            </a:endParaRPr>
          </a:p>
        </p:txBody>
      </p:sp>
    </p:spTree>
    <p:extLst>
      <p:ext uri="{BB962C8B-B14F-4D97-AF65-F5344CB8AC3E}">
        <p14:creationId xmlns:p14="http://schemas.microsoft.com/office/powerpoint/2010/main" val="30592112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t="10484" r="1254" b="13207"/>
          <a:stretch/>
        </p:blipFill>
        <p:spPr bwMode="auto">
          <a:xfrm>
            <a:off x="6248400" y="3475284"/>
            <a:ext cx="6379698" cy="31541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228601" y="3303925"/>
            <a:ext cx="5257799" cy="3477875"/>
          </a:xfrm>
          <a:prstGeom prst="rect">
            <a:avLst/>
          </a:prstGeom>
        </p:spPr>
        <p:txBody>
          <a:bodyPr wrap="square">
            <a:spAutoFit/>
          </a:bodyPr>
          <a:lstStyle/>
          <a:p>
            <a:pPr algn="just"/>
            <a:r>
              <a:rPr lang="en-US" sz="2000" b="1" dirty="0" smtClean="0">
                <a:solidFill>
                  <a:srgbClr val="C00000"/>
                </a:solidFill>
                <a:latin typeface="Times New Roman" pitchFamily="18" charset="0"/>
                <a:cs typeface="Times New Roman" pitchFamily="18" charset="0"/>
              </a:rPr>
              <a:t>Advantages</a:t>
            </a:r>
            <a:endParaRPr lang="en-US" sz="2000" b="1" dirty="0">
              <a:solidFill>
                <a:srgbClr val="C00000"/>
              </a:solidFill>
              <a:latin typeface="Times New Roman" pitchFamily="18" charset="0"/>
              <a:cs typeface="Times New Roman" pitchFamily="18" charset="0"/>
            </a:endParaRPr>
          </a:p>
          <a:p>
            <a:pPr marL="800100" lvl="1" indent="-342900" algn="just">
              <a:buFont typeface="Arial" pitchFamily="34" charset="0"/>
              <a:buChar char="•"/>
            </a:pPr>
            <a:r>
              <a:rPr lang="en-US" sz="2000" dirty="0">
                <a:latin typeface="Times New Roman" pitchFamily="18" charset="0"/>
                <a:cs typeface="Times New Roman" pitchFamily="18" charset="0"/>
              </a:rPr>
              <a:t>Simple, low-cost, and easy to </a:t>
            </a:r>
            <a:r>
              <a:rPr lang="en-US" sz="2000" dirty="0" smtClean="0">
                <a:latin typeface="Times New Roman" pitchFamily="18" charset="0"/>
                <a:cs typeface="Times New Roman" pitchFamily="18" charset="0"/>
              </a:rPr>
              <a:t>operate.</a:t>
            </a:r>
          </a:p>
          <a:p>
            <a:pPr marL="800100" lvl="1" indent="-342900" algn="just">
              <a:buFont typeface="Arial" pitchFamily="34" charset="0"/>
              <a:buChar char="•"/>
            </a:pPr>
            <a:r>
              <a:rPr lang="en-US" sz="2000" dirty="0" smtClean="0">
                <a:latin typeface="Times New Roman" pitchFamily="18" charset="0"/>
                <a:cs typeface="Times New Roman" pitchFamily="18" charset="0"/>
              </a:rPr>
              <a:t>Can </a:t>
            </a:r>
            <a:r>
              <a:rPr lang="en-US" sz="2000" dirty="0">
                <a:latin typeface="Times New Roman" pitchFamily="18" charset="0"/>
                <a:cs typeface="Times New Roman" pitchFamily="18" charset="0"/>
              </a:rPr>
              <a:t>be applied both at </a:t>
            </a:r>
            <a:r>
              <a:rPr lang="en-US" sz="2000" dirty="0" smtClean="0">
                <a:latin typeface="Times New Roman" pitchFamily="18" charset="0"/>
                <a:cs typeface="Times New Roman" pitchFamily="18" charset="0"/>
              </a:rPr>
              <a:t>household &amp; community level.</a:t>
            </a:r>
          </a:p>
          <a:p>
            <a:pPr marL="800100" lvl="1" indent="-342900" algn="just">
              <a:buFont typeface="Arial" pitchFamily="34" charset="0"/>
              <a:buChar char="•"/>
            </a:pPr>
            <a:r>
              <a:rPr lang="en-US" sz="2000" dirty="0" smtClean="0">
                <a:latin typeface="Times New Roman" pitchFamily="18" charset="0"/>
                <a:cs typeface="Times New Roman" pitchFamily="18" charset="0"/>
              </a:rPr>
              <a:t>Removes </a:t>
            </a:r>
            <a:r>
              <a:rPr lang="en-US" sz="2000" dirty="0">
                <a:latin typeface="Times New Roman" pitchFamily="18" charset="0"/>
                <a:cs typeface="Times New Roman" pitchFamily="18" charset="0"/>
              </a:rPr>
              <a:t>not only fluoride but also turbidity, color, </a:t>
            </a:r>
            <a:r>
              <a:rPr lang="en-US" sz="2000" dirty="0" smtClean="0">
                <a:latin typeface="Times New Roman" pitchFamily="18" charset="0"/>
                <a:cs typeface="Times New Roman" pitchFamily="18" charset="0"/>
              </a:rPr>
              <a:t>and bacteria</a:t>
            </a:r>
            <a:r>
              <a:rPr lang="en-US" sz="2000" dirty="0">
                <a:latin typeface="Times New Roman" pitchFamily="18" charset="0"/>
                <a:cs typeface="Times New Roman" pitchFamily="18" charset="0"/>
              </a:rPr>
              <a:t>.</a:t>
            </a:r>
          </a:p>
          <a:p>
            <a:pPr algn="just"/>
            <a:r>
              <a:rPr lang="en-US" sz="2000" b="1" dirty="0">
                <a:solidFill>
                  <a:srgbClr val="C00000"/>
                </a:solidFill>
                <a:latin typeface="Times New Roman" pitchFamily="18" charset="0"/>
                <a:cs typeface="Times New Roman" pitchFamily="18" charset="0"/>
              </a:rPr>
              <a:t>Limitations</a:t>
            </a:r>
          </a:p>
          <a:p>
            <a:pPr marL="800100" lvl="1" indent="-342900" algn="just">
              <a:buFont typeface="Arial" pitchFamily="34" charset="0"/>
              <a:buChar char="•"/>
            </a:pPr>
            <a:r>
              <a:rPr lang="en-US" sz="2000" dirty="0">
                <a:latin typeface="Times New Roman" pitchFamily="18" charset="0"/>
                <a:cs typeface="Times New Roman" pitchFamily="18" charset="0"/>
              </a:rPr>
              <a:t>Requires accurate chemical </a:t>
            </a:r>
            <a:r>
              <a:rPr lang="en-US" sz="2000" dirty="0" smtClean="0">
                <a:latin typeface="Times New Roman" pitchFamily="18" charset="0"/>
                <a:cs typeface="Times New Roman" pitchFamily="18" charset="0"/>
              </a:rPr>
              <a:t>dosing</a:t>
            </a:r>
          </a:p>
          <a:p>
            <a:pPr marL="800100" lvl="1" indent="-342900" algn="just">
              <a:buFont typeface="Arial" pitchFamily="34" charset="0"/>
              <a:buChar char="•"/>
            </a:pPr>
            <a:r>
              <a:rPr lang="en-US" sz="2000" dirty="0" smtClean="0">
                <a:latin typeface="Times New Roman" pitchFamily="18" charset="0"/>
                <a:cs typeface="Times New Roman" pitchFamily="18" charset="0"/>
              </a:rPr>
              <a:t>Generates </a:t>
            </a:r>
            <a:r>
              <a:rPr lang="en-US" sz="2000" dirty="0">
                <a:latin typeface="Times New Roman" pitchFamily="18" charset="0"/>
                <a:cs typeface="Times New Roman" pitchFamily="18" charset="0"/>
              </a:rPr>
              <a:t>sludge that needs proper </a:t>
            </a:r>
            <a:r>
              <a:rPr lang="en-US" sz="2000" dirty="0" smtClean="0">
                <a:latin typeface="Times New Roman" pitchFamily="18" charset="0"/>
                <a:cs typeface="Times New Roman" pitchFamily="18" charset="0"/>
              </a:rPr>
              <a:t>disposal.</a:t>
            </a:r>
          </a:p>
          <a:p>
            <a:pPr marL="800100" lvl="1" indent="-342900" algn="just">
              <a:buFont typeface="Arial" pitchFamily="34" charset="0"/>
              <a:buChar char="•"/>
            </a:pPr>
            <a:r>
              <a:rPr lang="en-US" sz="2000" dirty="0" smtClean="0">
                <a:latin typeface="Times New Roman" pitchFamily="18" charset="0"/>
                <a:cs typeface="Times New Roman" pitchFamily="18" charset="0"/>
              </a:rPr>
              <a:t>May </a:t>
            </a:r>
            <a:r>
              <a:rPr lang="en-US" sz="2000" dirty="0">
                <a:latin typeface="Times New Roman" pitchFamily="18" charset="0"/>
                <a:cs typeface="Times New Roman" pitchFamily="18" charset="0"/>
              </a:rPr>
              <a:t>slightly change taste of water.</a:t>
            </a:r>
            <a:endParaRPr lang="en-US" sz="2000" dirty="0">
              <a:latin typeface="Times New Roman" pitchFamily="18" charset="0"/>
              <a:cs typeface="Times New Roman" pitchFamily="18" charset="0"/>
            </a:endParaRPr>
          </a:p>
        </p:txBody>
      </p:sp>
      <p:sp>
        <p:nvSpPr>
          <p:cNvPr id="3" name="Rectangle 2"/>
          <p:cNvSpPr/>
          <p:nvPr/>
        </p:nvSpPr>
        <p:spPr>
          <a:xfrm>
            <a:off x="152400" y="152400"/>
            <a:ext cx="12475698" cy="3046988"/>
          </a:xfrm>
          <a:prstGeom prst="rect">
            <a:avLst/>
          </a:prstGeom>
        </p:spPr>
        <p:txBody>
          <a:bodyPr wrap="square">
            <a:spAutoFit/>
          </a:bodyPr>
          <a:lstStyle/>
          <a:p>
            <a:pPr algn="just"/>
            <a:r>
              <a:rPr lang="en-US" sz="2400" b="1" dirty="0" smtClean="0">
                <a:solidFill>
                  <a:srgbClr val="C00000"/>
                </a:solidFill>
                <a:latin typeface="Times New Roman" pitchFamily="18" charset="0"/>
                <a:cs typeface="Times New Roman" pitchFamily="18" charset="0"/>
              </a:rPr>
              <a:t>PROCESS STEPS: </a:t>
            </a:r>
            <a:endParaRPr lang="en-US" sz="2400" b="1" dirty="0">
              <a:solidFill>
                <a:srgbClr val="C00000"/>
              </a:solidFill>
              <a:latin typeface="Times New Roman" pitchFamily="18" charset="0"/>
              <a:cs typeface="Times New Roman" pitchFamily="18" charset="0"/>
            </a:endParaRPr>
          </a:p>
          <a:p>
            <a:pPr marL="457200" indent="-228600" algn="just">
              <a:buFont typeface="+mj-lt"/>
              <a:buAutoNum type="alphaLcParenR"/>
            </a:pPr>
            <a:r>
              <a:rPr lang="en-US" sz="2400" b="1" dirty="0">
                <a:solidFill>
                  <a:srgbClr val="0070C0"/>
                </a:solidFill>
                <a:latin typeface="Times New Roman" pitchFamily="18" charset="0"/>
                <a:cs typeface="Times New Roman" pitchFamily="18" charset="0"/>
              </a:rPr>
              <a:t>Chemical </a:t>
            </a:r>
            <a:r>
              <a:rPr lang="en-US" sz="2400" b="1" dirty="0" smtClean="0">
                <a:solidFill>
                  <a:srgbClr val="0070C0"/>
                </a:solidFill>
                <a:latin typeface="Times New Roman" pitchFamily="18" charset="0"/>
                <a:cs typeface="Times New Roman" pitchFamily="18" charset="0"/>
              </a:rPr>
              <a:t>dosing: </a:t>
            </a:r>
            <a:r>
              <a:rPr lang="en-US" sz="2400" dirty="0" smtClean="0">
                <a:latin typeface="Times New Roman" pitchFamily="18" charset="0"/>
                <a:cs typeface="Times New Roman" pitchFamily="18" charset="0"/>
              </a:rPr>
              <a:t>Add </a:t>
            </a:r>
            <a:r>
              <a:rPr lang="en-US" sz="2400" dirty="0">
                <a:latin typeface="Times New Roman" pitchFamily="18" charset="0"/>
                <a:cs typeface="Times New Roman" pitchFamily="18" charset="0"/>
              </a:rPr>
              <a:t>the required amounts of alum, lime, and bleaching powder to the water.</a:t>
            </a:r>
          </a:p>
          <a:p>
            <a:pPr marL="457200" indent="-228600" algn="just">
              <a:buFont typeface="+mj-lt"/>
              <a:buAutoNum type="alphaLcParenR"/>
            </a:pPr>
            <a:r>
              <a:rPr lang="en-US" sz="2400" b="1" dirty="0">
                <a:solidFill>
                  <a:srgbClr val="0070C0"/>
                </a:solidFill>
                <a:latin typeface="Times New Roman" pitchFamily="18" charset="0"/>
                <a:cs typeface="Times New Roman" pitchFamily="18" charset="0"/>
              </a:rPr>
              <a:t>Rapid mixing </a:t>
            </a:r>
            <a:r>
              <a:rPr lang="en-US" sz="2400" dirty="0">
                <a:latin typeface="Times New Roman" pitchFamily="18" charset="0"/>
                <a:cs typeface="Times New Roman" pitchFamily="18" charset="0"/>
              </a:rPr>
              <a:t>– Stir the water vigorously for a short </a:t>
            </a:r>
            <a:r>
              <a:rPr lang="en-US" sz="2400" dirty="0" smtClean="0">
                <a:latin typeface="Times New Roman" pitchFamily="18" charset="0"/>
                <a:cs typeface="Times New Roman" pitchFamily="18" charset="0"/>
              </a:rPr>
              <a:t>time so </a:t>
            </a:r>
            <a:r>
              <a:rPr lang="en-US" sz="2400" dirty="0">
                <a:latin typeface="Times New Roman" pitchFamily="18" charset="0"/>
                <a:cs typeface="Times New Roman" pitchFamily="18" charset="0"/>
              </a:rPr>
              <a:t>the chemicals disperse uniformly.</a:t>
            </a:r>
          </a:p>
          <a:p>
            <a:pPr marL="457200" indent="-228600" algn="just">
              <a:buFont typeface="+mj-lt"/>
              <a:buAutoNum type="alphaLcParenR"/>
            </a:pPr>
            <a:r>
              <a:rPr lang="en-US" sz="2400" b="1" dirty="0">
                <a:solidFill>
                  <a:srgbClr val="0070C0"/>
                </a:solidFill>
                <a:latin typeface="Times New Roman" pitchFamily="18" charset="0"/>
                <a:cs typeface="Times New Roman" pitchFamily="18" charset="0"/>
              </a:rPr>
              <a:t>Flocculation</a:t>
            </a:r>
            <a:r>
              <a:rPr lang="en-US" sz="2400" dirty="0">
                <a:latin typeface="Times New Roman" pitchFamily="18" charset="0"/>
                <a:cs typeface="Times New Roman" pitchFamily="18" charset="0"/>
              </a:rPr>
              <a:t> – Slow </a:t>
            </a:r>
            <a:r>
              <a:rPr lang="en-US" sz="2400" dirty="0" smtClean="0">
                <a:latin typeface="Times New Roman" pitchFamily="18" charset="0"/>
                <a:cs typeface="Times New Roman" pitchFamily="18" charset="0"/>
              </a:rPr>
              <a:t>stirring helps </a:t>
            </a:r>
            <a:r>
              <a:rPr lang="en-US" sz="2400" dirty="0">
                <a:latin typeface="Times New Roman" pitchFamily="18" charset="0"/>
                <a:cs typeface="Times New Roman" pitchFamily="18" charset="0"/>
              </a:rPr>
              <a:t>in the formation of </a:t>
            </a:r>
            <a:r>
              <a:rPr lang="en-US" sz="2400" dirty="0" smtClean="0">
                <a:latin typeface="Times New Roman" pitchFamily="18" charset="0"/>
                <a:cs typeface="Times New Roman" pitchFamily="18" charset="0"/>
              </a:rPr>
              <a:t>floc. </a:t>
            </a:r>
            <a:r>
              <a:rPr lang="en-US" sz="2400" dirty="0">
                <a:latin typeface="Times New Roman" pitchFamily="18" charset="0"/>
                <a:cs typeface="Times New Roman" pitchFamily="18" charset="0"/>
              </a:rPr>
              <a:t>which trap fluoride ions and suspended impurities.</a:t>
            </a:r>
          </a:p>
          <a:p>
            <a:pPr marL="457200" indent="-228600" algn="just">
              <a:buFont typeface="+mj-lt"/>
              <a:buAutoNum type="alphaLcParenR"/>
            </a:pPr>
            <a:r>
              <a:rPr lang="en-US" sz="2400" b="1" dirty="0">
                <a:solidFill>
                  <a:srgbClr val="0070C0"/>
                </a:solidFill>
                <a:latin typeface="Times New Roman" pitchFamily="18" charset="0"/>
                <a:cs typeface="Times New Roman" pitchFamily="18" charset="0"/>
              </a:rPr>
              <a:t>Sedimentation</a:t>
            </a:r>
            <a:r>
              <a:rPr lang="en-US" sz="2400" dirty="0">
                <a:latin typeface="Times New Roman" pitchFamily="18" charset="0"/>
                <a:cs typeface="Times New Roman" pitchFamily="18" charset="0"/>
              </a:rPr>
              <a:t> – </a:t>
            </a:r>
            <a:r>
              <a:rPr lang="en-US" sz="2400" dirty="0" smtClean="0">
                <a:latin typeface="Times New Roman" pitchFamily="18" charset="0"/>
                <a:cs typeface="Times New Roman" pitchFamily="18" charset="0"/>
              </a:rPr>
              <a:t>Allow water </a:t>
            </a:r>
            <a:r>
              <a:rPr lang="en-US" sz="2400" dirty="0">
                <a:latin typeface="Times New Roman" pitchFamily="18" charset="0"/>
                <a:cs typeface="Times New Roman" pitchFamily="18" charset="0"/>
              </a:rPr>
              <a:t>to stand undisturbed </a:t>
            </a:r>
            <a:r>
              <a:rPr lang="en-US" sz="2400" dirty="0" smtClean="0">
                <a:latin typeface="Times New Roman" pitchFamily="18" charset="0"/>
                <a:cs typeface="Times New Roman" pitchFamily="18" charset="0"/>
              </a:rPr>
              <a:t>for a 1 </a:t>
            </a:r>
            <a:r>
              <a:rPr lang="en-US" sz="2400" dirty="0">
                <a:latin typeface="Times New Roman" pitchFamily="18" charset="0"/>
                <a:cs typeface="Times New Roman" pitchFamily="18" charset="0"/>
              </a:rPr>
              <a:t>hour, so the </a:t>
            </a:r>
            <a:r>
              <a:rPr lang="en-US" sz="2400" dirty="0" smtClean="0">
                <a:latin typeface="Times New Roman" pitchFamily="18" charset="0"/>
                <a:cs typeface="Times New Roman" pitchFamily="18" charset="0"/>
              </a:rPr>
              <a:t>floc. </a:t>
            </a:r>
            <a:r>
              <a:rPr lang="en-US" sz="2400" dirty="0">
                <a:latin typeface="Times New Roman" pitchFamily="18" charset="0"/>
                <a:cs typeface="Times New Roman" pitchFamily="18" charset="0"/>
              </a:rPr>
              <a:t>settle at the bottom</a:t>
            </a:r>
            <a:r>
              <a:rPr lang="en-US" sz="2400" dirty="0" smtClean="0">
                <a:latin typeface="Times New Roman" pitchFamily="18" charset="0"/>
                <a:cs typeface="Times New Roman" pitchFamily="18" charset="0"/>
              </a:rPr>
              <a:t>.</a:t>
            </a:r>
          </a:p>
          <a:p>
            <a:pPr marL="457200" lvl="0" indent="-228600" algn="just">
              <a:buFont typeface="+mj-lt"/>
              <a:buAutoNum type="alphaLcParenR"/>
            </a:pPr>
            <a:r>
              <a:rPr lang="en-US" sz="2400" b="1" dirty="0" smtClean="0">
                <a:solidFill>
                  <a:srgbClr val="0070C0"/>
                </a:solidFill>
                <a:latin typeface="Times New Roman" pitchFamily="18" charset="0"/>
                <a:cs typeface="Times New Roman" pitchFamily="18" charset="0"/>
              </a:rPr>
              <a:t>Filtration: </a:t>
            </a:r>
            <a:r>
              <a:rPr lang="en-US" sz="2400" dirty="0" smtClean="0">
                <a:latin typeface="Times New Roman" pitchFamily="18" charset="0"/>
                <a:cs typeface="Times New Roman" pitchFamily="18" charset="0"/>
              </a:rPr>
              <a:t>Clear </a:t>
            </a:r>
            <a:r>
              <a:rPr lang="en-US" sz="2400" dirty="0">
                <a:latin typeface="Times New Roman" pitchFamily="18" charset="0"/>
                <a:cs typeface="Times New Roman" pitchFamily="18" charset="0"/>
              </a:rPr>
              <a:t>water is decanted or filtered to remove settled sludge</a:t>
            </a:r>
            <a:r>
              <a:rPr lang="en-US" sz="2400" dirty="0" smtClean="0">
                <a:latin typeface="Times New Roman" pitchFamily="18" charset="0"/>
                <a:cs typeface="Times New Roman" pitchFamily="18" charset="0"/>
              </a:rPr>
              <a:t>.</a:t>
            </a:r>
          </a:p>
          <a:p>
            <a:pPr marL="457200" indent="-228600" algn="just">
              <a:buFont typeface="+mj-lt"/>
              <a:buAutoNum type="alphaLcParenR"/>
            </a:pPr>
            <a:r>
              <a:rPr lang="en-US" sz="2400" b="1" dirty="0">
                <a:solidFill>
                  <a:srgbClr val="0070C0"/>
                </a:solidFill>
                <a:latin typeface="Times New Roman" pitchFamily="18" charset="0"/>
                <a:cs typeface="Times New Roman" pitchFamily="18" charset="0"/>
              </a:rPr>
              <a:t>Storage &amp; </a:t>
            </a:r>
            <a:r>
              <a:rPr lang="en-US" sz="2400" b="1" dirty="0" smtClean="0">
                <a:solidFill>
                  <a:srgbClr val="0070C0"/>
                </a:solidFill>
                <a:latin typeface="Times New Roman" pitchFamily="18" charset="0"/>
                <a:cs typeface="Times New Roman" pitchFamily="18" charset="0"/>
              </a:rPr>
              <a:t>supply: </a:t>
            </a:r>
            <a:r>
              <a:rPr lang="en-US" sz="2400" dirty="0" smtClean="0">
                <a:latin typeface="Times New Roman" pitchFamily="18" charset="0"/>
                <a:cs typeface="Times New Roman" pitchFamily="18" charset="0"/>
              </a:rPr>
              <a:t>Defluoridated</a:t>
            </a:r>
            <a:r>
              <a:rPr lang="en-US" sz="2400" dirty="0">
                <a:latin typeface="Times New Roman" pitchFamily="18" charset="0"/>
                <a:cs typeface="Times New Roman" pitchFamily="18" charset="0"/>
              </a:rPr>
              <a:t>, and disinfected water is stored for drinking purposes</a:t>
            </a:r>
            <a:r>
              <a:rPr lang="en-US" sz="2400" dirty="0" smtClean="0">
                <a:latin typeface="Times New Roman" pitchFamily="18" charset="0"/>
                <a:cs typeface="Times New Roman" pitchFamily="18" charset="0"/>
              </a:rPr>
              <a:t>.</a:t>
            </a: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4442582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79" name="Picture 3" descr="Steam Boilers in Dairy Industry: Its Use and Important Factors - Boilers  and Steam Boiler Manufacturer In Maharashtra, Pune"/>
          <p:cNvPicPr>
            <a:picLocks noChangeAspect="1" noChangeArrowheads="1"/>
          </p:cNvPicPr>
          <p:nvPr/>
        </p:nvPicPr>
        <p:blipFill>
          <a:blip r:embed="rId3"/>
          <a:srcRect/>
          <a:stretch>
            <a:fillRect/>
          </a:stretch>
        </p:blipFill>
        <p:spPr bwMode="auto">
          <a:xfrm>
            <a:off x="7696200" y="2057400"/>
            <a:ext cx="4803775" cy="4422775"/>
          </a:xfrm>
          <a:prstGeom prst="rect">
            <a:avLst/>
          </a:prstGeom>
          <a:noFill/>
        </p:spPr>
      </p:pic>
      <p:grpSp>
        <p:nvGrpSpPr>
          <p:cNvPr id="7" name="Group 6"/>
          <p:cNvGrpSpPr/>
          <p:nvPr/>
        </p:nvGrpSpPr>
        <p:grpSpPr>
          <a:xfrm>
            <a:off x="228600" y="152400"/>
            <a:ext cx="12268200" cy="6400800"/>
            <a:chOff x="152400" y="8617"/>
            <a:chExt cx="12268200" cy="6400800"/>
          </a:xfrm>
        </p:grpSpPr>
        <p:sp>
          <p:nvSpPr>
            <p:cNvPr id="50177" name="Rectangle 1"/>
            <p:cNvSpPr>
              <a:spLocks noChangeArrowheads="1"/>
            </p:cNvSpPr>
            <p:nvPr/>
          </p:nvSpPr>
          <p:spPr bwMode="auto">
            <a:xfrm>
              <a:off x="152400" y="618217"/>
              <a:ext cx="12268200" cy="2954655"/>
            </a:xfrm>
            <a:prstGeom prst="rect">
              <a:avLst/>
            </a:prstGeom>
            <a:noFill/>
            <a:ln w="9525">
              <a:noFill/>
              <a:miter lim="800000"/>
              <a:headEnd/>
              <a:tailEnd/>
            </a:ln>
            <a:effectLst/>
          </p:spPr>
          <p:txBody>
            <a:bodyPr vert="horz" wrap="square" lIns="91440" tIns="0" rIns="91440" bIns="0" numCol="1" anchor="ctr" anchorCtr="0" compatLnSpc="1">
              <a:prstTxWarp prst="textNoShape">
                <a:avLst/>
              </a:prstTxWarp>
              <a:spAutoFit/>
            </a:bodyPr>
            <a:lstStyle/>
            <a:p>
              <a:pPr marL="463550" marR="0" lvl="1" indent="-457200" algn="just" defTabSz="914400" rtl="0" eaLnBrk="1" fontAlgn="base" latinLnBrk="0" hangingPunct="1">
                <a:lnSpc>
                  <a:spcPct val="100000"/>
                </a:lnSpc>
                <a:spcBef>
                  <a:spcPct val="0"/>
                </a:spcBef>
                <a:spcAft>
                  <a:spcPct val="0"/>
                </a:spcAft>
                <a:buClr>
                  <a:srgbClr val="002060"/>
                </a:buClr>
                <a:buSzTx/>
                <a:buFont typeface="Wingdings" pitchFamily="2" charset="2"/>
                <a:buChar char="v"/>
                <a:tabLst>
                  <a:tab pos="914400" algn="l"/>
                </a:tabLst>
              </a:pP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Boilers are employed in industries for generation of steam.</a:t>
              </a:r>
            </a:p>
            <a:p>
              <a:pPr marL="463550" marR="0" lvl="1" indent="-457200" algn="just" defTabSz="914400" rtl="0" eaLnBrk="1" fontAlgn="base" latinLnBrk="0" hangingPunct="1">
                <a:lnSpc>
                  <a:spcPct val="100000"/>
                </a:lnSpc>
                <a:spcBef>
                  <a:spcPct val="0"/>
                </a:spcBef>
                <a:spcAft>
                  <a:spcPct val="0"/>
                </a:spcAft>
                <a:buClr>
                  <a:srgbClr val="002060"/>
                </a:buClr>
                <a:buSzTx/>
                <a:buFont typeface="Wingdings" pitchFamily="2" charset="2"/>
                <a:buChar char="v"/>
                <a:tabLst>
                  <a:tab pos="914400" algn="l"/>
                </a:tabLst>
              </a:pP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When raw water is directly feed into the boilers various physical changes and chemical reactions are induced in the boiler with the action of the heat.</a:t>
              </a:r>
            </a:p>
            <a:p>
              <a:pPr marL="463550" marR="0" lvl="1" indent="-457200" algn="just" defTabSz="914400" rtl="0" eaLnBrk="1" fontAlgn="base" latinLnBrk="0" hangingPunct="1">
                <a:lnSpc>
                  <a:spcPct val="100000"/>
                </a:lnSpc>
                <a:spcBef>
                  <a:spcPct val="0"/>
                </a:spcBef>
                <a:spcAft>
                  <a:spcPct val="0"/>
                </a:spcAft>
                <a:buClr>
                  <a:srgbClr val="002060"/>
                </a:buClr>
                <a:buSzTx/>
                <a:buFont typeface="Wingdings" pitchFamily="2" charset="2"/>
                <a:buChar char="v"/>
                <a:tabLst>
                  <a:tab pos="914400" algn="l"/>
                </a:tabLst>
              </a:pP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The ultimate result being the problem such as</a:t>
              </a:r>
              <a:endParaRPr kumimoji="0" lang="en-US" sz="2400" b="0" i="0" u="none" strike="noStrike" cap="none" normalizeH="0" baseline="0" dirty="0">
                <a:ln>
                  <a:noFill/>
                </a:ln>
                <a:solidFill>
                  <a:schemeClr val="tx1"/>
                </a:solidFill>
                <a:effectLst/>
                <a:latin typeface="Times New Roman" pitchFamily="18" charset="0"/>
                <a:cs typeface="Times New Roman" pitchFamily="18" charset="0"/>
              </a:endParaRPr>
            </a:p>
            <a:p>
              <a:pPr lvl="3" algn="just" eaLnBrk="0" fontAlgn="base" hangingPunct="0">
                <a:spcBef>
                  <a:spcPct val="0"/>
                </a:spcBef>
                <a:spcAft>
                  <a:spcPct val="0"/>
                </a:spcAft>
                <a:tabLst>
                  <a:tab pos="914400" algn="l"/>
                </a:tabLst>
              </a:pPr>
              <a:endParaRPr kumimoji="0" lang="en-US" sz="2400" b="0" i="0" u="none" strike="noStrike" cap="none" normalizeH="0" baseline="0" dirty="0">
                <a:ln>
                  <a:noFill/>
                </a:ln>
                <a:solidFill>
                  <a:srgbClr val="0070C0"/>
                </a:solidFill>
                <a:effectLst/>
                <a:latin typeface="Times New Roman" pitchFamily="18" charset="0"/>
                <a:ea typeface="Calibri" pitchFamily="34" charset="0"/>
                <a:cs typeface="Times New Roman" pitchFamily="18" charset="0"/>
              </a:endParaRPr>
            </a:p>
            <a:p>
              <a:pPr lvl="3" algn="just" eaLnBrk="0" fontAlgn="base" hangingPunct="0">
                <a:spcBef>
                  <a:spcPct val="0"/>
                </a:spcBef>
                <a:spcAft>
                  <a:spcPct val="0"/>
                </a:spcAft>
                <a:buFontTx/>
                <a:buAutoNum type="arabicPeriod"/>
                <a:tabLst>
                  <a:tab pos="914400" algn="l"/>
                </a:tabLst>
              </a:pPr>
              <a:r>
                <a:rPr kumimoji="0" lang="en-US" sz="2400" b="1" i="0" u="none" strike="noStrike" cap="none" normalizeH="0" baseline="0" dirty="0">
                  <a:ln>
                    <a:noFill/>
                  </a:ln>
                  <a:solidFill>
                    <a:srgbClr val="0070C0"/>
                  </a:solidFill>
                  <a:effectLst/>
                  <a:latin typeface="Times New Roman" pitchFamily="18" charset="0"/>
                  <a:ea typeface="Calibri" pitchFamily="34" charset="0"/>
                  <a:cs typeface="Times New Roman" pitchFamily="18" charset="0"/>
                </a:rPr>
                <a:t>Caustic embrittlement  and</a:t>
              </a:r>
              <a:endParaRPr kumimoji="0" lang="en-US" sz="2400" b="0" i="0" u="none" strike="noStrike" cap="none" normalizeH="0" baseline="0" dirty="0">
                <a:ln>
                  <a:noFill/>
                </a:ln>
                <a:solidFill>
                  <a:srgbClr val="0070C0"/>
                </a:solidFill>
                <a:effectLst/>
                <a:latin typeface="Times New Roman" pitchFamily="18" charset="0"/>
                <a:ea typeface="Calibri" pitchFamily="34" charset="0"/>
                <a:cs typeface="Times New Roman" pitchFamily="18" charset="0"/>
              </a:endParaRPr>
            </a:p>
            <a:p>
              <a:pPr lvl="3" algn="just" eaLnBrk="0" fontAlgn="base" hangingPunct="0">
                <a:spcBef>
                  <a:spcPct val="0"/>
                </a:spcBef>
                <a:spcAft>
                  <a:spcPct val="0"/>
                </a:spcAft>
                <a:buFontTx/>
                <a:buAutoNum type="arabicPeriod"/>
                <a:tabLst>
                  <a:tab pos="914400" algn="l"/>
                </a:tabLst>
              </a:pPr>
              <a:r>
                <a:rPr kumimoji="0" lang="en-US" sz="2400" b="1" i="0" u="none" strike="noStrike" cap="none" normalizeH="0" baseline="0" dirty="0">
                  <a:ln>
                    <a:noFill/>
                  </a:ln>
                  <a:solidFill>
                    <a:srgbClr val="0070C0"/>
                  </a:solidFill>
                  <a:effectLst/>
                  <a:latin typeface="Times New Roman" pitchFamily="18" charset="0"/>
                  <a:ea typeface="Calibri" pitchFamily="34" charset="0"/>
                  <a:cs typeface="Times New Roman" pitchFamily="18" charset="0"/>
                </a:rPr>
                <a:t>Sludge and Scale formation.</a:t>
              </a:r>
              <a:endParaRPr kumimoji="0" lang="en-US" sz="2400" b="0" i="0" u="none" strike="noStrike" cap="none" normalizeH="0" baseline="0" dirty="0">
                <a:ln>
                  <a:noFill/>
                </a:ln>
                <a:solidFill>
                  <a:srgbClr val="0070C0"/>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tab pos="914400" algn="l"/>
                </a:tabLst>
              </a:pPr>
              <a:endParaRPr kumimoji="0" lang="en-US" sz="2400" b="0" i="0" u="none" strike="noStrike" cap="none" normalizeH="0" baseline="0" dirty="0">
                <a:ln>
                  <a:noFill/>
                </a:ln>
                <a:solidFill>
                  <a:schemeClr val="tx1"/>
                </a:solidFill>
                <a:effectLst/>
                <a:latin typeface="Times New Roman" pitchFamily="18" charset="0"/>
                <a:cs typeface="Times New Roman" pitchFamily="18" charset="0"/>
              </a:endParaRPr>
            </a:p>
          </p:txBody>
        </p:sp>
        <p:sp>
          <p:nvSpPr>
            <p:cNvPr id="3" name="Rectangle 2"/>
            <p:cNvSpPr/>
            <p:nvPr/>
          </p:nvSpPr>
          <p:spPr>
            <a:xfrm>
              <a:off x="4876800" y="8617"/>
              <a:ext cx="3104696" cy="646331"/>
            </a:xfrm>
            <a:prstGeom prst="rect">
              <a:avLst/>
            </a:prstGeom>
          </p:spPr>
          <p:txBody>
            <a:bodyPr wrap="none">
              <a:spAutoFit/>
            </a:bodyPr>
            <a:lstStyle/>
            <a:p>
              <a:pPr algn="ctr"/>
              <a:r>
                <a:rPr lang="en-US" sz="3600" b="1" dirty="0">
                  <a:solidFill>
                    <a:srgbClr val="C00000"/>
                  </a:solidFill>
                  <a:latin typeface="Times New Roman" pitchFamily="18" charset="0"/>
                  <a:cs typeface="Times New Roman" pitchFamily="18" charset="0"/>
                </a:rPr>
                <a:t>Boiler troubles</a:t>
              </a:r>
              <a:endParaRPr lang="en-US" sz="3600" dirty="0">
                <a:solidFill>
                  <a:srgbClr val="C00000"/>
                </a:solidFill>
                <a:latin typeface="Times New Roman" pitchFamily="18" charset="0"/>
                <a:cs typeface="Times New Roman" pitchFamily="18" charset="0"/>
              </a:endParaRPr>
            </a:p>
          </p:txBody>
        </p:sp>
        <p:pic>
          <p:nvPicPr>
            <p:cNvPr id="50181" name="Picture 5" descr="#5 Scale&amp;Sludege II Priming&amp;Foaming II Boiler Troubles-1"/>
            <p:cNvPicPr>
              <a:picLocks noChangeAspect="1" noChangeArrowheads="1"/>
            </p:cNvPicPr>
            <p:nvPr/>
          </p:nvPicPr>
          <p:blipFill>
            <a:blip r:embed="rId4"/>
            <a:srcRect l="50625" t="1111" r="2500" b="42222"/>
            <a:stretch>
              <a:fillRect/>
            </a:stretch>
          </p:blipFill>
          <p:spPr bwMode="auto">
            <a:xfrm>
              <a:off x="1465729" y="3886200"/>
              <a:ext cx="2801471" cy="2438400"/>
            </a:xfrm>
            <a:prstGeom prst="rect">
              <a:avLst/>
            </a:prstGeom>
            <a:noFill/>
          </p:spPr>
        </p:pic>
        <p:pic>
          <p:nvPicPr>
            <p:cNvPr id="50183" name="Picture 7" descr="Boiler Feed Water Systems And Boiler Damage I RasMech"/>
            <p:cNvPicPr>
              <a:picLocks noChangeAspect="1" noChangeArrowheads="1"/>
            </p:cNvPicPr>
            <p:nvPr/>
          </p:nvPicPr>
          <p:blipFill>
            <a:blip r:embed="rId5"/>
            <a:srcRect/>
            <a:stretch>
              <a:fillRect/>
            </a:stretch>
          </p:blipFill>
          <p:spPr bwMode="auto">
            <a:xfrm>
              <a:off x="4229101" y="3810000"/>
              <a:ext cx="2933699" cy="2599417"/>
            </a:xfrm>
            <a:prstGeom prst="rect">
              <a:avLst/>
            </a:prstGeom>
            <a:noFill/>
          </p:spPr>
        </p:pic>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p:cNvGrpSpPr/>
          <p:nvPr/>
        </p:nvGrpSpPr>
        <p:grpSpPr>
          <a:xfrm>
            <a:off x="228600" y="152400"/>
            <a:ext cx="8305800" cy="6394312"/>
            <a:chOff x="228600" y="152400"/>
            <a:chExt cx="8305800" cy="6394312"/>
          </a:xfrm>
        </p:grpSpPr>
        <p:sp>
          <p:nvSpPr>
            <p:cNvPr id="3" name="Rectangle 2"/>
            <p:cNvSpPr/>
            <p:nvPr/>
          </p:nvSpPr>
          <p:spPr>
            <a:xfrm>
              <a:off x="381000" y="152400"/>
              <a:ext cx="6096541" cy="707886"/>
            </a:xfrm>
            <a:prstGeom prst="rect">
              <a:avLst/>
            </a:prstGeom>
          </p:spPr>
          <p:txBody>
            <a:bodyPr wrap="none">
              <a:spAutoFit/>
            </a:bodyPr>
            <a:lstStyle/>
            <a:p>
              <a:pPr marL="742950" indent="-742950">
                <a:buClr>
                  <a:srgbClr val="C00000"/>
                </a:buClr>
                <a:buFont typeface="+mj-lt"/>
                <a:buAutoNum type="arabicPeriod"/>
              </a:pPr>
              <a:r>
                <a:rPr lang="en-US" sz="4000" b="1" dirty="0">
                  <a:solidFill>
                    <a:srgbClr val="C00000"/>
                  </a:solidFill>
                  <a:latin typeface="Times New Roman" pitchFamily="18" charset="0"/>
                  <a:cs typeface="Times New Roman" pitchFamily="18" charset="0"/>
                </a:rPr>
                <a:t>Caustic Embrittlement </a:t>
              </a:r>
            </a:p>
          </p:txBody>
        </p:sp>
        <p:sp>
          <p:nvSpPr>
            <p:cNvPr id="52225" name="AutoShape 1"/>
            <p:cNvSpPr>
              <a:spLocks noChangeShapeType="1"/>
            </p:cNvSpPr>
            <p:nvPr/>
          </p:nvSpPr>
          <p:spPr bwMode="auto">
            <a:xfrm>
              <a:off x="2225675" y="539750"/>
              <a:ext cx="282575" cy="7938"/>
            </a:xfrm>
            <a:prstGeom prst="straightConnector1">
              <a:avLst/>
            </a:prstGeom>
            <a:noFill/>
            <a:ln w="9525">
              <a:solidFill>
                <a:srgbClr val="000000"/>
              </a:solidFill>
              <a:round/>
              <a:headEnd/>
              <a:tailEnd type="triangle" w="med" len="med"/>
            </a:ln>
          </p:spPr>
          <p:txBody>
            <a:bodyPr vert="horz" wrap="square" lIns="91440" tIns="45720" rIns="91440" bIns="45720" numCol="1" anchor="t" anchorCtr="0" compatLnSpc="1">
              <a:prstTxWarp prst="textNoShape">
                <a:avLst/>
              </a:prstTxWarp>
            </a:bodyPr>
            <a:lstStyle/>
            <a:p>
              <a:endParaRPr lang="en-US"/>
            </a:p>
          </p:txBody>
        </p:sp>
        <p:grpSp>
          <p:nvGrpSpPr>
            <p:cNvPr id="11" name="Group 10"/>
            <p:cNvGrpSpPr/>
            <p:nvPr/>
          </p:nvGrpSpPr>
          <p:grpSpPr>
            <a:xfrm>
              <a:off x="228600" y="914401"/>
              <a:ext cx="8305800" cy="5632311"/>
              <a:chOff x="3496" y="990600"/>
              <a:chExt cx="12268200" cy="5319311"/>
            </a:xfrm>
          </p:grpSpPr>
          <p:sp>
            <p:nvSpPr>
              <p:cNvPr id="52226" name="Rectangle 2"/>
              <p:cNvSpPr>
                <a:spLocks noChangeArrowheads="1"/>
              </p:cNvSpPr>
              <p:nvPr/>
            </p:nvSpPr>
            <p:spPr bwMode="auto">
              <a:xfrm>
                <a:off x="3496" y="990600"/>
                <a:ext cx="12268200" cy="531931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457200" marR="0" lvl="0" indent="-457200" algn="just" defTabSz="914400" rtl="0" eaLnBrk="1" fontAlgn="base" latinLnBrk="0" hangingPunct="1">
                  <a:lnSpc>
                    <a:spcPct val="100000"/>
                  </a:lnSpc>
                  <a:spcBef>
                    <a:spcPct val="0"/>
                  </a:spcBef>
                  <a:spcAft>
                    <a:spcPct val="0"/>
                  </a:spcAft>
                  <a:buClr>
                    <a:srgbClr val="C00000"/>
                  </a:buClr>
                  <a:buSzTx/>
                  <a:buFont typeface="Wingdings" pitchFamily="2" charset="2"/>
                  <a:buChar char="v"/>
                  <a:tabLst/>
                </a:pP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This is phenomenon during which the boiler material becomes brittle due to the accumulation of caustic substances. </a:t>
                </a:r>
              </a:p>
              <a:p>
                <a:pPr marL="457200" marR="0" lvl="0" indent="-457200" algn="just" defTabSz="914400" rtl="0" eaLnBrk="1" fontAlgn="base" latinLnBrk="0" hangingPunct="1">
                  <a:lnSpc>
                    <a:spcPct val="100000"/>
                  </a:lnSpc>
                  <a:spcBef>
                    <a:spcPct val="0"/>
                  </a:spcBef>
                  <a:spcAft>
                    <a:spcPct val="0"/>
                  </a:spcAft>
                  <a:buClr>
                    <a:srgbClr val="C00000"/>
                  </a:buClr>
                  <a:buSzTx/>
                  <a:buFont typeface="Wingdings" pitchFamily="2" charset="2"/>
                  <a:buChar char="v"/>
                  <a:tabLst/>
                </a:pP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During softening by lime-soda process, it is likely that some residual Na</a:t>
                </a:r>
                <a:r>
                  <a:rPr kumimoji="0" lang="en-US" sz="2400" b="0" i="0" u="none" strike="noStrike" cap="none" normalizeH="0" baseline="-30000" dirty="0">
                    <a:ln>
                      <a:noFill/>
                    </a:ln>
                    <a:solidFill>
                      <a:schemeClr val="tx1"/>
                    </a:solidFill>
                    <a:effectLst/>
                    <a:latin typeface="Times New Roman" pitchFamily="18" charset="0"/>
                    <a:ea typeface="Calibri" pitchFamily="34" charset="0"/>
                    <a:cs typeface="Times New Roman" pitchFamily="18" charset="0"/>
                  </a:rPr>
                  <a:t>2</a:t>
                </a: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CO</a:t>
                </a:r>
                <a:r>
                  <a:rPr kumimoji="0" lang="en-US" sz="2400" b="0" i="0" u="none" strike="noStrike" cap="none" normalizeH="0" baseline="-30000" dirty="0">
                    <a:ln>
                      <a:noFill/>
                    </a:ln>
                    <a:solidFill>
                      <a:schemeClr val="tx1"/>
                    </a:solidFill>
                    <a:effectLst/>
                    <a:latin typeface="Times New Roman" pitchFamily="18" charset="0"/>
                    <a:ea typeface="Calibri" pitchFamily="34" charset="0"/>
                    <a:cs typeface="Times New Roman" pitchFamily="18" charset="0"/>
                  </a:rPr>
                  <a:t>3</a:t>
                </a: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is still present in the softened water. </a:t>
                </a:r>
              </a:p>
              <a:p>
                <a:pPr marL="457200" marR="0" lvl="0" indent="-457200" algn="just" defTabSz="914400" rtl="0" eaLnBrk="1" fontAlgn="base" latinLnBrk="0" hangingPunct="1">
                  <a:lnSpc>
                    <a:spcPct val="100000"/>
                  </a:lnSpc>
                  <a:spcBef>
                    <a:spcPct val="0"/>
                  </a:spcBef>
                  <a:spcAft>
                    <a:spcPct val="0"/>
                  </a:spcAft>
                  <a:buClr>
                    <a:srgbClr val="C00000"/>
                  </a:buClr>
                  <a:buSzTx/>
                  <a:buFont typeface="Wingdings" pitchFamily="2" charset="2"/>
                  <a:buChar char="v"/>
                  <a:tabLst/>
                </a:pP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In high pressure boilers Na</a:t>
                </a:r>
                <a:r>
                  <a:rPr kumimoji="0" lang="en-US" sz="2400" b="0" i="0" u="none" strike="noStrike" cap="none" normalizeH="0" baseline="-30000" dirty="0">
                    <a:ln>
                      <a:noFill/>
                    </a:ln>
                    <a:solidFill>
                      <a:schemeClr val="tx1"/>
                    </a:solidFill>
                    <a:effectLst/>
                    <a:latin typeface="Times New Roman" pitchFamily="18" charset="0"/>
                    <a:ea typeface="Calibri" pitchFamily="34" charset="0"/>
                    <a:cs typeface="Times New Roman" pitchFamily="18" charset="0"/>
                  </a:rPr>
                  <a:t>2</a:t>
                </a: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CO</a:t>
                </a:r>
                <a:r>
                  <a:rPr kumimoji="0" lang="en-US" sz="2400" b="0" i="0" u="none" strike="noStrike" cap="none" normalizeH="0" baseline="-30000" dirty="0">
                    <a:ln>
                      <a:noFill/>
                    </a:ln>
                    <a:solidFill>
                      <a:schemeClr val="tx1"/>
                    </a:solidFill>
                    <a:effectLst/>
                    <a:latin typeface="Times New Roman" pitchFamily="18" charset="0"/>
                    <a:ea typeface="Calibri" pitchFamily="34" charset="0"/>
                    <a:cs typeface="Times New Roman" pitchFamily="18" charset="0"/>
                  </a:rPr>
                  <a:t>3</a:t>
                </a: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decomposes to give sodium hydroxide and CO</a:t>
                </a:r>
                <a:r>
                  <a:rPr kumimoji="0" lang="en-US" sz="2400" b="0" i="0" u="none" strike="noStrike" cap="none" normalizeH="0" baseline="-30000" dirty="0">
                    <a:ln>
                      <a:noFill/>
                    </a:ln>
                    <a:solidFill>
                      <a:schemeClr val="tx1"/>
                    </a:solidFill>
                    <a:effectLst/>
                    <a:latin typeface="Times New Roman" pitchFamily="18" charset="0"/>
                    <a:ea typeface="Calibri" pitchFamily="34" charset="0"/>
                    <a:cs typeface="Times New Roman" pitchFamily="18" charset="0"/>
                  </a:rPr>
                  <a:t>2</a:t>
                </a: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and sodium hydroxide thus produced makes the boiler water “caustic”. </a:t>
                </a:r>
                <a:endParaRPr kumimoji="0" lang="en-US" sz="2400" b="0" i="0" u="none" strike="noStrike" cap="none" normalizeH="0" baseline="0" dirty="0">
                  <a:ln>
                    <a:noFill/>
                  </a:ln>
                  <a:solidFill>
                    <a:schemeClr val="tx1"/>
                  </a:solidFill>
                  <a:effectLst/>
                  <a:latin typeface="Times New Roman" pitchFamily="18" charset="0"/>
                  <a:cs typeface="Times New Roman" pitchFamily="18" charset="0"/>
                </a:endParaRPr>
              </a:p>
              <a:p>
                <a:pPr marL="398463" marR="0" lvl="0" indent="-398463" algn="ctr" defTabSz="914400" rtl="0" eaLnBrk="0" fontAlgn="base" latinLnBrk="0" hangingPunct="0">
                  <a:lnSpc>
                    <a:spcPct val="100000"/>
                  </a:lnSpc>
                  <a:spcBef>
                    <a:spcPct val="0"/>
                  </a:spcBef>
                  <a:spcAft>
                    <a:spcPct val="0"/>
                  </a:spcAft>
                  <a:buClrTx/>
                  <a:buSzTx/>
                  <a:buFontTx/>
                  <a:buNone/>
                  <a:tabLst/>
                </a:pPr>
                <a:r>
                  <a:rPr kumimoji="0" lang="en-US" sz="2400" b="1" i="0" u="none" strike="noStrike" cap="none" normalizeH="0" baseline="0" dirty="0">
                    <a:ln>
                      <a:noFill/>
                    </a:ln>
                    <a:solidFill>
                      <a:srgbClr val="002060"/>
                    </a:solidFill>
                    <a:effectLst/>
                    <a:latin typeface="Times New Roman" pitchFamily="18" charset="0"/>
                    <a:ea typeface="Calibri" pitchFamily="34" charset="0"/>
                    <a:cs typeface="Times New Roman" pitchFamily="18" charset="0"/>
                  </a:rPr>
                  <a:t>Na</a:t>
                </a:r>
                <a:r>
                  <a:rPr kumimoji="0" lang="en-US" sz="2400" b="1" i="0" u="none" strike="noStrike" cap="none" normalizeH="0" baseline="-30000" dirty="0">
                    <a:ln>
                      <a:noFill/>
                    </a:ln>
                    <a:solidFill>
                      <a:srgbClr val="002060"/>
                    </a:solidFill>
                    <a:effectLst/>
                    <a:latin typeface="Times New Roman" pitchFamily="18" charset="0"/>
                    <a:ea typeface="Calibri" pitchFamily="34" charset="0"/>
                    <a:cs typeface="Times New Roman" pitchFamily="18" charset="0"/>
                  </a:rPr>
                  <a:t>2</a:t>
                </a:r>
                <a:r>
                  <a:rPr kumimoji="0" lang="en-US" sz="2400" b="1" i="0" u="none" strike="noStrike" cap="none" normalizeH="0" baseline="0" dirty="0">
                    <a:ln>
                      <a:noFill/>
                    </a:ln>
                    <a:solidFill>
                      <a:srgbClr val="002060"/>
                    </a:solidFill>
                    <a:effectLst/>
                    <a:latin typeface="Times New Roman" pitchFamily="18" charset="0"/>
                    <a:ea typeface="Calibri" pitchFamily="34" charset="0"/>
                    <a:cs typeface="Times New Roman" pitchFamily="18" charset="0"/>
                  </a:rPr>
                  <a:t>CO</a:t>
                </a:r>
                <a:r>
                  <a:rPr kumimoji="0" lang="en-US" sz="2400" b="1" i="0" u="none" strike="noStrike" cap="none" normalizeH="0" baseline="-30000" dirty="0">
                    <a:ln>
                      <a:noFill/>
                    </a:ln>
                    <a:solidFill>
                      <a:srgbClr val="002060"/>
                    </a:solidFill>
                    <a:effectLst/>
                    <a:latin typeface="Times New Roman" pitchFamily="18" charset="0"/>
                    <a:ea typeface="Calibri" pitchFamily="34" charset="0"/>
                    <a:cs typeface="Times New Roman" pitchFamily="18" charset="0"/>
                  </a:rPr>
                  <a:t>3</a:t>
                </a:r>
                <a:r>
                  <a:rPr kumimoji="0" lang="en-US" sz="2400" b="1" i="0" u="none" strike="noStrike" cap="none" normalizeH="0" baseline="0" dirty="0">
                    <a:ln>
                      <a:noFill/>
                    </a:ln>
                    <a:solidFill>
                      <a:srgbClr val="002060"/>
                    </a:solidFill>
                    <a:effectLst/>
                    <a:latin typeface="Times New Roman" pitchFamily="18" charset="0"/>
                    <a:ea typeface="Calibri" pitchFamily="34" charset="0"/>
                    <a:cs typeface="Times New Roman" pitchFamily="18" charset="0"/>
                  </a:rPr>
                  <a:t> + H</a:t>
                </a:r>
                <a:r>
                  <a:rPr kumimoji="0" lang="en-US" sz="2400" b="1" i="0" u="none" strike="noStrike" cap="none" normalizeH="0" baseline="-30000" dirty="0">
                    <a:ln>
                      <a:noFill/>
                    </a:ln>
                    <a:solidFill>
                      <a:srgbClr val="002060"/>
                    </a:solidFill>
                    <a:effectLst/>
                    <a:latin typeface="Times New Roman" pitchFamily="18" charset="0"/>
                    <a:ea typeface="Calibri" pitchFamily="34" charset="0"/>
                    <a:cs typeface="Times New Roman" pitchFamily="18" charset="0"/>
                  </a:rPr>
                  <a:t>2</a:t>
                </a:r>
                <a:r>
                  <a:rPr kumimoji="0" lang="en-US" sz="2400" b="1" i="0" u="none" strike="noStrike" cap="none" normalizeH="0" baseline="0" dirty="0">
                    <a:ln>
                      <a:noFill/>
                    </a:ln>
                    <a:solidFill>
                      <a:srgbClr val="002060"/>
                    </a:solidFill>
                    <a:effectLst/>
                    <a:latin typeface="Times New Roman" pitchFamily="18" charset="0"/>
                    <a:ea typeface="Calibri" pitchFamily="34" charset="0"/>
                    <a:cs typeface="Times New Roman" pitchFamily="18" charset="0"/>
                  </a:rPr>
                  <a:t>O         2NaOH + CO</a:t>
                </a:r>
                <a:r>
                  <a:rPr kumimoji="0" lang="en-US" sz="2400" b="1" i="0" u="none" strike="noStrike" cap="none" normalizeH="0" baseline="-30000" dirty="0">
                    <a:ln>
                      <a:noFill/>
                    </a:ln>
                    <a:solidFill>
                      <a:srgbClr val="002060"/>
                    </a:solidFill>
                    <a:effectLst/>
                    <a:latin typeface="Times New Roman" pitchFamily="18" charset="0"/>
                    <a:ea typeface="Calibri" pitchFamily="34" charset="0"/>
                    <a:cs typeface="Times New Roman" pitchFamily="18" charset="0"/>
                  </a:rPr>
                  <a:t>2</a:t>
                </a:r>
              </a:p>
              <a:p>
                <a:pPr marL="398463" marR="0" lvl="0" indent="-398463" algn="just" defTabSz="914400" rtl="0" eaLnBrk="0" fontAlgn="base" latinLnBrk="0" hangingPunct="0">
                  <a:lnSpc>
                    <a:spcPct val="100000"/>
                  </a:lnSpc>
                  <a:spcBef>
                    <a:spcPct val="0"/>
                  </a:spcBef>
                  <a:spcAft>
                    <a:spcPct val="0"/>
                  </a:spcAft>
                  <a:buClr>
                    <a:srgbClr val="C00000"/>
                  </a:buClr>
                  <a:buSzTx/>
                  <a:buFont typeface="Wingdings" pitchFamily="2" charset="2"/>
                  <a:buChar char="v"/>
                  <a:tabLst/>
                </a:pP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This caustic water flows into the minute hair-cracks, present in the inner side of boiler, by capillary action. </a:t>
                </a:r>
              </a:p>
              <a:p>
                <a:pPr marL="398463" marR="0" lvl="0" indent="-398463" algn="just" defTabSz="914400" rtl="0" eaLnBrk="0" fontAlgn="base" latinLnBrk="0" hangingPunct="0">
                  <a:lnSpc>
                    <a:spcPct val="100000"/>
                  </a:lnSpc>
                  <a:spcBef>
                    <a:spcPct val="0"/>
                  </a:spcBef>
                  <a:spcAft>
                    <a:spcPct val="0"/>
                  </a:spcAft>
                  <a:buClr>
                    <a:srgbClr val="C00000"/>
                  </a:buClr>
                  <a:buSzTx/>
                  <a:buFont typeface="Wingdings" pitchFamily="2" charset="2"/>
                  <a:buChar char="v"/>
                  <a:tabLst/>
                </a:pP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On evaporation of water the dissolved caustic soda concentration increases progressively which attacks the surrounding area, thereby dissolving iron of boiler as Sodium ferrate (Na</a:t>
                </a:r>
                <a:r>
                  <a:rPr kumimoji="0" lang="en-US" sz="2400" b="0" i="0" u="none" strike="noStrike" cap="none" normalizeH="0" baseline="-30000" dirty="0">
                    <a:ln>
                      <a:noFill/>
                    </a:ln>
                    <a:solidFill>
                      <a:schemeClr val="tx1"/>
                    </a:solidFill>
                    <a:effectLst/>
                    <a:latin typeface="Times New Roman" pitchFamily="18" charset="0"/>
                    <a:ea typeface="Calibri" pitchFamily="34" charset="0"/>
                    <a:cs typeface="Times New Roman" pitchFamily="18" charset="0"/>
                  </a:rPr>
                  <a:t>2</a:t>
                </a: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FeO</a:t>
                </a:r>
                <a:r>
                  <a:rPr kumimoji="0" lang="en-US" sz="2400" b="0" i="0" u="none" strike="noStrike" cap="none" normalizeH="0" baseline="-30000" dirty="0">
                    <a:ln>
                      <a:noFill/>
                    </a:ln>
                    <a:solidFill>
                      <a:schemeClr val="tx1"/>
                    </a:solidFill>
                    <a:effectLst/>
                    <a:latin typeface="Times New Roman" pitchFamily="18" charset="0"/>
                    <a:ea typeface="Calibri" pitchFamily="34" charset="0"/>
                    <a:cs typeface="Times New Roman" pitchFamily="18" charset="0"/>
                  </a:rPr>
                  <a:t>2</a:t>
                </a: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a:t>
                </a:r>
              </a:p>
              <a:p>
                <a:pPr lvl="0" algn="ctr" fontAlgn="base">
                  <a:spcBef>
                    <a:spcPct val="0"/>
                  </a:spcBef>
                  <a:spcAft>
                    <a:spcPct val="0"/>
                  </a:spcAft>
                </a:pPr>
                <a:r>
                  <a:rPr lang="en-US" sz="2400" b="1" dirty="0">
                    <a:solidFill>
                      <a:srgbClr val="002060"/>
                    </a:solidFill>
                    <a:latin typeface="Times New Roman" pitchFamily="18" charset="0"/>
                    <a:ea typeface="Calibri" pitchFamily="34" charset="0"/>
                    <a:cs typeface="Times New Roman" pitchFamily="18" charset="0"/>
                  </a:rPr>
                  <a:t>3 Na</a:t>
                </a:r>
                <a:r>
                  <a:rPr lang="en-US" sz="2400" b="1" baseline="-30000" dirty="0">
                    <a:solidFill>
                      <a:srgbClr val="002060"/>
                    </a:solidFill>
                    <a:latin typeface="Times New Roman" pitchFamily="18" charset="0"/>
                    <a:ea typeface="Calibri" pitchFamily="34" charset="0"/>
                    <a:cs typeface="Times New Roman" pitchFamily="18" charset="0"/>
                  </a:rPr>
                  <a:t>2</a:t>
                </a:r>
                <a:r>
                  <a:rPr lang="en-US" sz="2400" b="1" dirty="0">
                    <a:solidFill>
                      <a:srgbClr val="002060"/>
                    </a:solidFill>
                    <a:latin typeface="Times New Roman" pitchFamily="18" charset="0"/>
                    <a:ea typeface="Calibri" pitchFamily="34" charset="0"/>
                    <a:cs typeface="Times New Roman" pitchFamily="18" charset="0"/>
                  </a:rPr>
                  <a:t>FeO</a:t>
                </a:r>
                <a:r>
                  <a:rPr lang="en-US" sz="2400" b="1" baseline="-30000" dirty="0">
                    <a:solidFill>
                      <a:srgbClr val="002060"/>
                    </a:solidFill>
                    <a:latin typeface="Times New Roman" pitchFamily="18" charset="0"/>
                    <a:ea typeface="Calibri" pitchFamily="34" charset="0"/>
                    <a:cs typeface="Times New Roman" pitchFamily="18" charset="0"/>
                  </a:rPr>
                  <a:t>2</a:t>
                </a:r>
                <a:r>
                  <a:rPr lang="en-US" sz="2400" b="1" dirty="0">
                    <a:solidFill>
                      <a:srgbClr val="002060"/>
                    </a:solidFill>
                    <a:latin typeface="Times New Roman" pitchFamily="18" charset="0"/>
                    <a:ea typeface="Calibri" pitchFamily="34" charset="0"/>
                    <a:cs typeface="Times New Roman" pitchFamily="18" charset="0"/>
                  </a:rPr>
                  <a:t> + 4 H</a:t>
                </a:r>
                <a:r>
                  <a:rPr lang="en-US" sz="2400" b="1" baseline="-30000" dirty="0">
                    <a:solidFill>
                      <a:srgbClr val="002060"/>
                    </a:solidFill>
                    <a:latin typeface="Times New Roman" pitchFamily="18" charset="0"/>
                    <a:ea typeface="Calibri" pitchFamily="34" charset="0"/>
                    <a:cs typeface="Times New Roman" pitchFamily="18" charset="0"/>
                  </a:rPr>
                  <a:t>2</a:t>
                </a:r>
                <a:r>
                  <a:rPr lang="en-US" sz="2400" b="1" dirty="0">
                    <a:solidFill>
                      <a:srgbClr val="002060"/>
                    </a:solidFill>
                    <a:latin typeface="Times New Roman" pitchFamily="18" charset="0"/>
                    <a:ea typeface="Calibri" pitchFamily="34" charset="0"/>
                    <a:cs typeface="Times New Roman" pitchFamily="18" charset="0"/>
                  </a:rPr>
                  <a:t>O            6NaOH + Fe</a:t>
                </a:r>
                <a:r>
                  <a:rPr lang="en-US" sz="2400" b="1" baseline="-30000" dirty="0">
                    <a:solidFill>
                      <a:srgbClr val="002060"/>
                    </a:solidFill>
                    <a:latin typeface="Times New Roman" pitchFamily="18" charset="0"/>
                    <a:ea typeface="Calibri" pitchFamily="34" charset="0"/>
                    <a:cs typeface="Times New Roman" pitchFamily="18" charset="0"/>
                  </a:rPr>
                  <a:t>3</a:t>
                </a:r>
                <a:r>
                  <a:rPr lang="en-US" sz="2400" b="1" dirty="0">
                    <a:solidFill>
                      <a:srgbClr val="002060"/>
                    </a:solidFill>
                    <a:latin typeface="Times New Roman" pitchFamily="18" charset="0"/>
                    <a:ea typeface="Calibri" pitchFamily="34" charset="0"/>
                    <a:cs typeface="Times New Roman" pitchFamily="18" charset="0"/>
                  </a:rPr>
                  <a:t>O</a:t>
                </a:r>
                <a:r>
                  <a:rPr lang="en-US" sz="2400" b="1" baseline="-30000" dirty="0">
                    <a:solidFill>
                      <a:srgbClr val="002060"/>
                    </a:solidFill>
                    <a:latin typeface="Times New Roman" pitchFamily="18" charset="0"/>
                    <a:ea typeface="Calibri" pitchFamily="34" charset="0"/>
                    <a:cs typeface="Times New Roman" pitchFamily="18" charset="0"/>
                  </a:rPr>
                  <a:t>4</a:t>
                </a:r>
                <a:r>
                  <a:rPr lang="en-US" sz="2400" b="1" dirty="0">
                    <a:solidFill>
                      <a:srgbClr val="002060"/>
                    </a:solidFill>
                    <a:latin typeface="Times New Roman" pitchFamily="18" charset="0"/>
                    <a:ea typeface="Calibri" pitchFamily="34" charset="0"/>
                    <a:cs typeface="Times New Roman" pitchFamily="18" charset="0"/>
                  </a:rPr>
                  <a:t> + H</a:t>
                </a:r>
                <a:r>
                  <a:rPr lang="en-US" sz="2400" b="1" baseline="-30000" dirty="0">
                    <a:solidFill>
                      <a:srgbClr val="002060"/>
                    </a:solidFill>
                    <a:latin typeface="Times New Roman" pitchFamily="18" charset="0"/>
                    <a:ea typeface="Calibri" pitchFamily="34" charset="0"/>
                    <a:cs typeface="Times New Roman" pitchFamily="18" charset="0"/>
                  </a:rPr>
                  <a:t>2</a:t>
                </a:r>
                <a:endParaRPr kumimoji="0" lang="en-US" sz="2400" b="1" i="0" u="none" strike="noStrike" cap="none" normalizeH="0" baseline="0" dirty="0">
                  <a:ln>
                    <a:noFill/>
                  </a:ln>
                  <a:solidFill>
                    <a:srgbClr val="002060"/>
                  </a:solidFill>
                  <a:effectLst/>
                  <a:latin typeface="Times New Roman" pitchFamily="18" charset="0"/>
                  <a:cs typeface="Times New Roman" pitchFamily="18" charset="0"/>
                </a:endParaRPr>
              </a:p>
            </p:txBody>
          </p:sp>
          <p:cxnSp>
            <p:nvCxnSpPr>
              <p:cNvPr id="8" name="Straight Arrow Connector 7"/>
              <p:cNvCxnSpPr/>
              <p:nvPr/>
            </p:nvCxnSpPr>
            <p:spPr>
              <a:xfrm>
                <a:off x="5943599" y="6098555"/>
                <a:ext cx="609601"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6172200" y="3651731"/>
                <a:ext cx="5334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grpSp>
      </p:grpSp>
      <p:pic>
        <p:nvPicPr>
          <p:cNvPr id="52229" name="Picture 5" descr="Industrial Boiler Corrosion Prevention &amp; Deposit Formation"/>
          <p:cNvPicPr>
            <a:picLocks noChangeAspect="1" noChangeArrowheads="1"/>
          </p:cNvPicPr>
          <p:nvPr/>
        </p:nvPicPr>
        <p:blipFill>
          <a:blip r:embed="rId2"/>
          <a:srcRect/>
          <a:stretch>
            <a:fillRect/>
          </a:stretch>
        </p:blipFill>
        <p:spPr bwMode="auto">
          <a:xfrm>
            <a:off x="8839200" y="1143000"/>
            <a:ext cx="3657600" cy="5105400"/>
          </a:xfrm>
          <a:prstGeom prst="rect">
            <a:avLst/>
          </a:prstGeom>
          <a:noFill/>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57200" y="1179016"/>
            <a:ext cx="11734800" cy="4154984"/>
          </a:xfrm>
          <a:prstGeom prst="rect">
            <a:avLst/>
          </a:prstGeom>
        </p:spPr>
        <p:txBody>
          <a:bodyPr wrap="square">
            <a:spAutoFit/>
          </a:bodyPr>
          <a:lstStyle/>
          <a:p>
            <a:pPr marL="398463" lvl="0" indent="-398463" algn="just" eaLnBrk="0" fontAlgn="base" hangingPunct="0">
              <a:spcBef>
                <a:spcPct val="0"/>
              </a:spcBef>
              <a:spcAft>
                <a:spcPct val="0"/>
              </a:spcAft>
              <a:buClr>
                <a:srgbClr val="C00000"/>
              </a:buClr>
              <a:buFont typeface="Wingdings" pitchFamily="2" charset="2"/>
              <a:buChar char="v"/>
            </a:pPr>
            <a:r>
              <a:rPr lang="en-US" sz="2400" dirty="0">
                <a:latin typeface="Times New Roman" pitchFamily="18" charset="0"/>
                <a:ea typeface="Calibri" pitchFamily="34" charset="0"/>
                <a:cs typeface="Times New Roman" pitchFamily="18" charset="0"/>
              </a:rPr>
              <a:t>Further dissolution of iron takes place because of the precipitation of Fe</a:t>
            </a:r>
            <a:r>
              <a:rPr lang="en-US" sz="2400" baseline="-30000" dirty="0">
                <a:latin typeface="Times New Roman" pitchFamily="18" charset="0"/>
                <a:ea typeface="Calibri" pitchFamily="34" charset="0"/>
                <a:cs typeface="Times New Roman" pitchFamily="18" charset="0"/>
              </a:rPr>
              <a:t>3</a:t>
            </a:r>
            <a:r>
              <a:rPr lang="en-US" sz="2400" dirty="0">
                <a:latin typeface="Times New Roman" pitchFamily="18" charset="0"/>
                <a:ea typeface="Calibri" pitchFamily="34" charset="0"/>
                <a:cs typeface="Times New Roman" pitchFamily="18" charset="0"/>
              </a:rPr>
              <a:t>O</a:t>
            </a:r>
            <a:r>
              <a:rPr lang="en-US" sz="2400" baseline="-30000" dirty="0">
                <a:latin typeface="Times New Roman" pitchFamily="18" charset="0"/>
                <a:ea typeface="Calibri" pitchFamily="34" charset="0"/>
                <a:cs typeface="Times New Roman" pitchFamily="18" charset="0"/>
              </a:rPr>
              <a:t>4</a:t>
            </a:r>
            <a:r>
              <a:rPr lang="en-US" sz="2400" dirty="0">
                <a:latin typeface="Times New Roman" pitchFamily="18" charset="0"/>
                <a:ea typeface="Calibri" pitchFamily="34" charset="0"/>
                <a:cs typeface="Times New Roman" pitchFamily="18" charset="0"/>
              </a:rPr>
              <a:t>, and the regeneration of NaOH. </a:t>
            </a:r>
          </a:p>
          <a:p>
            <a:pPr marL="398463" lvl="0" indent="-398463" algn="just" eaLnBrk="0" fontAlgn="base" hangingPunct="0">
              <a:spcBef>
                <a:spcPct val="0"/>
              </a:spcBef>
              <a:spcAft>
                <a:spcPct val="0"/>
              </a:spcAft>
              <a:buClr>
                <a:srgbClr val="C00000"/>
              </a:buClr>
              <a:buFont typeface="Wingdings" pitchFamily="2" charset="2"/>
              <a:buChar char="v"/>
            </a:pPr>
            <a:r>
              <a:rPr lang="en-US" sz="2400" dirty="0">
                <a:latin typeface="Times New Roman" pitchFamily="18" charset="0"/>
                <a:ea typeface="Calibri" pitchFamily="34" charset="0"/>
                <a:cs typeface="Times New Roman" pitchFamily="18" charset="0"/>
              </a:rPr>
              <a:t>This causes embrittlement of boiler walls more particularly at stressed parts like bends, joints, rivets, etc., causing even failure of the boiler. </a:t>
            </a:r>
          </a:p>
          <a:p>
            <a:pPr marL="398463" lvl="0" indent="-398463" algn="just" eaLnBrk="0" fontAlgn="base" hangingPunct="0">
              <a:spcBef>
                <a:spcPct val="0"/>
              </a:spcBef>
              <a:spcAft>
                <a:spcPct val="0"/>
              </a:spcAft>
              <a:buClr>
                <a:srgbClr val="C00000"/>
              </a:buClr>
              <a:buFont typeface="Wingdings" pitchFamily="2" charset="2"/>
              <a:buChar char="v"/>
            </a:pPr>
            <a:endParaRPr lang="en-US" sz="2400" dirty="0">
              <a:latin typeface="Times New Roman" pitchFamily="18" charset="0"/>
              <a:ea typeface="Calibri" pitchFamily="34" charset="0"/>
              <a:cs typeface="Times New Roman" pitchFamily="18" charset="0"/>
            </a:endParaRPr>
          </a:p>
          <a:p>
            <a:pPr algn="just"/>
            <a:r>
              <a:rPr lang="en-US" sz="2400" b="1" dirty="0">
                <a:solidFill>
                  <a:srgbClr val="C00000"/>
                </a:solidFill>
                <a:latin typeface="Times New Roman" pitchFamily="18" charset="0"/>
                <a:cs typeface="Times New Roman" pitchFamily="18" charset="0"/>
              </a:rPr>
              <a:t>Caustic </a:t>
            </a:r>
            <a:r>
              <a:rPr lang="en-US" sz="2400" b="1" dirty="0" smtClean="0">
                <a:solidFill>
                  <a:srgbClr val="C00000"/>
                </a:solidFill>
                <a:latin typeface="Times New Roman" pitchFamily="18" charset="0"/>
                <a:cs typeface="Times New Roman" pitchFamily="18" charset="0"/>
              </a:rPr>
              <a:t>Embrittlement </a:t>
            </a:r>
            <a:r>
              <a:rPr lang="en-US" sz="2400" b="1" dirty="0">
                <a:solidFill>
                  <a:srgbClr val="C00000"/>
                </a:solidFill>
                <a:latin typeface="Times New Roman" pitchFamily="18" charset="0"/>
                <a:cs typeface="Times New Roman" pitchFamily="18" charset="0"/>
              </a:rPr>
              <a:t>can be prevented: </a:t>
            </a:r>
          </a:p>
          <a:p>
            <a:pPr algn="just"/>
            <a:endParaRPr lang="en-US" sz="2400" b="1" dirty="0">
              <a:solidFill>
                <a:srgbClr val="C00000"/>
              </a:solidFill>
              <a:latin typeface="Times New Roman" pitchFamily="18" charset="0"/>
              <a:cs typeface="Times New Roman" pitchFamily="18" charset="0"/>
            </a:endParaRPr>
          </a:p>
          <a:p>
            <a:pPr marL="398463" indent="-398463" algn="just">
              <a:buClr>
                <a:srgbClr val="C00000"/>
              </a:buClr>
              <a:buFont typeface="Wingdings" pitchFamily="2" charset="2"/>
              <a:buChar char="v"/>
            </a:pPr>
            <a:r>
              <a:rPr lang="en-US" sz="2400" dirty="0">
                <a:latin typeface="Times New Roman" pitchFamily="18" charset="0"/>
                <a:cs typeface="Times New Roman" pitchFamily="18" charset="0"/>
              </a:rPr>
              <a:t>B</a:t>
            </a:r>
            <a:r>
              <a:rPr lang="en-US" sz="2400" dirty="0" smtClean="0">
                <a:latin typeface="Times New Roman" pitchFamily="18" charset="0"/>
                <a:cs typeface="Times New Roman" pitchFamily="18" charset="0"/>
              </a:rPr>
              <a:t>y </a:t>
            </a:r>
            <a:r>
              <a:rPr lang="en-US" sz="2400" dirty="0">
                <a:latin typeface="Times New Roman" pitchFamily="18" charset="0"/>
                <a:cs typeface="Times New Roman" pitchFamily="18" charset="0"/>
              </a:rPr>
              <a:t>using sodium phosphate as softening reagent instead of sodium carbonate in external treatment.</a:t>
            </a:r>
          </a:p>
          <a:p>
            <a:pPr marL="398463" indent="-398463" algn="just">
              <a:buClr>
                <a:srgbClr val="C00000"/>
              </a:buClr>
              <a:buFont typeface="Wingdings" pitchFamily="2" charset="2"/>
              <a:buChar char="v"/>
            </a:pPr>
            <a:r>
              <a:rPr lang="en-US" sz="2400" dirty="0">
                <a:latin typeface="Times New Roman" pitchFamily="18" charset="0"/>
                <a:cs typeface="Times New Roman" pitchFamily="18" charset="0"/>
              </a:rPr>
              <a:t>B</a:t>
            </a:r>
            <a:r>
              <a:rPr lang="en-US" sz="2400" dirty="0" smtClean="0">
                <a:latin typeface="Times New Roman" pitchFamily="18" charset="0"/>
                <a:cs typeface="Times New Roman" pitchFamily="18" charset="0"/>
              </a:rPr>
              <a:t>y </a:t>
            </a:r>
            <a:r>
              <a:rPr lang="en-US" sz="2400" dirty="0">
                <a:latin typeface="Times New Roman" pitchFamily="18" charset="0"/>
                <a:cs typeface="Times New Roman" pitchFamily="18" charset="0"/>
              </a:rPr>
              <a:t>adding tannin or lignin to boiler water which blocks the hair-cracks in the boiler walls.</a:t>
            </a:r>
          </a:p>
          <a:p>
            <a:pPr marL="398463" indent="-398463" algn="just">
              <a:buClr>
                <a:srgbClr val="C00000"/>
              </a:buClr>
              <a:buFont typeface="Wingdings" pitchFamily="2" charset="2"/>
              <a:buChar char="v"/>
            </a:pPr>
            <a:r>
              <a:rPr lang="en-US" sz="2400" dirty="0">
                <a:latin typeface="Times New Roman" pitchFamily="18" charset="0"/>
                <a:cs typeface="Times New Roman" pitchFamily="18" charset="0"/>
              </a:rPr>
              <a:t>B</a:t>
            </a:r>
            <a:r>
              <a:rPr lang="en-US" sz="2400" dirty="0" smtClean="0">
                <a:latin typeface="Times New Roman" pitchFamily="18" charset="0"/>
                <a:cs typeface="Times New Roman" pitchFamily="18" charset="0"/>
              </a:rPr>
              <a:t>y </a:t>
            </a:r>
            <a:r>
              <a:rPr lang="en-US" sz="2400" dirty="0">
                <a:latin typeface="Times New Roman" pitchFamily="18" charset="0"/>
                <a:cs typeface="Times New Roman" pitchFamily="18" charset="0"/>
              </a:rPr>
              <a:t>adding sodium sulphate to boiler water. Na</a:t>
            </a:r>
            <a:r>
              <a:rPr lang="en-US" sz="2400" baseline="-25000" dirty="0">
                <a:latin typeface="Times New Roman" pitchFamily="18" charset="0"/>
                <a:cs typeface="Times New Roman" pitchFamily="18" charset="0"/>
              </a:rPr>
              <a:t>2</a:t>
            </a:r>
            <a:r>
              <a:rPr lang="en-US" sz="2400" dirty="0">
                <a:latin typeface="Times New Roman" pitchFamily="18" charset="0"/>
                <a:cs typeface="Times New Roman" pitchFamily="18" charset="0"/>
              </a:rPr>
              <a:t>SO</a:t>
            </a:r>
            <a:r>
              <a:rPr lang="en-US" sz="2400" baseline="-25000" dirty="0">
                <a:latin typeface="Times New Roman" pitchFamily="18" charset="0"/>
                <a:cs typeface="Times New Roman" pitchFamily="18" charset="0"/>
              </a:rPr>
              <a:t>4 </a:t>
            </a:r>
            <a:r>
              <a:rPr lang="en-US" sz="2400" dirty="0">
                <a:latin typeface="Times New Roman" pitchFamily="18" charset="0"/>
                <a:cs typeface="Times New Roman" pitchFamily="18" charset="0"/>
              </a:rPr>
              <a:t>also blocks hair-cracks.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668" name="Picture 12" descr="UNIT-1 Water and its Treatment"/>
          <p:cNvPicPr>
            <a:picLocks noChangeAspect="1" noChangeArrowheads="1"/>
          </p:cNvPicPr>
          <p:nvPr/>
        </p:nvPicPr>
        <p:blipFill>
          <a:blip r:embed="rId3"/>
          <a:srcRect t="5263" r="4239" b="14035"/>
          <a:stretch>
            <a:fillRect/>
          </a:stretch>
        </p:blipFill>
        <p:spPr bwMode="auto">
          <a:xfrm>
            <a:off x="5943600" y="914400"/>
            <a:ext cx="5791200" cy="2690860"/>
          </a:xfrm>
          <a:prstGeom prst="rect">
            <a:avLst/>
          </a:prstGeom>
          <a:noFill/>
        </p:spPr>
      </p:pic>
      <p:grpSp>
        <p:nvGrpSpPr>
          <p:cNvPr id="12" name="Group 11"/>
          <p:cNvGrpSpPr/>
          <p:nvPr/>
        </p:nvGrpSpPr>
        <p:grpSpPr>
          <a:xfrm>
            <a:off x="228600" y="-144463"/>
            <a:ext cx="12039600" cy="6767374"/>
            <a:chOff x="152400" y="-144463"/>
            <a:chExt cx="12039600" cy="6767374"/>
          </a:xfrm>
        </p:grpSpPr>
        <p:sp>
          <p:nvSpPr>
            <p:cNvPr id="2" name="Rectangle 1"/>
            <p:cNvSpPr/>
            <p:nvPr/>
          </p:nvSpPr>
          <p:spPr>
            <a:xfrm>
              <a:off x="304800" y="990600"/>
              <a:ext cx="4267200" cy="5632311"/>
            </a:xfrm>
            <a:prstGeom prst="rect">
              <a:avLst/>
            </a:prstGeom>
          </p:spPr>
          <p:txBody>
            <a:bodyPr wrap="square">
              <a:spAutoFit/>
            </a:bodyPr>
            <a:lstStyle/>
            <a:p>
              <a:pPr marL="398463" lvl="0" indent="-398463" algn="just">
                <a:buClr>
                  <a:srgbClr val="C00000"/>
                </a:buClr>
                <a:buFont typeface="Wingdings" pitchFamily="2" charset="2"/>
                <a:buChar char="v"/>
              </a:pPr>
              <a:r>
                <a:rPr lang="en-US" sz="2400" dirty="0">
                  <a:latin typeface="Times New Roman" pitchFamily="18" charset="0"/>
                  <a:cs typeface="Times New Roman" pitchFamily="18" charset="0"/>
                </a:rPr>
                <a:t>In boilers, water evaporates continuously and concentration of dissolved salts increases.</a:t>
              </a:r>
            </a:p>
            <a:p>
              <a:pPr marL="398463" lvl="0" indent="-398463" algn="just">
                <a:buClr>
                  <a:srgbClr val="C00000"/>
                </a:buClr>
                <a:buFont typeface="Wingdings" pitchFamily="2" charset="2"/>
                <a:buChar char="v"/>
              </a:pPr>
              <a:r>
                <a:rPr lang="en-US" sz="2400" dirty="0">
                  <a:latin typeface="Times New Roman" pitchFamily="18" charset="0"/>
                  <a:cs typeface="Times New Roman" pitchFamily="18" charset="0"/>
                </a:rPr>
                <a:t>When it reaches saturation point they will be precipitated on the inner walls of the boilers.</a:t>
              </a:r>
            </a:p>
            <a:p>
              <a:pPr marL="398463" lvl="0" indent="-398463" algn="just">
                <a:buClr>
                  <a:srgbClr val="C00000"/>
                </a:buClr>
                <a:buFont typeface="Wingdings" pitchFamily="2" charset="2"/>
                <a:buChar char="v"/>
              </a:pPr>
              <a:r>
                <a:rPr lang="en-US" sz="2400" dirty="0">
                  <a:latin typeface="Times New Roman" pitchFamily="18" charset="0"/>
                  <a:cs typeface="Times New Roman" pitchFamily="18" charset="0"/>
                </a:rPr>
                <a:t>If the precipitation takes place in the form of loose and slimy, it is called </a:t>
              </a:r>
              <a:r>
                <a:rPr lang="en-US" sz="2400" b="1" dirty="0">
                  <a:latin typeface="Times New Roman" pitchFamily="18" charset="0"/>
                  <a:cs typeface="Times New Roman" pitchFamily="18" charset="0"/>
                </a:rPr>
                <a:t>sludge.</a:t>
              </a:r>
            </a:p>
            <a:p>
              <a:pPr marL="398463" lvl="0" indent="-398463" algn="just">
                <a:buClr>
                  <a:srgbClr val="C00000"/>
                </a:buClr>
                <a:buFont typeface="Wingdings" pitchFamily="2" charset="2"/>
                <a:buChar char="v"/>
              </a:pPr>
              <a:r>
                <a:rPr lang="en-US" sz="2400" dirty="0">
                  <a:latin typeface="Times New Roman" pitchFamily="18" charset="0"/>
                  <a:cs typeface="Times New Roman" pitchFamily="18" charset="0"/>
                </a:rPr>
                <a:t>If the precipitation takes place in the form of hard, adhering on the inner walls of the boilers, it is called </a:t>
              </a:r>
              <a:r>
                <a:rPr lang="en-US" sz="2400" b="1" dirty="0">
                  <a:latin typeface="Times New Roman" pitchFamily="18" charset="0"/>
                  <a:cs typeface="Times New Roman" pitchFamily="18" charset="0"/>
                </a:rPr>
                <a:t>scale.</a:t>
              </a:r>
              <a:endParaRPr lang="en-US" sz="2400" dirty="0">
                <a:latin typeface="Times New Roman" pitchFamily="18" charset="0"/>
                <a:cs typeface="Times New Roman" pitchFamily="18" charset="0"/>
              </a:endParaRPr>
            </a:p>
          </p:txBody>
        </p:sp>
        <p:sp>
          <p:nvSpPr>
            <p:cNvPr id="3" name="Rectangle 2"/>
            <p:cNvSpPr/>
            <p:nvPr/>
          </p:nvSpPr>
          <p:spPr>
            <a:xfrm>
              <a:off x="152400" y="152400"/>
              <a:ext cx="6457217" cy="707886"/>
            </a:xfrm>
            <a:prstGeom prst="rect">
              <a:avLst/>
            </a:prstGeom>
          </p:spPr>
          <p:txBody>
            <a:bodyPr wrap="none">
              <a:spAutoFit/>
            </a:bodyPr>
            <a:lstStyle/>
            <a:p>
              <a:pPr lvl="0">
                <a:buClr>
                  <a:srgbClr val="C00000"/>
                </a:buClr>
              </a:pPr>
              <a:r>
                <a:rPr lang="en-US" sz="4000" b="1" dirty="0">
                  <a:solidFill>
                    <a:srgbClr val="C00000"/>
                  </a:solidFill>
                  <a:latin typeface="Times New Roman" pitchFamily="18" charset="0"/>
                  <a:cs typeface="Times New Roman" pitchFamily="18" charset="0"/>
                </a:rPr>
                <a:t>2. Sludge &amp; Scale  formation</a:t>
              </a:r>
              <a:endParaRPr lang="en-US" sz="4000" dirty="0">
                <a:solidFill>
                  <a:srgbClr val="C00000"/>
                </a:solidFill>
                <a:latin typeface="Times New Roman" pitchFamily="18" charset="0"/>
                <a:cs typeface="Times New Roman" pitchFamily="18" charset="0"/>
              </a:endParaRPr>
            </a:p>
          </p:txBody>
        </p:sp>
        <p:sp>
          <p:nvSpPr>
            <p:cNvPr id="70660" name="AutoShape 4" descr="Water Treatment Technology | PP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70666" name="AutoShape 10" descr="Engineering chemistry | Water Treatment (boiler problem) | PPT"/>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70670" name="Picture 14" descr="Boiler Water Deposits - Part 2 | CWS"/>
            <p:cNvPicPr>
              <a:picLocks noChangeAspect="1" noChangeArrowheads="1"/>
            </p:cNvPicPr>
            <p:nvPr/>
          </p:nvPicPr>
          <p:blipFill>
            <a:blip r:embed="rId4"/>
            <a:srcRect/>
            <a:stretch>
              <a:fillRect/>
            </a:stretch>
          </p:blipFill>
          <p:spPr bwMode="auto">
            <a:xfrm>
              <a:off x="5181600" y="3733800"/>
              <a:ext cx="3962400" cy="2743200"/>
            </a:xfrm>
            <a:prstGeom prst="rect">
              <a:avLst/>
            </a:prstGeom>
            <a:noFill/>
          </p:spPr>
        </p:pic>
        <p:pic>
          <p:nvPicPr>
            <p:cNvPr id="70672" name="Picture 16" descr="Boiler Water Chemistry | Integra Water"/>
            <p:cNvPicPr>
              <a:picLocks noChangeAspect="1" noChangeArrowheads="1"/>
            </p:cNvPicPr>
            <p:nvPr/>
          </p:nvPicPr>
          <p:blipFill>
            <a:blip r:embed="rId5"/>
            <a:srcRect/>
            <a:stretch>
              <a:fillRect/>
            </a:stretch>
          </p:blipFill>
          <p:spPr bwMode="auto">
            <a:xfrm>
              <a:off x="9144000" y="3657600"/>
              <a:ext cx="3048000" cy="2809876"/>
            </a:xfrm>
            <a:prstGeom prst="rect">
              <a:avLst/>
            </a:prstGeom>
            <a:noFill/>
          </p:spPr>
        </p:pic>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228600" y="685800"/>
          <a:ext cx="12268200" cy="5999268"/>
        </p:xfrm>
        <a:graphic>
          <a:graphicData uri="http://schemas.openxmlformats.org/drawingml/2006/table">
            <a:tbl>
              <a:tblPr>
                <a:tableStyleId>{08FB837D-C827-4EFA-A057-4D05807E0F7C}</a:tableStyleId>
              </a:tblPr>
              <a:tblGrid>
                <a:gridCol w="6134100">
                  <a:extLst>
                    <a:ext uri="{9D8B030D-6E8A-4147-A177-3AD203B41FA5}">
                      <a16:colId xmlns="" xmlns:a16="http://schemas.microsoft.com/office/drawing/2014/main" val="20000"/>
                    </a:ext>
                  </a:extLst>
                </a:gridCol>
                <a:gridCol w="6134100">
                  <a:extLst>
                    <a:ext uri="{9D8B030D-6E8A-4147-A177-3AD203B41FA5}">
                      <a16:colId xmlns="" xmlns:a16="http://schemas.microsoft.com/office/drawing/2014/main" val="20001"/>
                    </a:ext>
                  </a:extLst>
                </a:gridCol>
              </a:tblGrid>
              <a:tr h="617395">
                <a:tc>
                  <a:txBody>
                    <a:bodyPr/>
                    <a:lstStyle/>
                    <a:p>
                      <a:pPr marL="0" marR="0" algn="ctr">
                        <a:lnSpc>
                          <a:spcPct val="115000"/>
                        </a:lnSpc>
                        <a:spcBef>
                          <a:spcPts val="0"/>
                        </a:spcBef>
                        <a:spcAft>
                          <a:spcPts val="1000"/>
                        </a:spcAft>
                      </a:pPr>
                      <a:r>
                        <a:rPr lang="en-US" sz="3200" b="1" dirty="0">
                          <a:solidFill>
                            <a:srgbClr val="7030A0"/>
                          </a:solidFill>
                          <a:latin typeface="Times New Roman" pitchFamily="18" charset="0"/>
                          <a:cs typeface="Times New Roman" pitchFamily="18" charset="0"/>
                        </a:rPr>
                        <a:t>Sludges</a:t>
                      </a:r>
                      <a:endParaRPr lang="en-US" sz="3200" b="1" dirty="0">
                        <a:solidFill>
                          <a:srgbClr val="7030A0"/>
                        </a:solidFill>
                        <a:latin typeface="Times New Roman" pitchFamily="18" charset="0"/>
                        <a:ea typeface="Calibri"/>
                        <a:cs typeface="Times New Roman" pitchFamily="18" charset="0"/>
                      </a:endParaRPr>
                    </a:p>
                  </a:txBody>
                  <a:tcPr marL="88287" marR="88287" marT="44143" marB="44143" anchor="ctr"/>
                </a:tc>
                <a:tc>
                  <a:txBody>
                    <a:bodyPr/>
                    <a:lstStyle/>
                    <a:p>
                      <a:pPr marL="0" marR="0" algn="ctr">
                        <a:lnSpc>
                          <a:spcPct val="115000"/>
                        </a:lnSpc>
                        <a:spcBef>
                          <a:spcPts val="0"/>
                        </a:spcBef>
                        <a:spcAft>
                          <a:spcPts val="1000"/>
                        </a:spcAft>
                      </a:pPr>
                      <a:r>
                        <a:rPr lang="en-US" sz="3200" b="1" dirty="0">
                          <a:solidFill>
                            <a:srgbClr val="7030A0"/>
                          </a:solidFill>
                          <a:latin typeface="Times New Roman" pitchFamily="18" charset="0"/>
                          <a:cs typeface="Times New Roman" pitchFamily="18" charset="0"/>
                        </a:rPr>
                        <a:t>Scales</a:t>
                      </a:r>
                      <a:endParaRPr lang="en-US" sz="3200" b="1" dirty="0">
                        <a:solidFill>
                          <a:srgbClr val="7030A0"/>
                        </a:solidFill>
                        <a:latin typeface="Times New Roman" pitchFamily="18" charset="0"/>
                        <a:ea typeface="Calibri"/>
                        <a:cs typeface="Times New Roman" pitchFamily="18" charset="0"/>
                      </a:endParaRPr>
                    </a:p>
                  </a:txBody>
                  <a:tcPr marL="88287" marR="88287" marT="44143" marB="44143" anchor="ctr"/>
                </a:tc>
                <a:extLst>
                  <a:ext uri="{0D108BD9-81ED-4DB2-BD59-A6C34878D82A}">
                    <a16:rowId xmlns="" xmlns:a16="http://schemas.microsoft.com/office/drawing/2014/main" val="10000"/>
                  </a:ext>
                </a:extLst>
              </a:tr>
              <a:tr h="3950348">
                <a:tc>
                  <a:txBody>
                    <a:bodyPr/>
                    <a:lstStyle/>
                    <a:p>
                      <a:pPr marL="342900" marR="0" lvl="0" indent="-342900" algn="just">
                        <a:lnSpc>
                          <a:spcPct val="115000"/>
                        </a:lnSpc>
                        <a:spcBef>
                          <a:spcPts val="0"/>
                        </a:spcBef>
                        <a:spcAft>
                          <a:spcPts val="1000"/>
                        </a:spcAft>
                        <a:buFont typeface="+mj-lt"/>
                        <a:buAutoNum type="arabicPeriod"/>
                        <a:tabLst>
                          <a:tab pos="457200" algn="l"/>
                        </a:tabLst>
                      </a:pPr>
                      <a:r>
                        <a:rPr lang="en-US" sz="2400" dirty="0"/>
                        <a:t>Sludges are soft loose and slimy precipitate.</a:t>
                      </a:r>
                    </a:p>
                    <a:p>
                      <a:pPr marL="342900" marR="0" lvl="0" indent="-342900" algn="just">
                        <a:lnSpc>
                          <a:spcPct val="115000"/>
                        </a:lnSpc>
                        <a:spcBef>
                          <a:spcPts val="0"/>
                        </a:spcBef>
                        <a:spcAft>
                          <a:spcPts val="1000"/>
                        </a:spcAft>
                        <a:buFont typeface="+mj-lt"/>
                        <a:buAutoNum type="arabicPeriod"/>
                        <a:tabLst>
                          <a:tab pos="457200" algn="l"/>
                        </a:tabLst>
                      </a:pPr>
                      <a:r>
                        <a:rPr lang="en-US" sz="2400" dirty="0"/>
                        <a:t>They are non-adherent deposits and can be easily removed.</a:t>
                      </a:r>
                    </a:p>
                    <a:p>
                      <a:pPr marL="342900" marR="0" lvl="0" indent="-342900" algn="just">
                        <a:lnSpc>
                          <a:spcPct val="115000"/>
                        </a:lnSpc>
                        <a:spcBef>
                          <a:spcPts val="0"/>
                        </a:spcBef>
                        <a:spcAft>
                          <a:spcPts val="1000"/>
                        </a:spcAft>
                        <a:buFont typeface="+mj-lt"/>
                        <a:buAutoNum type="arabicPeriod"/>
                        <a:tabLst>
                          <a:tab pos="457200" algn="l"/>
                        </a:tabLst>
                      </a:pPr>
                      <a:r>
                        <a:rPr lang="en-US" sz="2400" dirty="0"/>
                        <a:t>Formed by substances like CaCl</a:t>
                      </a:r>
                      <a:r>
                        <a:rPr lang="en-US" sz="2400" baseline="-25000" dirty="0"/>
                        <a:t>2 </a:t>
                      </a:r>
                      <a:r>
                        <a:rPr lang="en-US" sz="2400" dirty="0"/>
                        <a:t>, MgCl</a:t>
                      </a:r>
                      <a:r>
                        <a:rPr lang="en-US" sz="2400" baseline="-25000" dirty="0"/>
                        <a:t>2 </a:t>
                      </a:r>
                      <a:r>
                        <a:rPr lang="en-US" sz="2400" dirty="0"/>
                        <a:t>,MgSO</a:t>
                      </a:r>
                      <a:r>
                        <a:rPr lang="en-US" sz="2400" baseline="-25000" dirty="0"/>
                        <a:t>4</a:t>
                      </a:r>
                      <a:r>
                        <a:rPr lang="en-US" sz="2400" dirty="0"/>
                        <a:t>, MgCO</a:t>
                      </a:r>
                      <a:r>
                        <a:rPr lang="en-US" sz="2400" baseline="-25000" dirty="0"/>
                        <a:t>3 </a:t>
                      </a:r>
                      <a:r>
                        <a:rPr lang="en-US" sz="2400" dirty="0"/>
                        <a:t>etc.</a:t>
                      </a:r>
                    </a:p>
                    <a:p>
                      <a:pPr marL="342900" marR="0" lvl="0" indent="-342900" algn="just">
                        <a:lnSpc>
                          <a:spcPct val="115000"/>
                        </a:lnSpc>
                        <a:spcBef>
                          <a:spcPts val="0"/>
                        </a:spcBef>
                        <a:spcAft>
                          <a:spcPts val="1000"/>
                        </a:spcAft>
                        <a:buFont typeface="+mj-lt"/>
                        <a:buAutoNum type="arabicPeriod"/>
                        <a:tabLst>
                          <a:tab pos="457200" algn="l"/>
                        </a:tabLst>
                      </a:pPr>
                      <a:r>
                        <a:rPr lang="en-US" sz="2400" dirty="0"/>
                        <a:t>Formed at comparatively colder portion of the boiler.</a:t>
                      </a:r>
                    </a:p>
                    <a:p>
                      <a:pPr marL="342900" marR="0" lvl="0" indent="-342900" algn="just">
                        <a:lnSpc>
                          <a:spcPct val="115000"/>
                        </a:lnSpc>
                        <a:spcBef>
                          <a:spcPts val="0"/>
                        </a:spcBef>
                        <a:spcAft>
                          <a:spcPts val="1000"/>
                        </a:spcAft>
                        <a:buFont typeface="+mj-lt"/>
                        <a:buAutoNum type="arabicPeriod"/>
                        <a:tabLst>
                          <a:tab pos="457200" algn="l"/>
                        </a:tabLst>
                      </a:pPr>
                      <a:r>
                        <a:rPr lang="en-US" sz="2400" dirty="0"/>
                        <a:t>They decrease the efficiency of boiler but are less dangerous.</a:t>
                      </a:r>
                    </a:p>
                    <a:p>
                      <a:pPr marL="342900" marR="0" lvl="0" indent="-342900" algn="just">
                        <a:lnSpc>
                          <a:spcPct val="115000"/>
                        </a:lnSpc>
                        <a:spcBef>
                          <a:spcPts val="0"/>
                        </a:spcBef>
                        <a:spcAft>
                          <a:spcPts val="1000"/>
                        </a:spcAft>
                        <a:buFont typeface="+mj-lt"/>
                        <a:buAutoNum type="arabicPeriod"/>
                        <a:tabLst>
                          <a:tab pos="457200" algn="l"/>
                        </a:tabLst>
                      </a:pPr>
                      <a:r>
                        <a:rPr lang="en-US" sz="2400" dirty="0"/>
                        <a:t>Can be removed by blow-down operation.</a:t>
                      </a:r>
                      <a:endParaRPr lang="en-US" sz="2400" dirty="0">
                        <a:latin typeface="Times New Roman"/>
                        <a:ea typeface="Calibri"/>
                      </a:endParaRPr>
                    </a:p>
                  </a:txBody>
                  <a:tcPr marL="88287" marR="88287" marT="44143" marB="44143"/>
                </a:tc>
                <a:tc>
                  <a:txBody>
                    <a:bodyPr/>
                    <a:lstStyle/>
                    <a:p>
                      <a:pPr marL="457200" marR="0" lvl="0" indent="-457200" algn="just">
                        <a:lnSpc>
                          <a:spcPct val="115000"/>
                        </a:lnSpc>
                        <a:spcBef>
                          <a:spcPts val="0"/>
                        </a:spcBef>
                        <a:spcAft>
                          <a:spcPts val="1000"/>
                        </a:spcAft>
                        <a:buFont typeface="+mj-lt"/>
                        <a:buAutoNum type="arabicPeriod"/>
                        <a:tabLst>
                          <a:tab pos="194310" algn="l"/>
                        </a:tabLst>
                      </a:pPr>
                      <a:r>
                        <a:rPr lang="en-US" sz="2400" dirty="0"/>
                        <a:t>Scales are hard deposits.</a:t>
                      </a:r>
                    </a:p>
                    <a:p>
                      <a:pPr marL="457200" marR="0" lvl="0" indent="-457200" algn="just">
                        <a:lnSpc>
                          <a:spcPct val="115000"/>
                        </a:lnSpc>
                        <a:spcBef>
                          <a:spcPts val="0"/>
                        </a:spcBef>
                        <a:spcAft>
                          <a:spcPts val="1000"/>
                        </a:spcAft>
                        <a:buFont typeface="+mj-lt"/>
                        <a:buAutoNum type="arabicPeriod"/>
                        <a:tabLst>
                          <a:tab pos="194310" algn="l"/>
                        </a:tabLst>
                      </a:pPr>
                      <a:r>
                        <a:rPr lang="en-US" sz="2400" dirty="0"/>
                        <a:t>They sticks very firmly to the inner surface of boiler and are very difficult to remove.</a:t>
                      </a:r>
                    </a:p>
                    <a:p>
                      <a:pPr marL="457200" marR="0" lvl="0" indent="-457200" algn="just">
                        <a:lnSpc>
                          <a:spcPct val="115000"/>
                        </a:lnSpc>
                        <a:spcBef>
                          <a:spcPts val="0"/>
                        </a:spcBef>
                        <a:spcAft>
                          <a:spcPts val="1000"/>
                        </a:spcAft>
                        <a:buFont typeface="+mj-lt"/>
                        <a:buAutoNum type="arabicPeriod"/>
                        <a:tabLst>
                          <a:tab pos="194310" algn="l"/>
                        </a:tabLst>
                      </a:pPr>
                      <a:r>
                        <a:rPr lang="en-US" sz="2400" dirty="0"/>
                        <a:t>Formed by substance like CaSO</a:t>
                      </a:r>
                      <a:r>
                        <a:rPr lang="en-US" sz="2400" baseline="-25000" dirty="0"/>
                        <a:t>4</a:t>
                      </a:r>
                      <a:r>
                        <a:rPr lang="en-US" sz="2400" dirty="0"/>
                        <a:t>, Mg(OH)</a:t>
                      </a:r>
                      <a:r>
                        <a:rPr lang="en-US" sz="2400" baseline="-25000" dirty="0"/>
                        <a:t>2</a:t>
                      </a:r>
                      <a:r>
                        <a:rPr lang="en-US" sz="2400" dirty="0"/>
                        <a:t> etc. </a:t>
                      </a:r>
                    </a:p>
                    <a:p>
                      <a:pPr marL="457200" marR="0" lvl="0" indent="-457200" algn="just">
                        <a:lnSpc>
                          <a:spcPct val="115000"/>
                        </a:lnSpc>
                        <a:spcBef>
                          <a:spcPts val="0"/>
                        </a:spcBef>
                        <a:spcAft>
                          <a:spcPts val="1000"/>
                        </a:spcAft>
                        <a:buFont typeface="+mj-lt"/>
                        <a:buAutoNum type="arabicPeriod"/>
                        <a:tabLst>
                          <a:tab pos="194310" algn="l"/>
                        </a:tabLst>
                      </a:pPr>
                      <a:r>
                        <a:rPr lang="en-US" sz="2400" dirty="0"/>
                        <a:t>Formed generally at heated portions of the boiler. </a:t>
                      </a:r>
                    </a:p>
                    <a:p>
                      <a:pPr marL="457200" marR="0" lvl="0" indent="-457200" algn="just">
                        <a:lnSpc>
                          <a:spcPct val="115000"/>
                        </a:lnSpc>
                        <a:spcBef>
                          <a:spcPts val="0"/>
                        </a:spcBef>
                        <a:spcAft>
                          <a:spcPts val="1000"/>
                        </a:spcAft>
                        <a:buFont typeface="+mj-lt"/>
                        <a:buAutoNum type="arabicPeriod"/>
                        <a:tabLst>
                          <a:tab pos="194310" algn="l"/>
                        </a:tabLst>
                      </a:pPr>
                      <a:r>
                        <a:rPr lang="en-US" sz="2400" dirty="0"/>
                        <a:t>Decrease the efficiency of boiler and chances of explosions are also there.</a:t>
                      </a:r>
                    </a:p>
                    <a:p>
                      <a:pPr marL="457200" marR="0" lvl="0" indent="-457200" algn="just">
                        <a:lnSpc>
                          <a:spcPct val="115000"/>
                        </a:lnSpc>
                        <a:spcBef>
                          <a:spcPts val="0"/>
                        </a:spcBef>
                        <a:spcAft>
                          <a:spcPts val="1000"/>
                        </a:spcAft>
                        <a:buFont typeface="+mj-lt"/>
                        <a:buAutoNum type="arabicPeriod"/>
                        <a:tabLst>
                          <a:tab pos="194310" algn="l"/>
                        </a:tabLst>
                      </a:pPr>
                      <a:r>
                        <a:rPr lang="en-US" sz="2400" dirty="0"/>
                        <a:t>Cannot be removed by blow-down operation.</a:t>
                      </a:r>
                      <a:endParaRPr lang="en-US" sz="2400" dirty="0">
                        <a:latin typeface="Times New Roman"/>
                        <a:ea typeface="Calibri"/>
                      </a:endParaRPr>
                    </a:p>
                  </a:txBody>
                  <a:tcPr marL="88287" marR="88287" marT="44143" marB="44143"/>
                </a:tc>
                <a:extLst>
                  <a:ext uri="{0D108BD9-81ED-4DB2-BD59-A6C34878D82A}">
                    <a16:rowId xmlns="" xmlns:a16="http://schemas.microsoft.com/office/drawing/2014/main" val="10001"/>
                  </a:ext>
                </a:extLst>
              </a:tr>
            </a:tbl>
          </a:graphicData>
        </a:graphic>
      </p:graphicFrame>
      <p:sp>
        <p:nvSpPr>
          <p:cNvPr id="3" name="Rectangle 2"/>
          <p:cNvSpPr/>
          <p:nvPr/>
        </p:nvSpPr>
        <p:spPr>
          <a:xfrm>
            <a:off x="1981200" y="-76200"/>
            <a:ext cx="8613576" cy="707886"/>
          </a:xfrm>
          <a:prstGeom prst="rect">
            <a:avLst/>
          </a:prstGeom>
        </p:spPr>
        <p:txBody>
          <a:bodyPr wrap="none">
            <a:spAutoFit/>
          </a:bodyPr>
          <a:lstStyle/>
          <a:p>
            <a:r>
              <a:rPr lang="zh-CN" altLang="en-US" sz="4000" b="1" dirty="0">
                <a:solidFill>
                  <a:srgbClr val="C00000"/>
                </a:solidFill>
                <a:latin typeface="Times New Roman" pitchFamily="18" charset="0"/>
                <a:cs typeface="Times New Roman" pitchFamily="18" charset="0"/>
              </a:rPr>
              <a:t>Difference between Sludges and Scales</a:t>
            </a:r>
            <a:endParaRPr lang="en-US" sz="4000" dirty="0">
              <a:solidFill>
                <a:srgbClr val="C00000"/>
              </a:solidFill>
              <a:latin typeface="Times New Roman" pitchFamily="18" charset="0"/>
              <a:cs typeface="Times New Roman"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780157"/>
            <a:ext cx="12039600" cy="6001643"/>
          </a:xfrm>
          <a:prstGeom prst="rect">
            <a:avLst/>
          </a:prstGeom>
        </p:spPr>
        <p:txBody>
          <a:bodyPr wrap="square">
            <a:spAutoFit/>
          </a:bodyPr>
          <a:lstStyle/>
          <a:p>
            <a:pPr lvl="0" algn="just"/>
            <a:r>
              <a:rPr lang="en-US" sz="2400" dirty="0" smtClean="0">
                <a:latin typeface="Times New Roman" pitchFamily="18" charset="0"/>
                <a:cs typeface="Times New Roman" pitchFamily="18" charset="0"/>
              </a:rPr>
              <a:t>Sludges </a:t>
            </a:r>
            <a:r>
              <a:rPr lang="en-US" sz="2400" dirty="0">
                <a:latin typeface="Times New Roman" pitchFamily="18" charset="0"/>
                <a:cs typeface="Times New Roman" pitchFamily="18" charset="0"/>
              </a:rPr>
              <a:t>are soft, loose, and slimy deposits that settle at the bottom of the boiler</a:t>
            </a:r>
            <a:r>
              <a:rPr lang="en-US" sz="2400" dirty="0" smtClean="0">
                <a:latin typeface="Times New Roman" pitchFamily="18" charset="0"/>
                <a:cs typeface="Times New Roman" pitchFamily="18" charset="0"/>
              </a:rPr>
              <a:t>.</a:t>
            </a:r>
          </a:p>
          <a:p>
            <a:pPr lvl="0" algn="just"/>
            <a:endParaRPr lang="en-US" sz="2400" b="1" dirty="0">
              <a:solidFill>
                <a:srgbClr val="C00000"/>
              </a:solidFill>
              <a:latin typeface="Times New Roman" pitchFamily="18" charset="0"/>
              <a:cs typeface="Times New Roman" pitchFamily="18" charset="0"/>
            </a:endParaRPr>
          </a:p>
          <a:p>
            <a:pPr marL="800100" lvl="1" indent="-342900" algn="just">
              <a:buClr>
                <a:srgbClr val="C00000"/>
              </a:buClr>
              <a:buFont typeface="Arial" pitchFamily="34" charset="0"/>
              <a:buChar char="•"/>
            </a:pPr>
            <a:r>
              <a:rPr lang="en-US" sz="2400" dirty="0" smtClean="0">
                <a:latin typeface="Times New Roman" pitchFamily="18" charset="0"/>
                <a:cs typeface="Times New Roman" pitchFamily="18" charset="0"/>
              </a:rPr>
              <a:t>It </a:t>
            </a:r>
            <a:r>
              <a:rPr lang="en-US" sz="2400" dirty="0">
                <a:latin typeface="Times New Roman" pitchFamily="18" charset="0"/>
                <a:cs typeface="Times New Roman" pitchFamily="18" charset="0"/>
              </a:rPr>
              <a:t>is formed at colder portions of the </a:t>
            </a:r>
            <a:r>
              <a:rPr lang="en-US" sz="2400" dirty="0" smtClean="0">
                <a:latin typeface="Times New Roman" pitchFamily="18" charset="0"/>
                <a:cs typeface="Times New Roman" pitchFamily="18" charset="0"/>
              </a:rPr>
              <a:t>boilers.</a:t>
            </a:r>
          </a:p>
          <a:p>
            <a:pPr marL="800100" lvl="1" indent="-342900" algn="just">
              <a:buClr>
                <a:srgbClr val="C00000"/>
              </a:buClr>
              <a:buFont typeface="Arial" pitchFamily="34" charset="0"/>
              <a:buChar char="•"/>
            </a:pPr>
            <a:r>
              <a:rPr lang="en-US" sz="2400" dirty="0" smtClean="0">
                <a:latin typeface="Times New Roman" pitchFamily="18" charset="0"/>
                <a:cs typeface="Times New Roman" pitchFamily="18" charset="0"/>
              </a:rPr>
              <a:t>It </a:t>
            </a:r>
            <a:r>
              <a:rPr lang="en-US" sz="2400" dirty="0">
                <a:latin typeface="Times New Roman" pitchFamily="18" charset="0"/>
                <a:cs typeface="Times New Roman" pitchFamily="18" charset="0"/>
              </a:rPr>
              <a:t>is formed by substances, which have greater solubility in hot water than cold water(MgCO</a:t>
            </a:r>
            <a:r>
              <a:rPr lang="en-US" sz="2400" baseline="-25000" dirty="0">
                <a:latin typeface="Times New Roman" pitchFamily="18" charset="0"/>
                <a:cs typeface="Times New Roman" pitchFamily="18" charset="0"/>
              </a:rPr>
              <a:t>3</a:t>
            </a:r>
            <a:r>
              <a:rPr lang="en-US" sz="2400" dirty="0">
                <a:latin typeface="Times New Roman" pitchFamily="18" charset="0"/>
                <a:cs typeface="Times New Roman" pitchFamily="18" charset="0"/>
              </a:rPr>
              <a:t>,MgCl</a:t>
            </a:r>
            <a:r>
              <a:rPr lang="en-US" sz="2400" baseline="-25000" dirty="0">
                <a:latin typeface="Times New Roman" pitchFamily="18" charset="0"/>
                <a:cs typeface="Times New Roman" pitchFamily="18" charset="0"/>
              </a:rPr>
              <a:t>2</a:t>
            </a:r>
            <a:r>
              <a:rPr lang="en-US" sz="2400" dirty="0">
                <a:latin typeface="Times New Roman" pitchFamily="18" charset="0"/>
                <a:cs typeface="Times New Roman" pitchFamily="18" charset="0"/>
              </a:rPr>
              <a:t>, MgSO</a:t>
            </a:r>
            <a:r>
              <a:rPr lang="en-US" sz="2400" baseline="-25000" dirty="0">
                <a:latin typeface="Times New Roman" pitchFamily="18" charset="0"/>
                <a:cs typeface="Times New Roman" pitchFamily="18" charset="0"/>
              </a:rPr>
              <a:t>4</a:t>
            </a:r>
            <a:r>
              <a:rPr lang="en-US" sz="2400" dirty="0">
                <a:latin typeface="Times New Roman" pitchFamily="18" charset="0"/>
                <a:cs typeface="Times New Roman" pitchFamily="18" charset="0"/>
              </a:rPr>
              <a:t>, CaCl</a:t>
            </a:r>
            <a:r>
              <a:rPr lang="en-US" sz="2400" baseline="-25000" dirty="0">
                <a:latin typeface="Times New Roman" pitchFamily="18" charset="0"/>
                <a:cs typeface="Times New Roman" pitchFamily="18" charset="0"/>
              </a:rPr>
              <a:t>2</a:t>
            </a:r>
            <a:r>
              <a:rPr lang="en-US" sz="2400" dirty="0" smtClean="0">
                <a:latin typeface="Times New Roman" pitchFamily="18" charset="0"/>
                <a:cs typeface="Times New Roman" pitchFamily="18" charset="0"/>
              </a:rPr>
              <a:t>).</a:t>
            </a:r>
          </a:p>
          <a:p>
            <a:pPr marL="800100" lvl="1" indent="-342900" algn="just">
              <a:buClr>
                <a:srgbClr val="C00000"/>
              </a:buClr>
              <a:buFont typeface="Arial" pitchFamily="34" charset="0"/>
              <a:buChar char="•"/>
            </a:pPr>
            <a:r>
              <a:rPr lang="en-US" sz="2400" dirty="0" smtClean="0">
                <a:latin typeface="Times New Roman" pitchFamily="18" charset="0"/>
                <a:cs typeface="Times New Roman" pitchFamily="18" charset="0"/>
              </a:rPr>
              <a:t>It </a:t>
            </a:r>
            <a:r>
              <a:rPr lang="en-US" sz="2400" dirty="0">
                <a:latin typeface="Times New Roman" pitchFamily="18" charset="0"/>
                <a:cs typeface="Times New Roman" pitchFamily="18" charset="0"/>
              </a:rPr>
              <a:t>can easily scrapped off with a wire brush</a:t>
            </a:r>
            <a:r>
              <a:rPr lang="en-US" sz="2400" dirty="0" smtClean="0">
                <a:latin typeface="Times New Roman" pitchFamily="18" charset="0"/>
                <a:cs typeface="Times New Roman" pitchFamily="18" charset="0"/>
              </a:rPr>
              <a:t>.</a:t>
            </a:r>
          </a:p>
          <a:p>
            <a:pPr lvl="1" algn="just">
              <a:buClr>
                <a:srgbClr val="C00000"/>
              </a:buClr>
            </a:pPr>
            <a:endParaRPr lang="en-US" sz="2400" dirty="0">
              <a:latin typeface="Times New Roman" pitchFamily="18" charset="0"/>
              <a:cs typeface="Times New Roman" pitchFamily="18" charset="0"/>
            </a:endParaRPr>
          </a:p>
          <a:p>
            <a:pPr algn="just"/>
            <a:r>
              <a:rPr lang="en-US" sz="2400" b="1" dirty="0" smtClean="0">
                <a:solidFill>
                  <a:srgbClr val="7030A0"/>
                </a:solidFill>
                <a:latin typeface="Times New Roman" pitchFamily="18" charset="0"/>
                <a:cs typeface="Times New Roman" pitchFamily="18" charset="0"/>
              </a:rPr>
              <a:t>Disadvantages:</a:t>
            </a:r>
          </a:p>
          <a:p>
            <a:pPr marL="1714500" lvl="3" indent="-342900">
              <a:buClr>
                <a:srgbClr val="C00000"/>
              </a:buClr>
              <a:buFont typeface="Arial" pitchFamily="34" charset="0"/>
              <a:buChar char="•"/>
            </a:pPr>
            <a:r>
              <a:rPr lang="en-US" sz="2400" dirty="0" smtClean="0">
                <a:latin typeface="Times New Roman" pitchFamily="18" charset="0"/>
                <a:cs typeface="Times New Roman" pitchFamily="18" charset="0"/>
              </a:rPr>
              <a:t>Reduce </a:t>
            </a:r>
            <a:r>
              <a:rPr lang="en-US" sz="2400" dirty="0">
                <a:latin typeface="Times New Roman" pitchFamily="18" charset="0"/>
                <a:cs typeface="Times New Roman" pitchFamily="18" charset="0"/>
              </a:rPr>
              <a:t>boiler </a:t>
            </a:r>
            <a:r>
              <a:rPr lang="en-US" sz="2400" dirty="0" smtClean="0">
                <a:latin typeface="Times New Roman" pitchFamily="18" charset="0"/>
                <a:cs typeface="Times New Roman" pitchFamily="18" charset="0"/>
              </a:rPr>
              <a:t>efficiency</a:t>
            </a:r>
            <a:endParaRPr lang="en-US" sz="2400" dirty="0">
              <a:latin typeface="Times New Roman" pitchFamily="18" charset="0"/>
              <a:cs typeface="Times New Roman" pitchFamily="18" charset="0"/>
            </a:endParaRPr>
          </a:p>
          <a:p>
            <a:pPr marL="1714500" lvl="3" indent="-342900">
              <a:buClr>
                <a:srgbClr val="C00000"/>
              </a:buClr>
              <a:buFont typeface="Arial" pitchFamily="34" charset="0"/>
              <a:buChar char="•"/>
            </a:pPr>
            <a:r>
              <a:rPr lang="en-US" sz="2400" dirty="0" smtClean="0">
                <a:latin typeface="Times New Roman" pitchFamily="18" charset="0"/>
                <a:cs typeface="Times New Roman" pitchFamily="18" charset="0"/>
              </a:rPr>
              <a:t>Cause </a:t>
            </a:r>
            <a:r>
              <a:rPr lang="en-US" sz="2400" dirty="0">
                <a:latin typeface="Times New Roman" pitchFamily="18" charset="0"/>
                <a:cs typeface="Times New Roman" pitchFamily="18" charset="0"/>
              </a:rPr>
              <a:t>blockages in valves and </a:t>
            </a:r>
            <a:r>
              <a:rPr lang="en-US" sz="2400" dirty="0" smtClean="0">
                <a:latin typeface="Times New Roman" pitchFamily="18" charset="0"/>
                <a:cs typeface="Times New Roman" pitchFamily="18" charset="0"/>
              </a:rPr>
              <a:t>pipelines</a:t>
            </a:r>
            <a:endParaRPr lang="en-US" sz="2400" dirty="0">
              <a:latin typeface="Times New Roman" pitchFamily="18" charset="0"/>
              <a:cs typeface="Times New Roman" pitchFamily="18" charset="0"/>
            </a:endParaRPr>
          </a:p>
          <a:p>
            <a:pPr marL="1714500" lvl="3" indent="-342900">
              <a:buClr>
                <a:srgbClr val="C00000"/>
              </a:buClr>
              <a:buFont typeface="Arial" pitchFamily="34" charset="0"/>
              <a:buChar char="•"/>
            </a:pPr>
            <a:r>
              <a:rPr lang="en-US" sz="2400" dirty="0" smtClean="0">
                <a:latin typeface="Times New Roman" pitchFamily="18" charset="0"/>
                <a:cs typeface="Times New Roman" pitchFamily="18" charset="0"/>
              </a:rPr>
              <a:t>Promote </a:t>
            </a:r>
            <a:r>
              <a:rPr lang="en-US" sz="2400" dirty="0">
                <a:latin typeface="Times New Roman" pitchFamily="18" charset="0"/>
                <a:cs typeface="Times New Roman" pitchFamily="18" charset="0"/>
              </a:rPr>
              <a:t>corrosion</a:t>
            </a:r>
          </a:p>
          <a:p>
            <a:pPr lvl="0" algn="just">
              <a:buClr>
                <a:srgbClr val="C00000"/>
              </a:buClr>
            </a:pPr>
            <a:endParaRPr lang="en-US" sz="2400" dirty="0">
              <a:latin typeface="Times New Roman" pitchFamily="18" charset="0"/>
              <a:cs typeface="Times New Roman" pitchFamily="18" charset="0"/>
            </a:endParaRPr>
          </a:p>
          <a:p>
            <a:pPr algn="just"/>
            <a:r>
              <a:rPr lang="en-US" sz="2400" b="1" dirty="0">
                <a:solidFill>
                  <a:srgbClr val="002060"/>
                </a:solidFill>
                <a:latin typeface="Times New Roman" pitchFamily="18" charset="0"/>
                <a:cs typeface="Times New Roman" pitchFamily="18" charset="0"/>
              </a:rPr>
              <a:t>Prevention of Sludge Formation:</a:t>
            </a:r>
          </a:p>
          <a:p>
            <a:pPr marL="1257300" lvl="2" indent="-342900">
              <a:buClr>
                <a:srgbClr val="C00000"/>
              </a:buClr>
              <a:buFont typeface="Arial" pitchFamily="34" charset="0"/>
              <a:buChar char="•"/>
            </a:pPr>
            <a:r>
              <a:rPr lang="en-US" sz="2400" dirty="0" smtClean="0">
                <a:latin typeface="Times New Roman" pitchFamily="18" charset="0"/>
                <a:cs typeface="Times New Roman" pitchFamily="18" charset="0"/>
              </a:rPr>
              <a:t>Blow-down </a:t>
            </a:r>
            <a:r>
              <a:rPr lang="en-US" sz="2400" dirty="0">
                <a:latin typeface="Times New Roman" pitchFamily="18" charset="0"/>
                <a:cs typeface="Times New Roman" pitchFamily="18" charset="0"/>
              </a:rPr>
              <a:t>operation (discharge of water from boiler </a:t>
            </a:r>
            <a:r>
              <a:rPr lang="en-US" sz="2400" dirty="0" smtClean="0">
                <a:latin typeface="Times New Roman" pitchFamily="18" charset="0"/>
                <a:cs typeface="Times New Roman" pitchFamily="18" charset="0"/>
              </a:rPr>
              <a:t>bottom)</a:t>
            </a:r>
            <a:endParaRPr lang="en-US" sz="2400" dirty="0">
              <a:latin typeface="Times New Roman" pitchFamily="18" charset="0"/>
              <a:cs typeface="Times New Roman" pitchFamily="18" charset="0"/>
            </a:endParaRPr>
          </a:p>
          <a:p>
            <a:pPr marL="1257300" lvl="2" indent="-342900">
              <a:buClr>
                <a:srgbClr val="C00000"/>
              </a:buClr>
              <a:buFont typeface="Arial" pitchFamily="34" charset="0"/>
              <a:buChar char="•"/>
            </a:pPr>
            <a:r>
              <a:rPr lang="en-US" sz="2400" dirty="0" smtClean="0">
                <a:latin typeface="Times New Roman" pitchFamily="18" charset="0"/>
                <a:cs typeface="Times New Roman" pitchFamily="18" charset="0"/>
              </a:rPr>
              <a:t>Chemical treatment</a:t>
            </a:r>
            <a:endParaRPr lang="en-US" sz="2400" dirty="0">
              <a:latin typeface="Times New Roman" pitchFamily="18" charset="0"/>
              <a:cs typeface="Times New Roman" pitchFamily="18" charset="0"/>
            </a:endParaRPr>
          </a:p>
          <a:p>
            <a:pPr marL="1257300" lvl="2" indent="-342900">
              <a:buClr>
                <a:srgbClr val="C00000"/>
              </a:buClr>
              <a:buFont typeface="Arial" pitchFamily="34" charset="0"/>
              <a:buChar char="•"/>
            </a:pPr>
            <a:r>
              <a:rPr lang="en-US" sz="2400" dirty="0" smtClean="0">
                <a:latin typeface="Times New Roman" pitchFamily="18" charset="0"/>
                <a:cs typeface="Times New Roman" pitchFamily="18" charset="0"/>
              </a:rPr>
              <a:t>External </a:t>
            </a:r>
            <a:r>
              <a:rPr lang="en-US" sz="2400" dirty="0">
                <a:latin typeface="Times New Roman" pitchFamily="18" charset="0"/>
                <a:cs typeface="Times New Roman" pitchFamily="18" charset="0"/>
              </a:rPr>
              <a:t>water treatment (lime-soda, zeolite, ion exchange, demineralization)</a:t>
            </a:r>
          </a:p>
        </p:txBody>
      </p:sp>
      <p:sp>
        <p:nvSpPr>
          <p:cNvPr id="3" name="Rectangle 2"/>
          <p:cNvSpPr/>
          <p:nvPr/>
        </p:nvSpPr>
        <p:spPr>
          <a:xfrm>
            <a:off x="5410200" y="228600"/>
            <a:ext cx="1872629" cy="584775"/>
          </a:xfrm>
          <a:prstGeom prst="rect">
            <a:avLst/>
          </a:prstGeom>
        </p:spPr>
        <p:txBody>
          <a:bodyPr wrap="none">
            <a:spAutoFit/>
          </a:bodyPr>
          <a:lstStyle/>
          <a:p>
            <a:r>
              <a:rPr lang="en-US" sz="3200" b="1" dirty="0">
                <a:solidFill>
                  <a:srgbClr val="C00000"/>
                </a:solidFill>
                <a:latin typeface="Times New Roman" pitchFamily="18" charset="0"/>
                <a:cs typeface="Times New Roman" pitchFamily="18" charset="0"/>
              </a:rPr>
              <a:t>SLUDGE</a:t>
            </a:r>
            <a:endParaRPr lang="en-US" sz="3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609600"/>
            <a:ext cx="12420600" cy="6001643"/>
          </a:xfrm>
          <a:prstGeom prst="rect">
            <a:avLst/>
          </a:prstGeom>
        </p:spPr>
        <p:txBody>
          <a:bodyPr wrap="square">
            <a:spAutoFit/>
          </a:bodyPr>
          <a:lstStyle/>
          <a:p>
            <a:pPr algn="just"/>
            <a:r>
              <a:rPr lang="en-US" sz="2400" dirty="0" smtClean="0">
                <a:latin typeface="Times New Roman" pitchFamily="18" charset="0"/>
                <a:cs typeface="Times New Roman" pitchFamily="18" charset="0"/>
              </a:rPr>
              <a:t>Scales </a:t>
            </a:r>
            <a:r>
              <a:rPr lang="en-US" sz="2400" dirty="0">
                <a:latin typeface="Times New Roman" pitchFamily="18" charset="0"/>
                <a:cs typeface="Times New Roman" pitchFamily="18" charset="0"/>
              </a:rPr>
              <a:t>are hard, adherent, and crystalline deposits that stick firmly to the boiler </a:t>
            </a:r>
            <a:r>
              <a:rPr lang="en-US" sz="2400" dirty="0" smtClean="0">
                <a:latin typeface="Times New Roman" pitchFamily="18" charset="0"/>
                <a:cs typeface="Times New Roman" pitchFamily="18" charset="0"/>
              </a:rPr>
              <a:t>walls. </a:t>
            </a:r>
            <a:r>
              <a:rPr lang="en-US" sz="2400" dirty="0" smtClean="0">
                <a:latin typeface="Times New Roman" pitchFamily="18" charset="0"/>
                <a:cs typeface="Times New Roman" pitchFamily="18" charset="0"/>
              </a:rPr>
              <a:t>Scales </a:t>
            </a:r>
            <a:r>
              <a:rPr lang="en-US" sz="2400" dirty="0">
                <a:latin typeface="Times New Roman" pitchFamily="18" charset="0"/>
                <a:cs typeface="Times New Roman" pitchFamily="18" charset="0"/>
              </a:rPr>
              <a:t>may be formed inside the boiler due to</a:t>
            </a:r>
            <a:r>
              <a:rPr lang="en-US" sz="2400" dirty="0" smtClean="0">
                <a:latin typeface="Times New Roman" pitchFamily="18" charset="0"/>
                <a:cs typeface="Times New Roman" pitchFamily="18" charset="0"/>
              </a:rPr>
              <a:t>:</a:t>
            </a:r>
            <a:endParaRPr lang="en-US" sz="2400" dirty="0">
              <a:latin typeface="Times New Roman" pitchFamily="18" charset="0"/>
              <a:cs typeface="Times New Roman" pitchFamily="18" charset="0"/>
            </a:endParaRPr>
          </a:p>
          <a:p>
            <a:pPr marL="4622800" indent="-4622800" algn="just"/>
            <a:r>
              <a:rPr lang="en-US" sz="2400" b="1" dirty="0">
                <a:solidFill>
                  <a:srgbClr val="7030A0"/>
                </a:solidFill>
                <a:latin typeface="Times New Roman" pitchFamily="18" charset="0"/>
                <a:cs typeface="Times New Roman" pitchFamily="18" charset="0"/>
              </a:rPr>
              <a:t>A).Decomposition of Ca (HCO</a:t>
            </a:r>
            <a:r>
              <a:rPr lang="en-US" sz="2400" b="1" baseline="-25000" dirty="0">
                <a:solidFill>
                  <a:srgbClr val="7030A0"/>
                </a:solidFill>
                <a:latin typeface="Times New Roman" pitchFamily="18" charset="0"/>
                <a:cs typeface="Times New Roman" pitchFamily="18" charset="0"/>
              </a:rPr>
              <a:t>3</a:t>
            </a:r>
            <a:r>
              <a:rPr lang="en-US" sz="2400" b="1" dirty="0">
                <a:solidFill>
                  <a:srgbClr val="7030A0"/>
                </a:solidFill>
                <a:latin typeface="Times New Roman" pitchFamily="18" charset="0"/>
                <a:cs typeface="Times New Roman" pitchFamily="18" charset="0"/>
              </a:rPr>
              <a:t>)</a:t>
            </a:r>
            <a:r>
              <a:rPr lang="en-US" sz="2400" b="1" baseline="-25000" dirty="0">
                <a:solidFill>
                  <a:srgbClr val="7030A0"/>
                </a:solidFill>
                <a:latin typeface="Times New Roman" pitchFamily="18" charset="0"/>
                <a:cs typeface="Times New Roman" pitchFamily="18" charset="0"/>
              </a:rPr>
              <a:t>2</a:t>
            </a:r>
            <a:r>
              <a:rPr lang="en-US" sz="2400" b="1" dirty="0">
                <a:solidFill>
                  <a:srgbClr val="7030A0"/>
                </a:solidFill>
                <a:latin typeface="Times New Roman" pitchFamily="18" charset="0"/>
                <a:cs typeface="Times New Roman" pitchFamily="18" charset="0"/>
              </a:rPr>
              <a:t>:-</a:t>
            </a:r>
            <a:r>
              <a:rPr lang="en-US" sz="2400" dirty="0">
                <a:latin typeface="Times New Roman" pitchFamily="18" charset="0"/>
                <a:cs typeface="Times New Roman" pitchFamily="18" charset="0"/>
              </a:rPr>
              <a:t>In low pressure boilers CaCO3 causes scale formation, but high pressure boilers CaCO3 is soluble</a:t>
            </a:r>
            <a:r>
              <a:rPr lang="en-US" sz="2400" b="1" dirty="0">
                <a:latin typeface="Times New Roman" pitchFamily="18" charset="0"/>
                <a:cs typeface="Times New Roman" pitchFamily="18" charset="0"/>
              </a:rPr>
              <a:t> </a:t>
            </a:r>
            <a:endParaRPr lang="en-US" sz="2400" dirty="0">
              <a:latin typeface="Times New Roman" pitchFamily="18" charset="0"/>
              <a:cs typeface="Times New Roman" pitchFamily="18" charset="0"/>
            </a:endParaRPr>
          </a:p>
          <a:p>
            <a:pPr algn="just"/>
            <a:endParaRPr lang="en-US" sz="2400" b="1" dirty="0">
              <a:solidFill>
                <a:srgbClr val="7030A0"/>
              </a:solidFill>
              <a:latin typeface="Times New Roman" pitchFamily="18" charset="0"/>
              <a:cs typeface="Times New Roman" pitchFamily="18" charset="0"/>
            </a:endParaRPr>
          </a:p>
          <a:p>
            <a:pPr lvl="8" algn="just"/>
            <a:r>
              <a:rPr lang="en-US" sz="2400" b="1" dirty="0">
                <a:solidFill>
                  <a:srgbClr val="0070C0"/>
                </a:solidFill>
                <a:latin typeface="Times New Roman" pitchFamily="18" charset="0"/>
                <a:cs typeface="Times New Roman" pitchFamily="18" charset="0"/>
              </a:rPr>
              <a:t>                 Ca (HCO</a:t>
            </a:r>
            <a:r>
              <a:rPr lang="en-US" sz="2400" b="1" baseline="-25000" dirty="0">
                <a:solidFill>
                  <a:srgbClr val="0070C0"/>
                </a:solidFill>
                <a:latin typeface="Times New Roman" pitchFamily="18" charset="0"/>
                <a:cs typeface="Times New Roman" pitchFamily="18" charset="0"/>
              </a:rPr>
              <a:t>3</a:t>
            </a:r>
            <a:r>
              <a:rPr lang="en-US" sz="2400" b="1" dirty="0">
                <a:solidFill>
                  <a:srgbClr val="0070C0"/>
                </a:solidFill>
                <a:latin typeface="Times New Roman" pitchFamily="18" charset="0"/>
                <a:cs typeface="Times New Roman" pitchFamily="18" charset="0"/>
              </a:rPr>
              <a:t>)</a:t>
            </a:r>
            <a:r>
              <a:rPr lang="en-US" sz="2400" b="1" baseline="-25000" dirty="0">
                <a:solidFill>
                  <a:srgbClr val="0070C0"/>
                </a:solidFill>
                <a:latin typeface="Times New Roman" pitchFamily="18" charset="0"/>
                <a:cs typeface="Times New Roman" pitchFamily="18" charset="0"/>
              </a:rPr>
              <a:t>2 </a:t>
            </a:r>
            <a:r>
              <a:rPr lang="en-US" sz="2400" b="1" dirty="0">
                <a:solidFill>
                  <a:srgbClr val="0070C0"/>
                </a:solidFill>
                <a:latin typeface="Times New Roman" pitchFamily="18" charset="0"/>
                <a:cs typeface="Times New Roman" pitchFamily="18" charset="0"/>
              </a:rPr>
              <a:t>→ CaCO</a:t>
            </a:r>
            <a:r>
              <a:rPr lang="en-US" sz="2400" b="1" baseline="-25000" dirty="0">
                <a:solidFill>
                  <a:srgbClr val="0070C0"/>
                </a:solidFill>
                <a:latin typeface="Times New Roman" pitchFamily="18" charset="0"/>
                <a:cs typeface="Times New Roman" pitchFamily="18" charset="0"/>
              </a:rPr>
              <a:t>3</a:t>
            </a:r>
            <a:r>
              <a:rPr lang="en-US" sz="2400" b="1" dirty="0">
                <a:solidFill>
                  <a:srgbClr val="0070C0"/>
                </a:solidFill>
                <a:latin typeface="Times New Roman" pitchFamily="18" charset="0"/>
                <a:cs typeface="Times New Roman" pitchFamily="18" charset="0"/>
              </a:rPr>
              <a:t>↓ +H</a:t>
            </a:r>
            <a:r>
              <a:rPr lang="en-US" sz="2400" b="1" baseline="-25000" dirty="0">
                <a:solidFill>
                  <a:srgbClr val="0070C0"/>
                </a:solidFill>
                <a:latin typeface="Times New Roman" pitchFamily="18" charset="0"/>
                <a:cs typeface="Times New Roman" pitchFamily="18" charset="0"/>
              </a:rPr>
              <a:t>2</a:t>
            </a:r>
            <a:r>
              <a:rPr lang="en-US" sz="2400" b="1" dirty="0">
                <a:solidFill>
                  <a:srgbClr val="0070C0"/>
                </a:solidFill>
                <a:latin typeface="Times New Roman" pitchFamily="18" charset="0"/>
                <a:cs typeface="Times New Roman" pitchFamily="18" charset="0"/>
              </a:rPr>
              <a:t>O +CO</a:t>
            </a:r>
            <a:r>
              <a:rPr lang="en-US" sz="2400" b="1" baseline="-25000" dirty="0">
                <a:solidFill>
                  <a:srgbClr val="0070C0"/>
                </a:solidFill>
                <a:latin typeface="Times New Roman" pitchFamily="18" charset="0"/>
                <a:cs typeface="Times New Roman" pitchFamily="18" charset="0"/>
              </a:rPr>
              <a:t>2</a:t>
            </a:r>
            <a:r>
              <a:rPr lang="en-US" sz="2400" b="1" dirty="0">
                <a:solidFill>
                  <a:srgbClr val="0070C0"/>
                </a:solidFill>
                <a:latin typeface="Times New Roman" pitchFamily="18" charset="0"/>
                <a:cs typeface="Times New Roman" pitchFamily="18" charset="0"/>
              </a:rPr>
              <a:t>↑                                        </a:t>
            </a:r>
            <a:endParaRPr lang="en-US" sz="2400" dirty="0">
              <a:solidFill>
                <a:srgbClr val="0070C0"/>
              </a:solidFill>
              <a:latin typeface="Times New Roman" pitchFamily="18" charset="0"/>
              <a:cs typeface="Times New Roman" pitchFamily="18" charset="0"/>
            </a:endParaRPr>
          </a:p>
          <a:p>
            <a:pPr lvl="8" algn="just"/>
            <a:r>
              <a:rPr lang="en-US" sz="2400" dirty="0">
                <a:solidFill>
                  <a:srgbClr val="0070C0"/>
                </a:solidFill>
                <a:latin typeface="Times New Roman" pitchFamily="18" charset="0"/>
                <a:cs typeface="Times New Roman" pitchFamily="18" charset="0"/>
              </a:rPr>
              <a:t>                </a:t>
            </a:r>
            <a:r>
              <a:rPr lang="en-US" sz="2400" b="1" dirty="0">
                <a:solidFill>
                  <a:srgbClr val="0070C0"/>
                </a:solidFill>
                <a:latin typeface="Times New Roman" pitchFamily="18" charset="0"/>
                <a:cs typeface="Times New Roman" pitchFamily="18" charset="0"/>
              </a:rPr>
              <a:t>CaCO</a:t>
            </a:r>
            <a:r>
              <a:rPr lang="en-US" sz="2400" b="1" baseline="-25000" dirty="0">
                <a:solidFill>
                  <a:srgbClr val="0070C0"/>
                </a:solidFill>
                <a:latin typeface="Times New Roman" pitchFamily="18" charset="0"/>
                <a:cs typeface="Times New Roman" pitchFamily="18" charset="0"/>
              </a:rPr>
              <a:t>3  </a:t>
            </a:r>
            <a:r>
              <a:rPr lang="en-US" sz="2400" b="1" dirty="0">
                <a:solidFill>
                  <a:srgbClr val="0070C0"/>
                </a:solidFill>
                <a:latin typeface="Times New Roman" pitchFamily="18" charset="0"/>
                <a:cs typeface="Times New Roman" pitchFamily="18" charset="0"/>
              </a:rPr>
              <a:t>+ H</a:t>
            </a:r>
            <a:r>
              <a:rPr lang="en-US" sz="2400" b="1" baseline="-25000" dirty="0">
                <a:solidFill>
                  <a:srgbClr val="0070C0"/>
                </a:solidFill>
                <a:latin typeface="Times New Roman" pitchFamily="18" charset="0"/>
                <a:cs typeface="Times New Roman" pitchFamily="18" charset="0"/>
              </a:rPr>
              <a:t>2</a:t>
            </a:r>
            <a:r>
              <a:rPr lang="en-US" sz="2400" b="1" dirty="0">
                <a:solidFill>
                  <a:srgbClr val="0070C0"/>
                </a:solidFill>
                <a:latin typeface="Times New Roman" pitchFamily="18" charset="0"/>
                <a:cs typeface="Times New Roman" pitchFamily="18" charset="0"/>
              </a:rPr>
              <a:t>O → Ca(OH)</a:t>
            </a:r>
            <a:r>
              <a:rPr lang="en-US" sz="2400" b="1" baseline="-25000" dirty="0">
                <a:solidFill>
                  <a:srgbClr val="0070C0"/>
                </a:solidFill>
                <a:latin typeface="Times New Roman" pitchFamily="18" charset="0"/>
                <a:cs typeface="Times New Roman" pitchFamily="18" charset="0"/>
              </a:rPr>
              <a:t>2</a:t>
            </a:r>
            <a:r>
              <a:rPr lang="en-US" sz="2400" b="1" dirty="0">
                <a:solidFill>
                  <a:srgbClr val="0070C0"/>
                </a:solidFill>
                <a:latin typeface="Times New Roman" pitchFamily="18" charset="0"/>
                <a:cs typeface="Times New Roman" pitchFamily="18" charset="0"/>
              </a:rPr>
              <a:t>  + CO</a:t>
            </a:r>
            <a:r>
              <a:rPr lang="en-US" sz="2400" b="1" baseline="-25000" dirty="0">
                <a:solidFill>
                  <a:srgbClr val="0070C0"/>
                </a:solidFill>
                <a:latin typeface="Times New Roman" pitchFamily="18" charset="0"/>
                <a:cs typeface="Times New Roman" pitchFamily="18" charset="0"/>
              </a:rPr>
              <a:t>2</a:t>
            </a:r>
            <a:r>
              <a:rPr lang="en-US" sz="2400" b="1" dirty="0">
                <a:solidFill>
                  <a:srgbClr val="0070C0"/>
                </a:solidFill>
                <a:latin typeface="Times New Roman" pitchFamily="18" charset="0"/>
                <a:cs typeface="Times New Roman" pitchFamily="18" charset="0"/>
              </a:rPr>
              <a:t>↑ </a:t>
            </a:r>
          </a:p>
          <a:p>
            <a:pPr lvl="8" algn="just"/>
            <a:endParaRPr lang="en-US" sz="2400" b="1" dirty="0">
              <a:solidFill>
                <a:srgbClr val="0070C0"/>
              </a:solidFill>
              <a:latin typeface="Times New Roman" pitchFamily="18" charset="0"/>
              <a:cs typeface="Times New Roman" pitchFamily="18" charset="0"/>
            </a:endParaRPr>
          </a:p>
          <a:p>
            <a:pPr marL="3141663" indent="-3141663" algn="just"/>
            <a:r>
              <a:rPr lang="en-US" sz="2400" b="1" dirty="0">
                <a:solidFill>
                  <a:srgbClr val="7030A0"/>
                </a:solidFill>
                <a:latin typeface="Times New Roman" pitchFamily="18" charset="0"/>
                <a:cs typeface="Times New Roman" pitchFamily="18" charset="0"/>
              </a:rPr>
              <a:t>B). Deposits of CaSO</a:t>
            </a:r>
            <a:r>
              <a:rPr lang="en-US" sz="2400" b="1" baseline="-25000" dirty="0">
                <a:solidFill>
                  <a:srgbClr val="7030A0"/>
                </a:solidFill>
                <a:latin typeface="Times New Roman" pitchFamily="18" charset="0"/>
                <a:cs typeface="Times New Roman" pitchFamily="18" charset="0"/>
              </a:rPr>
              <a:t>4</a:t>
            </a:r>
            <a:r>
              <a:rPr lang="en-US" sz="2400" b="1" dirty="0">
                <a:solidFill>
                  <a:srgbClr val="7030A0"/>
                </a:solidFill>
                <a:latin typeface="Times New Roman" pitchFamily="18" charset="0"/>
                <a:cs typeface="Times New Roman" pitchFamily="18" charset="0"/>
              </a:rPr>
              <a:t>:-</a:t>
            </a:r>
            <a:r>
              <a:rPr lang="en-US" sz="2400" dirty="0">
                <a:solidFill>
                  <a:srgbClr val="7030A0"/>
                </a:solidFill>
                <a:latin typeface="Times New Roman" pitchFamily="18" charset="0"/>
                <a:cs typeface="Times New Roman" pitchFamily="18" charset="0"/>
              </a:rPr>
              <a:t> </a:t>
            </a:r>
            <a:r>
              <a:rPr lang="en-US" sz="2400" dirty="0">
                <a:latin typeface="Times New Roman" pitchFamily="18" charset="0"/>
                <a:cs typeface="Times New Roman" pitchFamily="18" charset="0"/>
              </a:rPr>
              <a:t>The solubility of CaSO</a:t>
            </a:r>
            <a:r>
              <a:rPr lang="en-US" sz="2400" baseline="-25000" dirty="0">
                <a:latin typeface="Times New Roman" pitchFamily="18" charset="0"/>
                <a:cs typeface="Times New Roman" pitchFamily="18" charset="0"/>
              </a:rPr>
              <a:t>4 </a:t>
            </a:r>
            <a:r>
              <a:rPr lang="en-US" sz="2400" dirty="0">
                <a:latin typeface="Times New Roman" pitchFamily="18" charset="0"/>
                <a:cs typeface="Times New Roman" pitchFamily="18" charset="0"/>
              </a:rPr>
              <a:t>decreases with increasing the temperature. So it is soluble in cold water and insoluble in hot water. Hence it get precipitated in hotter region. </a:t>
            </a:r>
          </a:p>
          <a:p>
            <a:pPr algn="just"/>
            <a:r>
              <a:rPr lang="en-US" sz="2400" b="1" dirty="0">
                <a:solidFill>
                  <a:srgbClr val="7030A0"/>
                </a:solidFill>
                <a:latin typeface="Times New Roman" pitchFamily="18" charset="0"/>
                <a:cs typeface="Times New Roman" pitchFamily="18" charset="0"/>
              </a:rPr>
              <a:t>C). Hydrolysis of MgCl</a:t>
            </a:r>
            <a:r>
              <a:rPr lang="en-US" sz="2400" b="1" baseline="-25000" dirty="0">
                <a:solidFill>
                  <a:srgbClr val="7030A0"/>
                </a:solidFill>
                <a:latin typeface="Times New Roman" pitchFamily="18" charset="0"/>
                <a:cs typeface="Times New Roman" pitchFamily="18" charset="0"/>
              </a:rPr>
              <a:t>2</a:t>
            </a:r>
            <a:r>
              <a:rPr lang="en-US" sz="2400" b="1" dirty="0">
                <a:solidFill>
                  <a:srgbClr val="7030A0"/>
                </a:solidFill>
                <a:latin typeface="Times New Roman" pitchFamily="18" charset="0"/>
                <a:cs typeface="Times New Roman" pitchFamily="18" charset="0"/>
              </a:rPr>
              <a:t>:-</a:t>
            </a:r>
            <a:r>
              <a:rPr lang="en-US" sz="2400" dirty="0">
                <a:solidFill>
                  <a:srgbClr val="7030A0"/>
                </a:solidFill>
                <a:latin typeface="Times New Roman" pitchFamily="18" charset="0"/>
                <a:cs typeface="Times New Roman" pitchFamily="18" charset="0"/>
              </a:rPr>
              <a:t> </a:t>
            </a:r>
          </a:p>
          <a:p>
            <a:pPr algn="just"/>
            <a:r>
              <a:rPr lang="en-US" sz="2400" dirty="0">
                <a:latin typeface="Times New Roman" pitchFamily="18" charset="0"/>
                <a:cs typeface="Times New Roman" pitchFamily="18" charset="0"/>
              </a:rPr>
              <a:t>                  			</a:t>
            </a:r>
            <a:r>
              <a:rPr lang="en-US" sz="2400" b="1" dirty="0">
                <a:solidFill>
                  <a:srgbClr val="0070C0"/>
                </a:solidFill>
                <a:latin typeface="Times New Roman" pitchFamily="18" charset="0"/>
                <a:cs typeface="Times New Roman" pitchFamily="18" charset="0"/>
              </a:rPr>
              <a:t>MgCl</a:t>
            </a:r>
            <a:r>
              <a:rPr lang="en-US" sz="2400" b="1" baseline="-25000" dirty="0">
                <a:solidFill>
                  <a:srgbClr val="0070C0"/>
                </a:solidFill>
                <a:latin typeface="Times New Roman" pitchFamily="18" charset="0"/>
                <a:cs typeface="Times New Roman" pitchFamily="18" charset="0"/>
              </a:rPr>
              <a:t>2</a:t>
            </a:r>
            <a:r>
              <a:rPr lang="en-US" sz="2400" b="1" dirty="0">
                <a:solidFill>
                  <a:srgbClr val="0070C0"/>
                </a:solidFill>
                <a:latin typeface="Times New Roman" pitchFamily="18" charset="0"/>
                <a:cs typeface="Times New Roman" pitchFamily="18" charset="0"/>
              </a:rPr>
              <a:t> + 2H</a:t>
            </a:r>
            <a:r>
              <a:rPr lang="en-US" sz="2400" b="1" baseline="-25000" dirty="0">
                <a:solidFill>
                  <a:srgbClr val="0070C0"/>
                </a:solidFill>
                <a:latin typeface="Times New Roman" pitchFamily="18" charset="0"/>
                <a:cs typeface="Times New Roman" pitchFamily="18" charset="0"/>
              </a:rPr>
              <a:t>2</a:t>
            </a:r>
            <a:r>
              <a:rPr lang="en-US" sz="2400" b="1" dirty="0">
                <a:solidFill>
                  <a:srgbClr val="0070C0"/>
                </a:solidFill>
                <a:latin typeface="Times New Roman" pitchFamily="18" charset="0"/>
                <a:cs typeface="Times New Roman" pitchFamily="18" charset="0"/>
              </a:rPr>
              <a:t>O  → Mg(OH)</a:t>
            </a:r>
            <a:r>
              <a:rPr lang="en-US" sz="2400" b="1" baseline="-25000" dirty="0">
                <a:solidFill>
                  <a:srgbClr val="0070C0"/>
                </a:solidFill>
                <a:latin typeface="Times New Roman" pitchFamily="18" charset="0"/>
                <a:cs typeface="Times New Roman" pitchFamily="18" charset="0"/>
              </a:rPr>
              <a:t>2 </a:t>
            </a:r>
            <a:r>
              <a:rPr lang="en-US" sz="2400" b="1" dirty="0">
                <a:solidFill>
                  <a:srgbClr val="0070C0"/>
                </a:solidFill>
                <a:latin typeface="Times New Roman" pitchFamily="18" charset="0"/>
                <a:cs typeface="Times New Roman" pitchFamily="18" charset="0"/>
              </a:rPr>
              <a:t>↓ + 2HCl </a:t>
            </a:r>
          </a:p>
          <a:p>
            <a:pPr algn="just"/>
            <a:r>
              <a:rPr lang="en-US" sz="2400" b="1" dirty="0">
                <a:solidFill>
                  <a:srgbClr val="0070C0"/>
                </a:solidFill>
                <a:latin typeface="Times New Roman" pitchFamily="18" charset="0"/>
                <a:cs typeface="Times New Roman" pitchFamily="18" charset="0"/>
              </a:rPr>
              <a:t>                                                  </a:t>
            </a:r>
            <a:endParaRPr lang="en-US" sz="2400" dirty="0">
              <a:solidFill>
                <a:srgbClr val="0070C0"/>
              </a:solidFill>
              <a:latin typeface="Times New Roman" pitchFamily="18" charset="0"/>
              <a:cs typeface="Times New Roman" pitchFamily="18" charset="0"/>
            </a:endParaRPr>
          </a:p>
          <a:p>
            <a:pPr marL="2974975" indent="-2974975" algn="just"/>
            <a:r>
              <a:rPr lang="en-US" sz="2400" b="1" dirty="0">
                <a:solidFill>
                  <a:srgbClr val="7030A0"/>
                </a:solidFill>
                <a:latin typeface="Times New Roman" pitchFamily="18" charset="0"/>
                <a:cs typeface="Times New Roman" pitchFamily="18" charset="0"/>
              </a:rPr>
              <a:t>D). Presence of silica:- </a:t>
            </a:r>
            <a:r>
              <a:rPr lang="en-US" sz="2400" dirty="0">
                <a:latin typeface="Times New Roman" pitchFamily="18" charset="0"/>
                <a:cs typeface="Times New Roman" pitchFamily="18" charset="0"/>
              </a:rPr>
              <a:t>Even if small quantity of SiO</a:t>
            </a:r>
            <a:r>
              <a:rPr lang="en-US" sz="2400" baseline="-25000" dirty="0">
                <a:latin typeface="Times New Roman" pitchFamily="18" charset="0"/>
                <a:cs typeface="Times New Roman" pitchFamily="18" charset="0"/>
              </a:rPr>
              <a:t>2</a:t>
            </a:r>
            <a:r>
              <a:rPr lang="en-US" sz="2400" dirty="0">
                <a:latin typeface="Times New Roman" pitchFamily="18" charset="0"/>
                <a:cs typeface="Times New Roman" pitchFamily="18" charset="0"/>
              </a:rPr>
              <a:t> is present, it may deposits as CaSiO</a:t>
            </a:r>
            <a:r>
              <a:rPr lang="en-US" sz="2400" baseline="-25000" dirty="0">
                <a:latin typeface="Times New Roman" pitchFamily="18" charset="0"/>
                <a:cs typeface="Times New Roman" pitchFamily="18" charset="0"/>
              </a:rPr>
              <a:t>3</a:t>
            </a:r>
            <a:r>
              <a:rPr lang="en-US" sz="2400" dirty="0">
                <a:latin typeface="Times New Roman" pitchFamily="18" charset="0"/>
                <a:cs typeface="Times New Roman" pitchFamily="18" charset="0"/>
              </a:rPr>
              <a:t> (or) MgSiO</a:t>
            </a:r>
            <a:r>
              <a:rPr lang="en-US" sz="2400" baseline="-25000" dirty="0">
                <a:latin typeface="Times New Roman" pitchFamily="18" charset="0"/>
                <a:cs typeface="Times New Roman" pitchFamily="18" charset="0"/>
              </a:rPr>
              <a:t>3</a:t>
            </a:r>
            <a:r>
              <a:rPr lang="en-US" sz="2400" dirty="0">
                <a:latin typeface="Times New Roman" pitchFamily="18" charset="0"/>
                <a:cs typeface="Times New Roman" pitchFamily="18" charset="0"/>
              </a:rPr>
              <a:t>. These deposits adhere very firmly on inner side of boiler surface. </a:t>
            </a:r>
          </a:p>
        </p:txBody>
      </p:sp>
      <p:sp>
        <p:nvSpPr>
          <p:cNvPr id="3" name="Rectangle 2"/>
          <p:cNvSpPr/>
          <p:nvPr/>
        </p:nvSpPr>
        <p:spPr>
          <a:xfrm>
            <a:off x="5410786" y="76200"/>
            <a:ext cx="1980029" cy="646331"/>
          </a:xfrm>
          <a:prstGeom prst="rect">
            <a:avLst/>
          </a:prstGeom>
        </p:spPr>
        <p:txBody>
          <a:bodyPr wrap="none">
            <a:spAutoFit/>
          </a:bodyPr>
          <a:lstStyle/>
          <a:p>
            <a:pPr lvl="0" algn="just"/>
            <a:r>
              <a:rPr lang="en-US" sz="3600" b="1" dirty="0" smtClean="0">
                <a:solidFill>
                  <a:srgbClr val="C00000"/>
                </a:solidFill>
                <a:latin typeface="Times New Roman" pitchFamily="18" charset="0"/>
                <a:cs typeface="Times New Roman" pitchFamily="18" charset="0"/>
              </a:rPr>
              <a:t>SCALES</a:t>
            </a:r>
            <a:endParaRPr lang="en-US" sz="3600" b="1" dirty="0">
              <a:solidFill>
                <a:srgbClr val="C00000"/>
              </a:solidFill>
              <a:latin typeface="Times New Roman" pitchFamily="18" charset="0"/>
              <a:cs typeface="Times New Roman" pitchFamily="18"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507623"/>
            <a:ext cx="11582400" cy="5816977"/>
          </a:xfrm>
          <a:prstGeom prst="rect">
            <a:avLst/>
          </a:prstGeom>
        </p:spPr>
        <p:txBody>
          <a:bodyPr wrap="square">
            <a:spAutoFit/>
          </a:bodyPr>
          <a:lstStyle/>
          <a:p>
            <a:pPr algn="just"/>
            <a:r>
              <a:rPr lang="en-US" sz="2400" b="1" dirty="0">
                <a:solidFill>
                  <a:srgbClr val="C00000"/>
                </a:solidFill>
                <a:latin typeface="Times New Roman" pitchFamily="18" charset="0"/>
                <a:cs typeface="Times New Roman" pitchFamily="18" charset="0"/>
              </a:rPr>
              <a:t>Disadvantages of scale formation:</a:t>
            </a:r>
          </a:p>
          <a:p>
            <a:pPr marL="463550" lvl="0" indent="-463550" algn="just">
              <a:buClr>
                <a:srgbClr val="C00000"/>
              </a:buClr>
              <a:buFont typeface="Wingdings" pitchFamily="2" charset="2"/>
              <a:buChar char="v"/>
            </a:pPr>
            <a:r>
              <a:rPr lang="en-US" sz="2400" b="1" dirty="0">
                <a:solidFill>
                  <a:srgbClr val="7030A0"/>
                </a:solidFill>
                <a:latin typeface="Times New Roman" pitchFamily="18" charset="0"/>
                <a:cs typeface="Times New Roman" pitchFamily="18" charset="0"/>
              </a:rPr>
              <a:t>Wastage of fuel: </a:t>
            </a:r>
            <a:r>
              <a:rPr lang="en-US" sz="2400" dirty="0">
                <a:latin typeface="Times New Roman" pitchFamily="18" charset="0"/>
                <a:cs typeface="Times New Roman" pitchFamily="18" charset="0"/>
              </a:rPr>
              <a:t>Rate of heat transfer is greatly reduced due to poor conductivity of scales. Overheating is required for steady supply of heat hence fuel consumption increases.</a:t>
            </a:r>
          </a:p>
          <a:p>
            <a:pPr marL="463550" lvl="0" indent="-463550" algn="just">
              <a:buClr>
                <a:srgbClr val="C00000"/>
              </a:buClr>
              <a:buFont typeface="Wingdings" pitchFamily="2" charset="2"/>
              <a:buChar char="v"/>
            </a:pPr>
            <a:r>
              <a:rPr lang="en-US" sz="2400" b="1" dirty="0">
                <a:solidFill>
                  <a:srgbClr val="7030A0"/>
                </a:solidFill>
                <a:latin typeface="Times New Roman" pitchFamily="18" charset="0"/>
                <a:cs typeface="Times New Roman" pitchFamily="18" charset="0"/>
              </a:rPr>
              <a:t>Lowering of boiler safety: </a:t>
            </a:r>
            <a:r>
              <a:rPr lang="en-US" sz="2400" dirty="0">
                <a:latin typeface="Times New Roman" pitchFamily="18" charset="0"/>
                <a:cs typeface="Times New Roman" pitchFamily="18" charset="0"/>
              </a:rPr>
              <a:t>To supply steady heat overheating is required, which makes the boiler material weak &amp;soft. Results in distortion of boiler tube.</a:t>
            </a:r>
          </a:p>
          <a:p>
            <a:pPr marL="463550" lvl="0" indent="-463550" algn="just">
              <a:buClr>
                <a:srgbClr val="C00000"/>
              </a:buClr>
              <a:buFont typeface="Wingdings" pitchFamily="2" charset="2"/>
              <a:buChar char="v"/>
            </a:pPr>
            <a:r>
              <a:rPr lang="en-US" sz="2400" b="1" dirty="0">
                <a:solidFill>
                  <a:srgbClr val="7030A0"/>
                </a:solidFill>
                <a:latin typeface="Times New Roman" pitchFamily="18" charset="0"/>
                <a:cs typeface="Times New Roman" pitchFamily="18" charset="0"/>
              </a:rPr>
              <a:t>Decrease in efficiency of boiler: </a:t>
            </a:r>
            <a:r>
              <a:rPr lang="en-US" sz="2400" dirty="0">
                <a:latin typeface="Times New Roman" pitchFamily="18" charset="0"/>
                <a:cs typeface="Times New Roman" pitchFamily="18" charset="0"/>
              </a:rPr>
              <a:t>Deposition of scales in valves and condensers choke them partially&amp; decreases the efficiency of boiler </a:t>
            </a:r>
          </a:p>
          <a:p>
            <a:pPr marL="463550" lvl="0" indent="-463550" algn="just">
              <a:buClr>
                <a:srgbClr val="C00000"/>
              </a:buClr>
              <a:buFont typeface="Wingdings" pitchFamily="2" charset="2"/>
              <a:buChar char="v"/>
            </a:pPr>
            <a:r>
              <a:rPr lang="en-US" sz="2400" b="1" dirty="0">
                <a:solidFill>
                  <a:srgbClr val="7030A0"/>
                </a:solidFill>
                <a:latin typeface="Times New Roman" pitchFamily="18" charset="0"/>
                <a:cs typeface="Times New Roman" pitchFamily="18" charset="0"/>
              </a:rPr>
              <a:t>Danger of Explosion: </a:t>
            </a:r>
            <a:r>
              <a:rPr lang="en-US" sz="2400" dirty="0">
                <a:latin typeface="Times New Roman" pitchFamily="18" charset="0"/>
                <a:cs typeface="Times New Roman" pitchFamily="18" charset="0"/>
              </a:rPr>
              <a:t>Due to uneven expansion the thick scales gets cracked, results in formation of large steam &amp; develops high pressure. It may cause explosion of boiler. </a:t>
            </a:r>
          </a:p>
          <a:p>
            <a:pPr algn="just">
              <a:lnSpc>
                <a:spcPct val="150000"/>
              </a:lnSpc>
            </a:pPr>
            <a:r>
              <a:rPr lang="en-US" sz="2400" b="1" dirty="0">
                <a:solidFill>
                  <a:srgbClr val="C00000"/>
                </a:solidFill>
                <a:latin typeface="Times New Roman" pitchFamily="18" charset="0"/>
                <a:cs typeface="Times New Roman" pitchFamily="18" charset="0"/>
              </a:rPr>
              <a:t>Removal of scales: </a:t>
            </a:r>
          </a:p>
          <a:p>
            <a:pPr marL="1770063" lvl="3" indent="-398463">
              <a:buClr>
                <a:srgbClr val="C00000"/>
              </a:buClr>
              <a:buFont typeface="Wingdings" pitchFamily="2" charset="2"/>
              <a:buChar char="v"/>
            </a:pPr>
            <a:r>
              <a:rPr lang="en-US" sz="2400" dirty="0">
                <a:latin typeface="Times New Roman" pitchFamily="18" charset="0"/>
                <a:cs typeface="Times New Roman" pitchFamily="18" charset="0"/>
              </a:rPr>
              <a:t>Mechanical methods – scraping or wire </a:t>
            </a:r>
            <a:r>
              <a:rPr lang="en-US" sz="2400" dirty="0" smtClean="0">
                <a:latin typeface="Times New Roman" pitchFamily="18" charset="0"/>
                <a:cs typeface="Times New Roman" pitchFamily="18" charset="0"/>
              </a:rPr>
              <a:t>brushing</a:t>
            </a:r>
            <a:endParaRPr lang="en-US" sz="2400" dirty="0">
              <a:latin typeface="Times New Roman" pitchFamily="18" charset="0"/>
              <a:cs typeface="Times New Roman" pitchFamily="18" charset="0"/>
            </a:endParaRPr>
          </a:p>
          <a:p>
            <a:pPr marL="1770063" lvl="3" indent="-398463">
              <a:buClr>
                <a:srgbClr val="C00000"/>
              </a:buClr>
              <a:buFont typeface="Wingdings" pitchFamily="2" charset="2"/>
              <a:buChar char="v"/>
            </a:pPr>
            <a:r>
              <a:rPr lang="en-US" sz="2400" dirty="0" smtClean="0">
                <a:latin typeface="Times New Roman" pitchFamily="18" charset="0"/>
                <a:cs typeface="Times New Roman" pitchFamily="18" charset="0"/>
              </a:rPr>
              <a:t>Thermal </a:t>
            </a:r>
            <a:r>
              <a:rPr lang="en-US" sz="2400" dirty="0">
                <a:latin typeface="Times New Roman" pitchFamily="18" charset="0"/>
                <a:cs typeface="Times New Roman" pitchFamily="18" charset="0"/>
              </a:rPr>
              <a:t>shocks – alternate heating and </a:t>
            </a:r>
            <a:r>
              <a:rPr lang="en-US" sz="2400" dirty="0" smtClean="0">
                <a:latin typeface="Times New Roman" pitchFamily="18" charset="0"/>
                <a:cs typeface="Times New Roman" pitchFamily="18" charset="0"/>
              </a:rPr>
              <a:t>cooling</a:t>
            </a:r>
            <a:endParaRPr lang="en-US" sz="2400" dirty="0">
              <a:latin typeface="Times New Roman" pitchFamily="18" charset="0"/>
              <a:cs typeface="Times New Roman" pitchFamily="18" charset="0"/>
            </a:endParaRPr>
          </a:p>
          <a:p>
            <a:pPr marL="1770063" lvl="3" indent="-398463">
              <a:buClr>
                <a:srgbClr val="C00000"/>
              </a:buClr>
              <a:buFont typeface="Wingdings" pitchFamily="2" charset="2"/>
              <a:buChar char="v"/>
            </a:pPr>
            <a:r>
              <a:rPr lang="en-US" sz="2400" dirty="0" smtClean="0">
                <a:latin typeface="Times New Roman" pitchFamily="18" charset="0"/>
                <a:cs typeface="Times New Roman" pitchFamily="18" charset="0"/>
              </a:rPr>
              <a:t>Acid </a:t>
            </a:r>
            <a:r>
              <a:rPr lang="en-US" sz="2400" dirty="0">
                <a:latin typeface="Times New Roman" pitchFamily="18" charset="0"/>
                <a:cs typeface="Times New Roman" pitchFamily="18" charset="0"/>
              </a:rPr>
              <a:t>washing – dilute HCl or EDTA </a:t>
            </a:r>
            <a:r>
              <a:rPr lang="en-US" sz="2400" dirty="0" smtClean="0">
                <a:latin typeface="Times New Roman" pitchFamily="18" charset="0"/>
                <a:cs typeface="Times New Roman" pitchFamily="18" charset="0"/>
              </a:rPr>
              <a:t>solution</a:t>
            </a:r>
            <a:endParaRPr lang="en-US" sz="2400" dirty="0">
              <a:latin typeface="Times New Roman" pitchFamily="18" charset="0"/>
              <a:cs typeface="Times New Roman" pitchFamily="18" charset="0"/>
            </a:endParaRPr>
          </a:p>
          <a:p>
            <a:pPr marL="1770063" lvl="3" indent="-398463">
              <a:buClr>
                <a:srgbClr val="C00000"/>
              </a:buClr>
              <a:buFont typeface="Wingdings" pitchFamily="2" charset="2"/>
              <a:buChar char="v"/>
            </a:pPr>
            <a:r>
              <a:rPr lang="en-US" sz="2400" dirty="0" smtClean="0">
                <a:latin typeface="Times New Roman" pitchFamily="18" charset="0"/>
                <a:cs typeface="Times New Roman" pitchFamily="18" charset="0"/>
              </a:rPr>
              <a:t>Conditioning </a:t>
            </a:r>
            <a:r>
              <a:rPr lang="en-US" sz="2400" dirty="0">
                <a:latin typeface="Times New Roman" pitchFamily="18" charset="0"/>
                <a:cs typeface="Times New Roman" pitchFamily="18" charset="0"/>
              </a:rPr>
              <a:t>– phosphate, carbonate, calgon, colloidal treatment</a:t>
            </a:r>
            <a:endParaRPr lang="en-US" sz="2400" dirty="0">
              <a:latin typeface="Times New Roman" pitchFamily="18" charset="0"/>
              <a:cs typeface="Times New Roman" pitchFamily="18"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914400"/>
            <a:ext cx="12268200" cy="5632311"/>
          </a:xfrm>
          <a:prstGeom prst="rect">
            <a:avLst/>
          </a:prstGeom>
        </p:spPr>
        <p:txBody>
          <a:bodyPr wrap="square">
            <a:spAutoFit/>
          </a:bodyPr>
          <a:lstStyle/>
          <a:p>
            <a:pPr marL="920750" lvl="1" indent="-463550" algn="just">
              <a:buClr>
                <a:srgbClr val="002060"/>
              </a:buClr>
              <a:buFont typeface="Wingdings" pitchFamily="2" charset="2"/>
              <a:buChar char="v"/>
            </a:pPr>
            <a:r>
              <a:rPr lang="en-US" sz="2400" dirty="0">
                <a:latin typeface="Times New Roman" pitchFamily="18" charset="0"/>
                <a:cs typeface="Times New Roman" pitchFamily="18" charset="0"/>
              </a:rPr>
              <a:t>Water used for industrial purpose should be sufficiently pure. </a:t>
            </a:r>
          </a:p>
          <a:p>
            <a:pPr marL="920750" lvl="1" indent="-463550" algn="just">
              <a:buClr>
                <a:srgbClr val="002060"/>
              </a:buClr>
              <a:buFont typeface="Wingdings" pitchFamily="2" charset="2"/>
              <a:buChar char="v"/>
            </a:pPr>
            <a:r>
              <a:rPr lang="en-US" sz="2400" dirty="0">
                <a:latin typeface="Times New Roman" pitchFamily="18" charset="0"/>
                <a:cs typeface="Times New Roman" pitchFamily="18" charset="0"/>
              </a:rPr>
              <a:t>The process of removing hardness producing salts from water is known as softening of water. </a:t>
            </a:r>
          </a:p>
          <a:p>
            <a:pPr marL="920750" lvl="1" indent="-463550" algn="just">
              <a:buClr>
                <a:srgbClr val="002060"/>
              </a:buClr>
              <a:buFont typeface="Wingdings" pitchFamily="2" charset="2"/>
              <a:buChar char="v"/>
            </a:pPr>
            <a:r>
              <a:rPr lang="en-US" sz="2400" dirty="0">
                <a:latin typeface="Times New Roman" pitchFamily="18" charset="0"/>
                <a:cs typeface="Times New Roman" pitchFamily="18" charset="0"/>
              </a:rPr>
              <a:t>In industry, main methods employed for softening of water are two types. </a:t>
            </a:r>
          </a:p>
          <a:p>
            <a:pPr marL="4121150" lvl="8" indent="-463550" algn="just">
              <a:buClr>
                <a:srgbClr val="7030A0"/>
              </a:buClr>
              <a:buFont typeface="+mj-lt"/>
              <a:buAutoNum type="alphaUcPeriod"/>
            </a:pPr>
            <a:r>
              <a:rPr lang="en-US" sz="2400" b="1" dirty="0">
                <a:solidFill>
                  <a:srgbClr val="7030A0"/>
                </a:solidFill>
                <a:latin typeface="Times New Roman" pitchFamily="18" charset="0"/>
                <a:cs typeface="Times New Roman" pitchFamily="18" charset="0"/>
              </a:rPr>
              <a:t>Internal treatment  or conditioning</a:t>
            </a:r>
          </a:p>
          <a:p>
            <a:pPr marL="4121150" lvl="8" indent="-463550" algn="just">
              <a:buClr>
                <a:srgbClr val="7030A0"/>
              </a:buClr>
              <a:buFont typeface="+mj-lt"/>
              <a:buAutoNum type="alphaUcPeriod"/>
            </a:pPr>
            <a:r>
              <a:rPr lang="en-US" sz="2400" b="1" dirty="0">
                <a:solidFill>
                  <a:srgbClr val="7030A0"/>
                </a:solidFill>
                <a:latin typeface="Times New Roman" pitchFamily="18" charset="0"/>
                <a:cs typeface="Times New Roman" pitchFamily="18" charset="0"/>
              </a:rPr>
              <a:t>External treatment or conditioning</a:t>
            </a:r>
          </a:p>
          <a:p>
            <a:pPr marL="463550" indent="-463550" algn="just">
              <a:buClr>
                <a:srgbClr val="002060"/>
              </a:buClr>
              <a:buFont typeface="Wingdings" pitchFamily="2" charset="2"/>
              <a:buChar char="v"/>
            </a:pPr>
            <a:endParaRPr lang="en-US" sz="2400" dirty="0">
              <a:latin typeface="Times New Roman" pitchFamily="18" charset="0"/>
              <a:cs typeface="Times New Roman" pitchFamily="18" charset="0"/>
            </a:endParaRPr>
          </a:p>
          <a:p>
            <a:pPr marL="514350" indent="-514350" algn="just">
              <a:buClr>
                <a:srgbClr val="C00000"/>
              </a:buClr>
              <a:buFont typeface="+mj-lt"/>
              <a:buAutoNum type="alphaUcPeriod"/>
            </a:pPr>
            <a:r>
              <a:rPr lang="en-US" sz="3200" b="1" dirty="0">
                <a:solidFill>
                  <a:srgbClr val="C00000"/>
                </a:solidFill>
                <a:latin typeface="Times New Roman" pitchFamily="18" charset="0"/>
                <a:cs typeface="Times New Roman" pitchFamily="18" charset="0"/>
              </a:rPr>
              <a:t>Internal treatment: </a:t>
            </a:r>
          </a:p>
          <a:p>
            <a:pPr marL="463550" indent="-463550" algn="just">
              <a:buClr>
                <a:srgbClr val="002060"/>
              </a:buClr>
            </a:pPr>
            <a:r>
              <a:rPr lang="en-US" sz="3200" b="1" dirty="0">
                <a:solidFill>
                  <a:srgbClr val="C00000"/>
                </a:solidFill>
                <a:latin typeface="Times New Roman" pitchFamily="18" charset="0"/>
                <a:cs typeface="Times New Roman" pitchFamily="18" charset="0"/>
              </a:rPr>
              <a:t>	</a:t>
            </a:r>
            <a:r>
              <a:rPr lang="en-US" sz="2400" dirty="0">
                <a:latin typeface="Times New Roman" pitchFamily="18" charset="0"/>
                <a:cs typeface="Times New Roman" pitchFamily="18" charset="0"/>
              </a:rPr>
              <a:t>The softening of water carried out inside the boiler is called internal treatment of water. In this process the hardness causing salts are removed</a:t>
            </a:r>
            <a:endParaRPr lang="en-US" sz="2400" b="1" dirty="0">
              <a:solidFill>
                <a:srgbClr val="C00000"/>
              </a:solidFill>
              <a:latin typeface="Times New Roman" pitchFamily="18" charset="0"/>
              <a:cs typeface="Times New Roman" pitchFamily="18" charset="0"/>
            </a:endParaRPr>
          </a:p>
          <a:p>
            <a:pPr marL="463550" indent="-463550" algn="just">
              <a:buClr>
                <a:srgbClr val="002060"/>
              </a:buClr>
            </a:pPr>
            <a:endParaRPr lang="en-US" sz="3200" b="1" dirty="0">
              <a:solidFill>
                <a:srgbClr val="C00000"/>
              </a:solidFill>
              <a:latin typeface="Times New Roman" pitchFamily="18" charset="0"/>
              <a:cs typeface="Times New Roman" pitchFamily="18" charset="0"/>
            </a:endParaRPr>
          </a:p>
          <a:p>
            <a:pPr marL="971550" lvl="1" indent="-514350" algn="just">
              <a:buClr>
                <a:srgbClr val="002060"/>
              </a:buClr>
              <a:buFont typeface="+mj-lt"/>
              <a:buAutoNum type="arabicPeriod"/>
            </a:pPr>
            <a:r>
              <a:rPr lang="en-US" sz="2400" dirty="0">
                <a:latin typeface="Times New Roman" pitchFamily="18" charset="0"/>
                <a:cs typeface="Times New Roman" pitchFamily="18" charset="0"/>
              </a:rPr>
              <a:t>Sludge formation can be removed by blow down operation. </a:t>
            </a:r>
          </a:p>
          <a:p>
            <a:pPr marL="971550" lvl="1" indent="-514350" algn="just">
              <a:buClr>
                <a:srgbClr val="002060"/>
              </a:buClr>
              <a:buFont typeface="+mj-lt"/>
              <a:buAutoNum type="arabicPeriod"/>
            </a:pPr>
            <a:r>
              <a:rPr lang="en-US" sz="2400" dirty="0">
                <a:latin typeface="Times New Roman" pitchFamily="18" charset="0"/>
                <a:cs typeface="Times New Roman" pitchFamily="18" charset="0"/>
              </a:rPr>
              <a:t>Scale formation can be prevented by internal treatment that involve addition of chemical to the boiler water either to precipitate  or  the scale forming impurities in the form of sludge.</a:t>
            </a:r>
          </a:p>
        </p:txBody>
      </p:sp>
      <p:sp>
        <p:nvSpPr>
          <p:cNvPr id="3" name="Rectangle 2"/>
          <p:cNvSpPr/>
          <p:nvPr/>
        </p:nvSpPr>
        <p:spPr>
          <a:xfrm>
            <a:off x="1331991" y="76200"/>
            <a:ext cx="10326609" cy="707886"/>
          </a:xfrm>
          <a:prstGeom prst="rect">
            <a:avLst/>
          </a:prstGeom>
        </p:spPr>
        <p:txBody>
          <a:bodyPr wrap="none">
            <a:spAutoFit/>
          </a:bodyPr>
          <a:lstStyle/>
          <a:p>
            <a:pPr algn="just"/>
            <a:r>
              <a:rPr lang="en-US" sz="4000" b="1" dirty="0">
                <a:solidFill>
                  <a:srgbClr val="C00000"/>
                </a:solidFill>
                <a:latin typeface="Times New Roman" pitchFamily="18" charset="0"/>
                <a:cs typeface="Times New Roman" pitchFamily="18" charset="0"/>
              </a:rPr>
              <a:t>Treatment (or) Softening of water for industry</a:t>
            </a:r>
            <a:endParaRPr lang="en-US" sz="4000" dirty="0">
              <a:solidFill>
                <a:srgbClr val="C00000"/>
              </a:solidFill>
              <a:latin typeface="Times New Roman" pitchFamily="18" charset="0"/>
              <a:cs typeface="Times New Roman" pitchFamily="18"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304800" y="381000"/>
            <a:ext cx="12192000" cy="6024741"/>
            <a:chOff x="304800" y="381000"/>
            <a:chExt cx="12192000" cy="6024741"/>
          </a:xfrm>
        </p:grpSpPr>
        <p:sp>
          <p:nvSpPr>
            <p:cNvPr id="2" name="Rectangle 1"/>
            <p:cNvSpPr/>
            <p:nvPr/>
          </p:nvSpPr>
          <p:spPr>
            <a:xfrm>
              <a:off x="304800" y="381000"/>
              <a:ext cx="12192000" cy="2308324"/>
            </a:xfrm>
            <a:prstGeom prst="rect">
              <a:avLst/>
            </a:prstGeom>
          </p:spPr>
          <p:txBody>
            <a:bodyPr wrap="square">
              <a:spAutoFit/>
            </a:bodyPr>
            <a:lstStyle/>
            <a:p>
              <a:pPr marL="457200" indent="-457200" algn="just">
                <a:buClr>
                  <a:srgbClr val="C00000"/>
                </a:buClr>
                <a:buFont typeface="+mj-lt"/>
                <a:buAutoNum type="alphaLcParenR"/>
              </a:pPr>
              <a:r>
                <a:rPr lang="en-US" sz="2400" b="1" dirty="0">
                  <a:solidFill>
                    <a:srgbClr val="C00000"/>
                  </a:solidFill>
                  <a:latin typeface="Times New Roman" pitchFamily="18" charset="0"/>
                  <a:cs typeface="Times New Roman" pitchFamily="18" charset="0"/>
                </a:rPr>
                <a:t>Colloidal conditioning: </a:t>
              </a:r>
            </a:p>
            <a:p>
              <a:pPr marL="1371600" lvl="2" indent="-457200" algn="just">
                <a:buClr>
                  <a:srgbClr val="0070C0"/>
                </a:buClr>
                <a:buFont typeface="Wingdings" pitchFamily="2" charset="2"/>
                <a:buChar char="v"/>
              </a:pPr>
              <a:r>
                <a:rPr lang="en-US" sz="2400" dirty="0">
                  <a:latin typeface="Times New Roman" pitchFamily="18" charset="0"/>
                  <a:cs typeface="Times New Roman" pitchFamily="18" charset="0"/>
                </a:rPr>
                <a:t>The scale formation in low pressure boilers can be prevented by the addition of kerosene, tannin, agar-agar etc. </a:t>
              </a:r>
            </a:p>
            <a:p>
              <a:pPr marL="1371600" lvl="2" indent="-457200" algn="just">
                <a:buClr>
                  <a:srgbClr val="0070C0"/>
                </a:buClr>
                <a:buFont typeface="Wingdings" pitchFamily="2" charset="2"/>
                <a:buChar char="v"/>
              </a:pPr>
              <a:r>
                <a:rPr lang="en-US" sz="2400" dirty="0">
                  <a:latin typeface="Times New Roman" pitchFamily="18" charset="0"/>
                  <a:cs typeface="Times New Roman" pitchFamily="18" charset="0"/>
                </a:rPr>
                <a:t>which will be get coated over the scale forming precipitates. </a:t>
              </a:r>
            </a:p>
            <a:p>
              <a:pPr marL="1371600" lvl="2" indent="-457200" algn="just">
                <a:buClr>
                  <a:srgbClr val="0070C0"/>
                </a:buClr>
                <a:buFont typeface="Wingdings" pitchFamily="2" charset="2"/>
                <a:buChar char="v"/>
              </a:pPr>
              <a:r>
                <a:rPr lang="en-US" sz="2400" dirty="0">
                  <a:latin typeface="Times New Roman" pitchFamily="18" charset="0"/>
                  <a:cs typeface="Times New Roman" pitchFamily="18" charset="0"/>
                </a:rPr>
                <a:t>These forms loose, non-sticky deposits (sludge) that can be removed by blow down. </a:t>
              </a:r>
            </a:p>
            <a:p>
              <a:pPr marL="1371600" lvl="2" indent="-457200" algn="just">
                <a:buClr>
                  <a:srgbClr val="0070C0"/>
                </a:buClr>
                <a:buFont typeface="Wingdings" pitchFamily="2" charset="2"/>
                <a:buChar char="v"/>
              </a:pPr>
              <a:r>
                <a:rPr lang="en-US" sz="2400" dirty="0">
                  <a:latin typeface="Times New Roman" pitchFamily="18" charset="0"/>
                  <a:cs typeface="Times New Roman" pitchFamily="18" charset="0"/>
                </a:rPr>
                <a:t>This type of conditioning is called colloidal conditioning.</a:t>
              </a:r>
            </a:p>
          </p:txBody>
        </p:sp>
        <p:sp>
          <p:nvSpPr>
            <p:cNvPr id="3" name="Rectangle 2"/>
            <p:cNvSpPr/>
            <p:nvPr/>
          </p:nvSpPr>
          <p:spPr>
            <a:xfrm>
              <a:off x="457200" y="2743200"/>
              <a:ext cx="11963400" cy="3662541"/>
            </a:xfrm>
            <a:prstGeom prst="rect">
              <a:avLst/>
            </a:prstGeom>
          </p:spPr>
          <p:txBody>
            <a:bodyPr wrap="square">
              <a:spAutoFit/>
            </a:bodyPr>
            <a:lstStyle/>
            <a:p>
              <a:pPr marL="457200" indent="-457200">
                <a:buClr>
                  <a:srgbClr val="C00000"/>
                </a:buClr>
                <a:buFont typeface="+mj-lt"/>
                <a:buAutoNum type="alphaLcParenR" startAt="2"/>
              </a:pPr>
              <a:r>
                <a:rPr lang="en-US" sz="2400" b="1" dirty="0">
                  <a:solidFill>
                    <a:srgbClr val="C00000"/>
                  </a:solidFill>
                  <a:latin typeface="Times New Roman" pitchFamily="18" charset="0"/>
                  <a:cs typeface="Times New Roman" pitchFamily="18" charset="0"/>
                </a:rPr>
                <a:t>Phosphate conditioning: </a:t>
              </a:r>
            </a:p>
            <a:p>
              <a:pPr marL="1268413" lvl="2" indent="-457200">
                <a:buClr>
                  <a:srgbClr val="002060"/>
                </a:buClr>
                <a:buFont typeface="Wingdings" pitchFamily="2" charset="2"/>
                <a:buChar char="v"/>
              </a:pPr>
              <a:r>
                <a:rPr lang="en-US" sz="2400" dirty="0">
                  <a:latin typeface="Times New Roman" pitchFamily="18" charset="0"/>
                  <a:cs typeface="Times New Roman" pitchFamily="18" charset="0"/>
                </a:rPr>
                <a:t>In this process, the permanent hardness causing salts(Scale) in high pressure boilers will be removed by reacting with sodium phosphate. </a:t>
              </a:r>
            </a:p>
            <a:p>
              <a:pPr marL="1268413" lvl="2" indent="-457200">
                <a:buClr>
                  <a:srgbClr val="002060"/>
                </a:buClr>
                <a:buFont typeface="Wingdings" pitchFamily="2" charset="2"/>
                <a:buChar char="v"/>
              </a:pPr>
              <a:r>
                <a:rPr lang="en-US" sz="2400" dirty="0">
                  <a:latin typeface="Times New Roman" pitchFamily="18" charset="0"/>
                  <a:cs typeface="Times New Roman" pitchFamily="18" charset="0"/>
                </a:rPr>
                <a:t>The complex formed is soft, non-adherent and easily removable(Sludge). </a:t>
              </a:r>
            </a:p>
            <a:p>
              <a:pPr marL="1268413" lvl="2" indent="-457200">
                <a:buClr>
                  <a:srgbClr val="002060"/>
                </a:buClr>
              </a:pPr>
              <a:endParaRPr lang="en-US" sz="2400" dirty="0">
                <a:latin typeface="Times New Roman" pitchFamily="18" charset="0"/>
                <a:cs typeface="Times New Roman" pitchFamily="18" charset="0"/>
              </a:endParaRPr>
            </a:p>
            <a:p>
              <a:pPr lvl="0" algn="ctr">
                <a:spcBef>
                  <a:spcPct val="0"/>
                </a:spcBef>
                <a:buNone/>
              </a:pPr>
              <a:r>
                <a:rPr lang="en-US" altLang="en-US" sz="2800" b="1" dirty="0">
                  <a:solidFill>
                    <a:srgbClr val="002060"/>
                  </a:solidFill>
                  <a:latin typeface="Calibri" pitchFamily="34" charset="0"/>
                  <a:ea typeface="Times New Roman" pitchFamily="18" charset="0"/>
                </a:rPr>
                <a:t>3MCl</a:t>
              </a:r>
              <a:r>
                <a:rPr lang="en-US" altLang="en-US" sz="2800" b="1" baseline="-30000" dirty="0">
                  <a:solidFill>
                    <a:srgbClr val="002060"/>
                  </a:solidFill>
                  <a:latin typeface="Calibri" pitchFamily="34" charset="0"/>
                  <a:ea typeface="Times New Roman" pitchFamily="18" charset="0"/>
                </a:rPr>
                <a:t>2</a:t>
              </a:r>
              <a:r>
                <a:rPr lang="en-US" altLang="en-US" sz="2800" b="1" dirty="0">
                  <a:solidFill>
                    <a:srgbClr val="002060"/>
                  </a:solidFill>
                  <a:latin typeface="Calibri" pitchFamily="34" charset="0"/>
                  <a:ea typeface="Times New Roman" pitchFamily="18" charset="0"/>
                </a:rPr>
                <a:t> + 2Na</a:t>
              </a:r>
              <a:r>
                <a:rPr lang="en-US" altLang="en-US" sz="2800" b="1" baseline="-30000" dirty="0">
                  <a:solidFill>
                    <a:srgbClr val="002060"/>
                  </a:solidFill>
                  <a:latin typeface="Calibri" pitchFamily="34" charset="0"/>
                  <a:ea typeface="Times New Roman" pitchFamily="18" charset="0"/>
                </a:rPr>
                <a:t>3</a:t>
              </a:r>
              <a:r>
                <a:rPr lang="en-US" altLang="en-US" sz="2800" b="1" dirty="0">
                  <a:solidFill>
                    <a:srgbClr val="002060"/>
                  </a:solidFill>
                  <a:latin typeface="Calibri" pitchFamily="34" charset="0"/>
                  <a:ea typeface="Times New Roman" pitchFamily="18" charset="0"/>
                </a:rPr>
                <a:t>PO</a:t>
              </a:r>
              <a:r>
                <a:rPr lang="en-US" altLang="en-US" sz="2800" b="1" baseline="-30000" dirty="0">
                  <a:solidFill>
                    <a:srgbClr val="002060"/>
                  </a:solidFill>
                  <a:latin typeface="Calibri" pitchFamily="34" charset="0"/>
                  <a:ea typeface="Times New Roman" pitchFamily="18" charset="0"/>
                </a:rPr>
                <a:t>4</a:t>
              </a:r>
              <a:r>
                <a:rPr lang="en-US" altLang="en-US" sz="2800" b="1" dirty="0">
                  <a:solidFill>
                    <a:srgbClr val="002060"/>
                  </a:solidFill>
                  <a:latin typeface="Calibri" pitchFamily="34" charset="0"/>
                  <a:ea typeface="Times New Roman" pitchFamily="18" charset="0"/>
                </a:rPr>
                <a:t> → M</a:t>
              </a:r>
              <a:r>
                <a:rPr lang="en-US" altLang="en-US" sz="2800" b="1" baseline="-30000" dirty="0">
                  <a:solidFill>
                    <a:srgbClr val="002060"/>
                  </a:solidFill>
                  <a:latin typeface="Calibri" pitchFamily="34" charset="0"/>
                  <a:ea typeface="Times New Roman" pitchFamily="18" charset="0"/>
                </a:rPr>
                <a:t>3</a:t>
              </a:r>
              <a:r>
                <a:rPr lang="en-US" altLang="en-US" sz="2800" b="1" dirty="0">
                  <a:solidFill>
                    <a:srgbClr val="002060"/>
                  </a:solidFill>
                  <a:latin typeface="Calibri" pitchFamily="34" charset="0"/>
                  <a:ea typeface="Times New Roman" pitchFamily="18" charset="0"/>
                </a:rPr>
                <a:t>( PO</a:t>
              </a:r>
              <a:r>
                <a:rPr lang="en-US" altLang="en-US" sz="2800" b="1" baseline="-30000" dirty="0">
                  <a:solidFill>
                    <a:srgbClr val="002060"/>
                  </a:solidFill>
                  <a:latin typeface="Calibri" pitchFamily="34" charset="0"/>
                  <a:ea typeface="Times New Roman" pitchFamily="18" charset="0"/>
                </a:rPr>
                <a:t>4</a:t>
              </a:r>
              <a:r>
                <a:rPr lang="en-US" altLang="en-US" sz="2800" b="1" dirty="0">
                  <a:solidFill>
                    <a:srgbClr val="002060"/>
                  </a:solidFill>
                  <a:latin typeface="Calibri" pitchFamily="34" charset="0"/>
                  <a:ea typeface="Times New Roman" pitchFamily="18" charset="0"/>
                </a:rPr>
                <a:t>)</a:t>
              </a:r>
              <a:r>
                <a:rPr lang="en-US" altLang="en-US" sz="2800" b="1" baseline="-30000" dirty="0">
                  <a:solidFill>
                    <a:srgbClr val="002060"/>
                  </a:solidFill>
                  <a:latin typeface="Calibri" pitchFamily="34" charset="0"/>
                  <a:ea typeface="Times New Roman" pitchFamily="18" charset="0"/>
                </a:rPr>
                <a:t>2</a:t>
              </a:r>
              <a:r>
                <a:rPr lang="en-US" altLang="en-US" sz="2800" b="1" dirty="0">
                  <a:solidFill>
                    <a:srgbClr val="002060"/>
                  </a:solidFill>
                  <a:latin typeface="Calibri" pitchFamily="34" charset="0"/>
                  <a:ea typeface="Times New Roman" pitchFamily="18" charset="0"/>
                </a:rPr>
                <a:t>↓ + 6NaCl  </a:t>
              </a:r>
            </a:p>
            <a:p>
              <a:pPr lvl="0" algn="ctr">
                <a:spcBef>
                  <a:spcPct val="0"/>
                </a:spcBef>
                <a:buNone/>
              </a:pPr>
              <a:r>
                <a:rPr lang="en-US" altLang="en-US" sz="2800" b="1" dirty="0">
                  <a:solidFill>
                    <a:srgbClr val="002060"/>
                  </a:solidFill>
                  <a:latin typeface="Calibri" pitchFamily="34" charset="0"/>
                  <a:ea typeface="Times New Roman" pitchFamily="18" charset="0"/>
                </a:rPr>
                <a:t>                        [Where M = Ca</a:t>
              </a:r>
              <a:r>
                <a:rPr lang="en-US" altLang="en-US" sz="2800" b="1" baseline="30000" dirty="0">
                  <a:solidFill>
                    <a:srgbClr val="002060"/>
                  </a:solidFill>
                  <a:latin typeface="Calibri" pitchFamily="34" charset="0"/>
                  <a:ea typeface="Times New Roman" pitchFamily="18" charset="0"/>
                </a:rPr>
                <a:t>2+</a:t>
              </a:r>
              <a:r>
                <a:rPr lang="en-US" altLang="en-US" sz="2800" b="1" dirty="0">
                  <a:solidFill>
                    <a:srgbClr val="002060"/>
                  </a:solidFill>
                  <a:latin typeface="Calibri" pitchFamily="34" charset="0"/>
                  <a:ea typeface="Times New Roman" pitchFamily="18" charset="0"/>
                </a:rPr>
                <a:t>, Mg</a:t>
              </a:r>
              <a:r>
                <a:rPr lang="en-US" altLang="en-US" sz="2800" b="1" baseline="30000" dirty="0">
                  <a:solidFill>
                    <a:srgbClr val="002060"/>
                  </a:solidFill>
                  <a:latin typeface="Calibri" pitchFamily="34" charset="0"/>
                  <a:ea typeface="Times New Roman" pitchFamily="18" charset="0"/>
                </a:rPr>
                <a:t>2+</a:t>
              </a:r>
              <a:r>
                <a:rPr lang="en-US" altLang="en-US" sz="2800" b="1" dirty="0">
                  <a:solidFill>
                    <a:srgbClr val="002060"/>
                  </a:solidFill>
                  <a:latin typeface="Calibri" pitchFamily="34" charset="0"/>
                  <a:ea typeface="Times New Roman" pitchFamily="18" charset="0"/>
                </a:rPr>
                <a:t>]</a:t>
              </a:r>
            </a:p>
            <a:p>
              <a:pPr lvl="0" algn="ctr">
                <a:spcBef>
                  <a:spcPct val="0"/>
                </a:spcBef>
                <a:buNone/>
              </a:pPr>
              <a:endParaRPr lang="en-US" altLang="en-US" sz="2800" dirty="0">
                <a:latin typeface="Calibri" pitchFamily="34" charset="0"/>
              </a:endParaRPr>
            </a:p>
            <a:p>
              <a:pPr lvl="0" algn="ctr">
                <a:spcBef>
                  <a:spcPct val="0"/>
                </a:spcBef>
                <a:buNone/>
              </a:pPr>
              <a:r>
                <a:rPr lang="en-US" altLang="en-US" sz="2800" dirty="0">
                  <a:latin typeface="Calibri" pitchFamily="34" charset="0"/>
                  <a:ea typeface="Times New Roman" pitchFamily="18" charset="0"/>
                </a:rPr>
                <a:t>      </a:t>
              </a:r>
              <a:r>
                <a:rPr lang="en-US" altLang="en-US" sz="2800" b="1" dirty="0">
                  <a:solidFill>
                    <a:srgbClr val="0070C0"/>
                  </a:solidFill>
                  <a:latin typeface="Calibri" pitchFamily="34" charset="0"/>
                  <a:ea typeface="Times New Roman" pitchFamily="18" charset="0"/>
                </a:rPr>
                <a:t>3MSO</a:t>
              </a:r>
              <a:r>
                <a:rPr lang="en-US" altLang="en-US" sz="2800" b="1" baseline="-30000" dirty="0">
                  <a:solidFill>
                    <a:srgbClr val="0070C0"/>
                  </a:solidFill>
                  <a:latin typeface="Calibri" pitchFamily="34" charset="0"/>
                  <a:ea typeface="Times New Roman" pitchFamily="18" charset="0"/>
                </a:rPr>
                <a:t>4</a:t>
              </a:r>
              <a:r>
                <a:rPr lang="en-US" altLang="en-US" sz="2800" b="1" dirty="0">
                  <a:solidFill>
                    <a:srgbClr val="0070C0"/>
                  </a:solidFill>
                  <a:latin typeface="Calibri" pitchFamily="34" charset="0"/>
                  <a:ea typeface="Times New Roman" pitchFamily="18" charset="0"/>
                </a:rPr>
                <a:t> + 2Na</a:t>
              </a:r>
              <a:r>
                <a:rPr lang="en-US" altLang="en-US" sz="2800" b="1" baseline="-30000" dirty="0">
                  <a:solidFill>
                    <a:srgbClr val="0070C0"/>
                  </a:solidFill>
                  <a:latin typeface="Calibri" pitchFamily="34" charset="0"/>
                  <a:ea typeface="Times New Roman" pitchFamily="18" charset="0"/>
                </a:rPr>
                <a:t>3</a:t>
              </a:r>
              <a:r>
                <a:rPr lang="en-US" altLang="en-US" sz="2800" b="1" dirty="0">
                  <a:solidFill>
                    <a:srgbClr val="0070C0"/>
                  </a:solidFill>
                  <a:latin typeface="Calibri" pitchFamily="34" charset="0"/>
                  <a:ea typeface="Times New Roman" pitchFamily="18" charset="0"/>
                </a:rPr>
                <a:t>PO</a:t>
              </a:r>
              <a:r>
                <a:rPr lang="en-US" altLang="en-US" sz="2800" b="1" baseline="-30000" dirty="0">
                  <a:solidFill>
                    <a:srgbClr val="0070C0"/>
                  </a:solidFill>
                  <a:latin typeface="Calibri" pitchFamily="34" charset="0"/>
                  <a:ea typeface="Times New Roman" pitchFamily="18" charset="0"/>
                </a:rPr>
                <a:t>4</a:t>
              </a:r>
              <a:r>
                <a:rPr lang="en-US" altLang="en-US" sz="2800" b="1" dirty="0">
                  <a:solidFill>
                    <a:srgbClr val="0070C0"/>
                  </a:solidFill>
                  <a:latin typeface="Calibri" pitchFamily="34" charset="0"/>
                  <a:ea typeface="Times New Roman" pitchFamily="18" charset="0"/>
                </a:rPr>
                <a:t> → M</a:t>
              </a:r>
              <a:r>
                <a:rPr lang="en-US" altLang="en-US" sz="2800" b="1" baseline="-30000" dirty="0">
                  <a:solidFill>
                    <a:srgbClr val="0070C0"/>
                  </a:solidFill>
                  <a:latin typeface="Calibri" pitchFamily="34" charset="0"/>
                  <a:ea typeface="Times New Roman" pitchFamily="18" charset="0"/>
                </a:rPr>
                <a:t>3</a:t>
              </a:r>
              <a:r>
                <a:rPr lang="en-US" altLang="en-US" sz="2800" b="1" dirty="0">
                  <a:solidFill>
                    <a:srgbClr val="0070C0"/>
                  </a:solidFill>
                  <a:latin typeface="Calibri" pitchFamily="34" charset="0"/>
                  <a:ea typeface="Times New Roman" pitchFamily="18" charset="0"/>
                </a:rPr>
                <a:t> ( PO</a:t>
              </a:r>
              <a:r>
                <a:rPr lang="en-US" altLang="en-US" sz="2800" b="1" baseline="-30000" dirty="0">
                  <a:solidFill>
                    <a:srgbClr val="0070C0"/>
                  </a:solidFill>
                  <a:latin typeface="Calibri" pitchFamily="34" charset="0"/>
                  <a:ea typeface="Times New Roman" pitchFamily="18" charset="0"/>
                </a:rPr>
                <a:t>4</a:t>
              </a:r>
              <a:r>
                <a:rPr lang="en-US" altLang="en-US" sz="2800" b="1" dirty="0">
                  <a:solidFill>
                    <a:srgbClr val="0070C0"/>
                  </a:solidFill>
                  <a:latin typeface="Calibri" pitchFamily="34" charset="0"/>
                  <a:ea typeface="Times New Roman" pitchFamily="18" charset="0"/>
                </a:rPr>
                <a:t>)</a:t>
              </a:r>
              <a:r>
                <a:rPr lang="en-US" altLang="en-US" sz="2800" b="1" baseline="-30000" dirty="0">
                  <a:solidFill>
                    <a:srgbClr val="0070C0"/>
                  </a:solidFill>
                  <a:latin typeface="Calibri" pitchFamily="34" charset="0"/>
                  <a:ea typeface="Times New Roman" pitchFamily="18" charset="0"/>
                </a:rPr>
                <a:t>2</a:t>
              </a:r>
              <a:r>
                <a:rPr lang="en-US" altLang="en-US" sz="2800" b="1" dirty="0">
                  <a:solidFill>
                    <a:srgbClr val="0070C0"/>
                  </a:solidFill>
                  <a:latin typeface="Calibri" pitchFamily="34" charset="0"/>
                  <a:ea typeface="Times New Roman" pitchFamily="18" charset="0"/>
                </a:rPr>
                <a:t>↓ + 6NaSO</a:t>
              </a:r>
              <a:r>
                <a:rPr lang="en-US" altLang="en-US" sz="2800" b="1" baseline="-30000" dirty="0">
                  <a:solidFill>
                    <a:srgbClr val="0070C0"/>
                  </a:solidFill>
                  <a:latin typeface="Calibri" pitchFamily="34" charset="0"/>
                  <a:ea typeface="Times New Roman" pitchFamily="18" charset="0"/>
                </a:rPr>
                <a:t>4</a:t>
              </a:r>
              <a:endParaRPr lang="en-US" sz="2400" dirty="0">
                <a:latin typeface="Times New Roman" pitchFamily="18" charset="0"/>
                <a:cs typeface="Times New Roman" pitchFamily="18" charset="0"/>
              </a:endParaRPr>
            </a:p>
          </p:txBody>
        </p: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1"/>
          <p:cNvSpPr>
            <a:spLocks noChangeArrowheads="1"/>
          </p:cNvSpPr>
          <p:nvPr/>
        </p:nvSpPr>
        <p:spPr bwMode="auto">
          <a:xfrm>
            <a:off x="381000" y="1565195"/>
            <a:ext cx="11811000" cy="378565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52388" lvl="2" fontAlgn="base">
              <a:spcBef>
                <a:spcPct val="0"/>
              </a:spcBef>
              <a:spcAft>
                <a:spcPct val="0"/>
              </a:spcAft>
              <a:buClr>
                <a:srgbClr val="C00000"/>
              </a:buClr>
            </a:pPr>
            <a:r>
              <a:rPr lang="en-US" sz="2400" b="1" dirty="0">
                <a:solidFill>
                  <a:srgbClr val="C00000"/>
                </a:solidFill>
                <a:latin typeface="Times New Roman" pitchFamily="18" charset="0"/>
                <a:cs typeface="Times New Roman" pitchFamily="18" charset="0"/>
              </a:rPr>
              <a:t>C. Calgon conditioning: </a:t>
            </a:r>
          </a:p>
          <a:p>
            <a:pPr marL="1423988" lvl="4" indent="-457200" fontAlgn="base">
              <a:spcBef>
                <a:spcPct val="0"/>
              </a:spcBef>
              <a:spcAft>
                <a:spcPct val="0"/>
              </a:spcAft>
              <a:buClr>
                <a:srgbClr val="7030A0"/>
              </a:buClr>
              <a:buFont typeface="Wingdings" pitchFamily="2" charset="2"/>
              <a:buChar char="v"/>
            </a:pPr>
            <a:r>
              <a:rPr lang="en-US" sz="2400" dirty="0"/>
              <a:t>Sodium hexameta phosphate Na</a:t>
            </a:r>
            <a:r>
              <a:rPr lang="en-US" sz="2400" baseline="-25000" dirty="0"/>
              <a:t>2</a:t>
            </a:r>
            <a:r>
              <a:rPr lang="en-US" sz="2400" dirty="0"/>
              <a:t>[Na</a:t>
            </a:r>
            <a:r>
              <a:rPr lang="en-US" sz="2400" baseline="-25000" dirty="0"/>
              <a:t>4</a:t>
            </a:r>
            <a:r>
              <a:rPr lang="en-US" sz="2400" dirty="0"/>
              <a:t>(PO</a:t>
            </a:r>
            <a:r>
              <a:rPr lang="en-US" sz="2400" baseline="-25000" dirty="0"/>
              <a:t>3</a:t>
            </a:r>
            <a:r>
              <a:rPr lang="en-US" sz="2400" dirty="0"/>
              <a:t>)</a:t>
            </a:r>
            <a:r>
              <a:rPr lang="en-US" sz="2400" baseline="-25000" dirty="0"/>
              <a:t>6 </a:t>
            </a:r>
            <a:r>
              <a:rPr lang="en-US" sz="2400" dirty="0"/>
              <a:t>or (NaPO</a:t>
            </a:r>
            <a:r>
              <a:rPr lang="en-US" sz="2400" baseline="-25000" dirty="0"/>
              <a:t>3</a:t>
            </a:r>
            <a:r>
              <a:rPr lang="en-US" sz="2400" dirty="0"/>
              <a:t>)</a:t>
            </a:r>
            <a:r>
              <a:rPr lang="en-US" sz="2400" baseline="-25000" dirty="0"/>
              <a:t>6</a:t>
            </a:r>
            <a:r>
              <a:rPr lang="en-US" sz="2400" dirty="0"/>
              <a:t> is called calgon. </a:t>
            </a:r>
          </a:p>
          <a:p>
            <a:pPr marL="1423988" lvl="4" indent="-457200" fontAlgn="base">
              <a:spcBef>
                <a:spcPct val="0"/>
              </a:spcBef>
              <a:spcAft>
                <a:spcPct val="0"/>
              </a:spcAft>
              <a:buClr>
                <a:srgbClr val="7030A0"/>
              </a:buClr>
              <a:buFont typeface="Wingdings" pitchFamily="2" charset="2"/>
              <a:buChar char="v"/>
            </a:pPr>
            <a:r>
              <a:rPr lang="en-US" sz="2400" dirty="0"/>
              <a:t>This forms soluble complex compounds with CaSO</a:t>
            </a:r>
            <a:r>
              <a:rPr lang="en-US" sz="2400" baseline="-25000" dirty="0"/>
              <a:t>4</a:t>
            </a:r>
            <a:r>
              <a:rPr lang="en-US" sz="2400" dirty="0"/>
              <a:t>.</a:t>
            </a:r>
          </a:p>
          <a:p>
            <a:pPr marL="1423988" lvl="4" indent="-457200" fontAlgn="base">
              <a:spcBef>
                <a:spcPct val="0"/>
              </a:spcBef>
              <a:spcAft>
                <a:spcPct val="0"/>
              </a:spcAft>
              <a:buClr>
                <a:srgbClr val="7030A0"/>
              </a:buClr>
              <a:buFont typeface="Wingdings" pitchFamily="2" charset="2"/>
              <a:buChar char="v"/>
            </a:pPr>
            <a:r>
              <a:rPr lang="en-US" sz="2400" dirty="0"/>
              <a:t>The treatment of boiler water with calgon is called calgon conditioning.</a:t>
            </a:r>
          </a:p>
          <a:p>
            <a:pPr marL="1423988" lvl="4" indent="-457200" fontAlgn="base">
              <a:spcBef>
                <a:spcPct val="0"/>
              </a:spcBef>
              <a:spcAft>
                <a:spcPct val="0"/>
              </a:spcAft>
              <a:buClr>
                <a:srgbClr val="7030A0"/>
              </a:buClr>
              <a:buFont typeface="Wingdings" pitchFamily="2" charset="2"/>
              <a:buChar char="v"/>
            </a:pPr>
            <a:endParaRPr lang="en-US" sz="2400" dirty="0"/>
          </a:p>
          <a:p>
            <a:pPr lvl="0" algn="ctr">
              <a:buNone/>
            </a:pPr>
            <a:r>
              <a:rPr lang="en-US" altLang="en-US" sz="2400" b="1" dirty="0">
                <a:solidFill>
                  <a:srgbClr val="002060"/>
                </a:solidFill>
                <a:latin typeface="Times New Roman" pitchFamily="18" charset="0"/>
                <a:cs typeface="Times New Roman" pitchFamily="18" charset="0"/>
              </a:rPr>
              <a:t>Na</a:t>
            </a:r>
            <a:r>
              <a:rPr lang="en-US" altLang="en-US" sz="2400" b="1" baseline="-25000" dirty="0">
                <a:solidFill>
                  <a:srgbClr val="002060"/>
                </a:solidFill>
                <a:latin typeface="Times New Roman" pitchFamily="18" charset="0"/>
                <a:cs typeface="Times New Roman" pitchFamily="18" charset="0"/>
              </a:rPr>
              <a:t>2</a:t>
            </a:r>
            <a:r>
              <a:rPr lang="en-US" altLang="en-US" sz="2400" b="1" dirty="0">
                <a:solidFill>
                  <a:srgbClr val="002060"/>
                </a:solidFill>
                <a:latin typeface="Times New Roman" pitchFamily="18" charset="0"/>
                <a:cs typeface="Times New Roman" pitchFamily="18" charset="0"/>
              </a:rPr>
              <a:t> [Na</a:t>
            </a:r>
            <a:r>
              <a:rPr lang="en-US" altLang="en-US" sz="2400" b="1" baseline="-25000" dirty="0">
                <a:solidFill>
                  <a:srgbClr val="002060"/>
                </a:solidFill>
                <a:latin typeface="Times New Roman" pitchFamily="18" charset="0"/>
                <a:cs typeface="Times New Roman" pitchFamily="18" charset="0"/>
              </a:rPr>
              <a:t>4</a:t>
            </a:r>
            <a:r>
              <a:rPr lang="en-US" altLang="en-US" sz="2400" b="1" dirty="0">
                <a:solidFill>
                  <a:srgbClr val="002060"/>
                </a:solidFill>
                <a:latin typeface="Times New Roman" pitchFamily="18" charset="0"/>
                <a:cs typeface="Times New Roman" pitchFamily="18" charset="0"/>
              </a:rPr>
              <a:t> (PO</a:t>
            </a:r>
            <a:r>
              <a:rPr lang="en-US" altLang="en-US" sz="2400" b="1" baseline="-25000" dirty="0">
                <a:solidFill>
                  <a:srgbClr val="002060"/>
                </a:solidFill>
                <a:latin typeface="Times New Roman" pitchFamily="18" charset="0"/>
                <a:cs typeface="Times New Roman" pitchFamily="18" charset="0"/>
              </a:rPr>
              <a:t>3</a:t>
            </a:r>
            <a:r>
              <a:rPr lang="en-US" altLang="en-US" sz="2400" b="1" dirty="0">
                <a:solidFill>
                  <a:srgbClr val="002060"/>
                </a:solidFill>
                <a:latin typeface="Times New Roman" pitchFamily="18" charset="0"/>
                <a:cs typeface="Times New Roman" pitchFamily="18" charset="0"/>
              </a:rPr>
              <a:t>)</a:t>
            </a:r>
            <a:r>
              <a:rPr lang="en-US" altLang="en-US" sz="2400" b="1" baseline="-25000" dirty="0">
                <a:solidFill>
                  <a:srgbClr val="002060"/>
                </a:solidFill>
                <a:latin typeface="Times New Roman" pitchFamily="18" charset="0"/>
                <a:cs typeface="Times New Roman" pitchFamily="18" charset="0"/>
              </a:rPr>
              <a:t>6</a:t>
            </a:r>
            <a:r>
              <a:rPr lang="en-US" altLang="en-US" sz="2400" b="1" dirty="0">
                <a:solidFill>
                  <a:srgbClr val="002060"/>
                </a:solidFill>
                <a:latin typeface="Times New Roman" pitchFamily="18" charset="0"/>
                <a:cs typeface="Times New Roman" pitchFamily="18" charset="0"/>
              </a:rPr>
              <a:t>] ↔ 2Na</a:t>
            </a:r>
            <a:r>
              <a:rPr lang="en-US" altLang="en-US" sz="2400" b="1" baseline="30000" dirty="0">
                <a:solidFill>
                  <a:srgbClr val="002060"/>
                </a:solidFill>
                <a:latin typeface="Times New Roman" pitchFamily="18" charset="0"/>
                <a:cs typeface="Times New Roman" pitchFamily="18" charset="0"/>
              </a:rPr>
              <a:t>+</a:t>
            </a:r>
            <a:r>
              <a:rPr lang="en-US" altLang="en-US" sz="2400" b="1" dirty="0">
                <a:solidFill>
                  <a:srgbClr val="002060"/>
                </a:solidFill>
                <a:latin typeface="Times New Roman" pitchFamily="18" charset="0"/>
                <a:cs typeface="Times New Roman" pitchFamily="18" charset="0"/>
              </a:rPr>
              <a:t> + [Na</a:t>
            </a:r>
            <a:r>
              <a:rPr lang="en-US" altLang="en-US" sz="2400" b="1" baseline="-25000" dirty="0">
                <a:solidFill>
                  <a:srgbClr val="002060"/>
                </a:solidFill>
                <a:latin typeface="Times New Roman" pitchFamily="18" charset="0"/>
                <a:cs typeface="Times New Roman" pitchFamily="18" charset="0"/>
              </a:rPr>
              <a:t>4</a:t>
            </a:r>
            <a:r>
              <a:rPr lang="en-US" altLang="en-US" sz="2400" b="1" dirty="0">
                <a:solidFill>
                  <a:srgbClr val="002060"/>
                </a:solidFill>
                <a:latin typeface="Times New Roman" pitchFamily="18" charset="0"/>
                <a:cs typeface="Times New Roman" pitchFamily="18" charset="0"/>
              </a:rPr>
              <a:t> (PO</a:t>
            </a:r>
            <a:r>
              <a:rPr lang="en-US" altLang="en-US" sz="2400" b="1" baseline="-25000" dirty="0">
                <a:solidFill>
                  <a:srgbClr val="002060"/>
                </a:solidFill>
                <a:latin typeface="Times New Roman" pitchFamily="18" charset="0"/>
                <a:cs typeface="Times New Roman" pitchFamily="18" charset="0"/>
              </a:rPr>
              <a:t>3</a:t>
            </a:r>
            <a:r>
              <a:rPr lang="en-US" altLang="en-US" sz="2400" b="1" dirty="0">
                <a:solidFill>
                  <a:srgbClr val="002060"/>
                </a:solidFill>
                <a:latin typeface="Times New Roman" pitchFamily="18" charset="0"/>
                <a:cs typeface="Times New Roman" pitchFamily="18" charset="0"/>
              </a:rPr>
              <a:t>)</a:t>
            </a:r>
            <a:r>
              <a:rPr lang="en-US" altLang="en-US" sz="2400" b="1" baseline="-25000" dirty="0">
                <a:solidFill>
                  <a:srgbClr val="002060"/>
                </a:solidFill>
                <a:latin typeface="Times New Roman" pitchFamily="18" charset="0"/>
                <a:cs typeface="Times New Roman" pitchFamily="18" charset="0"/>
              </a:rPr>
              <a:t>6</a:t>
            </a:r>
            <a:r>
              <a:rPr lang="en-US" altLang="en-US" sz="2400" b="1" dirty="0">
                <a:solidFill>
                  <a:srgbClr val="002060"/>
                </a:solidFill>
                <a:latin typeface="Times New Roman" pitchFamily="18" charset="0"/>
                <a:cs typeface="Times New Roman" pitchFamily="18" charset="0"/>
              </a:rPr>
              <a:t>]</a:t>
            </a:r>
            <a:r>
              <a:rPr lang="en-US" altLang="en-US" sz="2400" b="1" baseline="30000" dirty="0">
                <a:solidFill>
                  <a:srgbClr val="002060"/>
                </a:solidFill>
                <a:latin typeface="Times New Roman" pitchFamily="18" charset="0"/>
                <a:cs typeface="Times New Roman" pitchFamily="18" charset="0"/>
              </a:rPr>
              <a:t>2-</a:t>
            </a:r>
          </a:p>
          <a:p>
            <a:pPr lvl="0">
              <a:buNone/>
            </a:pPr>
            <a:r>
              <a:rPr lang="en-US" altLang="en-US" sz="2400" dirty="0">
                <a:solidFill>
                  <a:srgbClr val="002060"/>
                </a:solidFill>
                <a:latin typeface="Times New Roman" pitchFamily="18" charset="0"/>
                <a:cs typeface="Times New Roman" pitchFamily="18" charset="0"/>
              </a:rPr>
              <a:t> 				</a:t>
            </a:r>
            <a:r>
              <a:rPr lang="en-US" altLang="en-US" sz="2400" dirty="0">
                <a:latin typeface="Times New Roman" pitchFamily="18" charset="0"/>
                <a:cs typeface="Times New Roman" pitchFamily="18" charset="0"/>
              </a:rPr>
              <a:t>Calgon</a:t>
            </a:r>
          </a:p>
          <a:p>
            <a:pPr lvl="0" algn="ctr">
              <a:buNone/>
            </a:pPr>
            <a:endParaRPr lang="en-US" altLang="en-US" sz="2400" dirty="0">
              <a:solidFill>
                <a:srgbClr val="002060"/>
              </a:solidFill>
              <a:latin typeface="Times New Roman" pitchFamily="18" charset="0"/>
              <a:cs typeface="Times New Roman" pitchFamily="18" charset="0"/>
            </a:endParaRPr>
          </a:p>
          <a:p>
            <a:pPr lvl="0" algn="ctr">
              <a:buNone/>
            </a:pPr>
            <a:r>
              <a:rPr lang="en-US" altLang="en-US" sz="2400" dirty="0">
                <a:solidFill>
                  <a:srgbClr val="002060"/>
                </a:solidFill>
                <a:latin typeface="Times New Roman" pitchFamily="18" charset="0"/>
                <a:cs typeface="Times New Roman" pitchFamily="18" charset="0"/>
              </a:rPr>
              <a:t>  </a:t>
            </a:r>
            <a:r>
              <a:rPr lang="en-US" altLang="en-US" sz="2400" b="1" dirty="0">
                <a:solidFill>
                  <a:srgbClr val="002060"/>
                </a:solidFill>
                <a:latin typeface="Times New Roman" pitchFamily="18" charset="0"/>
                <a:cs typeface="Times New Roman" pitchFamily="18" charset="0"/>
              </a:rPr>
              <a:t>2CaSO</a:t>
            </a:r>
            <a:r>
              <a:rPr lang="en-US" altLang="en-US" sz="2400" b="1" baseline="-25000" dirty="0">
                <a:solidFill>
                  <a:srgbClr val="002060"/>
                </a:solidFill>
                <a:latin typeface="Times New Roman" pitchFamily="18" charset="0"/>
                <a:cs typeface="Times New Roman" pitchFamily="18" charset="0"/>
              </a:rPr>
              <a:t>4</a:t>
            </a:r>
            <a:r>
              <a:rPr lang="en-US" altLang="en-US" sz="2400" b="1" dirty="0">
                <a:solidFill>
                  <a:srgbClr val="002060"/>
                </a:solidFill>
                <a:latin typeface="Times New Roman" pitchFamily="18" charset="0"/>
                <a:cs typeface="Times New Roman" pitchFamily="18" charset="0"/>
              </a:rPr>
              <a:t> + [Na</a:t>
            </a:r>
            <a:r>
              <a:rPr lang="en-US" altLang="en-US" sz="2400" b="1" baseline="-25000" dirty="0">
                <a:solidFill>
                  <a:srgbClr val="002060"/>
                </a:solidFill>
                <a:latin typeface="Times New Roman" pitchFamily="18" charset="0"/>
                <a:cs typeface="Times New Roman" pitchFamily="18" charset="0"/>
              </a:rPr>
              <a:t>4</a:t>
            </a:r>
            <a:r>
              <a:rPr lang="en-US" altLang="en-US" sz="2400" b="1" dirty="0">
                <a:solidFill>
                  <a:srgbClr val="002060"/>
                </a:solidFill>
                <a:latin typeface="Times New Roman" pitchFamily="18" charset="0"/>
                <a:cs typeface="Times New Roman" pitchFamily="18" charset="0"/>
              </a:rPr>
              <a:t> (PO</a:t>
            </a:r>
            <a:r>
              <a:rPr lang="en-US" altLang="en-US" sz="2400" b="1" baseline="-25000" dirty="0">
                <a:solidFill>
                  <a:srgbClr val="002060"/>
                </a:solidFill>
                <a:latin typeface="Times New Roman" pitchFamily="18" charset="0"/>
                <a:cs typeface="Times New Roman" pitchFamily="18" charset="0"/>
              </a:rPr>
              <a:t>3</a:t>
            </a:r>
            <a:r>
              <a:rPr lang="en-US" altLang="en-US" sz="2400" b="1" dirty="0">
                <a:solidFill>
                  <a:srgbClr val="002060"/>
                </a:solidFill>
                <a:latin typeface="Times New Roman" pitchFamily="18" charset="0"/>
                <a:cs typeface="Times New Roman" pitchFamily="18" charset="0"/>
              </a:rPr>
              <a:t>)</a:t>
            </a:r>
            <a:r>
              <a:rPr lang="en-US" altLang="en-US" sz="2400" b="1" baseline="-25000" dirty="0">
                <a:solidFill>
                  <a:srgbClr val="002060"/>
                </a:solidFill>
                <a:latin typeface="Times New Roman" pitchFamily="18" charset="0"/>
                <a:cs typeface="Times New Roman" pitchFamily="18" charset="0"/>
              </a:rPr>
              <a:t>6</a:t>
            </a:r>
            <a:r>
              <a:rPr lang="en-US" altLang="en-US" sz="2400" b="1" dirty="0">
                <a:solidFill>
                  <a:srgbClr val="002060"/>
                </a:solidFill>
                <a:latin typeface="Times New Roman" pitchFamily="18" charset="0"/>
                <a:cs typeface="Times New Roman" pitchFamily="18" charset="0"/>
              </a:rPr>
              <a:t>]</a:t>
            </a:r>
            <a:r>
              <a:rPr lang="en-US" altLang="en-US" sz="2400" b="1" baseline="30000" dirty="0">
                <a:solidFill>
                  <a:srgbClr val="002060"/>
                </a:solidFill>
                <a:latin typeface="Times New Roman" pitchFamily="18" charset="0"/>
                <a:cs typeface="Times New Roman" pitchFamily="18" charset="0"/>
              </a:rPr>
              <a:t>2- </a:t>
            </a:r>
            <a:r>
              <a:rPr lang="en-US" altLang="en-US" sz="2400" b="1" dirty="0">
                <a:solidFill>
                  <a:srgbClr val="002060"/>
                </a:solidFill>
                <a:latin typeface="Times New Roman" pitchFamily="18" charset="0"/>
                <a:cs typeface="Times New Roman" pitchFamily="18" charset="0"/>
              </a:rPr>
              <a:t>→ [Ca</a:t>
            </a:r>
            <a:r>
              <a:rPr lang="en-US" altLang="en-US" sz="2400" b="1" baseline="-25000" dirty="0">
                <a:solidFill>
                  <a:srgbClr val="002060"/>
                </a:solidFill>
                <a:latin typeface="Times New Roman" pitchFamily="18" charset="0"/>
                <a:cs typeface="Times New Roman" pitchFamily="18" charset="0"/>
              </a:rPr>
              <a:t>2</a:t>
            </a:r>
            <a:r>
              <a:rPr lang="en-US" altLang="en-US" sz="2400" b="1" dirty="0">
                <a:solidFill>
                  <a:srgbClr val="002060"/>
                </a:solidFill>
                <a:latin typeface="Times New Roman" pitchFamily="18" charset="0"/>
                <a:cs typeface="Times New Roman" pitchFamily="18" charset="0"/>
              </a:rPr>
              <a:t> (PO</a:t>
            </a:r>
            <a:r>
              <a:rPr lang="en-US" altLang="en-US" sz="2400" b="1" baseline="-25000" dirty="0">
                <a:solidFill>
                  <a:srgbClr val="002060"/>
                </a:solidFill>
                <a:latin typeface="Times New Roman" pitchFamily="18" charset="0"/>
                <a:cs typeface="Times New Roman" pitchFamily="18" charset="0"/>
              </a:rPr>
              <a:t>3</a:t>
            </a:r>
            <a:r>
              <a:rPr lang="en-US" altLang="en-US" sz="2400" b="1" dirty="0">
                <a:solidFill>
                  <a:srgbClr val="002060"/>
                </a:solidFill>
                <a:latin typeface="Times New Roman" pitchFamily="18" charset="0"/>
                <a:cs typeface="Times New Roman" pitchFamily="18" charset="0"/>
              </a:rPr>
              <a:t>)</a:t>
            </a:r>
            <a:r>
              <a:rPr lang="en-US" altLang="en-US" sz="2400" b="1" baseline="-25000" dirty="0">
                <a:solidFill>
                  <a:srgbClr val="002060"/>
                </a:solidFill>
                <a:latin typeface="Times New Roman" pitchFamily="18" charset="0"/>
                <a:cs typeface="Times New Roman" pitchFamily="18" charset="0"/>
              </a:rPr>
              <a:t>6</a:t>
            </a:r>
            <a:r>
              <a:rPr lang="en-US" altLang="en-US" sz="2400" b="1" dirty="0">
                <a:solidFill>
                  <a:srgbClr val="002060"/>
                </a:solidFill>
                <a:latin typeface="Times New Roman" pitchFamily="18" charset="0"/>
                <a:cs typeface="Times New Roman" pitchFamily="18" charset="0"/>
              </a:rPr>
              <a:t>]</a:t>
            </a:r>
            <a:r>
              <a:rPr lang="en-US" altLang="en-US" sz="2400" b="1" baseline="30000" dirty="0">
                <a:solidFill>
                  <a:srgbClr val="002060"/>
                </a:solidFill>
                <a:latin typeface="Times New Roman" pitchFamily="18" charset="0"/>
                <a:cs typeface="Times New Roman" pitchFamily="18" charset="0"/>
              </a:rPr>
              <a:t>2-</a:t>
            </a:r>
            <a:r>
              <a:rPr lang="en-US" altLang="en-US" sz="2400" b="1" dirty="0">
                <a:solidFill>
                  <a:srgbClr val="002060"/>
                </a:solidFill>
                <a:latin typeface="Times New Roman" pitchFamily="18" charset="0"/>
                <a:cs typeface="Times New Roman" pitchFamily="18" charset="0"/>
              </a:rPr>
              <a:t> + 2Na</a:t>
            </a:r>
            <a:r>
              <a:rPr lang="en-US" altLang="en-US" sz="2400" b="1" baseline="-25000" dirty="0">
                <a:solidFill>
                  <a:srgbClr val="002060"/>
                </a:solidFill>
                <a:latin typeface="Times New Roman" pitchFamily="18" charset="0"/>
                <a:cs typeface="Times New Roman" pitchFamily="18" charset="0"/>
              </a:rPr>
              <a:t>2</a:t>
            </a:r>
            <a:r>
              <a:rPr lang="en-US" altLang="en-US" sz="2400" b="1" dirty="0">
                <a:solidFill>
                  <a:srgbClr val="002060"/>
                </a:solidFill>
                <a:latin typeface="Times New Roman" pitchFamily="18" charset="0"/>
                <a:cs typeface="Times New Roman" pitchFamily="18" charset="0"/>
              </a:rPr>
              <a:t>SO</a:t>
            </a:r>
            <a:r>
              <a:rPr lang="en-US" altLang="en-US" sz="2400" b="1" baseline="-25000" dirty="0">
                <a:solidFill>
                  <a:srgbClr val="002060"/>
                </a:solidFill>
                <a:latin typeface="Times New Roman" pitchFamily="18" charset="0"/>
                <a:cs typeface="Times New Roman" pitchFamily="18" charset="0"/>
              </a:rPr>
              <a:t>4</a:t>
            </a:r>
          </a:p>
          <a:p>
            <a:pPr lvl="0" algn="ctr">
              <a:buNone/>
            </a:pPr>
            <a:r>
              <a:rPr lang="en-US" altLang="en-US" sz="2400" dirty="0">
                <a:solidFill>
                  <a:srgbClr val="002060"/>
                </a:solidFill>
                <a:latin typeface="Times New Roman" pitchFamily="18" charset="0"/>
                <a:cs typeface="Times New Roman" pitchFamily="18" charset="0"/>
              </a:rPr>
              <a:t>  </a:t>
            </a:r>
            <a:r>
              <a:rPr lang="en-US" altLang="en-US" sz="2400" dirty="0">
                <a:latin typeface="Times New Roman" pitchFamily="18" charset="0"/>
                <a:cs typeface="Times New Roman" pitchFamily="18" charset="0"/>
              </a:rPr>
              <a:t>Insoluble</a:t>
            </a:r>
            <a:r>
              <a:rPr lang="en-US" altLang="en-US" sz="2400" dirty="0">
                <a:solidFill>
                  <a:srgbClr val="002060"/>
                </a:solidFill>
                <a:latin typeface="Times New Roman" pitchFamily="18" charset="0"/>
                <a:cs typeface="Times New Roman" pitchFamily="18" charset="0"/>
              </a:rPr>
              <a:t>                                   </a:t>
            </a:r>
            <a:r>
              <a:rPr lang="en-US" altLang="en-US" sz="2400" dirty="0">
                <a:latin typeface="Times New Roman" pitchFamily="18" charset="0"/>
                <a:cs typeface="Times New Roman" pitchFamily="18" charset="0"/>
              </a:rPr>
              <a:t>soluble         insoluble</a:t>
            </a:r>
            <a:endParaRPr kumimoji="0" lang="en-US" sz="2400" b="0" i="0" u="none" strike="noStrike" cap="none" normalizeH="0" baseline="0" dirty="0">
              <a:ln>
                <a:noFill/>
              </a:ln>
              <a:solidFill>
                <a:schemeClr val="tx1"/>
              </a:solidFill>
              <a:effectLst/>
              <a:latin typeface="Times New Roman" pitchFamily="18" charset="0"/>
              <a:cs typeface="Times New Roman" pitchFamily="18"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1067574"/>
            <a:ext cx="11811000" cy="5324535"/>
          </a:xfrm>
          <a:prstGeom prst="rect">
            <a:avLst/>
          </a:prstGeom>
        </p:spPr>
        <p:txBody>
          <a:bodyPr wrap="square">
            <a:spAutoFit/>
          </a:bodyPr>
          <a:lstStyle/>
          <a:p>
            <a:r>
              <a:rPr lang="en-US" sz="2400" dirty="0">
                <a:latin typeface="Times New Roman" pitchFamily="18" charset="0"/>
                <a:cs typeface="Times New Roman" pitchFamily="18" charset="0"/>
              </a:rPr>
              <a:t>The treatment given to water for the removal of hardness causing salts before it is taken into the boiler is called ‘external treatment’.</a:t>
            </a:r>
          </a:p>
          <a:p>
            <a:pPr marL="514350" indent="-514350">
              <a:buClr>
                <a:srgbClr val="7030A0"/>
              </a:buClr>
              <a:buFont typeface="+mj-lt"/>
              <a:buAutoNum type="romanUcPeriod"/>
            </a:pPr>
            <a:r>
              <a:rPr lang="en-US" sz="3200" b="1" dirty="0">
                <a:solidFill>
                  <a:srgbClr val="7030A0"/>
                </a:solidFill>
                <a:latin typeface="Times New Roman" pitchFamily="18" charset="0"/>
                <a:cs typeface="Times New Roman" pitchFamily="18" charset="0"/>
              </a:rPr>
              <a:t>Ion exchange, de-</a:t>
            </a:r>
            <a:r>
              <a:rPr lang="en-US" sz="3200" b="1" dirty="0" err="1">
                <a:solidFill>
                  <a:srgbClr val="7030A0"/>
                </a:solidFill>
                <a:latin typeface="Times New Roman" pitchFamily="18" charset="0"/>
                <a:cs typeface="Times New Roman" pitchFamily="18" charset="0"/>
              </a:rPr>
              <a:t>ionisation</a:t>
            </a:r>
            <a:r>
              <a:rPr lang="en-US" sz="3200" b="1" dirty="0">
                <a:solidFill>
                  <a:srgbClr val="7030A0"/>
                </a:solidFill>
                <a:latin typeface="Times New Roman" pitchFamily="18" charset="0"/>
                <a:cs typeface="Times New Roman" pitchFamily="18" charset="0"/>
              </a:rPr>
              <a:t> (or) de-mineralization process: </a:t>
            </a:r>
          </a:p>
          <a:p>
            <a:pPr marL="514350" indent="-514350">
              <a:buClr>
                <a:srgbClr val="7030A0"/>
              </a:buClr>
            </a:pPr>
            <a:endParaRPr lang="en-US" sz="3200" b="1" dirty="0">
              <a:solidFill>
                <a:srgbClr val="7030A0"/>
              </a:solidFill>
              <a:latin typeface="Times New Roman" pitchFamily="18" charset="0"/>
              <a:cs typeface="Times New Roman" pitchFamily="18" charset="0"/>
            </a:endParaRPr>
          </a:p>
          <a:p>
            <a:pPr marL="965200" indent="-501650" algn="just">
              <a:buClr>
                <a:srgbClr val="7030A0"/>
              </a:buClr>
              <a:buFont typeface="Wingdings" pitchFamily="2" charset="2"/>
              <a:buChar char="v"/>
            </a:pPr>
            <a:r>
              <a:rPr lang="en-US" sz="2400" dirty="0">
                <a:latin typeface="Times New Roman" pitchFamily="18" charset="0"/>
                <a:cs typeface="Times New Roman" pitchFamily="18" charset="0"/>
              </a:rPr>
              <a:t>Ion exchange resins are insoluble, cross-linked, long chain organic polymers with a micro porous structure, and the ‘active sites’ attached to the chains are responsible for the ion exchange properties. </a:t>
            </a:r>
          </a:p>
          <a:p>
            <a:pPr marL="965200" indent="-501650" algn="just">
              <a:buClr>
                <a:srgbClr val="7030A0"/>
              </a:buClr>
              <a:buFont typeface="Wingdings" pitchFamily="2" charset="2"/>
              <a:buChar char="v"/>
            </a:pPr>
            <a:r>
              <a:rPr lang="en-US" sz="2400" dirty="0">
                <a:latin typeface="Times New Roman" pitchFamily="18" charset="0"/>
                <a:cs typeface="Times New Roman" pitchFamily="18" charset="0"/>
              </a:rPr>
              <a:t>Resins containing acid groups (COOH, SO</a:t>
            </a:r>
            <a:r>
              <a:rPr lang="en-US" sz="2400" baseline="-25000" dirty="0">
                <a:latin typeface="Times New Roman" pitchFamily="18" charset="0"/>
                <a:cs typeface="Times New Roman" pitchFamily="18" charset="0"/>
              </a:rPr>
              <a:t>3</a:t>
            </a:r>
            <a:r>
              <a:rPr lang="en-US" sz="2400" dirty="0">
                <a:latin typeface="Times New Roman" pitchFamily="18" charset="0"/>
                <a:cs typeface="Times New Roman" pitchFamily="18" charset="0"/>
              </a:rPr>
              <a:t>H) are capable of exchanging their H</a:t>
            </a:r>
            <a:r>
              <a:rPr lang="en-US" sz="2400" baseline="30000" dirty="0">
                <a:latin typeface="Times New Roman" pitchFamily="18" charset="0"/>
                <a:cs typeface="Times New Roman" pitchFamily="18" charset="0"/>
              </a:rPr>
              <a:t>+</a:t>
            </a:r>
            <a:r>
              <a:rPr lang="en-US" sz="2400" dirty="0">
                <a:latin typeface="Times New Roman" pitchFamily="18" charset="0"/>
                <a:cs typeface="Times New Roman" pitchFamily="18" charset="0"/>
              </a:rPr>
              <a:t> ions with other cations. This is called Cation exchange resin. </a:t>
            </a:r>
          </a:p>
          <a:p>
            <a:pPr marL="965200" indent="-501650" algn="ctr">
              <a:lnSpc>
                <a:spcPct val="150000"/>
              </a:lnSpc>
            </a:pPr>
            <a:r>
              <a:rPr lang="en-US" sz="2400" b="1" dirty="0">
                <a:latin typeface="Times New Roman" pitchFamily="18" charset="0"/>
                <a:cs typeface="Times New Roman" pitchFamily="18" charset="0"/>
              </a:rPr>
              <a:t>	</a:t>
            </a:r>
            <a:r>
              <a:rPr lang="en-US" sz="2400" b="1" dirty="0">
                <a:solidFill>
                  <a:srgbClr val="7030A0"/>
                </a:solidFill>
                <a:latin typeface="Times New Roman" pitchFamily="18" charset="0"/>
                <a:cs typeface="Times New Roman" pitchFamily="18" charset="0"/>
              </a:rPr>
              <a:t>Ex: RCOOH, RSO</a:t>
            </a:r>
            <a:r>
              <a:rPr lang="en-US" sz="2400" b="1" baseline="-25000" dirty="0">
                <a:solidFill>
                  <a:srgbClr val="7030A0"/>
                </a:solidFill>
                <a:latin typeface="Times New Roman" pitchFamily="18" charset="0"/>
                <a:cs typeface="Times New Roman" pitchFamily="18" charset="0"/>
              </a:rPr>
              <a:t>3</a:t>
            </a:r>
            <a:r>
              <a:rPr lang="en-US" sz="2400" b="1" dirty="0">
                <a:solidFill>
                  <a:srgbClr val="7030A0"/>
                </a:solidFill>
                <a:latin typeface="Times New Roman" pitchFamily="18" charset="0"/>
                <a:cs typeface="Times New Roman" pitchFamily="18" charset="0"/>
              </a:rPr>
              <a:t>H </a:t>
            </a:r>
          </a:p>
          <a:p>
            <a:pPr marL="965200" indent="-501650" algn="just">
              <a:buClr>
                <a:srgbClr val="7030A0"/>
              </a:buClr>
              <a:buFont typeface="Wingdings" pitchFamily="2" charset="2"/>
              <a:buChar char="v"/>
            </a:pPr>
            <a:r>
              <a:rPr lang="en-US" sz="2400" dirty="0">
                <a:latin typeface="Times New Roman" pitchFamily="18" charset="0"/>
                <a:cs typeface="Times New Roman" pitchFamily="18" charset="0"/>
              </a:rPr>
              <a:t>Resins containing basic groups (OH</a:t>
            </a:r>
            <a:r>
              <a:rPr lang="en-US" sz="2400" baseline="30000" dirty="0">
                <a:latin typeface="Times New Roman" pitchFamily="18" charset="0"/>
                <a:cs typeface="Times New Roman" pitchFamily="18" charset="0"/>
              </a:rPr>
              <a:t>-</a:t>
            </a:r>
            <a:r>
              <a:rPr lang="en-US" sz="2400" dirty="0">
                <a:latin typeface="Times New Roman" pitchFamily="18" charset="0"/>
                <a:cs typeface="Times New Roman" pitchFamily="18" charset="0"/>
              </a:rPr>
              <a:t>, NH</a:t>
            </a:r>
            <a:r>
              <a:rPr lang="en-US" sz="2400" baseline="-25000" dirty="0">
                <a:latin typeface="Times New Roman" pitchFamily="18" charset="0"/>
                <a:cs typeface="Times New Roman" pitchFamily="18" charset="0"/>
              </a:rPr>
              <a:t>2</a:t>
            </a:r>
            <a:r>
              <a:rPr lang="en-US" sz="2400" baseline="30000" dirty="0">
                <a:latin typeface="Times New Roman" pitchFamily="18" charset="0"/>
                <a:cs typeface="Times New Roman" pitchFamily="18" charset="0"/>
              </a:rPr>
              <a:t>-</a:t>
            </a:r>
            <a:r>
              <a:rPr lang="en-US" sz="2400" dirty="0">
                <a:latin typeface="Times New Roman" pitchFamily="18" charset="0"/>
                <a:cs typeface="Times New Roman" pitchFamily="18" charset="0"/>
              </a:rPr>
              <a:t>) are capable of exchanging their anions with other anions. This is called Anion exchange resin</a:t>
            </a:r>
          </a:p>
          <a:p>
            <a:pPr marL="965200" indent="-501650" algn="ctr">
              <a:buClr>
                <a:srgbClr val="7030A0"/>
              </a:buClr>
            </a:pPr>
            <a:r>
              <a:rPr lang="en-US" sz="2400" b="1" dirty="0">
                <a:solidFill>
                  <a:srgbClr val="7030A0"/>
                </a:solidFill>
                <a:latin typeface="Times New Roman" pitchFamily="18" charset="0"/>
                <a:cs typeface="Times New Roman" pitchFamily="18" charset="0"/>
              </a:rPr>
              <a:t>Ex: R-CH</a:t>
            </a:r>
            <a:r>
              <a:rPr lang="en-US" sz="2400" b="1" baseline="-25000" dirty="0">
                <a:solidFill>
                  <a:srgbClr val="7030A0"/>
                </a:solidFill>
                <a:latin typeface="Times New Roman" pitchFamily="18" charset="0"/>
                <a:cs typeface="Times New Roman" pitchFamily="18" charset="0"/>
              </a:rPr>
              <a:t>2</a:t>
            </a:r>
            <a:r>
              <a:rPr lang="en-US" sz="2400" b="1" dirty="0">
                <a:solidFill>
                  <a:srgbClr val="7030A0"/>
                </a:solidFill>
                <a:latin typeface="Times New Roman" pitchFamily="18" charset="0"/>
                <a:cs typeface="Times New Roman" pitchFamily="18" charset="0"/>
              </a:rPr>
              <a:t>NMe</a:t>
            </a:r>
            <a:r>
              <a:rPr lang="en-US" sz="2400" b="1" baseline="-25000" dirty="0">
                <a:solidFill>
                  <a:srgbClr val="7030A0"/>
                </a:solidFill>
                <a:latin typeface="Times New Roman" pitchFamily="18" charset="0"/>
                <a:cs typeface="Times New Roman" pitchFamily="18" charset="0"/>
              </a:rPr>
              <a:t>2</a:t>
            </a:r>
            <a:r>
              <a:rPr lang="en-US" sz="2400" b="1" dirty="0">
                <a:solidFill>
                  <a:srgbClr val="7030A0"/>
                </a:solidFill>
                <a:latin typeface="Times New Roman" pitchFamily="18" charset="0"/>
                <a:cs typeface="Times New Roman" pitchFamily="18" charset="0"/>
              </a:rPr>
              <a:t>OH</a:t>
            </a:r>
            <a:endParaRPr lang="en-US" sz="3200" b="1" dirty="0">
              <a:solidFill>
                <a:srgbClr val="7030A0"/>
              </a:solidFill>
              <a:latin typeface="Times New Roman" pitchFamily="18" charset="0"/>
              <a:cs typeface="Times New Roman" pitchFamily="18" charset="0"/>
            </a:endParaRPr>
          </a:p>
        </p:txBody>
      </p:sp>
      <p:sp>
        <p:nvSpPr>
          <p:cNvPr id="3" name="Rectangle 2"/>
          <p:cNvSpPr/>
          <p:nvPr/>
        </p:nvSpPr>
        <p:spPr>
          <a:xfrm>
            <a:off x="3810000" y="152400"/>
            <a:ext cx="5149487" cy="707886"/>
          </a:xfrm>
          <a:prstGeom prst="rect">
            <a:avLst/>
          </a:prstGeom>
        </p:spPr>
        <p:txBody>
          <a:bodyPr wrap="none">
            <a:spAutoFit/>
          </a:bodyPr>
          <a:lstStyle/>
          <a:p>
            <a:pPr marL="342900" indent="-342900">
              <a:buClr>
                <a:srgbClr val="C00000"/>
              </a:buClr>
              <a:buFont typeface="+mj-lt"/>
              <a:buAutoNum type="alphaUcPeriod" startAt="2"/>
            </a:pPr>
            <a:r>
              <a:rPr lang="en-US" sz="4000" b="1" dirty="0">
                <a:solidFill>
                  <a:srgbClr val="C00000"/>
                </a:solidFill>
                <a:latin typeface="Times New Roman" pitchFamily="18" charset="0"/>
                <a:cs typeface="Times New Roman" pitchFamily="18" charset="0"/>
              </a:rPr>
              <a:t>External treatment: </a:t>
            </a:r>
            <a:endParaRPr lang="en-US" sz="4000" b="1" dirty="0">
              <a:solidFill>
                <a:srgbClr val="C00000"/>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resin_example"/>
          <p:cNvPicPr>
            <a:picLocks/>
          </p:cNvPicPr>
          <p:nvPr/>
        </p:nvPicPr>
        <p:blipFill>
          <a:blip r:embed="rId2"/>
          <a:srcRect l="13333" t="-1667"/>
          <a:stretch>
            <a:fillRect/>
          </a:stretch>
        </p:blipFill>
        <p:spPr>
          <a:xfrm>
            <a:off x="457200" y="1066800"/>
            <a:ext cx="3962400" cy="4648200"/>
          </a:xfrm>
          <a:prstGeom prst="rect">
            <a:avLst/>
          </a:prstGeom>
          <a:noFill/>
          <a:ln w="9525">
            <a:solidFill>
              <a:schemeClr val="tx1"/>
            </a:solidFill>
          </a:ln>
        </p:spPr>
      </p:pic>
      <p:grpSp>
        <p:nvGrpSpPr>
          <p:cNvPr id="9" name="Group 8"/>
          <p:cNvGrpSpPr/>
          <p:nvPr/>
        </p:nvGrpSpPr>
        <p:grpSpPr>
          <a:xfrm>
            <a:off x="3938378" y="152400"/>
            <a:ext cx="8634622" cy="6555641"/>
            <a:chOff x="3938378" y="152400"/>
            <a:chExt cx="8634622" cy="6555641"/>
          </a:xfrm>
        </p:grpSpPr>
        <p:grpSp>
          <p:nvGrpSpPr>
            <p:cNvPr id="7" name="Group 6"/>
            <p:cNvGrpSpPr/>
            <p:nvPr/>
          </p:nvGrpSpPr>
          <p:grpSpPr>
            <a:xfrm>
              <a:off x="3938378" y="4648200"/>
              <a:ext cx="481222" cy="381000"/>
              <a:chOff x="4724400" y="4648200"/>
              <a:chExt cx="481222" cy="381000"/>
            </a:xfrm>
          </p:grpSpPr>
          <p:sp>
            <p:nvSpPr>
              <p:cNvPr id="4" name="TextBox 3"/>
              <p:cNvSpPr txBox="1"/>
              <p:nvPr/>
            </p:nvSpPr>
            <p:spPr>
              <a:xfrm>
                <a:off x="4824622" y="4659868"/>
                <a:ext cx="304800" cy="369332"/>
              </a:xfrm>
              <a:prstGeom prst="rect">
                <a:avLst/>
              </a:prstGeom>
              <a:solidFill>
                <a:schemeClr val="bg1"/>
              </a:solidFill>
              <a:ln>
                <a:noFill/>
              </a:ln>
            </p:spPr>
            <p:txBody>
              <a:bodyPr wrap="square" rtlCol="0">
                <a:spAutoFit/>
              </a:bodyPr>
              <a:lstStyle/>
              <a:p>
                <a:endParaRPr lang="en-US" dirty="0"/>
              </a:p>
            </p:txBody>
          </p:sp>
          <p:sp>
            <p:nvSpPr>
              <p:cNvPr id="5" name="TextBox 4"/>
              <p:cNvSpPr txBox="1"/>
              <p:nvPr/>
            </p:nvSpPr>
            <p:spPr>
              <a:xfrm>
                <a:off x="4724400" y="4648200"/>
                <a:ext cx="481222" cy="369332"/>
              </a:xfrm>
              <a:prstGeom prst="rect">
                <a:avLst/>
              </a:prstGeom>
              <a:noFill/>
            </p:spPr>
            <p:txBody>
              <a:bodyPr wrap="none" rtlCol="0">
                <a:spAutoFit/>
              </a:bodyPr>
              <a:lstStyle/>
              <a:p>
                <a:r>
                  <a:rPr lang="en-US" dirty="0"/>
                  <a:t>OH</a:t>
                </a:r>
              </a:p>
            </p:txBody>
          </p:sp>
        </p:grpSp>
        <p:sp>
          <p:nvSpPr>
            <p:cNvPr id="80897" name="Rectangle 1"/>
            <p:cNvSpPr>
              <a:spLocks noChangeArrowheads="1"/>
            </p:cNvSpPr>
            <p:nvPr/>
          </p:nvSpPr>
          <p:spPr bwMode="auto">
            <a:xfrm>
              <a:off x="4419600" y="152400"/>
              <a:ext cx="8153400" cy="655564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R="0" lvl="0" algn="just" defTabSz="914400" rtl="0" eaLnBrk="1" fontAlgn="base" latinLnBrk="0" hangingPunct="1">
                <a:lnSpc>
                  <a:spcPct val="100000"/>
                </a:lnSpc>
                <a:spcBef>
                  <a:spcPct val="0"/>
                </a:spcBef>
                <a:spcAft>
                  <a:spcPct val="0"/>
                </a:spcAft>
                <a:buClrTx/>
                <a:buSzTx/>
                <a:buFontTx/>
                <a:buNone/>
                <a:tabLst/>
              </a:pPr>
              <a:r>
                <a:rPr kumimoji="0" lang="en-US" sz="3600" b="1" i="0" u="none" strike="noStrike" cap="none" normalizeH="0" baseline="0" dirty="0">
                  <a:ln>
                    <a:noFill/>
                  </a:ln>
                  <a:solidFill>
                    <a:srgbClr val="C00000"/>
                  </a:solidFill>
                  <a:effectLst/>
                  <a:latin typeface="Times New Roman" pitchFamily="18" charset="0"/>
                  <a:ea typeface="Calibri" pitchFamily="34" charset="0"/>
                  <a:cs typeface="Times New Roman" pitchFamily="18" charset="0"/>
                </a:rPr>
                <a:t>Process: </a:t>
              </a:r>
              <a:endParaRPr kumimoji="0" lang="en-US" sz="3600" b="1" i="0" u="none" strike="noStrike" cap="none" normalizeH="0" baseline="0" dirty="0">
                <a:ln>
                  <a:noFill/>
                </a:ln>
                <a:solidFill>
                  <a:srgbClr val="C00000"/>
                </a:solidFill>
                <a:effectLst/>
                <a:latin typeface="Times New Roman" pitchFamily="18" charset="0"/>
                <a:cs typeface="Times New Roman" pitchFamily="18" charset="0"/>
              </a:endParaRPr>
            </a:p>
            <a:p>
              <a:pPr marL="282575" marR="0" lvl="0" algn="just"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The hard water is passed first through Cation exchange column, which removes the cations like Ca</a:t>
              </a:r>
              <a:r>
                <a:rPr kumimoji="0" lang="en-US" sz="2400" b="0" i="0" u="none" strike="noStrike" cap="none" normalizeH="0" baseline="30000" dirty="0">
                  <a:ln>
                    <a:noFill/>
                  </a:ln>
                  <a:solidFill>
                    <a:schemeClr val="tx1"/>
                  </a:solidFill>
                  <a:effectLst/>
                  <a:latin typeface="Times New Roman" pitchFamily="18" charset="0"/>
                  <a:ea typeface="Calibri" pitchFamily="34" charset="0"/>
                  <a:cs typeface="Times New Roman" pitchFamily="18" charset="0"/>
                </a:rPr>
                <a:t>2+</a:t>
              </a: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and Mg</a:t>
              </a:r>
              <a:r>
                <a:rPr kumimoji="0" lang="en-US" sz="2400" b="0" i="0" u="none" strike="noStrike" cap="none" normalizeH="0" baseline="30000" dirty="0">
                  <a:ln>
                    <a:noFill/>
                  </a:ln>
                  <a:solidFill>
                    <a:schemeClr val="tx1"/>
                  </a:solidFill>
                  <a:effectLst/>
                  <a:latin typeface="Times New Roman" pitchFamily="18" charset="0"/>
                  <a:ea typeface="Calibri" pitchFamily="34" charset="0"/>
                  <a:cs typeface="Times New Roman" pitchFamily="18" charset="0"/>
                </a:rPr>
                <a:t>2+</a:t>
              </a: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etc from it, and equivalent amount of H</a:t>
              </a:r>
              <a:r>
                <a:rPr kumimoji="0" lang="en-US" sz="2400" b="0" i="0" u="none" strike="noStrike" cap="none" normalizeH="0" baseline="30000" dirty="0">
                  <a:ln>
                    <a:noFill/>
                  </a:ln>
                  <a:solidFill>
                    <a:schemeClr val="tx1"/>
                  </a:solidFill>
                  <a:effectLst/>
                  <a:latin typeface="Times New Roman" pitchFamily="18" charset="0"/>
                  <a:ea typeface="Calibri" pitchFamily="34" charset="0"/>
                  <a:cs typeface="Times New Roman" pitchFamily="18" charset="0"/>
                </a:rPr>
                <a:t>+</a:t>
              </a: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ions are released from the column to water. </a:t>
              </a:r>
              <a:endParaRPr kumimoji="0" lang="en-US" sz="2400" b="0" i="0" u="none" strike="noStrike" cap="none" normalizeH="0" baseline="0" dirty="0">
                <a:ln>
                  <a:noFill/>
                </a:ln>
                <a:solidFill>
                  <a:schemeClr val="tx1"/>
                </a:solidFill>
                <a:effectLst/>
                <a:latin typeface="Times New Roman" pitchFamily="18" charset="0"/>
                <a:cs typeface="Times New Roman" pitchFamily="18" charset="0"/>
              </a:endParaRPr>
            </a:p>
            <a:p>
              <a:pPr marL="0" marR="0" lvl="0" indent="45720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rPr>
                <a:t>		</a:t>
              </a:r>
              <a:r>
                <a:rPr kumimoji="0" lang="en-US" sz="2400" b="1" i="0" u="none" strike="noStrike" cap="none" normalizeH="0" baseline="0" dirty="0">
                  <a:ln>
                    <a:noFill/>
                  </a:ln>
                  <a:solidFill>
                    <a:srgbClr val="7030A0"/>
                  </a:solidFill>
                  <a:effectLst/>
                  <a:latin typeface="Times New Roman" pitchFamily="18" charset="0"/>
                  <a:ea typeface="Calibri" pitchFamily="34" charset="0"/>
                  <a:cs typeface="Times New Roman" pitchFamily="18" charset="0"/>
                </a:rPr>
                <a:t>2RH + Ca</a:t>
              </a:r>
              <a:r>
                <a:rPr kumimoji="0" lang="en-US" sz="2400" b="1" i="0" u="none" strike="noStrike" cap="none" normalizeH="0" baseline="30000" dirty="0">
                  <a:ln>
                    <a:noFill/>
                  </a:ln>
                  <a:solidFill>
                    <a:srgbClr val="7030A0"/>
                  </a:solidFill>
                  <a:effectLst/>
                  <a:latin typeface="Times New Roman" pitchFamily="18" charset="0"/>
                  <a:ea typeface="Calibri" pitchFamily="34" charset="0"/>
                  <a:cs typeface="Times New Roman" pitchFamily="18" charset="0"/>
                </a:rPr>
                <a:t>+2     </a:t>
              </a:r>
              <a:r>
                <a:rPr kumimoji="0" lang="en-US" sz="2400" b="1" i="0" u="none" strike="noStrike" cap="none" normalizeH="0" baseline="0" dirty="0">
                  <a:ln>
                    <a:noFill/>
                  </a:ln>
                  <a:solidFill>
                    <a:srgbClr val="7030A0"/>
                  </a:solidFill>
                  <a:effectLst/>
                  <a:latin typeface="Times New Roman" pitchFamily="18" charset="0"/>
                  <a:ea typeface="Calibri" pitchFamily="34" charset="0"/>
                  <a:cs typeface="Times New Roman" pitchFamily="18" charset="0"/>
                </a:rPr>
                <a:t> </a:t>
              </a:r>
              <a:r>
                <a:rPr kumimoji="0" lang="en-US" sz="2400" b="1" i="0" u="none" strike="noStrike" cap="none" normalizeH="0" baseline="0" dirty="0">
                  <a:ln>
                    <a:noFill/>
                  </a:ln>
                  <a:solidFill>
                    <a:srgbClr val="7030A0"/>
                  </a:solidFill>
                  <a:effectLst/>
                  <a:latin typeface="Times New Roman" pitchFamily="18" charset="0"/>
                  <a:ea typeface="Calibri" pitchFamily="34" charset="0"/>
                  <a:cs typeface="Times New Roman" pitchFamily="18" charset="0"/>
                  <a:sym typeface="Wingdings" pitchFamily="2" charset="2"/>
                </a:rPr>
                <a:t></a:t>
              </a:r>
              <a:r>
                <a:rPr kumimoji="0" lang="en-US" sz="2400" b="1" i="0" u="none" strike="noStrike" cap="none" normalizeH="0" baseline="0" dirty="0">
                  <a:ln>
                    <a:noFill/>
                  </a:ln>
                  <a:solidFill>
                    <a:srgbClr val="7030A0"/>
                  </a:solidFill>
                  <a:effectLst/>
                  <a:latin typeface="Times New Roman" pitchFamily="18" charset="0"/>
                  <a:ea typeface="Calibri" pitchFamily="34" charset="0"/>
                  <a:cs typeface="Times New Roman" pitchFamily="18" charset="0"/>
                </a:rPr>
                <a:t>    </a:t>
              </a:r>
              <a:r>
                <a:rPr kumimoji="0" lang="en-US" sz="2400" b="1" i="0" u="none" strike="noStrike" cap="none" normalizeH="0" baseline="0" dirty="0">
                  <a:ln>
                    <a:noFill/>
                  </a:ln>
                  <a:solidFill>
                    <a:srgbClr val="7030A0"/>
                  </a:solidFill>
                  <a:effectLst/>
                  <a:latin typeface="Times New Roman" pitchFamily="18" charset="0"/>
                  <a:ea typeface="Calibri" pitchFamily="34" charset="0"/>
                  <a:cs typeface="Times New Roman" pitchFamily="18" charset="0"/>
                  <a:sym typeface="Wingdings" pitchFamily="2" charset="2"/>
                </a:rPr>
                <a:t>R</a:t>
              </a:r>
              <a:r>
                <a:rPr kumimoji="0" lang="en-US" sz="2400" b="1" i="0" u="none" strike="noStrike" cap="none" normalizeH="0" baseline="-30000" dirty="0">
                  <a:ln>
                    <a:noFill/>
                  </a:ln>
                  <a:solidFill>
                    <a:srgbClr val="7030A0"/>
                  </a:solidFill>
                  <a:effectLst/>
                  <a:latin typeface="Times New Roman" pitchFamily="18" charset="0"/>
                  <a:ea typeface="Calibri" pitchFamily="34" charset="0"/>
                  <a:cs typeface="Times New Roman" pitchFamily="18" charset="0"/>
                  <a:sym typeface="Wingdings" pitchFamily="2" charset="2"/>
                </a:rPr>
                <a:t>2</a:t>
              </a:r>
              <a:r>
                <a:rPr kumimoji="0" lang="en-US" sz="2400" b="1" i="0" u="none" strike="noStrike" cap="none" normalizeH="0" baseline="0" dirty="0">
                  <a:ln>
                    <a:noFill/>
                  </a:ln>
                  <a:solidFill>
                    <a:srgbClr val="7030A0"/>
                  </a:solidFill>
                  <a:effectLst/>
                  <a:latin typeface="Times New Roman" pitchFamily="18" charset="0"/>
                  <a:ea typeface="Calibri" pitchFamily="34" charset="0"/>
                  <a:cs typeface="Times New Roman" pitchFamily="18" charset="0"/>
                  <a:sym typeface="Wingdings" pitchFamily="2" charset="2"/>
                </a:rPr>
                <a:t>Ca + 2H</a:t>
              </a:r>
              <a:r>
                <a:rPr kumimoji="0" lang="en-US" sz="2400" b="1" i="0" u="none" strike="noStrike" cap="none" normalizeH="0" baseline="30000" dirty="0">
                  <a:ln>
                    <a:noFill/>
                  </a:ln>
                  <a:solidFill>
                    <a:srgbClr val="7030A0"/>
                  </a:solidFill>
                  <a:effectLst/>
                  <a:latin typeface="Times New Roman" pitchFamily="18" charset="0"/>
                  <a:ea typeface="Calibri" pitchFamily="34" charset="0"/>
                  <a:cs typeface="Times New Roman" pitchFamily="18" charset="0"/>
                  <a:sym typeface="Wingdings" pitchFamily="2" charset="2"/>
                </a:rPr>
                <a:t>+</a:t>
              </a:r>
              <a:endParaRPr kumimoji="0" lang="en-US" sz="2400" b="1" i="0" u="none" strike="noStrike" cap="none" normalizeH="0" baseline="0" dirty="0">
                <a:ln>
                  <a:noFill/>
                </a:ln>
                <a:solidFill>
                  <a:srgbClr val="7030A0"/>
                </a:solidFill>
                <a:effectLst/>
                <a:latin typeface="Times New Roman" pitchFamily="18" charset="0"/>
                <a:cs typeface="Times New Roman" pitchFamily="18" charset="0"/>
                <a:sym typeface="Wingdings" pitchFamily="2" charset="2"/>
              </a:endParaRPr>
            </a:p>
            <a:p>
              <a:pPr marL="0" marR="0" lvl="0" indent="457200" algn="ctr" defTabSz="914400" rtl="0" eaLnBrk="0" fontAlgn="base" latinLnBrk="0" hangingPunct="0">
                <a:lnSpc>
                  <a:spcPct val="100000"/>
                </a:lnSpc>
                <a:spcBef>
                  <a:spcPct val="0"/>
                </a:spcBef>
                <a:spcAft>
                  <a:spcPct val="0"/>
                </a:spcAft>
                <a:buClrTx/>
                <a:buSzTx/>
                <a:buFontTx/>
                <a:buNone/>
                <a:tabLst/>
              </a:pPr>
              <a:r>
                <a:rPr kumimoji="0" lang="en-US" sz="2400" b="1" i="0" u="none" strike="noStrike" cap="none" normalizeH="0" baseline="0" dirty="0">
                  <a:ln>
                    <a:noFill/>
                  </a:ln>
                  <a:solidFill>
                    <a:srgbClr val="7030A0"/>
                  </a:solidFill>
                  <a:effectLst/>
                  <a:latin typeface="Times New Roman" pitchFamily="18" charset="0"/>
                  <a:ea typeface="Calibri" pitchFamily="34" charset="0"/>
                  <a:cs typeface="Times New Roman" pitchFamily="18" charset="0"/>
                  <a:sym typeface="Wingdings" pitchFamily="2" charset="2"/>
                </a:rPr>
                <a:t>                   2RH + Mg</a:t>
              </a:r>
              <a:r>
                <a:rPr kumimoji="0" lang="en-US" sz="2400" b="1" i="0" u="none" strike="noStrike" cap="none" normalizeH="0" baseline="30000" dirty="0">
                  <a:ln>
                    <a:noFill/>
                  </a:ln>
                  <a:solidFill>
                    <a:srgbClr val="7030A0"/>
                  </a:solidFill>
                  <a:effectLst/>
                  <a:latin typeface="Times New Roman" pitchFamily="18" charset="0"/>
                  <a:ea typeface="Calibri" pitchFamily="34" charset="0"/>
                  <a:cs typeface="Times New Roman" pitchFamily="18" charset="0"/>
                  <a:sym typeface="Wingdings" pitchFamily="2" charset="2"/>
                </a:rPr>
                <a:t>+2    </a:t>
              </a:r>
              <a:r>
                <a:rPr kumimoji="0" lang="en-US" sz="2400" b="1" i="0" u="none" strike="noStrike" cap="none" normalizeH="0" baseline="0" dirty="0">
                  <a:ln>
                    <a:noFill/>
                  </a:ln>
                  <a:solidFill>
                    <a:srgbClr val="7030A0"/>
                  </a:solidFill>
                  <a:effectLst/>
                  <a:latin typeface="Times New Roman" pitchFamily="18" charset="0"/>
                  <a:ea typeface="Calibri" pitchFamily="34" charset="0"/>
                  <a:cs typeface="Times New Roman" pitchFamily="18" charset="0"/>
                  <a:sym typeface="Wingdings" pitchFamily="2" charset="2"/>
                </a:rPr>
                <a:t></a:t>
              </a:r>
              <a:r>
                <a:rPr kumimoji="0" lang="en-US" sz="2400" b="1" i="0" u="none" strike="noStrike" cap="none" normalizeH="0" baseline="0" dirty="0">
                  <a:ln>
                    <a:noFill/>
                  </a:ln>
                  <a:solidFill>
                    <a:srgbClr val="7030A0"/>
                  </a:solidFill>
                  <a:effectLst/>
                  <a:latin typeface="Times New Roman" pitchFamily="18" charset="0"/>
                  <a:ea typeface="Calibri" pitchFamily="34" charset="0"/>
                  <a:cs typeface="Times New Roman" pitchFamily="18" charset="0"/>
                </a:rPr>
                <a:t>    </a:t>
              </a:r>
              <a:r>
                <a:rPr kumimoji="0" lang="en-US" sz="2400" b="1" i="0" u="none" strike="noStrike" cap="none" normalizeH="0" baseline="0" dirty="0">
                  <a:ln>
                    <a:noFill/>
                  </a:ln>
                  <a:solidFill>
                    <a:srgbClr val="7030A0"/>
                  </a:solidFill>
                  <a:effectLst/>
                  <a:latin typeface="Times New Roman" pitchFamily="18" charset="0"/>
                  <a:ea typeface="Calibri" pitchFamily="34" charset="0"/>
                  <a:cs typeface="Times New Roman" pitchFamily="18" charset="0"/>
                  <a:sym typeface="Wingdings" pitchFamily="2" charset="2"/>
                </a:rPr>
                <a:t>R</a:t>
              </a:r>
              <a:r>
                <a:rPr kumimoji="0" lang="en-US" sz="2400" b="1" i="0" u="none" strike="noStrike" cap="none" normalizeH="0" baseline="-30000" dirty="0">
                  <a:ln>
                    <a:noFill/>
                  </a:ln>
                  <a:solidFill>
                    <a:srgbClr val="7030A0"/>
                  </a:solidFill>
                  <a:effectLst/>
                  <a:latin typeface="Times New Roman" pitchFamily="18" charset="0"/>
                  <a:ea typeface="Calibri" pitchFamily="34" charset="0"/>
                  <a:cs typeface="Times New Roman" pitchFamily="18" charset="0"/>
                  <a:sym typeface="Wingdings" pitchFamily="2" charset="2"/>
                </a:rPr>
                <a:t>2</a:t>
              </a:r>
              <a:r>
                <a:rPr kumimoji="0" lang="en-US" sz="2400" b="1" i="0" u="none" strike="noStrike" cap="none" normalizeH="0" baseline="0" dirty="0">
                  <a:ln>
                    <a:noFill/>
                  </a:ln>
                  <a:solidFill>
                    <a:srgbClr val="7030A0"/>
                  </a:solidFill>
                  <a:effectLst/>
                  <a:latin typeface="Times New Roman" pitchFamily="18" charset="0"/>
                  <a:ea typeface="Calibri" pitchFamily="34" charset="0"/>
                  <a:cs typeface="Times New Roman" pitchFamily="18" charset="0"/>
                  <a:sym typeface="Wingdings" pitchFamily="2" charset="2"/>
                </a:rPr>
                <a:t>Mg</a:t>
              </a:r>
              <a:r>
                <a:rPr kumimoji="0" lang="en-US" sz="2400" b="1" i="0" u="none" strike="noStrike" cap="none" normalizeH="0" baseline="30000" dirty="0">
                  <a:ln>
                    <a:noFill/>
                  </a:ln>
                  <a:solidFill>
                    <a:srgbClr val="7030A0"/>
                  </a:solidFill>
                  <a:effectLst/>
                  <a:latin typeface="Times New Roman" pitchFamily="18" charset="0"/>
                  <a:ea typeface="Calibri" pitchFamily="34" charset="0"/>
                  <a:cs typeface="Times New Roman" pitchFamily="18" charset="0"/>
                  <a:sym typeface="Wingdings" pitchFamily="2" charset="2"/>
                </a:rPr>
                <a:t> </a:t>
              </a:r>
              <a:r>
                <a:rPr kumimoji="0" lang="en-US" sz="2400" b="1" i="0" u="none" strike="noStrike" cap="none" normalizeH="0" baseline="0" dirty="0">
                  <a:ln>
                    <a:noFill/>
                  </a:ln>
                  <a:solidFill>
                    <a:srgbClr val="7030A0"/>
                  </a:solidFill>
                  <a:effectLst/>
                  <a:latin typeface="Times New Roman" pitchFamily="18" charset="0"/>
                  <a:ea typeface="Calibri" pitchFamily="34" charset="0"/>
                  <a:cs typeface="Times New Roman" pitchFamily="18" charset="0"/>
                  <a:sym typeface="Wingdings" pitchFamily="2" charset="2"/>
                </a:rPr>
                <a:t>+ 2H</a:t>
              </a:r>
              <a:r>
                <a:rPr kumimoji="0" lang="en-US" sz="2400" b="1" i="0" u="none" strike="noStrike" cap="none" normalizeH="0" baseline="30000" dirty="0">
                  <a:ln>
                    <a:noFill/>
                  </a:ln>
                  <a:solidFill>
                    <a:srgbClr val="7030A0"/>
                  </a:solidFill>
                  <a:effectLst/>
                  <a:latin typeface="Times New Roman" pitchFamily="18" charset="0"/>
                  <a:ea typeface="Calibri" pitchFamily="34" charset="0"/>
                  <a:cs typeface="Times New Roman" pitchFamily="18" charset="0"/>
                  <a:sym typeface="Wingdings" pitchFamily="2" charset="2"/>
                </a:rPr>
                <a:t>+</a:t>
              </a:r>
              <a:endParaRPr kumimoji="0" lang="en-US" sz="2400" b="1" i="0" u="none" strike="noStrike" cap="none" normalizeH="0" baseline="0" dirty="0">
                <a:ln>
                  <a:noFill/>
                </a:ln>
                <a:solidFill>
                  <a:srgbClr val="7030A0"/>
                </a:solidFill>
                <a:effectLst/>
                <a:latin typeface="Times New Roman" pitchFamily="18" charset="0"/>
                <a:cs typeface="Times New Roman" pitchFamily="18" charset="0"/>
                <a:sym typeface="Wingdings" pitchFamily="2" charset="2"/>
              </a:endParaRPr>
            </a:p>
            <a:p>
              <a:pPr marL="282575" marR="0" lvl="0" algn="just"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sym typeface="Wingdings" pitchFamily="2" charset="2"/>
                </a:rPr>
                <a:t>After Cation exchange column, the hard water is passed through anion exchange column, which removes all the anions like SO</a:t>
              </a:r>
              <a:r>
                <a:rPr kumimoji="0" lang="en-US" sz="2400" b="0" i="0" u="none" strike="noStrike" cap="none" normalizeH="0" baseline="-30000" dirty="0">
                  <a:ln>
                    <a:noFill/>
                  </a:ln>
                  <a:solidFill>
                    <a:schemeClr val="tx1"/>
                  </a:solidFill>
                  <a:effectLst/>
                  <a:latin typeface="Times New Roman" pitchFamily="18" charset="0"/>
                  <a:ea typeface="Calibri" pitchFamily="34" charset="0"/>
                  <a:cs typeface="Times New Roman" pitchFamily="18" charset="0"/>
                  <a:sym typeface="Wingdings" pitchFamily="2" charset="2"/>
                </a:rPr>
                <a:t>4</a:t>
              </a:r>
              <a:r>
                <a:rPr kumimoji="0" lang="en-US" sz="2400" b="0" i="0" u="none" strike="noStrike" cap="none" normalizeH="0" baseline="30000" dirty="0">
                  <a:ln>
                    <a:noFill/>
                  </a:ln>
                  <a:solidFill>
                    <a:schemeClr val="tx1"/>
                  </a:solidFill>
                  <a:effectLst/>
                  <a:latin typeface="Times New Roman" pitchFamily="18" charset="0"/>
                  <a:ea typeface="Calibri" pitchFamily="34" charset="0"/>
                  <a:cs typeface="Times New Roman" pitchFamily="18" charset="0"/>
                  <a:sym typeface="Wingdings" pitchFamily="2" charset="2"/>
                </a:rPr>
                <a:t>2--</a:t>
              </a: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sym typeface="Wingdings" pitchFamily="2" charset="2"/>
                </a:rPr>
                <a:t>, Cl </a:t>
              </a:r>
              <a:r>
                <a:rPr kumimoji="0" lang="en-US" sz="2400" b="0" i="0" u="none" strike="noStrike" cap="none" normalizeH="0" baseline="30000" dirty="0">
                  <a:ln>
                    <a:noFill/>
                  </a:ln>
                  <a:solidFill>
                    <a:schemeClr val="tx1"/>
                  </a:solidFill>
                  <a:effectLst/>
                  <a:latin typeface="Times New Roman" pitchFamily="18" charset="0"/>
                  <a:ea typeface="Calibri" pitchFamily="34" charset="0"/>
                  <a:cs typeface="Times New Roman" pitchFamily="18" charset="0"/>
                  <a:sym typeface="Wingdings" pitchFamily="2" charset="2"/>
                </a:rPr>
                <a:t>-</a:t>
              </a: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sym typeface="Wingdings" pitchFamily="2" charset="2"/>
                </a:rPr>
                <a:t>, CO</a:t>
              </a:r>
              <a:r>
                <a:rPr kumimoji="0" lang="en-US" sz="2400" b="0" i="0" u="none" strike="noStrike" cap="none" normalizeH="0" baseline="-30000" dirty="0">
                  <a:ln>
                    <a:noFill/>
                  </a:ln>
                  <a:solidFill>
                    <a:schemeClr val="tx1"/>
                  </a:solidFill>
                  <a:effectLst/>
                  <a:latin typeface="Times New Roman" pitchFamily="18" charset="0"/>
                  <a:ea typeface="Calibri" pitchFamily="34" charset="0"/>
                  <a:cs typeface="Times New Roman" pitchFamily="18" charset="0"/>
                  <a:sym typeface="Wingdings" pitchFamily="2" charset="2"/>
                </a:rPr>
                <a:t>2</a:t>
              </a:r>
              <a:r>
                <a:rPr kumimoji="0" lang="en-US" sz="2400" b="0" i="0" u="none" strike="noStrike" cap="none" normalizeH="0" baseline="30000" dirty="0">
                  <a:ln>
                    <a:noFill/>
                  </a:ln>
                  <a:solidFill>
                    <a:schemeClr val="tx1"/>
                  </a:solidFill>
                  <a:effectLst/>
                  <a:latin typeface="Times New Roman" pitchFamily="18" charset="0"/>
                  <a:ea typeface="Calibri" pitchFamily="34" charset="0"/>
                  <a:cs typeface="Times New Roman" pitchFamily="18" charset="0"/>
                  <a:sym typeface="Wingdings" pitchFamily="2" charset="2"/>
                </a:rPr>
                <a:t>3-</a:t>
              </a: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sym typeface="Wingdings" pitchFamily="2" charset="2"/>
                </a:rPr>
                <a:t> etc. present in the water and equivalent amount of OH ions are replaced from this column to water. </a:t>
              </a:r>
              <a:endParaRPr kumimoji="0" lang="en-US" sz="2400" b="0" i="0" u="none" strike="noStrike" cap="none" normalizeH="0" baseline="0" dirty="0">
                <a:ln>
                  <a:noFill/>
                </a:ln>
                <a:solidFill>
                  <a:schemeClr val="tx1"/>
                </a:solidFill>
                <a:effectLst/>
                <a:latin typeface="Times New Roman" pitchFamily="18" charset="0"/>
                <a:cs typeface="Times New Roman" pitchFamily="18" charset="0"/>
                <a:sym typeface="Wingdings" pitchFamily="2" charset="2"/>
              </a:endParaRPr>
            </a:p>
            <a:p>
              <a:pPr marL="0" marR="0" lvl="0" indent="457200" algn="ctr" defTabSz="914400" rtl="0" eaLnBrk="0" fontAlgn="base" latinLnBrk="0" hangingPunct="0">
                <a:lnSpc>
                  <a:spcPct val="100000"/>
                </a:lnSpc>
                <a:spcBef>
                  <a:spcPct val="0"/>
                </a:spcBef>
                <a:spcAft>
                  <a:spcPct val="0"/>
                </a:spcAft>
                <a:buClrTx/>
                <a:buSzTx/>
                <a:buFontTx/>
                <a:buNone/>
                <a:tabLst/>
              </a:pPr>
              <a:r>
                <a:rPr kumimoji="0" lang="en-US" sz="2400" b="1" i="0" u="none" strike="noStrike" cap="none" normalizeH="0" baseline="0" dirty="0">
                  <a:ln>
                    <a:noFill/>
                  </a:ln>
                  <a:solidFill>
                    <a:srgbClr val="7030A0"/>
                  </a:solidFill>
                  <a:effectLst/>
                  <a:latin typeface="Times New Roman" pitchFamily="18" charset="0"/>
                  <a:ea typeface="Calibri" pitchFamily="34" charset="0"/>
                  <a:cs typeface="Times New Roman" pitchFamily="18" charset="0"/>
                  <a:sym typeface="Wingdings" pitchFamily="2" charset="2"/>
                </a:rPr>
                <a:t>ROH  +   Cl</a:t>
              </a:r>
              <a:r>
                <a:rPr kumimoji="0" lang="en-US" sz="2400" b="1" i="0" u="none" strike="noStrike" cap="none" normalizeH="0" baseline="30000" dirty="0">
                  <a:ln>
                    <a:noFill/>
                  </a:ln>
                  <a:solidFill>
                    <a:srgbClr val="7030A0"/>
                  </a:solidFill>
                  <a:effectLst/>
                  <a:latin typeface="Times New Roman" pitchFamily="18" charset="0"/>
                  <a:ea typeface="Calibri" pitchFamily="34" charset="0"/>
                  <a:cs typeface="Times New Roman" pitchFamily="18" charset="0"/>
                  <a:sym typeface="Wingdings" pitchFamily="2" charset="2"/>
                </a:rPr>
                <a:t>-</a:t>
              </a:r>
              <a:r>
                <a:rPr kumimoji="0" lang="en-US" sz="2400" b="1" i="0" u="none" strike="noStrike" cap="none" normalizeH="0" baseline="0" dirty="0">
                  <a:ln>
                    <a:noFill/>
                  </a:ln>
                  <a:solidFill>
                    <a:srgbClr val="7030A0"/>
                  </a:solidFill>
                  <a:effectLst/>
                  <a:latin typeface="Times New Roman" pitchFamily="18" charset="0"/>
                  <a:ea typeface="Calibri" pitchFamily="34" charset="0"/>
                  <a:cs typeface="Times New Roman" pitchFamily="18" charset="0"/>
                  <a:sym typeface="Wingdings" pitchFamily="2" charset="2"/>
                </a:rPr>
                <a:t>        </a:t>
              </a:r>
              <a:r>
                <a:rPr kumimoji="0" lang="en-US" sz="2400" b="1" i="0" u="none" strike="noStrike" cap="none" normalizeH="0" baseline="0" dirty="0">
                  <a:ln>
                    <a:noFill/>
                  </a:ln>
                  <a:solidFill>
                    <a:srgbClr val="7030A0"/>
                  </a:solidFill>
                  <a:effectLst/>
                  <a:latin typeface="Times New Roman" pitchFamily="18" charset="0"/>
                  <a:ea typeface="Calibri" pitchFamily="34" charset="0"/>
                  <a:cs typeface="Times New Roman" pitchFamily="18" charset="0"/>
                </a:rPr>
                <a:t>     </a:t>
              </a:r>
              <a:r>
                <a:rPr kumimoji="0" lang="en-US" sz="2400" b="1" i="0" u="none" strike="noStrike" cap="none" normalizeH="0" baseline="0" dirty="0">
                  <a:ln>
                    <a:noFill/>
                  </a:ln>
                  <a:solidFill>
                    <a:srgbClr val="7030A0"/>
                  </a:solidFill>
                  <a:effectLst/>
                  <a:latin typeface="Times New Roman" pitchFamily="18" charset="0"/>
                  <a:ea typeface="Calibri" pitchFamily="34" charset="0"/>
                  <a:cs typeface="Times New Roman" pitchFamily="18" charset="0"/>
                  <a:sym typeface="Wingdings" pitchFamily="2" charset="2"/>
                </a:rPr>
                <a:t>RCl</a:t>
              </a:r>
              <a:r>
                <a:rPr kumimoji="0" lang="en-US" sz="2400" b="1" i="0" u="none" strike="noStrike" cap="none" normalizeH="0" baseline="30000" dirty="0">
                  <a:ln>
                    <a:noFill/>
                  </a:ln>
                  <a:solidFill>
                    <a:srgbClr val="7030A0"/>
                  </a:solidFill>
                  <a:effectLst/>
                  <a:latin typeface="Times New Roman" pitchFamily="18" charset="0"/>
                  <a:ea typeface="Calibri" pitchFamily="34" charset="0"/>
                  <a:cs typeface="Times New Roman" pitchFamily="18" charset="0"/>
                  <a:sym typeface="Wingdings" pitchFamily="2" charset="2"/>
                </a:rPr>
                <a:t> </a:t>
              </a:r>
              <a:r>
                <a:rPr kumimoji="0" lang="en-US" sz="2400" b="1" i="0" u="none" strike="noStrike" cap="none" normalizeH="0" baseline="0" dirty="0">
                  <a:ln>
                    <a:noFill/>
                  </a:ln>
                  <a:solidFill>
                    <a:srgbClr val="7030A0"/>
                  </a:solidFill>
                  <a:effectLst/>
                  <a:latin typeface="Times New Roman" pitchFamily="18" charset="0"/>
                  <a:ea typeface="Calibri" pitchFamily="34" charset="0"/>
                  <a:cs typeface="Times New Roman" pitchFamily="18" charset="0"/>
                  <a:sym typeface="Wingdings" pitchFamily="2" charset="2"/>
                </a:rPr>
                <a:t> + OH</a:t>
              </a:r>
              <a:r>
                <a:rPr kumimoji="0" lang="en-US" sz="2400" b="1" i="0" u="none" strike="noStrike" cap="none" normalizeH="0" baseline="30000" dirty="0">
                  <a:ln>
                    <a:noFill/>
                  </a:ln>
                  <a:solidFill>
                    <a:srgbClr val="7030A0"/>
                  </a:solidFill>
                  <a:effectLst/>
                  <a:latin typeface="Times New Roman" pitchFamily="18" charset="0"/>
                  <a:ea typeface="Calibri" pitchFamily="34" charset="0"/>
                  <a:cs typeface="Times New Roman" pitchFamily="18" charset="0"/>
                  <a:sym typeface="Wingdings" pitchFamily="2" charset="2"/>
                </a:rPr>
                <a:t>-</a:t>
              </a:r>
              <a:r>
                <a:rPr kumimoji="0" lang="en-US" sz="2400" b="1" i="0" u="none" strike="noStrike" cap="none" normalizeH="0" baseline="0" dirty="0">
                  <a:ln>
                    <a:noFill/>
                  </a:ln>
                  <a:solidFill>
                    <a:srgbClr val="7030A0"/>
                  </a:solidFill>
                  <a:effectLst/>
                  <a:latin typeface="Times New Roman" pitchFamily="18" charset="0"/>
                  <a:ea typeface="Calibri" pitchFamily="34" charset="0"/>
                  <a:cs typeface="Times New Roman" pitchFamily="18" charset="0"/>
                  <a:sym typeface="Wingdings" pitchFamily="2" charset="2"/>
                </a:rPr>
                <a:t> </a:t>
              </a:r>
              <a:endParaRPr kumimoji="0" lang="en-US" sz="2400" b="1" i="0" u="none" strike="noStrike" cap="none" normalizeH="0" baseline="0" dirty="0">
                <a:ln>
                  <a:noFill/>
                </a:ln>
                <a:solidFill>
                  <a:srgbClr val="7030A0"/>
                </a:solidFill>
                <a:effectLst/>
                <a:latin typeface="Times New Roman" pitchFamily="18" charset="0"/>
                <a:cs typeface="Times New Roman" pitchFamily="18" charset="0"/>
                <a:sym typeface="Wingdings" pitchFamily="2" charset="2"/>
              </a:endParaRPr>
            </a:p>
            <a:p>
              <a:pPr marL="0" marR="0" lvl="0" indent="457200" algn="ctr" defTabSz="914400" rtl="0" eaLnBrk="0" fontAlgn="base" latinLnBrk="0" hangingPunct="0">
                <a:lnSpc>
                  <a:spcPct val="100000"/>
                </a:lnSpc>
                <a:spcBef>
                  <a:spcPct val="0"/>
                </a:spcBef>
                <a:spcAft>
                  <a:spcPct val="0"/>
                </a:spcAft>
                <a:buClrTx/>
                <a:buSzTx/>
                <a:buFontTx/>
                <a:buNone/>
                <a:tabLst/>
              </a:pPr>
              <a:r>
                <a:rPr kumimoji="0" lang="en-US" sz="2400" b="1" i="0" u="none" strike="noStrike" cap="none" normalizeH="0" baseline="0" dirty="0">
                  <a:ln>
                    <a:noFill/>
                  </a:ln>
                  <a:solidFill>
                    <a:srgbClr val="7030A0"/>
                  </a:solidFill>
                  <a:effectLst/>
                  <a:latin typeface="Times New Roman" pitchFamily="18" charset="0"/>
                  <a:ea typeface="Calibri" pitchFamily="34" charset="0"/>
                  <a:cs typeface="Times New Roman" pitchFamily="18" charset="0"/>
                  <a:sym typeface="Wingdings" pitchFamily="2" charset="2"/>
                </a:rPr>
                <a:t>2ROH +   SO</a:t>
              </a:r>
              <a:r>
                <a:rPr kumimoji="0" lang="en-US" sz="2400" b="1" i="0" u="none" strike="noStrike" cap="none" normalizeH="0" baseline="-30000" dirty="0">
                  <a:ln>
                    <a:noFill/>
                  </a:ln>
                  <a:solidFill>
                    <a:srgbClr val="7030A0"/>
                  </a:solidFill>
                  <a:effectLst/>
                  <a:latin typeface="Times New Roman" pitchFamily="18" charset="0"/>
                  <a:ea typeface="Calibri" pitchFamily="34" charset="0"/>
                  <a:cs typeface="Times New Roman" pitchFamily="18" charset="0"/>
                  <a:sym typeface="Wingdings" pitchFamily="2" charset="2"/>
                </a:rPr>
                <a:t>4</a:t>
              </a:r>
              <a:r>
                <a:rPr kumimoji="0" lang="en-US" sz="2400" b="1" i="0" u="none" strike="noStrike" cap="none" normalizeH="0" baseline="30000" dirty="0">
                  <a:ln>
                    <a:noFill/>
                  </a:ln>
                  <a:solidFill>
                    <a:srgbClr val="7030A0"/>
                  </a:solidFill>
                  <a:effectLst/>
                  <a:latin typeface="Times New Roman" pitchFamily="18" charset="0"/>
                  <a:ea typeface="Calibri" pitchFamily="34" charset="0"/>
                  <a:cs typeface="Times New Roman" pitchFamily="18" charset="0"/>
                  <a:sym typeface="Wingdings" pitchFamily="2" charset="2"/>
                </a:rPr>
                <a:t>-2</a:t>
              </a:r>
              <a:r>
                <a:rPr kumimoji="0" lang="en-US" sz="2400" b="1" i="0" u="none" strike="noStrike" cap="none" normalizeH="0" baseline="0" dirty="0">
                  <a:ln>
                    <a:noFill/>
                  </a:ln>
                  <a:solidFill>
                    <a:srgbClr val="7030A0"/>
                  </a:solidFill>
                  <a:effectLst/>
                  <a:latin typeface="Times New Roman" pitchFamily="18" charset="0"/>
                  <a:ea typeface="Calibri" pitchFamily="34" charset="0"/>
                  <a:cs typeface="Times New Roman" pitchFamily="18" charset="0"/>
                  <a:sym typeface="Wingdings" pitchFamily="2" charset="2"/>
                </a:rPr>
                <a:t>   </a:t>
              </a:r>
              <a:r>
                <a:rPr kumimoji="0" lang="en-US" sz="2400" b="1" i="0" u="none" strike="noStrike" cap="none" normalizeH="0" baseline="0" dirty="0">
                  <a:ln>
                    <a:noFill/>
                  </a:ln>
                  <a:solidFill>
                    <a:srgbClr val="7030A0"/>
                  </a:solidFill>
                  <a:effectLst/>
                  <a:latin typeface="Times New Roman" pitchFamily="18" charset="0"/>
                  <a:ea typeface="Calibri" pitchFamily="34" charset="0"/>
                  <a:cs typeface="Times New Roman" pitchFamily="18" charset="0"/>
                </a:rPr>
                <a:t>  </a:t>
              </a:r>
              <a:r>
                <a:rPr kumimoji="0" lang="en-US" sz="2400" b="1" i="0" u="none" strike="noStrike" cap="none" normalizeH="0" baseline="0" dirty="0">
                  <a:ln>
                    <a:noFill/>
                  </a:ln>
                  <a:solidFill>
                    <a:srgbClr val="7030A0"/>
                  </a:solidFill>
                  <a:effectLst/>
                  <a:latin typeface="Times New Roman" pitchFamily="18" charset="0"/>
                  <a:ea typeface="Calibri" pitchFamily="34" charset="0"/>
                  <a:cs typeface="Times New Roman" pitchFamily="18" charset="0"/>
                  <a:sym typeface="Wingdings" pitchFamily="2" charset="2"/>
                </a:rPr>
                <a:t>R</a:t>
              </a:r>
              <a:r>
                <a:rPr kumimoji="0" lang="en-US" sz="2400" b="1" i="0" u="none" strike="noStrike" cap="none" normalizeH="0" baseline="-30000" dirty="0">
                  <a:ln>
                    <a:noFill/>
                  </a:ln>
                  <a:solidFill>
                    <a:srgbClr val="7030A0"/>
                  </a:solidFill>
                  <a:effectLst/>
                  <a:latin typeface="Times New Roman" pitchFamily="18" charset="0"/>
                  <a:ea typeface="Calibri" pitchFamily="34" charset="0"/>
                  <a:cs typeface="Times New Roman" pitchFamily="18" charset="0"/>
                  <a:sym typeface="Wingdings" pitchFamily="2" charset="2"/>
                </a:rPr>
                <a:t>2</a:t>
              </a:r>
              <a:r>
                <a:rPr kumimoji="0" lang="en-US" sz="2400" b="1" i="0" u="none" strike="noStrike" cap="none" normalizeH="0" baseline="0" dirty="0">
                  <a:ln>
                    <a:noFill/>
                  </a:ln>
                  <a:solidFill>
                    <a:srgbClr val="7030A0"/>
                  </a:solidFill>
                  <a:effectLst/>
                  <a:latin typeface="Times New Roman" pitchFamily="18" charset="0"/>
                  <a:ea typeface="Calibri" pitchFamily="34" charset="0"/>
                  <a:cs typeface="Times New Roman" pitchFamily="18" charset="0"/>
                  <a:sym typeface="Wingdings" pitchFamily="2" charset="2"/>
                </a:rPr>
                <a:t>SO</a:t>
              </a:r>
              <a:r>
                <a:rPr kumimoji="0" lang="en-US" sz="2400" b="1" i="0" u="none" strike="noStrike" cap="none" normalizeH="0" baseline="-30000" dirty="0">
                  <a:ln>
                    <a:noFill/>
                  </a:ln>
                  <a:solidFill>
                    <a:srgbClr val="7030A0"/>
                  </a:solidFill>
                  <a:effectLst/>
                  <a:latin typeface="Times New Roman" pitchFamily="18" charset="0"/>
                  <a:ea typeface="Calibri" pitchFamily="34" charset="0"/>
                  <a:cs typeface="Times New Roman" pitchFamily="18" charset="0"/>
                  <a:sym typeface="Wingdings" pitchFamily="2" charset="2"/>
                </a:rPr>
                <a:t>4</a:t>
              </a:r>
              <a:r>
                <a:rPr kumimoji="0" lang="en-US" sz="2400" b="1" i="0" u="none" strike="noStrike" cap="none" normalizeH="0" baseline="30000" dirty="0">
                  <a:ln>
                    <a:noFill/>
                  </a:ln>
                  <a:solidFill>
                    <a:srgbClr val="7030A0"/>
                  </a:solidFill>
                  <a:effectLst/>
                  <a:latin typeface="Times New Roman" pitchFamily="18" charset="0"/>
                  <a:ea typeface="Calibri" pitchFamily="34" charset="0"/>
                  <a:cs typeface="Times New Roman" pitchFamily="18" charset="0"/>
                  <a:sym typeface="Wingdings" pitchFamily="2" charset="2"/>
                </a:rPr>
                <a:t>  </a:t>
              </a:r>
              <a:r>
                <a:rPr kumimoji="0" lang="en-US" sz="2400" b="1" i="0" u="none" strike="noStrike" cap="none" normalizeH="0" baseline="0" dirty="0">
                  <a:ln>
                    <a:noFill/>
                  </a:ln>
                  <a:solidFill>
                    <a:srgbClr val="7030A0"/>
                  </a:solidFill>
                  <a:effectLst/>
                  <a:latin typeface="Times New Roman" pitchFamily="18" charset="0"/>
                  <a:ea typeface="Calibri" pitchFamily="34" charset="0"/>
                  <a:cs typeface="Times New Roman" pitchFamily="18" charset="0"/>
                  <a:sym typeface="Wingdings" pitchFamily="2" charset="2"/>
                </a:rPr>
                <a:t> +</a:t>
              </a:r>
              <a:r>
                <a:rPr kumimoji="0" lang="en-US" sz="2400" b="1" i="0" u="none" strike="noStrike" cap="none" normalizeH="0" baseline="-30000" dirty="0">
                  <a:ln>
                    <a:noFill/>
                  </a:ln>
                  <a:solidFill>
                    <a:srgbClr val="7030A0"/>
                  </a:solidFill>
                  <a:effectLst/>
                  <a:latin typeface="Times New Roman" pitchFamily="18" charset="0"/>
                  <a:ea typeface="Calibri" pitchFamily="34" charset="0"/>
                  <a:cs typeface="Times New Roman" pitchFamily="18" charset="0"/>
                  <a:sym typeface="Wingdings" pitchFamily="2" charset="2"/>
                </a:rPr>
                <a:t> </a:t>
              </a:r>
              <a:r>
                <a:rPr kumimoji="0" lang="en-US" sz="2400" b="1" i="0" u="none" strike="noStrike" cap="none" normalizeH="0" baseline="0" dirty="0">
                  <a:ln>
                    <a:noFill/>
                  </a:ln>
                  <a:solidFill>
                    <a:srgbClr val="7030A0"/>
                  </a:solidFill>
                  <a:effectLst/>
                  <a:latin typeface="Times New Roman" pitchFamily="18" charset="0"/>
                  <a:ea typeface="Calibri" pitchFamily="34" charset="0"/>
                  <a:cs typeface="Times New Roman" pitchFamily="18" charset="0"/>
                  <a:sym typeface="Wingdings" pitchFamily="2" charset="2"/>
                </a:rPr>
                <a:t>2OH</a:t>
              </a:r>
              <a:r>
                <a:rPr kumimoji="0" lang="en-US" sz="2400" b="1" i="0" u="none" strike="noStrike" cap="none" normalizeH="0" baseline="30000" dirty="0">
                  <a:ln>
                    <a:noFill/>
                  </a:ln>
                  <a:solidFill>
                    <a:srgbClr val="7030A0"/>
                  </a:solidFill>
                  <a:effectLst/>
                  <a:latin typeface="Times New Roman" pitchFamily="18" charset="0"/>
                  <a:ea typeface="Calibri" pitchFamily="34" charset="0"/>
                  <a:cs typeface="Times New Roman" pitchFamily="18" charset="0"/>
                  <a:sym typeface="Wingdings" pitchFamily="2" charset="2"/>
                </a:rPr>
                <a:t>-</a:t>
              </a:r>
              <a:r>
                <a:rPr kumimoji="0" lang="en-US" sz="2400" b="1" i="0" u="none" strike="noStrike" cap="none" normalizeH="0" baseline="0" dirty="0">
                  <a:ln>
                    <a:noFill/>
                  </a:ln>
                  <a:solidFill>
                    <a:srgbClr val="7030A0"/>
                  </a:solidFill>
                  <a:effectLst/>
                  <a:latin typeface="Times New Roman" pitchFamily="18" charset="0"/>
                  <a:ea typeface="Calibri" pitchFamily="34" charset="0"/>
                  <a:cs typeface="Times New Roman" pitchFamily="18" charset="0"/>
                  <a:sym typeface="Wingdings" pitchFamily="2" charset="2"/>
                </a:rPr>
                <a:t> </a:t>
              </a:r>
              <a:endParaRPr lang="en-US" sz="2400" b="1" dirty="0">
                <a:solidFill>
                  <a:srgbClr val="7030A0"/>
                </a:solidFill>
                <a:latin typeface="Times New Roman" pitchFamily="18" charset="0"/>
                <a:ea typeface="Calibri" pitchFamily="34" charset="0"/>
                <a:cs typeface="Times New Roman" pitchFamily="18" charset="0"/>
                <a:sym typeface="Wingdings" pitchFamily="2" charset="2"/>
              </a:endParaRPr>
            </a:p>
            <a:p>
              <a:pPr marL="282575" marR="0" lvl="0" algn="just"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tx1"/>
                  </a:solidFill>
                  <a:effectLst/>
                  <a:latin typeface="Times New Roman" pitchFamily="18" charset="0"/>
                  <a:ea typeface="Calibri" pitchFamily="34" charset="0"/>
                  <a:cs typeface="Times New Roman" pitchFamily="18" charset="0"/>
                  <a:sym typeface="Wingdings" pitchFamily="2" charset="2"/>
                </a:rPr>
                <a:t>H+ and OH- ions (released from cation exchange and anion exchange columns respectively) get combined to produce water molecule.</a:t>
              </a:r>
              <a:r>
                <a:rPr kumimoji="0" lang="en-US" sz="2400" b="1" i="0" u="none" strike="noStrike" cap="none" normalizeH="0" baseline="0" dirty="0">
                  <a:ln>
                    <a:noFill/>
                  </a:ln>
                  <a:solidFill>
                    <a:schemeClr val="tx1"/>
                  </a:solidFill>
                  <a:effectLst/>
                  <a:latin typeface="Times New Roman" pitchFamily="18" charset="0"/>
                  <a:ea typeface="Calibri" pitchFamily="34" charset="0"/>
                  <a:cs typeface="Times New Roman" pitchFamily="18" charset="0"/>
                  <a:sym typeface="Wingdings" pitchFamily="2" charset="2"/>
                </a:rPr>
                <a:t>   </a:t>
              </a:r>
              <a:endParaRPr kumimoji="0" lang="en-US" sz="2400" b="0" i="0" u="none" strike="noStrike" cap="none" normalizeH="0" baseline="0" dirty="0">
                <a:ln>
                  <a:noFill/>
                </a:ln>
                <a:solidFill>
                  <a:schemeClr val="tx1"/>
                </a:solidFill>
                <a:effectLst/>
                <a:latin typeface="Times New Roman" pitchFamily="18" charset="0"/>
                <a:cs typeface="Times New Roman" pitchFamily="18" charset="0"/>
                <a:sym typeface="Wingdings" pitchFamily="2" charset="2"/>
              </a:endParaRPr>
            </a:p>
            <a:p>
              <a:pPr marL="0" marR="0" lvl="0" indent="457200" algn="ctr" defTabSz="914400" rtl="0" eaLnBrk="0" fontAlgn="base" latinLnBrk="0" hangingPunct="0">
                <a:lnSpc>
                  <a:spcPct val="100000"/>
                </a:lnSpc>
                <a:spcBef>
                  <a:spcPct val="0"/>
                </a:spcBef>
                <a:spcAft>
                  <a:spcPct val="0"/>
                </a:spcAft>
                <a:buClrTx/>
                <a:buSzTx/>
                <a:buFontTx/>
                <a:buNone/>
                <a:tabLst/>
              </a:pPr>
              <a:r>
                <a:rPr kumimoji="0" lang="en-US" sz="2400" b="1" i="0" u="none" strike="noStrike" cap="none" normalizeH="0" baseline="0" dirty="0">
                  <a:ln>
                    <a:noFill/>
                  </a:ln>
                  <a:solidFill>
                    <a:schemeClr val="tx1"/>
                  </a:solidFill>
                  <a:effectLst/>
                  <a:latin typeface="Times New Roman" pitchFamily="18" charset="0"/>
                  <a:ea typeface="Calibri" pitchFamily="34" charset="0"/>
                  <a:cs typeface="Times New Roman" pitchFamily="18" charset="0"/>
                  <a:sym typeface="Wingdings" pitchFamily="2" charset="2"/>
                </a:rPr>
                <a:t>                    </a:t>
              </a:r>
              <a:r>
                <a:rPr kumimoji="0" lang="en-US" sz="2400" b="1" i="0" u="none" strike="noStrike" cap="none" normalizeH="0" baseline="0" dirty="0">
                  <a:ln>
                    <a:noFill/>
                  </a:ln>
                  <a:solidFill>
                    <a:srgbClr val="7030A0"/>
                  </a:solidFill>
                  <a:effectLst/>
                  <a:latin typeface="Times New Roman" pitchFamily="18" charset="0"/>
                  <a:ea typeface="Calibri" pitchFamily="34" charset="0"/>
                  <a:cs typeface="Times New Roman" pitchFamily="18" charset="0"/>
                  <a:sym typeface="Wingdings" pitchFamily="2" charset="2"/>
                </a:rPr>
                <a:t>H</a:t>
              </a:r>
              <a:r>
                <a:rPr kumimoji="0" lang="en-US" sz="2400" b="1" i="0" u="none" strike="noStrike" cap="none" normalizeH="0" baseline="30000" dirty="0">
                  <a:ln>
                    <a:noFill/>
                  </a:ln>
                  <a:solidFill>
                    <a:srgbClr val="7030A0"/>
                  </a:solidFill>
                  <a:effectLst/>
                  <a:latin typeface="Times New Roman" pitchFamily="18" charset="0"/>
                  <a:ea typeface="Calibri" pitchFamily="34" charset="0"/>
                  <a:cs typeface="Times New Roman" pitchFamily="18" charset="0"/>
                  <a:sym typeface="Wingdings" pitchFamily="2" charset="2"/>
                </a:rPr>
                <a:t>+ </a:t>
              </a:r>
              <a:r>
                <a:rPr kumimoji="0" lang="en-US" sz="2400" b="1" i="0" u="none" strike="noStrike" cap="none" normalizeH="0" baseline="0" dirty="0">
                  <a:ln>
                    <a:noFill/>
                  </a:ln>
                  <a:solidFill>
                    <a:srgbClr val="7030A0"/>
                  </a:solidFill>
                  <a:effectLst/>
                  <a:latin typeface="Times New Roman" pitchFamily="18" charset="0"/>
                  <a:ea typeface="Calibri" pitchFamily="34" charset="0"/>
                  <a:cs typeface="Times New Roman" pitchFamily="18" charset="0"/>
                  <a:sym typeface="Wingdings" pitchFamily="2" charset="2"/>
                </a:rPr>
                <a:t>+OH</a:t>
              </a:r>
              <a:r>
                <a:rPr kumimoji="0" lang="en-US" sz="2400" b="1" i="0" u="none" strike="noStrike" cap="none" normalizeH="0" baseline="30000" dirty="0">
                  <a:ln>
                    <a:noFill/>
                  </a:ln>
                  <a:solidFill>
                    <a:srgbClr val="7030A0"/>
                  </a:solidFill>
                  <a:effectLst/>
                  <a:latin typeface="Times New Roman" pitchFamily="18" charset="0"/>
                  <a:ea typeface="Calibri" pitchFamily="34" charset="0"/>
                  <a:cs typeface="Times New Roman" pitchFamily="18" charset="0"/>
                  <a:sym typeface="Wingdings" pitchFamily="2" charset="2"/>
                </a:rPr>
                <a:t>-</a:t>
              </a:r>
              <a:r>
                <a:rPr kumimoji="0" lang="en-US" sz="2400" b="1" i="0" u="none" strike="noStrike" cap="none" normalizeH="0" baseline="0" dirty="0">
                  <a:ln>
                    <a:noFill/>
                  </a:ln>
                  <a:solidFill>
                    <a:srgbClr val="7030A0"/>
                  </a:solidFill>
                  <a:effectLst/>
                  <a:latin typeface="Times New Roman" pitchFamily="18" charset="0"/>
                  <a:ea typeface="Calibri" pitchFamily="34" charset="0"/>
                  <a:cs typeface="Times New Roman" pitchFamily="18" charset="0"/>
                  <a:sym typeface="Wingdings" pitchFamily="2" charset="2"/>
                </a:rPr>
                <a:t>  </a:t>
              </a:r>
              <a:r>
                <a:rPr kumimoji="0" lang="en-US" sz="2400" b="1" i="0" u="none" strike="noStrike" cap="none" normalizeH="0" baseline="0" dirty="0">
                  <a:ln>
                    <a:noFill/>
                  </a:ln>
                  <a:solidFill>
                    <a:srgbClr val="7030A0"/>
                  </a:solidFill>
                  <a:effectLst/>
                  <a:latin typeface="Times New Roman" pitchFamily="18" charset="0"/>
                  <a:ea typeface="Calibri" pitchFamily="34" charset="0"/>
                  <a:cs typeface="Times New Roman" pitchFamily="18" charset="0"/>
                </a:rPr>
                <a:t>   </a:t>
              </a:r>
              <a:r>
                <a:rPr kumimoji="0" lang="en-US" sz="2400" b="1" i="0" u="none" strike="noStrike" cap="none" normalizeH="0" baseline="0" dirty="0">
                  <a:ln>
                    <a:noFill/>
                  </a:ln>
                  <a:solidFill>
                    <a:srgbClr val="7030A0"/>
                  </a:solidFill>
                  <a:effectLst/>
                  <a:latin typeface="Times New Roman" pitchFamily="18" charset="0"/>
                  <a:ea typeface="Calibri" pitchFamily="34" charset="0"/>
                  <a:cs typeface="Times New Roman" pitchFamily="18" charset="0"/>
                  <a:sym typeface="Wingdings" pitchFamily="2" charset="2"/>
                </a:rPr>
                <a:t>H</a:t>
              </a:r>
              <a:r>
                <a:rPr kumimoji="0" lang="en-US" sz="2400" b="1" i="0" u="none" strike="noStrike" cap="none" normalizeH="0" baseline="-30000" dirty="0">
                  <a:ln>
                    <a:noFill/>
                  </a:ln>
                  <a:solidFill>
                    <a:srgbClr val="7030A0"/>
                  </a:solidFill>
                  <a:effectLst/>
                  <a:latin typeface="Times New Roman" pitchFamily="18" charset="0"/>
                  <a:ea typeface="Calibri" pitchFamily="34" charset="0"/>
                  <a:cs typeface="Times New Roman" pitchFamily="18" charset="0"/>
                  <a:sym typeface="Wingdings" pitchFamily="2" charset="2"/>
                </a:rPr>
                <a:t>2</a:t>
              </a:r>
              <a:r>
                <a:rPr kumimoji="0" lang="en-US" sz="2400" b="1" i="0" u="none" strike="noStrike" cap="none" normalizeH="0" baseline="0" dirty="0">
                  <a:ln>
                    <a:noFill/>
                  </a:ln>
                  <a:solidFill>
                    <a:srgbClr val="7030A0"/>
                  </a:solidFill>
                  <a:effectLst/>
                  <a:latin typeface="Times New Roman" pitchFamily="18" charset="0"/>
                  <a:ea typeface="Calibri" pitchFamily="34" charset="0"/>
                  <a:cs typeface="Times New Roman" pitchFamily="18" charset="0"/>
                  <a:sym typeface="Wingdings" pitchFamily="2" charset="2"/>
                </a:rPr>
                <a:t>O</a:t>
              </a:r>
            </a:p>
          </p:txBody>
        </p:sp>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381000"/>
            <a:ext cx="12115800" cy="6001643"/>
          </a:xfrm>
          <a:prstGeom prst="rect">
            <a:avLst/>
          </a:prstGeom>
        </p:spPr>
        <p:txBody>
          <a:bodyPr wrap="square">
            <a:spAutoFit/>
          </a:bodyPr>
          <a:lstStyle/>
          <a:p>
            <a:pPr lvl="0" latinLnBrk="1"/>
            <a:r>
              <a:rPr lang="en-US" altLang="en-US" sz="2400" b="1" dirty="0">
                <a:solidFill>
                  <a:srgbClr val="FF0000"/>
                </a:solidFill>
                <a:latin typeface="Calibri" pitchFamily="34" charset="0"/>
              </a:rPr>
              <a:t>Regeneration : </a:t>
            </a:r>
          </a:p>
          <a:p>
            <a:pPr lvl="0" latinLnBrk="1"/>
            <a:r>
              <a:rPr lang="en-US" altLang="en-US" sz="2400" b="1" dirty="0">
                <a:solidFill>
                  <a:srgbClr val="FF0000"/>
                </a:solidFill>
                <a:latin typeface="Calibri" pitchFamily="34" charset="0"/>
              </a:rPr>
              <a:t>		</a:t>
            </a:r>
            <a:r>
              <a:rPr lang="en-US" altLang="en-US" sz="2400" dirty="0">
                <a:latin typeface="Calibri" pitchFamily="34" charset="0"/>
              </a:rPr>
              <a:t>Exhausted cation resin regenerated by dil. HCl , anion by dil.NaOH.</a:t>
            </a:r>
          </a:p>
          <a:p>
            <a:pPr lvl="0" algn="ctr" latinLnBrk="1"/>
            <a:endParaRPr lang="en-US" altLang="en-US" sz="2400" dirty="0">
              <a:latin typeface="Calibri" pitchFamily="34" charset="0"/>
            </a:endParaRPr>
          </a:p>
          <a:p>
            <a:pPr lvl="0" algn="ctr" latinLnBrk="1"/>
            <a:r>
              <a:rPr lang="en-US" altLang="en-US" sz="2400" dirty="0">
                <a:latin typeface="Calibri" pitchFamily="34" charset="0"/>
              </a:rPr>
              <a:t>        </a:t>
            </a:r>
            <a:r>
              <a:rPr lang="en-US" altLang="en-US" sz="2400" b="1" dirty="0">
                <a:solidFill>
                  <a:srgbClr val="002060"/>
                </a:solidFill>
                <a:latin typeface="Calibri" pitchFamily="34" charset="0"/>
              </a:rPr>
              <a:t>R</a:t>
            </a:r>
            <a:r>
              <a:rPr lang="en-US" altLang="en-US" sz="2400" b="1" baseline="-25000" dirty="0">
                <a:solidFill>
                  <a:srgbClr val="002060"/>
                </a:solidFill>
                <a:latin typeface="Calibri" pitchFamily="34" charset="0"/>
              </a:rPr>
              <a:t>2</a:t>
            </a:r>
            <a:r>
              <a:rPr lang="en-US" altLang="en-US" sz="2400" b="1" dirty="0">
                <a:solidFill>
                  <a:srgbClr val="002060"/>
                </a:solidFill>
                <a:latin typeface="Calibri" pitchFamily="34" charset="0"/>
              </a:rPr>
              <a:t>Ca </a:t>
            </a:r>
            <a:r>
              <a:rPr lang="en-US" altLang="en-US" sz="2400" b="1" baseline="30000" dirty="0">
                <a:solidFill>
                  <a:srgbClr val="002060"/>
                </a:solidFill>
                <a:latin typeface="Calibri" pitchFamily="34" charset="0"/>
              </a:rPr>
              <a:t>   </a:t>
            </a:r>
            <a:r>
              <a:rPr lang="en-US" altLang="en-US" sz="2400" b="1" dirty="0">
                <a:solidFill>
                  <a:srgbClr val="002060"/>
                </a:solidFill>
                <a:latin typeface="Calibri" pitchFamily="34" charset="0"/>
              </a:rPr>
              <a:t>+ 2 H</a:t>
            </a:r>
            <a:r>
              <a:rPr lang="en-US" altLang="en-US" sz="2400" b="1" baseline="30000" dirty="0">
                <a:solidFill>
                  <a:srgbClr val="002060"/>
                </a:solidFill>
                <a:latin typeface="Calibri" pitchFamily="34" charset="0"/>
              </a:rPr>
              <a:t>+</a:t>
            </a:r>
            <a:r>
              <a:rPr lang="en-US" altLang="en-US" sz="2400" b="1" dirty="0">
                <a:solidFill>
                  <a:srgbClr val="002060"/>
                </a:solidFill>
                <a:latin typeface="Calibri" pitchFamily="34" charset="0"/>
              </a:rPr>
              <a:t> </a:t>
            </a:r>
            <a:r>
              <a:rPr lang="en-US" altLang="en-US" sz="2400" b="1" dirty="0">
                <a:solidFill>
                  <a:srgbClr val="002060"/>
                </a:solidFill>
                <a:latin typeface="Calibri" pitchFamily="34" charset="0"/>
                <a:sym typeface="Wingdings" pitchFamily="2" charset="2"/>
              </a:rPr>
              <a:t> 2RH +  Ca</a:t>
            </a:r>
            <a:r>
              <a:rPr lang="en-US" altLang="en-US" sz="2400" b="1" baseline="30000" dirty="0">
                <a:solidFill>
                  <a:srgbClr val="002060"/>
                </a:solidFill>
                <a:latin typeface="Calibri" pitchFamily="34" charset="0"/>
                <a:sym typeface="Wingdings" pitchFamily="2" charset="2"/>
              </a:rPr>
              <a:t>+2</a:t>
            </a:r>
            <a:r>
              <a:rPr lang="en-US" altLang="en-US" sz="2400" b="1" dirty="0">
                <a:solidFill>
                  <a:srgbClr val="002060"/>
                </a:solidFill>
                <a:latin typeface="Calibri" pitchFamily="34" charset="0"/>
                <a:sym typeface="Wingdings" pitchFamily="2" charset="2"/>
              </a:rPr>
              <a:t> (washed)</a:t>
            </a:r>
          </a:p>
          <a:p>
            <a:pPr lvl="0" algn="ctr" latinLnBrk="1"/>
            <a:r>
              <a:rPr lang="en-US" altLang="en-US" sz="2400" b="1" dirty="0">
                <a:solidFill>
                  <a:srgbClr val="002060"/>
                </a:solidFill>
                <a:latin typeface="Calibri" pitchFamily="34" charset="0"/>
                <a:sym typeface="Wingdings" pitchFamily="2" charset="2"/>
              </a:rPr>
              <a:t>        R</a:t>
            </a:r>
            <a:r>
              <a:rPr lang="en-US" altLang="en-US" sz="2400" b="1" baseline="-25000" dirty="0">
                <a:solidFill>
                  <a:srgbClr val="002060"/>
                </a:solidFill>
                <a:latin typeface="Calibri" pitchFamily="34" charset="0"/>
                <a:sym typeface="Wingdings" pitchFamily="2" charset="2"/>
              </a:rPr>
              <a:t>2</a:t>
            </a:r>
            <a:r>
              <a:rPr lang="en-US" altLang="en-US" sz="2400" b="1" dirty="0">
                <a:solidFill>
                  <a:srgbClr val="002060"/>
                </a:solidFill>
                <a:latin typeface="Calibri" pitchFamily="34" charset="0"/>
                <a:sym typeface="Wingdings" pitchFamily="2" charset="2"/>
              </a:rPr>
              <a:t>SO4  +  2OH</a:t>
            </a:r>
            <a:r>
              <a:rPr lang="en-US" altLang="en-US" sz="2400" b="1" baseline="30000" dirty="0">
                <a:solidFill>
                  <a:srgbClr val="002060"/>
                </a:solidFill>
                <a:latin typeface="Calibri" pitchFamily="34" charset="0"/>
                <a:sym typeface="Wingdings" pitchFamily="2" charset="2"/>
              </a:rPr>
              <a:t>-</a:t>
            </a:r>
            <a:r>
              <a:rPr lang="en-US" altLang="en-US" sz="2400" b="1" dirty="0">
                <a:solidFill>
                  <a:srgbClr val="002060"/>
                </a:solidFill>
                <a:latin typeface="Calibri" pitchFamily="34" charset="0"/>
                <a:sym typeface="Wingdings" pitchFamily="2" charset="2"/>
              </a:rPr>
              <a:t>   2ROH</a:t>
            </a:r>
            <a:r>
              <a:rPr lang="en-US" altLang="en-US" sz="2400" b="1" baseline="30000" dirty="0">
                <a:solidFill>
                  <a:srgbClr val="002060"/>
                </a:solidFill>
                <a:latin typeface="Calibri" pitchFamily="34" charset="0"/>
                <a:sym typeface="Wingdings" pitchFamily="2" charset="2"/>
              </a:rPr>
              <a:t>-</a:t>
            </a:r>
            <a:r>
              <a:rPr lang="en-US" altLang="en-US" sz="2400" b="1" dirty="0">
                <a:solidFill>
                  <a:srgbClr val="002060"/>
                </a:solidFill>
                <a:latin typeface="Calibri" pitchFamily="34" charset="0"/>
                <a:sym typeface="Wingdings" pitchFamily="2" charset="2"/>
              </a:rPr>
              <a:t> + SO</a:t>
            </a:r>
            <a:r>
              <a:rPr lang="en-US" altLang="en-US" sz="2400" b="1" baseline="-25000" dirty="0">
                <a:solidFill>
                  <a:srgbClr val="002060"/>
                </a:solidFill>
                <a:latin typeface="Calibri" pitchFamily="34" charset="0"/>
                <a:sym typeface="Wingdings" pitchFamily="2" charset="2"/>
              </a:rPr>
              <a:t>4</a:t>
            </a:r>
            <a:r>
              <a:rPr lang="en-US" altLang="en-US" sz="2400" b="1" baseline="30000" dirty="0">
                <a:solidFill>
                  <a:srgbClr val="002060"/>
                </a:solidFill>
                <a:latin typeface="Calibri" pitchFamily="34" charset="0"/>
                <a:sym typeface="Wingdings" pitchFamily="2" charset="2"/>
              </a:rPr>
              <a:t>-2</a:t>
            </a:r>
            <a:r>
              <a:rPr lang="en-US" altLang="en-US" sz="2400" b="1" dirty="0">
                <a:solidFill>
                  <a:srgbClr val="002060"/>
                </a:solidFill>
                <a:latin typeface="Calibri" pitchFamily="34" charset="0"/>
                <a:sym typeface="Wingdings" pitchFamily="2" charset="2"/>
              </a:rPr>
              <a:t>(washed)</a:t>
            </a:r>
          </a:p>
          <a:p>
            <a:pPr algn="just"/>
            <a:r>
              <a:rPr lang="en-US" sz="2400" b="1" dirty="0">
                <a:solidFill>
                  <a:srgbClr val="7030A0"/>
                </a:solidFill>
                <a:latin typeface="Times New Roman" pitchFamily="18" charset="0"/>
                <a:cs typeface="Times New Roman" pitchFamily="18" charset="0"/>
              </a:rPr>
              <a:t>Advantages: </a:t>
            </a:r>
          </a:p>
          <a:p>
            <a:pPr algn="just"/>
            <a:endParaRPr lang="en-US" sz="2400" b="1" dirty="0">
              <a:solidFill>
                <a:srgbClr val="7030A0"/>
              </a:solidFill>
              <a:latin typeface="Times New Roman" pitchFamily="18" charset="0"/>
              <a:cs typeface="Times New Roman" pitchFamily="18" charset="0"/>
            </a:endParaRPr>
          </a:p>
          <a:p>
            <a:pPr marL="747713" indent="-282575" algn="just">
              <a:buClr>
                <a:srgbClr val="C00000"/>
              </a:buClr>
              <a:buFont typeface="Wingdings" pitchFamily="2" charset="2"/>
              <a:buChar char="v"/>
            </a:pPr>
            <a:r>
              <a:rPr lang="en-US" sz="2400" dirty="0">
                <a:latin typeface="Times New Roman" pitchFamily="18" charset="0"/>
                <a:cs typeface="Times New Roman" pitchFamily="18" charset="0"/>
              </a:rPr>
              <a:t>	The process can be used to soften highly acidic or alkaline waters; </a:t>
            </a:r>
          </a:p>
          <a:p>
            <a:pPr marL="914400" indent="-449263" algn="just">
              <a:buClr>
                <a:srgbClr val="C00000"/>
              </a:buClr>
              <a:buFont typeface="Wingdings" pitchFamily="2" charset="2"/>
              <a:buChar char="v"/>
            </a:pPr>
            <a:r>
              <a:rPr lang="en-US" sz="2400" dirty="0">
                <a:latin typeface="Times New Roman" pitchFamily="18" charset="0"/>
                <a:cs typeface="Times New Roman" pitchFamily="18" charset="0"/>
              </a:rPr>
              <a:t>It produces water of very low hardness, say 2ppm. </a:t>
            </a:r>
          </a:p>
          <a:p>
            <a:pPr marL="914400" indent="-449263" algn="just">
              <a:buClr>
                <a:srgbClr val="C00000"/>
              </a:buClr>
              <a:buFont typeface="Wingdings" pitchFamily="2" charset="2"/>
              <a:buChar char="v"/>
            </a:pPr>
            <a:r>
              <a:rPr lang="en-US" sz="2400" dirty="0">
                <a:latin typeface="Times New Roman" pitchFamily="18" charset="0"/>
                <a:cs typeface="Times New Roman" pitchFamily="18" charset="0"/>
              </a:rPr>
              <a:t>So it can be used in high pressure boilers. </a:t>
            </a:r>
          </a:p>
          <a:p>
            <a:pPr marL="914400" indent="-449263" algn="just">
              <a:buClr>
                <a:srgbClr val="C00000"/>
              </a:buClr>
              <a:buFont typeface="Wingdings" pitchFamily="2" charset="2"/>
              <a:buChar char="v"/>
            </a:pPr>
            <a:endParaRPr lang="en-US" sz="2400" dirty="0">
              <a:latin typeface="Times New Roman" pitchFamily="18" charset="0"/>
              <a:cs typeface="Times New Roman" pitchFamily="18" charset="0"/>
            </a:endParaRPr>
          </a:p>
          <a:p>
            <a:pPr algn="just"/>
            <a:r>
              <a:rPr lang="en-US" sz="2400" b="1" dirty="0">
                <a:solidFill>
                  <a:srgbClr val="7030A0"/>
                </a:solidFill>
                <a:latin typeface="Times New Roman" pitchFamily="18" charset="0"/>
                <a:cs typeface="Times New Roman" pitchFamily="18" charset="0"/>
              </a:rPr>
              <a:t>Disadvantages: </a:t>
            </a:r>
          </a:p>
          <a:p>
            <a:pPr marL="965200" indent="-449263" algn="just">
              <a:buClr>
                <a:srgbClr val="7030A0"/>
              </a:buClr>
              <a:buFont typeface="Wingdings" pitchFamily="2" charset="2"/>
              <a:buChar char="v"/>
            </a:pPr>
            <a:r>
              <a:rPr lang="en-US" sz="2400" dirty="0">
                <a:latin typeface="Times New Roman" pitchFamily="18" charset="0"/>
                <a:cs typeface="Times New Roman" pitchFamily="18" charset="0"/>
              </a:rPr>
              <a:t>The cost of equipment is relatively high and also more expensive chemicals (resins) are needed.</a:t>
            </a:r>
          </a:p>
          <a:p>
            <a:pPr marL="965200" indent="-449263" algn="just">
              <a:buClr>
                <a:srgbClr val="7030A0"/>
              </a:buClr>
              <a:buFont typeface="Wingdings" pitchFamily="2" charset="2"/>
              <a:buChar char="v"/>
            </a:pPr>
            <a:r>
              <a:rPr lang="en-US" sz="2400" dirty="0">
                <a:latin typeface="Times New Roman" pitchFamily="18" charset="0"/>
                <a:cs typeface="Times New Roman" pitchFamily="18" charset="0"/>
              </a:rPr>
              <a:t>Fe, Mn – containing water and turbid water cannot be treated because Fe and Mn are irreversibly exchanged and turbidity reduces the efficiency of the process.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02" name="Picture 2" descr="Demineralisation process (Deionization/Ion-exchange process) - Water  Technology - YouTube"/>
          <p:cNvPicPr>
            <a:picLocks noChangeAspect="1" noChangeArrowheads="1"/>
          </p:cNvPicPr>
          <p:nvPr/>
        </p:nvPicPr>
        <p:blipFill>
          <a:blip r:embed="rId2"/>
          <a:srcRect l="15000" t="26667" r="15000"/>
          <a:stretch>
            <a:fillRect/>
          </a:stretch>
        </p:blipFill>
        <p:spPr bwMode="auto">
          <a:xfrm>
            <a:off x="381000" y="455838"/>
            <a:ext cx="11887200" cy="5944962"/>
          </a:xfrm>
          <a:prstGeom prst="rect">
            <a:avLst/>
          </a:prstGeom>
          <a:noFill/>
          <a:ln w="9525">
            <a:solidFill>
              <a:schemeClr val="tx1"/>
            </a:solid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p:cNvGrpSpPr/>
          <p:nvPr/>
        </p:nvGrpSpPr>
        <p:grpSpPr>
          <a:xfrm>
            <a:off x="304800" y="663714"/>
            <a:ext cx="6899646" cy="5432286"/>
            <a:chOff x="304800" y="663714"/>
            <a:chExt cx="6899646" cy="5432286"/>
          </a:xfrm>
        </p:grpSpPr>
        <p:sp>
          <p:nvSpPr>
            <p:cNvPr id="2" name="Rectangle 1"/>
            <p:cNvSpPr/>
            <p:nvPr/>
          </p:nvSpPr>
          <p:spPr>
            <a:xfrm>
              <a:off x="381000" y="1571685"/>
              <a:ext cx="6629400" cy="4524315"/>
            </a:xfrm>
            <a:prstGeom prst="rect">
              <a:avLst/>
            </a:prstGeom>
          </p:spPr>
          <p:txBody>
            <a:bodyPr wrap="square">
              <a:spAutoFit/>
            </a:bodyPr>
            <a:lstStyle/>
            <a:p>
              <a:pPr marL="463550" indent="-463550" algn="just">
                <a:buClr>
                  <a:srgbClr val="C00000"/>
                </a:buClr>
                <a:buFont typeface="Wingdings" pitchFamily="2" charset="2"/>
                <a:buChar char="v"/>
              </a:pPr>
              <a:r>
                <a:rPr lang="en-US" sz="2400" dirty="0">
                  <a:latin typeface="Times New Roman" pitchFamily="18" charset="0"/>
                  <a:cs typeface="Times New Roman" pitchFamily="18" charset="0"/>
                </a:rPr>
                <a:t>The process of removing common salt (sodium chloride) from water, is known as desalination.</a:t>
              </a:r>
            </a:p>
            <a:p>
              <a:pPr marL="463550" indent="-463550" algn="just">
                <a:buClr>
                  <a:srgbClr val="C00000"/>
                </a:buClr>
                <a:buFont typeface="Wingdings" pitchFamily="2" charset="2"/>
                <a:buChar char="v"/>
              </a:pPr>
              <a:r>
                <a:rPr lang="en-US" sz="2400" dirty="0">
                  <a:latin typeface="Times New Roman" pitchFamily="18" charset="0"/>
                  <a:cs typeface="Times New Roman" pitchFamily="18" charset="0"/>
                </a:rPr>
                <a:t>The water containing dissolved salts with a peculiar salty (or brackish) taste, is called brackish water. </a:t>
              </a:r>
            </a:p>
            <a:p>
              <a:pPr marL="463550" indent="-463550" algn="just">
                <a:buClr>
                  <a:srgbClr val="C00000"/>
                </a:buClr>
                <a:buFont typeface="Wingdings" pitchFamily="2" charset="2"/>
                <a:buChar char="v"/>
              </a:pPr>
              <a:r>
                <a:rPr lang="en-US" sz="2400" dirty="0">
                  <a:latin typeface="Times New Roman" pitchFamily="18" charset="0"/>
                  <a:cs typeface="Times New Roman" pitchFamily="18" charset="0"/>
                </a:rPr>
                <a:t>Sea water, containing on an average about 3.5% salts, comes under this category. </a:t>
              </a:r>
            </a:p>
            <a:p>
              <a:pPr marL="463550" indent="-463550" algn="just">
                <a:buClr>
                  <a:srgbClr val="C00000"/>
                </a:buClr>
                <a:buFont typeface="Wingdings" pitchFamily="2" charset="2"/>
                <a:buChar char="v"/>
              </a:pPr>
              <a:r>
                <a:rPr lang="en-US" sz="2400" dirty="0">
                  <a:latin typeface="Times New Roman" pitchFamily="18" charset="0"/>
                  <a:cs typeface="Times New Roman" pitchFamily="18" charset="0"/>
                </a:rPr>
                <a:t>Brackish water is totally unfit for drinking purpose.</a:t>
              </a:r>
            </a:p>
            <a:p>
              <a:pPr marL="463550" indent="-463550" algn="just">
                <a:buClr>
                  <a:srgbClr val="C00000"/>
                </a:buClr>
              </a:pPr>
              <a:r>
                <a:rPr lang="en-US" sz="2400" dirty="0">
                  <a:latin typeface="Times New Roman" pitchFamily="18" charset="0"/>
                  <a:cs typeface="Times New Roman" pitchFamily="18" charset="0"/>
                </a:rPr>
                <a:t> </a:t>
              </a:r>
            </a:p>
            <a:p>
              <a:pPr marL="463550" indent="-463550" algn="just">
                <a:buClr>
                  <a:srgbClr val="C00000"/>
                </a:buClr>
                <a:buFont typeface="Wingdings" pitchFamily="2" charset="2"/>
                <a:buChar char="v"/>
              </a:pPr>
              <a:r>
                <a:rPr lang="en-US" sz="2400" b="1" dirty="0">
                  <a:solidFill>
                    <a:srgbClr val="C00000"/>
                  </a:solidFill>
                  <a:latin typeface="Times New Roman" pitchFamily="18" charset="0"/>
                  <a:cs typeface="Times New Roman" pitchFamily="18" charset="0"/>
                </a:rPr>
                <a:t>Commonly used methods for the desalination of brackish water is Reverse osmosis.</a:t>
              </a:r>
            </a:p>
          </p:txBody>
        </p:sp>
        <p:sp>
          <p:nvSpPr>
            <p:cNvPr id="3" name="Rectangle 2"/>
            <p:cNvSpPr/>
            <p:nvPr/>
          </p:nvSpPr>
          <p:spPr>
            <a:xfrm>
              <a:off x="304800" y="663714"/>
              <a:ext cx="6899646" cy="707886"/>
            </a:xfrm>
            <a:prstGeom prst="rect">
              <a:avLst/>
            </a:prstGeom>
          </p:spPr>
          <p:txBody>
            <a:bodyPr wrap="none">
              <a:spAutoFit/>
            </a:bodyPr>
            <a:lstStyle/>
            <a:p>
              <a:r>
                <a:rPr lang="en-US" sz="4000" b="1" dirty="0">
                  <a:solidFill>
                    <a:srgbClr val="C00000"/>
                  </a:solidFill>
                  <a:latin typeface="Times New Roman" pitchFamily="18" charset="0"/>
                  <a:cs typeface="Times New Roman" pitchFamily="18" charset="0"/>
                </a:rPr>
                <a:t>Desalination of brackish water</a:t>
              </a:r>
              <a:endParaRPr lang="en-US" sz="4000" b="1" dirty="0">
                <a:solidFill>
                  <a:srgbClr val="C00000"/>
                </a:solidFill>
              </a:endParaRPr>
            </a:p>
          </p:txBody>
        </p:sp>
      </p:grpSp>
      <p:pic>
        <p:nvPicPr>
          <p:cNvPr id="51202" name="Picture 2" descr="Desalination of Seawater and Brackish Water - ProMinent"/>
          <p:cNvPicPr>
            <a:picLocks noChangeAspect="1" noChangeArrowheads="1"/>
          </p:cNvPicPr>
          <p:nvPr/>
        </p:nvPicPr>
        <p:blipFill>
          <a:blip r:embed="rId2"/>
          <a:srcRect/>
          <a:stretch>
            <a:fillRect/>
          </a:stretch>
        </p:blipFill>
        <p:spPr bwMode="auto">
          <a:xfrm>
            <a:off x="7239000" y="1066800"/>
            <a:ext cx="5295900" cy="5105400"/>
          </a:xfrm>
          <a:prstGeom prst="rect">
            <a:avLst/>
          </a:prstGeom>
          <a:noFill/>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p:cNvGrpSpPr/>
          <p:nvPr/>
        </p:nvGrpSpPr>
        <p:grpSpPr>
          <a:xfrm>
            <a:off x="152400" y="-76200"/>
            <a:ext cx="4495800" cy="6705600"/>
            <a:chOff x="152400" y="-76200"/>
            <a:chExt cx="4495800" cy="6705600"/>
          </a:xfrm>
        </p:grpSpPr>
        <p:sp>
          <p:nvSpPr>
            <p:cNvPr id="2" name="Rectangle 1"/>
            <p:cNvSpPr/>
            <p:nvPr/>
          </p:nvSpPr>
          <p:spPr>
            <a:xfrm>
              <a:off x="152400" y="627757"/>
              <a:ext cx="4495800" cy="6001643"/>
            </a:xfrm>
            <a:prstGeom prst="rect">
              <a:avLst/>
            </a:prstGeom>
          </p:spPr>
          <p:txBody>
            <a:bodyPr wrap="square">
              <a:spAutoFit/>
            </a:bodyPr>
            <a:lstStyle/>
            <a:p>
              <a:pPr marL="463550" indent="-463550" algn="just">
                <a:buClr>
                  <a:srgbClr val="C00000"/>
                </a:buClr>
                <a:buFont typeface="Wingdings" pitchFamily="2" charset="2"/>
                <a:buChar char="v"/>
              </a:pPr>
              <a:r>
                <a:rPr lang="en-US" sz="2400" dirty="0">
                  <a:latin typeface="Times New Roman" pitchFamily="18" charset="0"/>
                  <a:cs typeface="Times New Roman" pitchFamily="18" charset="0"/>
                </a:rPr>
                <a:t>When two solutions of unequal concentrations are separated by a semi permeable membrane, flow of solvent takes place from dilute to concentrated sides, due to osmosis.</a:t>
              </a:r>
            </a:p>
            <a:p>
              <a:pPr marL="463550" indent="-463550" algn="just">
                <a:buClr>
                  <a:srgbClr val="C00000"/>
                </a:buClr>
                <a:buFont typeface="Wingdings" pitchFamily="2" charset="2"/>
                <a:buChar char="v"/>
              </a:pPr>
              <a:r>
                <a:rPr lang="en-US" sz="2400" dirty="0">
                  <a:latin typeface="Times New Roman" pitchFamily="18" charset="0"/>
                  <a:cs typeface="Times New Roman" pitchFamily="18" charset="0"/>
                </a:rPr>
                <a:t>If, however, a hydrostatic pressure in excess of osmotic pressure is applied on the concentrated side, the solvent flow reverses. </a:t>
              </a:r>
            </a:p>
            <a:p>
              <a:pPr marL="463550" indent="-463550" algn="just">
                <a:buClr>
                  <a:srgbClr val="C00000"/>
                </a:buClr>
                <a:buFont typeface="Wingdings" pitchFamily="2" charset="2"/>
                <a:buChar char="v"/>
              </a:pPr>
              <a:r>
                <a:rPr lang="en-US" sz="2400" dirty="0">
                  <a:latin typeface="Times New Roman" pitchFamily="18" charset="0"/>
                  <a:cs typeface="Times New Roman" pitchFamily="18" charset="0"/>
                </a:rPr>
                <a:t>That is solvent is forced to move from concentrated side to diluted side across the membrane. This is the principle of reverse osmosis. </a:t>
              </a:r>
            </a:p>
          </p:txBody>
        </p:sp>
        <p:sp>
          <p:nvSpPr>
            <p:cNvPr id="3" name="Rectangle 2"/>
            <p:cNvSpPr/>
            <p:nvPr/>
          </p:nvSpPr>
          <p:spPr>
            <a:xfrm>
              <a:off x="533400" y="-76200"/>
              <a:ext cx="4035079" cy="707886"/>
            </a:xfrm>
            <a:prstGeom prst="rect">
              <a:avLst/>
            </a:prstGeom>
          </p:spPr>
          <p:txBody>
            <a:bodyPr wrap="none">
              <a:spAutoFit/>
            </a:bodyPr>
            <a:lstStyle/>
            <a:p>
              <a:r>
                <a:rPr lang="en-US" sz="4000" b="1" dirty="0">
                  <a:solidFill>
                    <a:srgbClr val="C00000"/>
                  </a:solidFill>
                  <a:latin typeface="Times New Roman" pitchFamily="18" charset="0"/>
                  <a:cs typeface="Times New Roman" pitchFamily="18" charset="0"/>
                </a:rPr>
                <a:t>Reverse osmosis: </a:t>
              </a:r>
              <a:endParaRPr lang="en-US" sz="4000" b="1" dirty="0">
                <a:solidFill>
                  <a:srgbClr val="C00000"/>
                </a:solidFill>
              </a:endParaRPr>
            </a:p>
          </p:txBody>
        </p:sp>
      </p:grpSp>
      <p:pic>
        <p:nvPicPr>
          <p:cNvPr id="84994" name="Picture 2"/>
          <p:cNvPicPr>
            <a:picLocks noChangeAspect="1" noChangeArrowheads="1"/>
          </p:cNvPicPr>
          <p:nvPr/>
        </p:nvPicPr>
        <p:blipFill>
          <a:blip r:embed="rId2"/>
          <a:srcRect l="16918"/>
          <a:stretch>
            <a:fillRect/>
          </a:stretch>
        </p:blipFill>
        <p:spPr bwMode="auto">
          <a:xfrm>
            <a:off x="4835319" y="762000"/>
            <a:ext cx="7718631" cy="5486400"/>
          </a:xfrm>
          <a:prstGeom prst="rect">
            <a:avLst/>
          </a:prstGeom>
          <a:noFill/>
          <a:ln w="9525">
            <a:noFill/>
            <a:miter lim="800000"/>
            <a:headEnd/>
            <a:tailEnd/>
          </a:ln>
          <a:effec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762000"/>
            <a:ext cx="11811000" cy="5262979"/>
          </a:xfrm>
          <a:prstGeom prst="rect">
            <a:avLst/>
          </a:prstGeom>
        </p:spPr>
        <p:txBody>
          <a:bodyPr wrap="square">
            <a:spAutoFit/>
          </a:bodyPr>
          <a:lstStyle/>
          <a:p>
            <a:pPr marL="463550" indent="-463550" algn="just">
              <a:buClr>
                <a:srgbClr val="C00000"/>
              </a:buClr>
              <a:buFont typeface="Wingdings" pitchFamily="2" charset="2"/>
              <a:buChar char="v"/>
            </a:pPr>
            <a:r>
              <a:rPr lang="en-US" sz="2400" dirty="0">
                <a:latin typeface="Times New Roman" pitchFamily="18" charset="0"/>
                <a:cs typeface="Times New Roman" pitchFamily="18" charset="0"/>
              </a:rPr>
              <a:t>Thus, in reverse osmosis method, pure solvent is separated from its contaminates, rather than removing contaminates from water.</a:t>
            </a:r>
          </a:p>
          <a:p>
            <a:pPr marL="463550" indent="-463550" algn="just">
              <a:buClr>
                <a:srgbClr val="C00000"/>
              </a:buClr>
              <a:buFont typeface="Wingdings" pitchFamily="2" charset="2"/>
              <a:buChar char="v"/>
            </a:pPr>
            <a:r>
              <a:rPr lang="en-US" sz="2400" dirty="0">
                <a:latin typeface="Times New Roman" pitchFamily="18" charset="0"/>
                <a:cs typeface="Times New Roman" pitchFamily="18" charset="0"/>
              </a:rPr>
              <a:t>This membrane filtration is sometimes also called super filtration or hyper-filtration</a:t>
            </a:r>
          </a:p>
          <a:p>
            <a:pPr marL="463550" indent="-463550" algn="just">
              <a:buClr>
                <a:srgbClr val="C00000"/>
              </a:buClr>
            </a:pPr>
            <a:endParaRPr lang="en-US" sz="2400" dirty="0">
              <a:latin typeface="Times New Roman" pitchFamily="18" charset="0"/>
              <a:cs typeface="Times New Roman" pitchFamily="18" charset="0"/>
            </a:endParaRPr>
          </a:p>
          <a:p>
            <a:pPr marL="515938" indent="-515938" algn="just">
              <a:buClr>
                <a:srgbClr val="7030A0"/>
              </a:buClr>
            </a:pPr>
            <a:r>
              <a:rPr lang="en-US" sz="2400" b="1" dirty="0">
                <a:solidFill>
                  <a:srgbClr val="C00000"/>
                </a:solidFill>
                <a:latin typeface="Times New Roman" pitchFamily="18" charset="0"/>
                <a:cs typeface="Times New Roman" pitchFamily="18" charset="0"/>
              </a:rPr>
              <a:t>Advantages:</a:t>
            </a:r>
          </a:p>
          <a:p>
            <a:pPr marL="515938" indent="-515938" algn="just">
              <a:buClr>
                <a:srgbClr val="7030A0"/>
              </a:buClr>
            </a:pPr>
            <a:endParaRPr lang="en-US" sz="2400" dirty="0">
              <a:latin typeface="Times New Roman" pitchFamily="18" charset="0"/>
              <a:cs typeface="Times New Roman" pitchFamily="18" charset="0"/>
            </a:endParaRPr>
          </a:p>
          <a:p>
            <a:pPr marL="515938" indent="-515938" algn="just">
              <a:buClr>
                <a:srgbClr val="7030A0"/>
              </a:buClr>
              <a:buFont typeface="Wingdings" pitchFamily="2" charset="2"/>
              <a:buChar char="v"/>
            </a:pPr>
            <a:r>
              <a:rPr lang="en-US" sz="2400" dirty="0">
                <a:latin typeface="Times New Roman" pitchFamily="18" charset="0"/>
                <a:cs typeface="Times New Roman" pitchFamily="18" charset="0"/>
              </a:rPr>
              <a:t>This process removes, ionic as well as non-ionic, colloidal and high molecular weight organic matter. </a:t>
            </a:r>
          </a:p>
          <a:p>
            <a:pPr marL="515938" indent="-515938" algn="just">
              <a:buClr>
                <a:srgbClr val="7030A0"/>
              </a:buClr>
              <a:buFont typeface="Wingdings" pitchFamily="2" charset="2"/>
              <a:buChar char="v"/>
            </a:pPr>
            <a:r>
              <a:rPr lang="en-US" sz="2400" dirty="0">
                <a:latin typeface="Times New Roman" pitchFamily="18" charset="0"/>
                <a:cs typeface="Times New Roman" pitchFamily="18" charset="0"/>
              </a:rPr>
              <a:t>It removes colloidal silica, which is not removed by demineralization process.</a:t>
            </a:r>
          </a:p>
          <a:p>
            <a:pPr marL="515938" indent="-515938" algn="just">
              <a:buClr>
                <a:srgbClr val="7030A0"/>
              </a:buClr>
              <a:buFont typeface="Wingdings" pitchFamily="2" charset="2"/>
              <a:buChar char="v"/>
            </a:pPr>
            <a:r>
              <a:rPr lang="en-US" sz="2400" dirty="0">
                <a:latin typeface="Times New Roman" pitchFamily="18" charset="0"/>
                <a:cs typeface="Times New Roman" pitchFamily="18" charset="0"/>
              </a:rPr>
              <a:t>The life time of membrane is quite high, about 2 years. </a:t>
            </a:r>
          </a:p>
          <a:p>
            <a:pPr marL="515938" indent="-515938" algn="just">
              <a:buClr>
                <a:srgbClr val="7030A0"/>
              </a:buClr>
              <a:buFont typeface="Wingdings" pitchFamily="2" charset="2"/>
              <a:buChar char="v"/>
            </a:pPr>
            <a:r>
              <a:rPr lang="en-US" sz="2400" dirty="0">
                <a:latin typeface="Times New Roman" pitchFamily="18" charset="0"/>
                <a:cs typeface="Times New Roman" pitchFamily="18" charset="0"/>
              </a:rPr>
              <a:t>The membrane can be replaced within a few minutes, thereby providing nearly uninterrupted water supply.</a:t>
            </a:r>
          </a:p>
          <a:p>
            <a:pPr marL="515938" indent="-515938" algn="just">
              <a:buClr>
                <a:srgbClr val="7030A0"/>
              </a:buClr>
              <a:buFont typeface="Wingdings" pitchFamily="2" charset="2"/>
              <a:buChar char="v"/>
            </a:pPr>
            <a:r>
              <a:rPr lang="en-US" sz="2400" dirty="0">
                <a:latin typeface="Times New Roman" pitchFamily="18" charset="0"/>
                <a:cs typeface="Times New Roman" pitchFamily="18" charset="0"/>
              </a:rPr>
              <a:t>Due to low cost, simplicity and high reliability, the reverse osmosis is gaining ground at present for converting sea water into drinking water.</a:t>
            </a:r>
            <a:endParaRPr lang="en-US" sz="24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09601" y="495955"/>
            <a:ext cx="5562599" cy="5078313"/>
          </a:xfrm>
          <a:prstGeom prst="rect">
            <a:avLst/>
          </a:prstGeom>
          <a:noFill/>
          <a:ln w="3175">
            <a:solidFill>
              <a:schemeClr val="tx1"/>
            </a:solidFill>
          </a:ln>
        </p:spPr>
        <p:txBody>
          <a:bodyPr wrap="square" rtlCol="0">
            <a:spAutoFit/>
          </a:bodyPr>
          <a:lstStyle/>
          <a:p>
            <a:pPr algn="just"/>
            <a:r>
              <a:rPr lang="en-US" sz="3600" b="1" dirty="0">
                <a:solidFill>
                  <a:srgbClr val="C00000"/>
                </a:solidFill>
                <a:latin typeface="Times New Roman" pitchFamily="18" charset="0"/>
                <a:cs typeface="Times New Roman" pitchFamily="18" charset="0"/>
              </a:rPr>
              <a:t>Short answer questions</a:t>
            </a:r>
          </a:p>
          <a:p>
            <a:pPr marL="342900" indent="-342900" algn="just">
              <a:buFont typeface="+mj-lt"/>
              <a:buAutoNum type="arabicPeriod"/>
            </a:pPr>
            <a:r>
              <a:rPr lang="en-US" sz="2400" dirty="0">
                <a:latin typeface="Times New Roman" pitchFamily="18" charset="0"/>
                <a:cs typeface="Times New Roman" pitchFamily="18" charset="0"/>
              </a:rPr>
              <a:t>List types of impurities in water.</a:t>
            </a:r>
          </a:p>
          <a:p>
            <a:pPr marL="342900" indent="-342900" algn="just">
              <a:buFont typeface="+mj-lt"/>
              <a:buAutoNum type="arabicPeriod"/>
            </a:pPr>
            <a:r>
              <a:rPr lang="en-US" sz="2400" dirty="0">
                <a:latin typeface="Times New Roman" pitchFamily="18" charset="0"/>
                <a:cs typeface="Times New Roman" pitchFamily="18" charset="0"/>
              </a:rPr>
              <a:t>Compare soft water with hard water.</a:t>
            </a:r>
          </a:p>
          <a:p>
            <a:pPr marL="342900" indent="-342900" algn="just">
              <a:buFont typeface="+mj-lt"/>
              <a:buAutoNum type="arabicPeriod"/>
            </a:pPr>
            <a:r>
              <a:rPr lang="en-US" sz="2400" dirty="0">
                <a:latin typeface="Times New Roman" pitchFamily="18" charset="0"/>
                <a:cs typeface="Times New Roman" pitchFamily="18" charset="0"/>
              </a:rPr>
              <a:t>Define brackish water and distilled water.</a:t>
            </a:r>
          </a:p>
          <a:p>
            <a:pPr marL="342900" indent="-342900" algn="just">
              <a:buFont typeface="+mj-lt"/>
              <a:buAutoNum type="arabicPeriod"/>
            </a:pPr>
            <a:r>
              <a:rPr lang="en-US" sz="2400" dirty="0">
                <a:latin typeface="Times New Roman" pitchFamily="18" charset="0"/>
                <a:cs typeface="Times New Roman" pitchFamily="18" charset="0"/>
              </a:rPr>
              <a:t>Differentiate Scales from Sludges.</a:t>
            </a:r>
          </a:p>
          <a:p>
            <a:pPr marL="342900" indent="-342900" algn="just">
              <a:buFont typeface="+mj-lt"/>
              <a:buAutoNum type="arabicPeriod"/>
            </a:pPr>
            <a:r>
              <a:rPr lang="en-US" sz="2400" dirty="0">
                <a:latin typeface="Times New Roman" pitchFamily="18" charset="0"/>
                <a:cs typeface="Times New Roman" pitchFamily="18" charset="0"/>
              </a:rPr>
              <a:t>What is desalination?</a:t>
            </a:r>
          </a:p>
          <a:p>
            <a:pPr marL="342900" indent="-342900" algn="just">
              <a:buFont typeface="+mj-lt"/>
              <a:buAutoNum type="arabicPeriod"/>
            </a:pPr>
            <a:r>
              <a:rPr lang="en-US" sz="2400" dirty="0">
                <a:latin typeface="Times New Roman" pitchFamily="18" charset="0"/>
                <a:cs typeface="Times New Roman" pitchFamily="18" charset="0"/>
              </a:rPr>
              <a:t>Write a not on reverse osmosis.</a:t>
            </a:r>
          </a:p>
          <a:p>
            <a:pPr marL="342900" indent="-342900" algn="just">
              <a:buFont typeface="+mj-lt"/>
              <a:buAutoNum type="arabicPeriod"/>
            </a:pPr>
            <a:r>
              <a:rPr lang="en-US" sz="2400" dirty="0">
                <a:latin typeface="Times New Roman" pitchFamily="18" charset="0"/>
                <a:cs typeface="Times New Roman" pitchFamily="18" charset="0"/>
              </a:rPr>
              <a:t>Define break point chlorination.</a:t>
            </a:r>
          </a:p>
          <a:p>
            <a:pPr marL="342900" indent="-342900" algn="just">
              <a:buFont typeface="+mj-lt"/>
              <a:buAutoNum type="arabicPeriod"/>
            </a:pPr>
            <a:r>
              <a:rPr lang="en-US" sz="2400" dirty="0">
                <a:latin typeface="Times New Roman" pitchFamily="18" charset="0"/>
                <a:cs typeface="Times New Roman" pitchFamily="18" charset="0"/>
              </a:rPr>
              <a:t>List specifications of portable water.</a:t>
            </a:r>
          </a:p>
          <a:p>
            <a:pPr marL="342900" indent="-342900" algn="just">
              <a:buFont typeface="+mj-lt"/>
              <a:buAutoNum type="arabicPeriod"/>
            </a:pPr>
            <a:r>
              <a:rPr lang="en-US" sz="2400" dirty="0">
                <a:latin typeface="Times New Roman" pitchFamily="18" charset="0"/>
                <a:cs typeface="Times New Roman" pitchFamily="18" charset="0"/>
              </a:rPr>
              <a:t>Define caustic embrittlement.</a:t>
            </a:r>
          </a:p>
          <a:p>
            <a:pPr marL="342900" indent="-342900" algn="just">
              <a:buFont typeface="+mj-lt"/>
              <a:buAutoNum type="arabicPeriod"/>
            </a:pPr>
            <a:r>
              <a:rPr lang="en-US" sz="2400" dirty="0">
                <a:latin typeface="Times New Roman" pitchFamily="18" charset="0"/>
                <a:cs typeface="Times New Roman" pitchFamily="18" charset="0"/>
              </a:rPr>
              <a:t>Compare temporary hardness with permanent hardness.</a:t>
            </a:r>
          </a:p>
        </p:txBody>
      </p:sp>
      <p:sp>
        <p:nvSpPr>
          <p:cNvPr id="3" name="Rectangle 2"/>
          <p:cNvSpPr/>
          <p:nvPr/>
        </p:nvSpPr>
        <p:spPr>
          <a:xfrm>
            <a:off x="6705600" y="1981200"/>
            <a:ext cx="5562600" cy="1938992"/>
          </a:xfrm>
          <a:prstGeom prst="rect">
            <a:avLst/>
          </a:prstGeom>
          <a:ln w="3175">
            <a:solidFill>
              <a:schemeClr val="tx1"/>
            </a:solidFill>
          </a:ln>
        </p:spPr>
        <p:txBody>
          <a:bodyPr wrap="square">
            <a:spAutoFit/>
          </a:bodyPr>
          <a:lstStyle/>
          <a:p>
            <a:pPr marL="457200" indent="-457200" algn="just">
              <a:buFont typeface="+mj-lt"/>
              <a:buAutoNum type="arabicPeriod" startAt="12"/>
            </a:pPr>
            <a:r>
              <a:rPr lang="en-US" sz="2400" dirty="0">
                <a:latin typeface="Times New Roman" pitchFamily="18" charset="0"/>
                <a:cs typeface="Times New Roman" pitchFamily="18" charset="0"/>
              </a:rPr>
              <a:t>Write principle in EDTA method.</a:t>
            </a:r>
          </a:p>
          <a:p>
            <a:pPr marL="457200" indent="-457200" algn="just">
              <a:buFont typeface="+mj-lt"/>
              <a:buAutoNum type="arabicPeriod" startAt="12"/>
            </a:pPr>
            <a:r>
              <a:rPr lang="en-US" sz="2400" dirty="0">
                <a:latin typeface="Times New Roman" pitchFamily="18" charset="0"/>
                <a:cs typeface="Times New Roman" pitchFamily="18" charset="0"/>
              </a:rPr>
              <a:t>Define disinfection and give examples.</a:t>
            </a:r>
          </a:p>
          <a:p>
            <a:pPr marL="457200" indent="-457200" algn="just">
              <a:buFont typeface="+mj-lt"/>
              <a:buAutoNum type="arabicPeriod" startAt="12"/>
            </a:pPr>
            <a:r>
              <a:rPr lang="en-US" sz="2400" dirty="0">
                <a:latin typeface="Times New Roman" pitchFamily="18" charset="0"/>
                <a:cs typeface="Times New Roman" pitchFamily="18" charset="0"/>
              </a:rPr>
              <a:t>What are coagulants and give examples.</a:t>
            </a:r>
          </a:p>
          <a:p>
            <a:pPr marL="457200" indent="-457200" algn="just">
              <a:buFont typeface="+mj-lt"/>
              <a:buAutoNum type="arabicPeriod" startAt="12"/>
            </a:pPr>
            <a:r>
              <a:rPr lang="en-US" sz="2400" dirty="0">
                <a:latin typeface="Times New Roman" pitchFamily="18" charset="0"/>
                <a:cs typeface="Times New Roman" pitchFamily="18" charset="0"/>
              </a:rPr>
              <a:t>List salts causing temporary and permanent hardness.</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533400"/>
            <a:ext cx="11638122" cy="4893647"/>
          </a:xfrm>
          <a:prstGeom prst="rect">
            <a:avLst/>
          </a:prstGeom>
          <a:noFill/>
        </p:spPr>
        <p:txBody>
          <a:bodyPr wrap="none" rtlCol="0">
            <a:spAutoFit/>
          </a:bodyPr>
          <a:lstStyle/>
          <a:p>
            <a:r>
              <a:rPr lang="en-US" sz="3600" b="1" dirty="0">
                <a:solidFill>
                  <a:srgbClr val="C00000"/>
                </a:solidFill>
                <a:latin typeface="Times New Roman" pitchFamily="18" charset="0"/>
                <a:cs typeface="Times New Roman" pitchFamily="18" charset="0"/>
              </a:rPr>
              <a:t>Long answer questions</a:t>
            </a:r>
          </a:p>
          <a:p>
            <a:endParaRPr lang="en-US" sz="3600" b="1" dirty="0">
              <a:solidFill>
                <a:srgbClr val="C00000"/>
              </a:solidFill>
              <a:latin typeface="Times New Roman" pitchFamily="18" charset="0"/>
              <a:cs typeface="Times New Roman" pitchFamily="18" charset="0"/>
            </a:endParaRPr>
          </a:p>
          <a:p>
            <a:pPr marL="457200" indent="-457200">
              <a:buFont typeface="+mj-lt"/>
              <a:buAutoNum type="arabicPeriod"/>
            </a:pPr>
            <a:r>
              <a:rPr lang="en-US" sz="2400" dirty="0">
                <a:latin typeface="Times New Roman" pitchFamily="18" charset="0"/>
                <a:cs typeface="Times New Roman" pitchFamily="18" charset="0"/>
              </a:rPr>
              <a:t>What is hardness? Explain different types of hardness with units.</a:t>
            </a:r>
          </a:p>
          <a:p>
            <a:pPr marL="457200" indent="-457200">
              <a:buFont typeface="+mj-lt"/>
              <a:buAutoNum type="arabicPeriod"/>
            </a:pPr>
            <a:r>
              <a:rPr lang="en-US" sz="2400" dirty="0">
                <a:latin typeface="Times New Roman" pitchFamily="18" charset="0"/>
                <a:cs typeface="Times New Roman" pitchFamily="18" charset="0"/>
              </a:rPr>
              <a:t>Elaborate  ion exchange process with neat diagram and write limitations.</a:t>
            </a:r>
          </a:p>
          <a:p>
            <a:pPr marL="457200" indent="-457200">
              <a:buFont typeface="+mj-lt"/>
              <a:buAutoNum type="arabicPeriod"/>
            </a:pPr>
            <a:r>
              <a:rPr lang="en-US" sz="2400" dirty="0">
                <a:latin typeface="Times New Roman" pitchFamily="18" charset="0"/>
                <a:cs typeface="Times New Roman" pitchFamily="18" charset="0"/>
              </a:rPr>
              <a:t>Explain various stages in the portable water treatment.</a:t>
            </a:r>
          </a:p>
          <a:p>
            <a:pPr marL="457200" indent="-457200">
              <a:buFont typeface="+mj-lt"/>
              <a:buAutoNum type="arabicPeriod"/>
            </a:pPr>
            <a:r>
              <a:rPr lang="en-US" sz="2400" dirty="0">
                <a:latin typeface="Times New Roman" pitchFamily="18" charset="0"/>
                <a:cs typeface="Times New Roman" pitchFamily="18" charset="0"/>
              </a:rPr>
              <a:t>Describe the desalination of brackish water by Reverse Osmosis. Mention its advantages.</a:t>
            </a:r>
          </a:p>
          <a:p>
            <a:pPr marL="457200" indent="-457200">
              <a:buFont typeface="+mj-lt"/>
              <a:buAutoNum type="arabicPeriod"/>
            </a:pPr>
            <a:r>
              <a:rPr lang="en-US" sz="2400" dirty="0">
                <a:latin typeface="Times New Roman" pitchFamily="18" charset="0"/>
                <a:cs typeface="Times New Roman" pitchFamily="18" charset="0"/>
              </a:rPr>
              <a:t>Illustrate caustic embrittlement.</a:t>
            </a:r>
          </a:p>
          <a:p>
            <a:pPr marL="457200" indent="-457200">
              <a:buFont typeface="+mj-lt"/>
              <a:buAutoNum type="arabicPeriod"/>
            </a:pPr>
            <a:r>
              <a:rPr lang="en-US" sz="2400" dirty="0">
                <a:latin typeface="Times New Roman" pitchFamily="18" charset="0"/>
                <a:cs typeface="Times New Roman" pitchFamily="18" charset="0"/>
              </a:rPr>
              <a:t>Differentiate scales from sludges.</a:t>
            </a:r>
          </a:p>
          <a:p>
            <a:pPr marL="457200" indent="-457200">
              <a:buFont typeface="+mj-lt"/>
              <a:buAutoNum type="arabicPeriod"/>
            </a:pPr>
            <a:r>
              <a:rPr lang="en-US" sz="2400" dirty="0">
                <a:latin typeface="Times New Roman" pitchFamily="18" charset="0"/>
                <a:cs typeface="Times New Roman" pitchFamily="18" charset="0"/>
              </a:rPr>
              <a:t>What is chlorination? Discuss break point chlorination.</a:t>
            </a:r>
          </a:p>
          <a:p>
            <a:pPr marL="457200" indent="-457200">
              <a:buFont typeface="+mj-lt"/>
              <a:buAutoNum type="arabicPeriod"/>
            </a:pPr>
            <a:r>
              <a:rPr lang="en-US" sz="2400" dirty="0">
                <a:latin typeface="Times New Roman" pitchFamily="18" charset="0"/>
                <a:cs typeface="Times New Roman" pitchFamily="18" charset="0"/>
              </a:rPr>
              <a:t>Write a detailed notes scales and sludges.</a:t>
            </a:r>
          </a:p>
          <a:p>
            <a:pPr marL="457200" indent="-457200">
              <a:buFont typeface="+mj-lt"/>
              <a:buAutoNum type="arabicPeriod"/>
            </a:pPr>
            <a:r>
              <a:rPr lang="en-US" sz="2400" dirty="0">
                <a:latin typeface="Times New Roman" pitchFamily="18" charset="0"/>
                <a:cs typeface="Times New Roman" pitchFamily="18" charset="0"/>
              </a:rPr>
              <a:t>Discuss internal water treatment</a:t>
            </a:r>
            <a:r>
              <a:rPr lang="en-US" sz="2400" dirty="0" smtClean="0">
                <a:latin typeface="Times New Roman" pitchFamily="18" charset="0"/>
                <a:cs typeface="Times New Roman" pitchFamily="18" charset="0"/>
              </a:rPr>
              <a:t>.</a:t>
            </a:r>
          </a:p>
          <a:p>
            <a:pPr marL="457200" indent="-457200">
              <a:buFont typeface="+mj-lt"/>
              <a:buAutoNum type="arabicPeriod"/>
            </a:pPr>
            <a:r>
              <a:rPr lang="en-US" sz="2400" dirty="0" smtClean="0">
                <a:latin typeface="Times New Roman" pitchFamily="18" charset="0"/>
                <a:cs typeface="Times New Roman" pitchFamily="18" charset="0"/>
              </a:rPr>
              <a:t>Explain Defluoridation by Nalgonda Technique.</a:t>
            </a:r>
            <a:endParaRPr lang="en-US" sz="2400" dirty="0">
              <a:latin typeface="Times New Roman" pitchFamily="18" charset="0"/>
              <a:cs typeface="Times New Roman"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1784</TotalTime>
  <Words>4460</Words>
  <Application>Microsoft Office PowerPoint</Application>
  <PresentationFormat>Custom</PresentationFormat>
  <Paragraphs>467</Paragraphs>
  <Slides>46</Slides>
  <Notes>4</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46</vt:i4>
      </vt:variant>
    </vt:vector>
  </HeadingPairs>
  <TitlesOfParts>
    <vt:vector size="48" baseType="lpstr">
      <vt:lpstr>Office Theme</vt:lpstr>
      <vt:lpstr>CS ChemDraw Drawing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snist</dc:creator>
  <cp:lastModifiedBy>snist</cp:lastModifiedBy>
  <cp:revision>216</cp:revision>
  <dcterms:created xsi:type="dcterms:W3CDTF">2006-08-16T00:00:00Z</dcterms:created>
  <dcterms:modified xsi:type="dcterms:W3CDTF">2025-08-22T05:32:28Z</dcterms:modified>
</cp:coreProperties>
</file>