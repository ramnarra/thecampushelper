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63" r:id="rId2"/>
    <p:sldId id="332" r:id="rId3"/>
    <p:sldId id="282" r:id="rId4"/>
    <p:sldId id="283" r:id="rId5"/>
    <p:sldId id="308" r:id="rId6"/>
    <p:sldId id="309" r:id="rId7"/>
    <p:sldId id="310" r:id="rId8"/>
    <p:sldId id="295" r:id="rId9"/>
    <p:sldId id="296" r:id="rId10"/>
    <p:sldId id="297" r:id="rId11"/>
    <p:sldId id="298" r:id="rId12"/>
    <p:sldId id="299" r:id="rId13"/>
    <p:sldId id="311" r:id="rId14"/>
    <p:sldId id="303" r:id="rId15"/>
    <p:sldId id="304" r:id="rId16"/>
    <p:sldId id="305"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7" r:id="rId33"/>
    <p:sldId id="328" r:id="rId34"/>
    <p:sldId id="329" r:id="rId35"/>
    <p:sldId id="330" r:id="rId36"/>
    <p:sldId id="331" r:id="rId37"/>
  </p:sldIdLst>
  <p:sldSz cx="128016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710" autoAdjust="0"/>
  </p:normalViewPr>
  <p:slideViewPr>
    <p:cSldViewPr>
      <p:cViewPr>
        <p:scale>
          <a:sx n="50" d="100"/>
          <a:sy n="50" d="100"/>
        </p:scale>
        <p:origin x="-600" y="10"/>
      </p:cViewPr>
      <p:guideLst>
        <p:guide orient="horz" pos="2160"/>
        <p:guide pos="403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72C37E-82DD-4B1A-878B-9326262FECFF}" type="datetimeFigureOut">
              <a:rPr lang="en-US" smtClean="0"/>
              <a:t>17-Oct-25</a:t>
            </a:fld>
            <a:endParaRPr lang="en-US"/>
          </a:p>
        </p:txBody>
      </p:sp>
      <p:sp>
        <p:nvSpPr>
          <p:cNvPr id="4" name="Slide Image Placeholder 3"/>
          <p:cNvSpPr>
            <a:spLocks noGrp="1" noRot="1" noChangeAspect="1"/>
          </p:cNvSpPr>
          <p:nvPr>
            <p:ph type="sldImg" idx="2"/>
          </p:nvPr>
        </p:nvSpPr>
        <p:spPr>
          <a:xfrm>
            <a:off x="228600" y="685800"/>
            <a:ext cx="64008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04C2C8-1715-4DC7-AC0D-20AE0C9D1E5E}" type="slidenum">
              <a:rPr lang="en-US" smtClean="0"/>
              <a:t>‹#›</a:t>
            </a:fld>
            <a:endParaRPr lang="en-US"/>
          </a:p>
        </p:txBody>
      </p:sp>
    </p:spTree>
    <p:extLst>
      <p:ext uri="{BB962C8B-B14F-4D97-AF65-F5344CB8AC3E}">
        <p14:creationId xmlns:p14="http://schemas.microsoft.com/office/powerpoint/2010/main" val="4090037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62">
            <a:extLst>
              <a:ext uri="{FF2B5EF4-FFF2-40B4-BE49-F238E27FC236}">
                <a16:creationId xmlns:a16="http://schemas.microsoft.com/office/drawing/2014/main" xmlns="" id="{50721495-DD10-527F-6FCD-A6034AE955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rgbClr val="000000"/>
                </a:solidFill>
                <a:latin typeface="Arial" panose="020B0604020202020204" pitchFamily="34" charset="0"/>
                <a:ea typeface="宋体" panose="02010600030101010101" pitchFamily="2" charset="-122"/>
                <a:sym typeface="Arial" panose="020B0604020202020204" pitchFamily="34" charset="0"/>
              </a:defRPr>
            </a:lvl1pPr>
            <a:lvl2pPr marL="742950" indent="-285750" eaLnBrk="0" hangingPunct="0">
              <a:defRPr>
                <a:solidFill>
                  <a:srgbClr val="000000"/>
                </a:solidFill>
                <a:latin typeface="Arial" panose="020B0604020202020204" pitchFamily="34" charset="0"/>
                <a:ea typeface="宋体" panose="02010600030101010101" pitchFamily="2" charset="-122"/>
                <a:sym typeface="Arial" panose="020B0604020202020204" pitchFamily="34" charset="0"/>
              </a:defRPr>
            </a:lvl2pPr>
            <a:lvl3pPr marL="1143000" indent="-228600" eaLnBrk="0" hangingPunct="0">
              <a:defRPr>
                <a:solidFill>
                  <a:srgbClr val="000000"/>
                </a:solidFill>
                <a:latin typeface="Arial" panose="020B0604020202020204" pitchFamily="34" charset="0"/>
                <a:ea typeface="宋体" panose="02010600030101010101" pitchFamily="2" charset="-122"/>
                <a:sym typeface="Arial" panose="020B0604020202020204" pitchFamily="34" charset="0"/>
              </a:defRPr>
            </a:lvl3pPr>
            <a:lvl4pPr marL="1600200" indent="-228600" eaLnBrk="0" hangingPunct="0">
              <a:defRPr>
                <a:solidFill>
                  <a:srgbClr val="000000"/>
                </a:solidFill>
                <a:latin typeface="Arial" panose="020B0604020202020204" pitchFamily="34" charset="0"/>
                <a:ea typeface="宋体" panose="02010600030101010101" pitchFamily="2" charset="-122"/>
                <a:sym typeface="Arial" panose="020B0604020202020204" pitchFamily="34" charset="0"/>
              </a:defRPr>
            </a:lvl4pPr>
            <a:lvl5pPr marL="2057400" indent="-228600" eaLnBrk="0" hangingPunct="0">
              <a:defRPr>
                <a:solidFill>
                  <a:srgbClr val="000000"/>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Arial" panose="020B0604020202020204" pitchFamily="34" charset="0"/>
              </a:defRPr>
            </a:lvl9pPr>
          </a:lstStyle>
          <a:p>
            <a:pPr eaLnBrk="1" hangingPunct="1"/>
            <a:fld id="{16CD6B28-9B2A-4F66-BD61-9AA9C197937C}" type="slidenum">
              <a:rPr lang="en-US" altLang="en-US">
                <a:latin typeface="Times New Roman" panose="02020603050405020304" pitchFamily="18" charset="0"/>
              </a:rPr>
              <a:pPr eaLnBrk="1" hangingPunct="1"/>
              <a:t>1</a:t>
            </a:fld>
            <a:endParaRPr lang="en-US" altLang="en-US">
              <a:latin typeface="Times New Roman" panose="02020603050405020304" pitchFamily="18" charset="0"/>
            </a:endParaRPr>
          </a:p>
        </p:txBody>
      </p:sp>
      <p:sp>
        <p:nvSpPr>
          <p:cNvPr id="103427" name="Rectangle 270">
            <a:extLst>
              <a:ext uri="{FF2B5EF4-FFF2-40B4-BE49-F238E27FC236}">
                <a16:creationId xmlns:a16="http://schemas.microsoft.com/office/drawing/2014/main" xmlns="" id="{61847670-7D5C-8D47-DB8F-253646DA55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宋体" panose="02010600030101010101" pitchFamily="2" charset="-122"/>
            </a:endParaRPr>
          </a:p>
        </p:txBody>
      </p:sp>
      <p:sp>
        <p:nvSpPr>
          <p:cNvPr id="103428" name="Rectangle 272">
            <a:extLst>
              <a:ext uri="{FF2B5EF4-FFF2-40B4-BE49-F238E27FC236}">
                <a16:creationId xmlns:a16="http://schemas.microsoft.com/office/drawing/2014/main" xmlns="" id="{3AFF4766-5AF0-0AC9-0EDA-253082C2D0BC}"/>
              </a:ext>
            </a:extLst>
          </p:cNvPr>
          <p:cNvSpPr>
            <a:spLocks noGrp="1" noRot="1" noChangeAspect="1" noChangeArrowheads="1" noTextEdit="1"/>
          </p:cNvSpPr>
          <p:nvPr>
            <p:ph type="sldImg"/>
          </p:nvPr>
        </p:nvSpPr>
        <p:spPr>
          <a:xfrm>
            <a:off x="241300" y="692150"/>
            <a:ext cx="6375400" cy="3416300"/>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04C2C8-1715-4DC7-AC0D-20AE0C9D1E5E}" type="slidenum">
              <a:rPr lang="en-US" smtClean="0"/>
              <a:t>5</a:t>
            </a:fld>
            <a:endParaRPr lang="en-US"/>
          </a:p>
        </p:txBody>
      </p:sp>
    </p:spTree>
    <p:extLst>
      <p:ext uri="{BB962C8B-B14F-4D97-AF65-F5344CB8AC3E}">
        <p14:creationId xmlns:p14="http://schemas.microsoft.com/office/powerpoint/2010/main" val="4187128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04C2C8-1715-4DC7-AC0D-20AE0C9D1E5E}" type="slidenum">
              <a:rPr lang="en-US" smtClean="0"/>
              <a:t>9</a:t>
            </a:fld>
            <a:endParaRPr lang="en-US"/>
          </a:p>
        </p:txBody>
      </p:sp>
    </p:spTree>
    <p:extLst>
      <p:ext uri="{BB962C8B-B14F-4D97-AF65-F5344CB8AC3E}">
        <p14:creationId xmlns:p14="http://schemas.microsoft.com/office/powerpoint/2010/main" val="1666494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F492D3-6DDF-4DA0-B84F-6C2A33A20EAB}" type="slidenum">
              <a:rPr lang="en-US" smtClean="0"/>
              <a:t>11</a:t>
            </a:fld>
            <a:endParaRPr lang="en-US"/>
          </a:p>
        </p:txBody>
      </p:sp>
    </p:spTree>
    <p:extLst>
      <p:ext uri="{BB962C8B-B14F-4D97-AF65-F5344CB8AC3E}">
        <p14:creationId xmlns:p14="http://schemas.microsoft.com/office/powerpoint/2010/main" val="318029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F492D3-6DDF-4DA0-B84F-6C2A33A20EAB}" type="slidenum">
              <a:rPr lang="en-US" smtClean="0"/>
              <a:t>12</a:t>
            </a:fld>
            <a:endParaRPr lang="en-US"/>
          </a:p>
        </p:txBody>
      </p:sp>
    </p:spTree>
    <p:extLst>
      <p:ext uri="{BB962C8B-B14F-4D97-AF65-F5344CB8AC3E}">
        <p14:creationId xmlns:p14="http://schemas.microsoft.com/office/powerpoint/2010/main" val="3520926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F492D3-6DDF-4DA0-B84F-6C2A33A20EAB}" type="slidenum">
              <a:rPr lang="en-US" smtClean="0"/>
              <a:t>15</a:t>
            </a:fld>
            <a:endParaRPr lang="en-US"/>
          </a:p>
        </p:txBody>
      </p:sp>
    </p:spTree>
    <p:extLst>
      <p:ext uri="{BB962C8B-B14F-4D97-AF65-F5344CB8AC3E}">
        <p14:creationId xmlns:p14="http://schemas.microsoft.com/office/powerpoint/2010/main" val="955350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C773-0F03-4AE0-A5DA-3507A74CDBDD}" type="slidenum">
              <a:rPr lang="en-US" smtClean="0"/>
              <a:t>19</a:t>
            </a:fld>
            <a:endParaRPr lang="en-US"/>
          </a:p>
        </p:txBody>
      </p:sp>
    </p:spTree>
    <p:extLst>
      <p:ext uri="{BB962C8B-B14F-4D97-AF65-F5344CB8AC3E}">
        <p14:creationId xmlns:p14="http://schemas.microsoft.com/office/powerpoint/2010/main" val="153973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C773-0F03-4AE0-A5DA-3507A74CDBDD}" type="slidenum">
              <a:rPr lang="en-US" smtClean="0"/>
              <a:t>20</a:t>
            </a:fld>
            <a:endParaRPr lang="en-US"/>
          </a:p>
        </p:txBody>
      </p:sp>
    </p:spTree>
    <p:extLst>
      <p:ext uri="{BB962C8B-B14F-4D97-AF65-F5344CB8AC3E}">
        <p14:creationId xmlns:p14="http://schemas.microsoft.com/office/powerpoint/2010/main" val="2198785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C773-0F03-4AE0-A5DA-3507A74CDBDD}" type="slidenum">
              <a:rPr lang="en-US" smtClean="0"/>
              <a:t>21</a:t>
            </a:fld>
            <a:endParaRPr lang="en-US"/>
          </a:p>
        </p:txBody>
      </p:sp>
    </p:spTree>
    <p:extLst>
      <p:ext uri="{BB962C8B-B14F-4D97-AF65-F5344CB8AC3E}">
        <p14:creationId xmlns:p14="http://schemas.microsoft.com/office/powerpoint/2010/main" val="4087712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C773-0F03-4AE0-A5DA-3507A74CDBDD}" type="slidenum">
              <a:rPr lang="en-US" smtClean="0"/>
              <a:t>22</a:t>
            </a:fld>
            <a:endParaRPr lang="en-US"/>
          </a:p>
        </p:txBody>
      </p:sp>
    </p:spTree>
    <p:extLst>
      <p:ext uri="{BB962C8B-B14F-4D97-AF65-F5344CB8AC3E}">
        <p14:creationId xmlns:p14="http://schemas.microsoft.com/office/powerpoint/2010/main" val="4078721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C773-0F03-4AE0-A5DA-3507A74CDBDD}" type="slidenum">
              <a:rPr lang="en-US" smtClean="0"/>
              <a:t>26</a:t>
            </a:fld>
            <a:endParaRPr lang="en-US"/>
          </a:p>
        </p:txBody>
      </p:sp>
    </p:spTree>
    <p:extLst>
      <p:ext uri="{BB962C8B-B14F-4D97-AF65-F5344CB8AC3E}">
        <p14:creationId xmlns:p14="http://schemas.microsoft.com/office/powerpoint/2010/main" val="4041754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C773-0F03-4AE0-A5DA-3507A74CDBDD}" type="slidenum">
              <a:rPr lang="en-US" smtClean="0"/>
              <a:t>29</a:t>
            </a:fld>
            <a:endParaRPr lang="en-US"/>
          </a:p>
        </p:txBody>
      </p:sp>
    </p:spTree>
    <p:extLst>
      <p:ext uri="{BB962C8B-B14F-4D97-AF65-F5344CB8AC3E}">
        <p14:creationId xmlns:p14="http://schemas.microsoft.com/office/powerpoint/2010/main" val="3614674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C773-0F03-4AE0-A5DA-3507A74CDBDD}" type="slidenum">
              <a:rPr lang="en-US" smtClean="0"/>
              <a:t>30</a:t>
            </a:fld>
            <a:endParaRPr lang="en-US"/>
          </a:p>
        </p:txBody>
      </p:sp>
    </p:spTree>
    <p:extLst>
      <p:ext uri="{BB962C8B-B14F-4D97-AF65-F5344CB8AC3E}">
        <p14:creationId xmlns:p14="http://schemas.microsoft.com/office/powerpoint/2010/main" val="36231716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C773-0F03-4AE0-A5DA-3507A74CDBDD}" type="slidenum">
              <a:rPr lang="en-US" smtClean="0"/>
              <a:t>33</a:t>
            </a:fld>
            <a:endParaRPr lang="en-US"/>
          </a:p>
        </p:txBody>
      </p:sp>
    </p:spTree>
    <p:extLst>
      <p:ext uri="{BB962C8B-B14F-4D97-AF65-F5344CB8AC3E}">
        <p14:creationId xmlns:p14="http://schemas.microsoft.com/office/powerpoint/2010/main" val="3250031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46760" y="1371600"/>
            <a:ext cx="10992307"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46760" y="3228536"/>
            <a:ext cx="10996574"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pPr/>
              <a:t>17-Oct-25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17-Oct-25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42493" y="1316736"/>
            <a:ext cx="1088136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42493" y="2704664"/>
            <a:ext cx="1088136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17-Oct-25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0080" y="704088"/>
            <a:ext cx="11521440" cy="1143000"/>
          </a:xfrm>
        </p:spPr>
        <p:txBody>
          <a:bodyPr/>
          <a:lstStyle/>
          <a:p>
            <a:r>
              <a:rPr kumimoji="0" lang="en-US"/>
              <a:t>Click to edit Master title style</a:t>
            </a:r>
          </a:p>
        </p:txBody>
      </p:sp>
      <p:sp>
        <p:nvSpPr>
          <p:cNvPr id="3" name="Content Placeholder 2"/>
          <p:cNvSpPr>
            <a:spLocks noGrp="1"/>
          </p:cNvSpPr>
          <p:nvPr>
            <p:ph sz="half" idx="1"/>
          </p:nvPr>
        </p:nvSpPr>
        <p:spPr>
          <a:xfrm>
            <a:off x="640080" y="1920085"/>
            <a:ext cx="565404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507480" y="1920085"/>
            <a:ext cx="565404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17-Oct-25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704088"/>
            <a:ext cx="1152144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40080" y="1855248"/>
            <a:ext cx="5656263"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503036" y="1859758"/>
            <a:ext cx="565848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40080" y="2514600"/>
            <a:ext cx="565626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503036" y="2514600"/>
            <a:ext cx="565848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17-Oct-25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40080" y="704088"/>
            <a:ext cx="1162812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17-Oct-25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17-Oct-25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60120" y="514352"/>
            <a:ext cx="384048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60120" y="1676400"/>
            <a:ext cx="384048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5005070" y="1676400"/>
            <a:ext cx="71564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17-Oct-25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432054" y="1108077"/>
            <a:ext cx="736092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1205788" y="5359769"/>
            <a:ext cx="217627"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53440" y="1176997"/>
            <a:ext cx="3097987"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53440" y="2828785"/>
            <a:ext cx="309372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08080" y="6356351"/>
            <a:ext cx="85344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4880110" y="1199517"/>
            <a:ext cx="6464808"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3335" y="5816600"/>
            <a:ext cx="1282827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6134100" y="6219826"/>
            <a:ext cx="6667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17-Oct-25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914402"/>
            <a:ext cx="288036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40080" y="914402"/>
            <a:ext cx="842772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17-Oct-25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3335" y="-7144"/>
            <a:ext cx="1282827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6134100" y="-7144"/>
            <a:ext cx="6667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40080" y="704088"/>
            <a:ext cx="1152144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40080" y="1935480"/>
            <a:ext cx="1152144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40080" y="6356351"/>
            <a:ext cx="298704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17-Oct-25</a:t>
            </a:fld>
            <a:endParaRPr lang="en-US"/>
          </a:p>
        </p:txBody>
      </p:sp>
      <p:sp>
        <p:nvSpPr>
          <p:cNvPr id="22" name="Footer Placeholder 21"/>
          <p:cNvSpPr>
            <a:spLocks noGrp="1"/>
          </p:cNvSpPr>
          <p:nvPr>
            <p:ph type="ftr" sz="quarter" idx="3"/>
          </p:nvPr>
        </p:nvSpPr>
        <p:spPr>
          <a:xfrm>
            <a:off x="3733800" y="6356351"/>
            <a:ext cx="469392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1094720" y="6356351"/>
            <a:ext cx="10668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26624" y="202408"/>
            <a:ext cx="12852767"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2" name="Rectangle 266">
            <a:extLst>
              <a:ext uri="{FF2B5EF4-FFF2-40B4-BE49-F238E27FC236}">
                <a16:creationId xmlns:a16="http://schemas.microsoft.com/office/drawing/2014/main" xmlns="" id="{350F4F66-40EB-8F26-3B6C-58E75163923B}"/>
              </a:ext>
            </a:extLst>
          </p:cNvPr>
          <p:cNvSpPr>
            <a:spLocks noGrp="1" noChangeArrowheads="1"/>
          </p:cNvSpPr>
          <p:nvPr/>
        </p:nvSpPr>
        <p:spPr>
          <a:xfrm>
            <a:off x="1932735282" y="498963951"/>
            <a:ext cx="2147483647" cy="1088710675"/>
          </a:xfrm>
          <a:prstGeom prst="rect">
            <a:avLst/>
          </a:prstGeom>
        </p:spPr>
        <p:txBody>
          <a:bodyPr lIns="0" rIns="0" bIns="0" anchor="b"/>
          <a:lstStyle/>
          <a:p>
            <a:pPr algn="ctr">
              <a:tabLst>
                <a:tab pos="914400" algn="l"/>
                <a:tab pos="1828800" algn="l"/>
                <a:tab pos="2743200" algn="l"/>
                <a:tab pos="3657600" algn="l"/>
              </a:tabLst>
              <a:defRPr/>
            </a:pPr>
            <a:r>
              <a:rPr lang="zh-CN" altLang="en-US" sz="4000" kern="0" dirty="0">
                <a:solidFill>
                  <a:srgbClr val="E2D700"/>
                </a:solidFill>
                <a:effectLst>
                  <a:outerShdw blurRad="38100" dist="38100" dir="2700000" algn="tl">
                    <a:srgbClr val="C0C0C0"/>
                  </a:outerShdw>
                </a:effectLst>
                <a:latin typeface="Comic Sans MS" pitchFamily="66" charset="0"/>
                <a:ea typeface="+mj-ea"/>
                <a:cs typeface="+mj-cs"/>
                <a:sym typeface="Arial" charset="0"/>
              </a:rPr>
              <a:t>	  </a:t>
            </a:r>
            <a:r>
              <a:rPr lang="zh-CN" altLang="en-US" sz="3600" b="1" kern="0" dirty="0">
                <a:solidFill>
                  <a:srgbClr val="FF0000"/>
                </a:solidFill>
                <a:latin typeface="+mn-lt"/>
                <a:ea typeface="+mj-ea"/>
                <a:cs typeface="+mj-cs"/>
                <a:sym typeface="Arial" charset="0"/>
              </a:rPr>
              <a:t>Electrochemistr</a:t>
            </a:r>
            <a:r>
              <a:rPr lang="en-IN" altLang="zh-CN" sz="4000" b="1" kern="0" dirty="0">
                <a:solidFill>
                  <a:srgbClr val="FF0000"/>
                </a:solidFill>
                <a:latin typeface="+mn-lt"/>
                <a:ea typeface="+mj-ea"/>
                <a:cs typeface="+mj-cs"/>
                <a:sym typeface="Arial" charset="0"/>
              </a:rPr>
              <a:t>y</a:t>
            </a:r>
            <a:endParaRPr lang="zh-CN" altLang="zh-CN" sz="5000" b="1" kern="0" dirty="0">
              <a:solidFill>
                <a:srgbClr val="FF0000"/>
              </a:solidFill>
              <a:latin typeface="+mn-lt"/>
              <a:ea typeface="+mj-ea"/>
              <a:cs typeface="+mj-cs"/>
              <a:sym typeface="Arial" charset="0"/>
            </a:endParaRPr>
          </a:p>
        </p:txBody>
      </p:sp>
      <p:sp>
        <p:nvSpPr>
          <p:cNvPr id="5" name="TextBox 4">
            <a:extLst>
              <a:ext uri="{FF2B5EF4-FFF2-40B4-BE49-F238E27FC236}">
                <a16:creationId xmlns:a16="http://schemas.microsoft.com/office/drawing/2014/main" xmlns="" id="{645FF1EE-13CA-04CA-6426-266D0D1593FF}"/>
              </a:ext>
            </a:extLst>
          </p:cNvPr>
          <p:cNvSpPr txBox="1"/>
          <p:nvPr/>
        </p:nvSpPr>
        <p:spPr>
          <a:xfrm>
            <a:off x="3886201" y="-86618"/>
            <a:ext cx="5029199" cy="1077218"/>
          </a:xfrm>
          <a:prstGeom prst="rect">
            <a:avLst/>
          </a:prstGeom>
          <a:noFill/>
        </p:spPr>
        <p:txBody>
          <a:bodyPr wrap="square">
            <a:spAutoFit/>
          </a:bodyPr>
          <a:lstStyle/>
          <a:p>
            <a:pPr algn="ctr">
              <a:defRPr/>
            </a:pPr>
            <a:r>
              <a:rPr lang="en-IN" sz="3200" b="1" dirty="0">
                <a:solidFill>
                  <a:srgbClr val="C00000"/>
                </a:solidFill>
                <a:latin typeface="Times New Roman" pitchFamily="18" charset="0"/>
                <a:cs typeface="Times New Roman" pitchFamily="18" charset="0"/>
                <a:sym typeface="Arial" charset="0"/>
              </a:rPr>
              <a:t>Unit-III</a:t>
            </a:r>
          </a:p>
          <a:p>
            <a:pPr algn="ctr">
              <a:defRPr/>
            </a:pPr>
            <a:r>
              <a:rPr lang="en-IN" sz="3200" b="1" dirty="0">
                <a:solidFill>
                  <a:srgbClr val="C00000"/>
                </a:solidFill>
                <a:latin typeface="Times New Roman" pitchFamily="18" charset="0"/>
                <a:cs typeface="Times New Roman" pitchFamily="18" charset="0"/>
                <a:sym typeface="Arial" charset="0"/>
              </a:rPr>
              <a:t>Energy sources</a:t>
            </a:r>
          </a:p>
        </p:txBody>
      </p:sp>
      <p:pic>
        <p:nvPicPr>
          <p:cNvPr id="86020" name="Picture 4" descr="Powering Progress: The Need for Skilled Experts in Battery Technology |  ImpactMaker"/>
          <p:cNvPicPr>
            <a:picLocks noChangeAspect="1" noChangeArrowheads="1"/>
          </p:cNvPicPr>
          <p:nvPr/>
        </p:nvPicPr>
        <p:blipFill>
          <a:blip r:embed="rId3"/>
          <a:srcRect/>
          <a:stretch>
            <a:fillRect/>
          </a:stretch>
        </p:blipFill>
        <p:spPr bwMode="auto">
          <a:xfrm>
            <a:off x="304800" y="990600"/>
            <a:ext cx="12115800" cy="5619751"/>
          </a:xfrm>
          <a:prstGeom prst="rect">
            <a:avLst/>
          </a:prstGeom>
          <a:noFill/>
        </p:spPr>
      </p:pic>
    </p:spTree>
    <p:extLst>
      <p:ext uri="{BB962C8B-B14F-4D97-AF65-F5344CB8AC3E}">
        <p14:creationId xmlns:p14="http://schemas.microsoft.com/office/powerpoint/2010/main" val="28449952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905000"/>
            <a:ext cx="12344400" cy="3785652"/>
          </a:xfrm>
          <a:prstGeom prst="rect">
            <a:avLst/>
          </a:prstGeom>
        </p:spPr>
        <p:txBody>
          <a:bodyPr wrap="square">
            <a:spAutoFit/>
          </a:bodyPr>
          <a:lstStyle/>
          <a:p>
            <a:pPr marL="396875" indent="-396875" algn="just">
              <a:buFont typeface="Wingdings" pitchFamily="2" charset="2"/>
              <a:buChar char="v"/>
            </a:pPr>
            <a:r>
              <a:rPr lang="en-US" sz="2400" dirty="0" smtClean="0">
                <a:latin typeface="Times New Roman" pitchFamily="18" charset="0"/>
                <a:cs typeface="Times New Roman" pitchFamily="18" charset="0"/>
              </a:rPr>
              <a:t>Batteries </a:t>
            </a:r>
            <a:r>
              <a:rPr lang="en-US" sz="2400" dirty="0">
                <a:latin typeface="Times New Roman" pitchFamily="18" charset="0"/>
                <a:cs typeface="Times New Roman" pitchFamily="18" charset="0"/>
              </a:rPr>
              <a:t>can power devices anywhere without needing a direct power </a:t>
            </a:r>
            <a:r>
              <a:rPr lang="en-US" sz="2400" dirty="0" smtClean="0">
                <a:latin typeface="Times New Roman" pitchFamily="18" charset="0"/>
                <a:cs typeface="Times New Roman" pitchFamily="18" charset="0"/>
              </a:rPr>
              <a:t>connection.</a:t>
            </a:r>
          </a:p>
          <a:p>
            <a:pPr marL="396875" indent="-396875" algn="just">
              <a:buFont typeface="Wingdings" pitchFamily="2" charset="2"/>
              <a:buChar char="v"/>
            </a:pPr>
            <a:r>
              <a:rPr lang="en-US" sz="2400" dirty="0">
                <a:latin typeface="Times New Roman" pitchFamily="18" charset="0"/>
                <a:cs typeface="Times New Roman" pitchFamily="18" charset="0"/>
              </a:rPr>
              <a:t>S</a:t>
            </a:r>
            <a:r>
              <a:rPr lang="en-US" sz="2400" dirty="0" smtClean="0">
                <a:latin typeface="Times New Roman" pitchFamily="18" charset="0"/>
                <a:cs typeface="Times New Roman" pitchFamily="18" charset="0"/>
              </a:rPr>
              <a:t>tore </a:t>
            </a:r>
            <a:r>
              <a:rPr lang="en-US" sz="2400" dirty="0">
                <a:latin typeface="Times New Roman" pitchFamily="18" charset="0"/>
                <a:cs typeface="Times New Roman" pitchFamily="18" charset="0"/>
              </a:rPr>
              <a:t>electrical energy for later use, which is vital for renewable sources like solar and </a:t>
            </a:r>
            <a:r>
              <a:rPr lang="en-US" sz="2400" dirty="0" smtClean="0">
                <a:latin typeface="Times New Roman" pitchFamily="18" charset="0"/>
                <a:cs typeface="Times New Roman" pitchFamily="18" charset="0"/>
              </a:rPr>
              <a:t>wind.</a:t>
            </a:r>
          </a:p>
          <a:p>
            <a:pPr marL="396875" indent="-396875" algn="just">
              <a:buFont typeface="Wingdings" pitchFamily="2" charset="2"/>
              <a:buChar char="v"/>
            </a:pPr>
            <a:r>
              <a:rPr lang="en-US" sz="2400" dirty="0" smtClean="0">
                <a:latin typeface="Times New Roman" pitchFamily="18" charset="0"/>
                <a:cs typeface="Times New Roman" pitchFamily="18" charset="0"/>
              </a:rPr>
              <a:t>Provide </a:t>
            </a:r>
            <a:r>
              <a:rPr lang="en-US" sz="2400" dirty="0">
                <a:latin typeface="Times New Roman" pitchFamily="18" charset="0"/>
                <a:cs typeface="Times New Roman" pitchFamily="18" charset="0"/>
              </a:rPr>
              <a:t>quick and stable electricity when needed, even during power </a:t>
            </a:r>
            <a:r>
              <a:rPr lang="en-US" sz="2400" dirty="0" smtClean="0">
                <a:latin typeface="Times New Roman" pitchFamily="18" charset="0"/>
                <a:cs typeface="Times New Roman" pitchFamily="18" charset="0"/>
              </a:rPr>
              <a:t>failures.</a:t>
            </a:r>
          </a:p>
          <a:p>
            <a:pPr marL="396875" indent="-396875" algn="just">
              <a:buFont typeface="Wingdings" pitchFamily="2" charset="2"/>
              <a:buChar char="v"/>
            </a:pPr>
            <a:r>
              <a:rPr lang="en-US" sz="2400" dirty="0" smtClean="0">
                <a:latin typeface="Times New Roman" pitchFamily="18" charset="0"/>
                <a:cs typeface="Times New Roman" pitchFamily="18" charset="0"/>
              </a:rPr>
              <a:t>Most </a:t>
            </a:r>
            <a:r>
              <a:rPr lang="en-US" sz="2400" dirty="0">
                <a:latin typeface="Times New Roman" pitchFamily="18" charset="0"/>
                <a:cs typeface="Times New Roman" pitchFamily="18" charset="0"/>
              </a:rPr>
              <a:t>modern batteries require little or no </a:t>
            </a:r>
            <a:r>
              <a:rPr lang="en-US" sz="2400" dirty="0" smtClean="0">
                <a:latin typeface="Times New Roman" pitchFamily="18" charset="0"/>
                <a:cs typeface="Times New Roman" pitchFamily="18" charset="0"/>
              </a:rPr>
              <a:t>maintenance.</a:t>
            </a:r>
          </a:p>
          <a:p>
            <a:pPr marL="396875" indent="-396875" algn="just">
              <a:buFont typeface="Wingdings" pitchFamily="2" charset="2"/>
              <a:buChar char="v"/>
            </a:pPr>
            <a:r>
              <a:rPr lang="en-US" sz="2400" dirty="0" smtClean="0">
                <a:latin typeface="Times New Roman" pitchFamily="18" charset="0"/>
                <a:cs typeface="Times New Roman" pitchFamily="18" charset="0"/>
              </a:rPr>
              <a:t>Rechargeable </a:t>
            </a:r>
            <a:r>
              <a:rPr lang="en-US" sz="2400" dirty="0">
                <a:latin typeface="Times New Roman" pitchFamily="18" charset="0"/>
                <a:cs typeface="Times New Roman" pitchFamily="18" charset="0"/>
              </a:rPr>
              <a:t>batteries reduce waste and pollution compared to disposable </a:t>
            </a:r>
            <a:r>
              <a:rPr lang="en-US" sz="2400" dirty="0" smtClean="0">
                <a:latin typeface="Times New Roman" pitchFamily="18" charset="0"/>
                <a:cs typeface="Times New Roman" pitchFamily="18" charset="0"/>
              </a:rPr>
              <a:t>ones.</a:t>
            </a:r>
          </a:p>
          <a:p>
            <a:pPr marL="396875" indent="-396875" algn="just">
              <a:buFont typeface="Wingdings" pitchFamily="2" charset="2"/>
              <a:buChar char="v"/>
            </a:pPr>
            <a:r>
              <a:rPr lang="en-US" sz="2400" dirty="0" smtClean="0">
                <a:latin typeface="Times New Roman" pitchFamily="18" charset="0"/>
                <a:cs typeface="Times New Roman" pitchFamily="18" charset="0"/>
              </a:rPr>
              <a:t>Unlike </a:t>
            </a:r>
            <a:r>
              <a:rPr lang="en-US" sz="2400" dirty="0">
                <a:latin typeface="Times New Roman" pitchFamily="18" charset="0"/>
                <a:cs typeface="Times New Roman" pitchFamily="18" charset="0"/>
              </a:rPr>
              <a:t>generators, batteries work quietly without noise or </a:t>
            </a:r>
            <a:r>
              <a:rPr lang="en-US" sz="2400" dirty="0" smtClean="0">
                <a:latin typeface="Times New Roman" pitchFamily="18" charset="0"/>
                <a:cs typeface="Times New Roman" pitchFamily="18" charset="0"/>
              </a:rPr>
              <a:t>fumes.</a:t>
            </a:r>
          </a:p>
          <a:p>
            <a:pPr marL="396875" indent="-396875" algn="just">
              <a:buFont typeface="Wingdings" pitchFamily="2" charset="2"/>
              <a:buChar char="v"/>
            </a:pPr>
            <a:r>
              <a:rPr lang="en-US" sz="2400" dirty="0" smtClean="0">
                <a:latin typeface="Times New Roman" pitchFamily="18" charset="0"/>
                <a:cs typeface="Times New Roman" pitchFamily="18" charset="0"/>
              </a:rPr>
              <a:t>Used </a:t>
            </a:r>
            <a:r>
              <a:rPr lang="en-US" sz="2400" dirty="0">
                <a:latin typeface="Times New Roman" pitchFamily="18" charset="0"/>
                <a:cs typeface="Times New Roman" pitchFamily="18" charset="0"/>
              </a:rPr>
              <a:t>in mobile phones, laptops, vehicles, medical equipment, and renewable energy </a:t>
            </a:r>
            <a:r>
              <a:rPr lang="en-US" sz="2400" dirty="0" smtClean="0">
                <a:latin typeface="Times New Roman" pitchFamily="18" charset="0"/>
                <a:cs typeface="Times New Roman" pitchFamily="18" charset="0"/>
              </a:rPr>
              <a:t>systems.</a:t>
            </a:r>
          </a:p>
          <a:p>
            <a:pPr marL="396875" indent="-396875" algn="just">
              <a:buFont typeface="Wingdings" pitchFamily="2" charset="2"/>
              <a:buChar char="v"/>
            </a:pPr>
            <a:r>
              <a:rPr lang="en-US" sz="2400" dirty="0" smtClean="0">
                <a:latin typeface="Times New Roman" pitchFamily="18" charset="0"/>
                <a:cs typeface="Times New Roman" pitchFamily="18" charset="0"/>
              </a:rPr>
              <a:t>High </a:t>
            </a:r>
            <a:r>
              <a:rPr lang="en-US" sz="2400" dirty="0">
                <a:latin typeface="Times New Roman" pitchFamily="18" charset="0"/>
                <a:cs typeface="Times New Roman" pitchFamily="18" charset="0"/>
              </a:rPr>
              <a:t>efficiency in converting chemical energy to electrical </a:t>
            </a:r>
            <a:r>
              <a:rPr lang="en-US" sz="2400" dirty="0" smtClean="0">
                <a:latin typeface="Times New Roman" pitchFamily="18" charset="0"/>
                <a:cs typeface="Times New Roman" pitchFamily="18" charset="0"/>
              </a:rPr>
              <a:t>energy.</a:t>
            </a:r>
          </a:p>
          <a:p>
            <a:pPr marL="396875" indent="-396875" algn="just">
              <a:buFont typeface="Wingdings" pitchFamily="2" charset="2"/>
              <a:buChar char="v"/>
            </a:pPr>
            <a:r>
              <a:rPr lang="en-US" sz="2400" dirty="0" smtClean="0">
                <a:latin typeface="Times New Roman" pitchFamily="18" charset="0"/>
                <a:cs typeface="Times New Roman" pitchFamily="18" charset="0"/>
              </a:rPr>
              <a:t>Battery </a:t>
            </a:r>
            <a:r>
              <a:rPr lang="en-US" sz="2400" dirty="0">
                <a:latin typeface="Times New Roman" pitchFamily="18" charset="0"/>
                <a:cs typeface="Times New Roman" pitchFamily="18" charset="0"/>
              </a:rPr>
              <a:t>systems can be scaled from small gadgets to large grid </a:t>
            </a:r>
            <a:r>
              <a:rPr lang="en-US" sz="2400" dirty="0" smtClean="0">
                <a:latin typeface="Times New Roman" pitchFamily="18" charset="0"/>
                <a:cs typeface="Times New Roman" pitchFamily="18" charset="0"/>
              </a:rPr>
              <a:t>storage.</a:t>
            </a:r>
          </a:p>
          <a:p>
            <a:pPr marL="396875" indent="-396875" algn="just">
              <a:buFont typeface="Wingdings" pitchFamily="2" charset="2"/>
              <a:buChar char="v"/>
            </a:pPr>
            <a:r>
              <a:rPr lang="en-US" sz="2400" dirty="0" smtClean="0">
                <a:latin typeface="Times New Roman" pitchFamily="18" charset="0"/>
                <a:cs typeface="Times New Roman" pitchFamily="18" charset="0"/>
              </a:rPr>
              <a:t>Serve </a:t>
            </a:r>
            <a:r>
              <a:rPr lang="en-US" sz="2400" dirty="0">
                <a:latin typeface="Times New Roman" pitchFamily="18" charset="0"/>
                <a:cs typeface="Times New Roman" pitchFamily="18" charset="0"/>
              </a:rPr>
              <a:t>as reliable backup power during outages.</a:t>
            </a:r>
          </a:p>
        </p:txBody>
      </p:sp>
      <p:sp>
        <p:nvSpPr>
          <p:cNvPr id="3" name="Rectangle 2"/>
          <p:cNvSpPr/>
          <p:nvPr/>
        </p:nvSpPr>
        <p:spPr>
          <a:xfrm>
            <a:off x="76200" y="1447800"/>
            <a:ext cx="3313728" cy="461665"/>
          </a:xfrm>
          <a:prstGeom prst="rect">
            <a:avLst/>
          </a:prstGeom>
        </p:spPr>
        <p:txBody>
          <a:bodyPr wrap="none">
            <a:spAutoFit/>
          </a:bodyPr>
          <a:lstStyle/>
          <a:p>
            <a:r>
              <a:rPr lang="en-US" sz="2400" b="1" dirty="0">
                <a:solidFill>
                  <a:srgbClr val="C00000"/>
                </a:solidFill>
                <a:latin typeface="Times New Roman" pitchFamily="18" charset="0"/>
                <a:cs typeface="Times New Roman" pitchFamily="18" charset="0"/>
              </a:rPr>
              <a:t>Advantages of Batteries</a:t>
            </a:r>
          </a:p>
        </p:txBody>
      </p:sp>
      <mc:AlternateContent xmlns:mc="http://schemas.openxmlformats.org/markup-compatibility/2006" xmlns:a14="http://schemas.microsoft.com/office/drawing/2010/main">
        <mc:Choice Requires="a14">
          <p:sp>
            <p:nvSpPr>
              <p:cNvPr id="4" name="Rectangle 3"/>
              <p:cNvSpPr/>
              <p:nvPr/>
            </p:nvSpPr>
            <p:spPr>
              <a:xfrm>
                <a:off x="1295400" y="5791200"/>
                <a:ext cx="8991600" cy="73103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0" smtClean="0">
                          <a:solidFill>
                            <a:srgbClr val="0070C0"/>
                          </a:solidFill>
                          <a:latin typeface="Cambria Math"/>
                        </a:rPr>
                        <m:t>% </m:t>
                      </m:r>
                      <m:r>
                        <a:rPr lang="en-US" sz="2000" b="1" i="0" smtClean="0">
                          <a:solidFill>
                            <a:srgbClr val="0070C0"/>
                          </a:solidFill>
                          <a:latin typeface="Cambria Math"/>
                        </a:rPr>
                        <m:t>𝐨𝐟</m:t>
                      </m:r>
                      <m:r>
                        <a:rPr lang="en-US" sz="2000" b="1" i="0" smtClean="0">
                          <a:solidFill>
                            <a:srgbClr val="0070C0"/>
                          </a:solidFill>
                          <a:latin typeface="Cambria Math"/>
                        </a:rPr>
                        <m:t> </m:t>
                      </m:r>
                      <m:r>
                        <a:rPr lang="en-US" sz="2000" b="1" i="0" smtClean="0">
                          <a:solidFill>
                            <a:srgbClr val="0070C0"/>
                          </a:solidFill>
                          <a:latin typeface="Cambria Math"/>
                        </a:rPr>
                        <m:t>𝐞𝐟𝐟𝐢𝐜𝐢𝐞𝐧𝐜𝐲</m:t>
                      </m:r>
                      <m:r>
                        <a:rPr lang="en-US" sz="2000" b="1" i="0" smtClean="0">
                          <a:solidFill>
                            <a:srgbClr val="0070C0"/>
                          </a:solidFill>
                          <a:latin typeface="Cambria Math"/>
                        </a:rPr>
                        <m:t> </m:t>
                      </m:r>
                      <m:r>
                        <a:rPr lang="en-US" sz="2000" b="1" i="0" smtClean="0">
                          <a:solidFill>
                            <a:srgbClr val="0070C0"/>
                          </a:solidFill>
                          <a:latin typeface="Cambria Math"/>
                        </a:rPr>
                        <m:t>𝐨𝐟</m:t>
                      </m:r>
                      <m:r>
                        <a:rPr lang="en-US" sz="2000" b="1" i="0" smtClean="0">
                          <a:solidFill>
                            <a:srgbClr val="0070C0"/>
                          </a:solidFill>
                          <a:latin typeface="Cambria Math"/>
                        </a:rPr>
                        <m:t> </m:t>
                      </m:r>
                      <m:r>
                        <a:rPr lang="en-US" sz="2000" b="1" i="0" smtClean="0">
                          <a:solidFill>
                            <a:srgbClr val="0070C0"/>
                          </a:solidFill>
                          <a:latin typeface="Cambria Math"/>
                        </a:rPr>
                        <m:t>𝐛𝐚𝐭𝐭𝐞𝐫𝐲</m:t>
                      </m:r>
                      <m:r>
                        <a:rPr lang="en-US" sz="2000" b="1" i="0" smtClean="0">
                          <a:solidFill>
                            <a:srgbClr val="0070C0"/>
                          </a:solidFill>
                          <a:latin typeface="Cambria Math"/>
                        </a:rPr>
                        <m:t>=</m:t>
                      </m:r>
                      <m:f>
                        <m:fPr>
                          <m:ctrlPr>
                            <a:rPr lang="en-US" sz="2000" b="1" i="1">
                              <a:solidFill>
                                <a:srgbClr val="0070C0"/>
                              </a:solidFill>
                              <a:latin typeface="Cambria Math"/>
                            </a:rPr>
                          </m:ctrlPr>
                        </m:fPr>
                        <m:num>
                          <m:r>
                            <a:rPr lang="en-US" sz="2000" b="1" i="0">
                              <a:solidFill>
                                <a:srgbClr val="0070C0"/>
                              </a:solidFill>
                              <a:latin typeface="Cambria Math"/>
                            </a:rPr>
                            <m:t>𝐞𝐧𝐞𝐫𝐠𝐲</m:t>
                          </m:r>
                          <m:r>
                            <a:rPr lang="en-US" sz="2000" b="1" i="0">
                              <a:solidFill>
                                <a:srgbClr val="0070C0"/>
                              </a:solidFill>
                              <a:latin typeface="Cambria Math"/>
                            </a:rPr>
                            <m:t> </m:t>
                          </m:r>
                          <m:r>
                            <a:rPr lang="en-US" sz="2000" b="1" i="0">
                              <a:solidFill>
                                <a:srgbClr val="0070C0"/>
                              </a:solidFill>
                              <a:latin typeface="Cambria Math"/>
                            </a:rPr>
                            <m:t>𝐫𝐞𝐥𝐞𝐚𝐬𝐞𝐝</m:t>
                          </m:r>
                          <m:r>
                            <a:rPr lang="en-US" sz="2000" b="1" i="0">
                              <a:solidFill>
                                <a:srgbClr val="0070C0"/>
                              </a:solidFill>
                              <a:latin typeface="Cambria Math"/>
                            </a:rPr>
                            <m:t> </m:t>
                          </m:r>
                          <m:r>
                            <a:rPr lang="en-US" sz="2000" b="1" i="0">
                              <a:solidFill>
                                <a:srgbClr val="0070C0"/>
                              </a:solidFill>
                              <a:latin typeface="Cambria Math"/>
                            </a:rPr>
                            <m:t>𝐨𝐧</m:t>
                          </m:r>
                          <m:r>
                            <a:rPr lang="en-US" sz="2000" b="1" i="0">
                              <a:solidFill>
                                <a:srgbClr val="0070C0"/>
                              </a:solidFill>
                              <a:latin typeface="Cambria Math"/>
                            </a:rPr>
                            <m:t> </m:t>
                          </m:r>
                          <m:r>
                            <a:rPr lang="en-US" sz="2000" b="1" i="0">
                              <a:solidFill>
                                <a:srgbClr val="0070C0"/>
                              </a:solidFill>
                              <a:latin typeface="Cambria Math"/>
                            </a:rPr>
                            <m:t>𝐝𝐢𝐬𝐜𝐡𝐚𝐫𝐠𝐞</m:t>
                          </m:r>
                        </m:num>
                        <m:den>
                          <m:r>
                            <a:rPr lang="en-US" sz="2000" b="1" i="0">
                              <a:solidFill>
                                <a:srgbClr val="0070C0"/>
                              </a:solidFill>
                              <a:latin typeface="Cambria Math"/>
                            </a:rPr>
                            <m:t>𝐞𝐧𝐞𝐫𝐠𝐲</m:t>
                          </m:r>
                          <m:r>
                            <a:rPr lang="en-US" sz="2000" b="1" i="0">
                              <a:solidFill>
                                <a:srgbClr val="0070C0"/>
                              </a:solidFill>
                              <a:latin typeface="Cambria Math"/>
                            </a:rPr>
                            <m:t> </m:t>
                          </m:r>
                          <m:r>
                            <a:rPr lang="en-US" sz="2000" b="1" i="0">
                              <a:solidFill>
                                <a:srgbClr val="0070C0"/>
                              </a:solidFill>
                              <a:latin typeface="Cambria Math"/>
                            </a:rPr>
                            <m:t>𝐫𝐞𝐪𝐮𝐢𝐫𝐞𝐝</m:t>
                          </m:r>
                          <m:r>
                            <a:rPr lang="en-US" sz="2000" b="1" i="0">
                              <a:solidFill>
                                <a:srgbClr val="0070C0"/>
                              </a:solidFill>
                              <a:latin typeface="Cambria Math"/>
                            </a:rPr>
                            <m:t> </m:t>
                          </m:r>
                          <m:r>
                            <a:rPr lang="en-US" sz="2000" b="1" i="0">
                              <a:solidFill>
                                <a:srgbClr val="0070C0"/>
                              </a:solidFill>
                              <a:latin typeface="Cambria Math"/>
                            </a:rPr>
                            <m:t>𝐟𝐨𝐫</m:t>
                          </m:r>
                          <m:r>
                            <a:rPr lang="en-US" sz="2000" b="1" i="0">
                              <a:solidFill>
                                <a:srgbClr val="0070C0"/>
                              </a:solidFill>
                              <a:latin typeface="Cambria Math"/>
                            </a:rPr>
                            <m:t> </m:t>
                          </m:r>
                          <m:r>
                            <a:rPr lang="en-US" sz="2000" b="1" i="0">
                              <a:solidFill>
                                <a:srgbClr val="0070C0"/>
                              </a:solidFill>
                              <a:latin typeface="Cambria Math"/>
                            </a:rPr>
                            <m:t>𝐜𝐡𝐚𝐫𝐠𝐞</m:t>
                          </m:r>
                        </m:den>
                      </m:f>
                      <m:r>
                        <a:rPr lang="en-US" sz="2000" b="1" i="0">
                          <a:solidFill>
                            <a:srgbClr val="0070C0"/>
                          </a:solidFill>
                          <a:latin typeface="Cambria Math"/>
                        </a:rPr>
                        <m:t>×</m:t>
                      </m:r>
                      <m:r>
                        <a:rPr lang="en-US" sz="2000" b="1" i="0">
                          <a:solidFill>
                            <a:srgbClr val="0070C0"/>
                          </a:solidFill>
                          <a:latin typeface="Cambria Math"/>
                        </a:rPr>
                        <m:t>𝟏𝟎𝟎</m:t>
                      </m:r>
                    </m:oMath>
                  </m:oMathPara>
                </a14:m>
                <a:endParaRPr lang="en-US" sz="2000" b="1" dirty="0">
                  <a:solidFill>
                    <a:srgbClr val="0070C0"/>
                  </a:solidFill>
                  <a:latin typeface="Times New Roman" pitchFamily="18" charset="0"/>
                  <a:cs typeface="Times New Roman"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295400" y="5791200"/>
                <a:ext cx="8991600" cy="731034"/>
              </a:xfrm>
              <a:prstGeom prst="rect">
                <a:avLst/>
              </a:prstGeom>
              <a:blipFill rotWithShape="1">
                <a:blip r:embed="rId2"/>
                <a:stretch>
                  <a:fillRect/>
                </a:stretch>
              </a:blipFill>
            </p:spPr>
            <p:txBody>
              <a:bodyPr/>
              <a:lstStyle/>
              <a:p>
                <a:r>
                  <a:rPr lang="en-US">
                    <a:noFill/>
                  </a:rPr>
                  <a:t> </a:t>
                </a:r>
              </a:p>
            </p:txBody>
          </p:sp>
        </mc:Fallback>
      </mc:AlternateContent>
      <p:sp>
        <p:nvSpPr>
          <p:cNvPr id="5" name="Rectangle 4"/>
          <p:cNvSpPr/>
          <p:nvPr/>
        </p:nvSpPr>
        <p:spPr>
          <a:xfrm>
            <a:off x="304800" y="685800"/>
            <a:ext cx="12192000" cy="830997"/>
          </a:xfrm>
          <a:prstGeom prst="rect">
            <a:avLst/>
          </a:prstGeom>
        </p:spPr>
        <p:txBody>
          <a:bodyPr wrap="square">
            <a:spAutoFit/>
          </a:bodyPr>
          <a:lstStyle/>
          <a:p>
            <a:pPr algn="just">
              <a:buClr>
                <a:srgbClr val="7030A0"/>
              </a:buClr>
            </a:pPr>
            <a:r>
              <a:rPr lang="en-US" sz="2400" dirty="0">
                <a:latin typeface="Times New Roman" pitchFamily="18" charset="0"/>
                <a:cs typeface="Times New Roman" pitchFamily="18" charset="0"/>
              </a:rPr>
              <a:t>The battery is a device consisting of one or more electrochemical cells connected with one another in a series that converts stored chemical energy into electrical energy</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6" name="Rectangle 5"/>
          <p:cNvSpPr/>
          <p:nvPr/>
        </p:nvSpPr>
        <p:spPr>
          <a:xfrm>
            <a:off x="5521392" y="76200"/>
            <a:ext cx="1758816" cy="584775"/>
          </a:xfrm>
          <a:prstGeom prst="rect">
            <a:avLst/>
          </a:prstGeom>
        </p:spPr>
        <p:txBody>
          <a:bodyPr wrap="none">
            <a:spAutoFit/>
          </a:bodyPr>
          <a:lstStyle/>
          <a:p>
            <a:pPr algn="ctr"/>
            <a:r>
              <a:rPr lang="en-US" sz="3200" b="1" dirty="0" smtClean="0">
                <a:solidFill>
                  <a:srgbClr val="C00000"/>
                </a:solidFill>
                <a:latin typeface="Times New Roman" pitchFamily="18" charset="0"/>
                <a:cs typeface="Times New Roman" pitchFamily="18" charset="0"/>
              </a:rPr>
              <a:t>Batteries</a:t>
            </a:r>
            <a:endParaRPr lang="en-US" sz="32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5747653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457200"/>
            <a:ext cx="7391400" cy="6370975"/>
          </a:xfrm>
          <a:prstGeom prst="rect">
            <a:avLst/>
          </a:prstGeom>
        </p:spPr>
        <p:txBody>
          <a:bodyPr wrap="square">
            <a:spAutoFit/>
          </a:bodyPr>
          <a:lstStyle/>
          <a:p>
            <a:pPr marL="288925" indent="-288925" algn="just"/>
            <a:r>
              <a:rPr lang="en-US" sz="2400" b="1" dirty="0" smtClean="0">
                <a:solidFill>
                  <a:srgbClr val="002060"/>
                </a:solidFill>
                <a:latin typeface="Times New Roman" pitchFamily="18" charset="0"/>
                <a:cs typeface="Times New Roman" pitchFamily="18" charset="0"/>
              </a:rPr>
              <a:t>I. Primary Battery / Cell: </a:t>
            </a:r>
            <a:r>
              <a:rPr lang="en-US" sz="2400" dirty="0">
                <a:latin typeface="Times New Roman" panose="02020603050405020304" pitchFamily="18" charset="0"/>
                <a:cs typeface="Times New Roman" pitchFamily="18" charset="0"/>
              </a:rPr>
              <a:t>The battery in which the cell reaction is not reversible is </a:t>
            </a:r>
            <a:r>
              <a:rPr lang="en-US" sz="2400" dirty="0" smtClean="0">
                <a:latin typeface="Times New Roman" panose="02020603050405020304" pitchFamily="18" charset="0"/>
                <a:cs typeface="Times New Roman" pitchFamily="18" charset="0"/>
              </a:rPr>
              <a:t>called Primary Cell.  </a:t>
            </a:r>
            <a:r>
              <a:rPr lang="en-US" sz="2400" dirty="0">
                <a:latin typeface="Times New Roman" panose="02020603050405020304" pitchFamily="18" charset="0"/>
                <a:cs typeface="Times New Roman" pitchFamily="18" charset="0"/>
              </a:rPr>
              <a:t>Ex: </a:t>
            </a:r>
            <a:r>
              <a:rPr lang="en-US" sz="2400" dirty="0" smtClean="0">
                <a:latin typeface="Times New Roman" panose="02020603050405020304" pitchFamily="18" charset="0"/>
                <a:cs typeface="Times New Roman" pitchFamily="18" charset="0"/>
              </a:rPr>
              <a:t>Zinc-Air Battery. </a:t>
            </a:r>
          </a:p>
          <a:p>
            <a:pPr marL="288925" algn="just"/>
            <a:r>
              <a:rPr lang="en-US" sz="2400" b="1" dirty="0" smtClean="0">
                <a:latin typeface="Times New Roman" panose="02020603050405020304" pitchFamily="18" charset="0"/>
                <a:cs typeface="Times New Roman" panose="02020603050405020304" pitchFamily="18" charset="0"/>
              </a:rPr>
              <a:t>Reserve </a:t>
            </a:r>
            <a:r>
              <a:rPr lang="en-US" sz="2400" b="1" dirty="0">
                <a:latin typeface="Times New Roman" panose="02020603050405020304" pitchFamily="18" charset="0"/>
                <a:cs typeface="Times New Roman" panose="02020603050405020304" pitchFamily="18" charset="0"/>
              </a:rPr>
              <a:t>battery: </a:t>
            </a:r>
            <a:r>
              <a:rPr lang="en-US" sz="2400" dirty="0">
                <a:latin typeface="Times New Roman" panose="02020603050405020304" pitchFamily="18" charset="0"/>
                <a:cs typeface="Times New Roman" panose="02020603050405020304" pitchFamily="18" charset="0"/>
              </a:rPr>
              <a:t>It is a type of primary (non-rechargeable) battery that is kept in an inactive state until it is needed, and then activated just before or during use. Ex: L</a:t>
            </a:r>
            <a:r>
              <a:rPr lang="en-US" sz="2400" dirty="0" smtClean="0">
                <a:latin typeface="Times New Roman" panose="02020603050405020304" pitchFamily="18" charset="0"/>
                <a:cs typeface="Times New Roman" panose="02020603050405020304" pitchFamily="18" charset="0"/>
              </a:rPr>
              <a:t>ithium–Iron Disulfide Battery.</a:t>
            </a:r>
          </a:p>
          <a:p>
            <a:pPr marL="288925" algn="just"/>
            <a:endParaRPr lang="en-US" sz="2400" dirty="0" smtClean="0">
              <a:latin typeface="Times New Roman" panose="02020603050405020304" pitchFamily="18" charset="0"/>
              <a:cs typeface="Times New Roman" panose="02020603050405020304" pitchFamily="18" charset="0"/>
            </a:endParaRPr>
          </a:p>
          <a:p>
            <a:pPr marL="288925" indent="-288925" algn="just"/>
            <a:r>
              <a:rPr lang="en-US" sz="2400" b="1" dirty="0" smtClean="0">
                <a:solidFill>
                  <a:srgbClr val="002060"/>
                </a:solidFill>
                <a:latin typeface="Times New Roman" panose="02020603050405020304" pitchFamily="18" charset="0"/>
                <a:cs typeface="Times New Roman" pitchFamily="18" charset="0"/>
              </a:rPr>
              <a:t>II. Secondary Battery / Cell</a:t>
            </a:r>
            <a:r>
              <a:rPr lang="en-US" sz="2400" b="1" dirty="0">
                <a:solidFill>
                  <a:srgbClr val="002060"/>
                </a:solidFill>
                <a:latin typeface="Times New Roman" panose="02020603050405020304" pitchFamily="18" charset="0"/>
                <a:cs typeface="Times New Roman" pitchFamily="18" charset="0"/>
              </a:rPr>
              <a:t>): </a:t>
            </a:r>
            <a:r>
              <a:rPr lang="en-US" sz="2400" dirty="0">
                <a:latin typeface="Times New Roman" panose="02020603050405020304" pitchFamily="18" charset="0"/>
                <a:cs typeface="Times New Roman" pitchFamily="18" charset="0"/>
              </a:rPr>
              <a:t>The battery in which the cell reactions are reversible is </a:t>
            </a:r>
            <a:r>
              <a:rPr lang="en-US" sz="2400" dirty="0" smtClean="0">
                <a:latin typeface="Times New Roman" panose="02020603050405020304" pitchFamily="18" charset="0"/>
                <a:cs typeface="Times New Roman" pitchFamily="18" charset="0"/>
              </a:rPr>
              <a:t>called Secondary </a:t>
            </a:r>
            <a:r>
              <a:rPr lang="en-US" sz="2400" dirty="0">
                <a:latin typeface="Times New Roman" panose="02020603050405020304" pitchFamily="18" charset="0"/>
                <a:cs typeface="Times New Roman" pitchFamily="18" charset="0"/>
              </a:rPr>
              <a:t>C</a:t>
            </a:r>
            <a:r>
              <a:rPr lang="en-US" sz="2400" dirty="0" smtClean="0">
                <a:latin typeface="Times New Roman" panose="02020603050405020304" pitchFamily="18" charset="0"/>
                <a:cs typeface="Times New Roman" pitchFamily="18" charset="0"/>
              </a:rPr>
              <a:t>ell</a:t>
            </a:r>
            <a:r>
              <a:rPr lang="en-US" sz="2400" dirty="0">
                <a:latin typeface="Times New Roman" panose="02020603050405020304" pitchFamily="18" charset="0"/>
                <a:cs typeface="Times New Roman" pitchFamily="18" charset="0"/>
              </a:rPr>
              <a:t>.  </a:t>
            </a:r>
            <a:r>
              <a:rPr lang="en-US" sz="2400" dirty="0" smtClean="0">
                <a:latin typeface="Times New Roman" panose="02020603050405020304" pitchFamily="18" charset="0"/>
                <a:cs typeface="Times New Roman" pitchFamily="18" charset="0"/>
              </a:rPr>
              <a:t>Ex: Lithium </a:t>
            </a:r>
            <a:r>
              <a:rPr lang="en-US" sz="2400" dirty="0">
                <a:latin typeface="Times New Roman" panose="02020603050405020304" pitchFamily="18" charset="0"/>
                <a:cs typeface="Times New Roman" pitchFamily="18" charset="0"/>
              </a:rPr>
              <a:t>I</a:t>
            </a:r>
            <a:r>
              <a:rPr lang="en-US" sz="2400" dirty="0" smtClean="0">
                <a:latin typeface="Times New Roman" panose="02020603050405020304" pitchFamily="18" charset="0"/>
                <a:cs typeface="Times New Roman" pitchFamily="18" charset="0"/>
              </a:rPr>
              <a:t>on Cell.</a:t>
            </a:r>
          </a:p>
          <a:p>
            <a:pPr marL="288925" indent="-288925" algn="just"/>
            <a:endParaRPr lang="en-US" sz="2400" dirty="0" smtClean="0">
              <a:latin typeface="Times New Roman" panose="02020603050405020304" pitchFamily="18" charset="0"/>
              <a:cs typeface="Times New Roman" pitchFamily="18" charset="0"/>
            </a:endParaRPr>
          </a:p>
          <a:p>
            <a:pPr marL="288925" indent="-288925" algn="just"/>
            <a:r>
              <a:rPr lang="en-US" sz="2400" b="1" dirty="0" smtClean="0">
                <a:solidFill>
                  <a:srgbClr val="002060"/>
                </a:solidFill>
                <a:latin typeface="Times New Roman" panose="02020603050405020304" pitchFamily="18" charset="0"/>
                <a:cs typeface="Times New Roman" pitchFamily="18" charset="0"/>
              </a:rPr>
              <a:t>III. Flow or Fuel Battery / Cell: </a:t>
            </a:r>
            <a:r>
              <a:rPr lang="en-US" sz="2400" dirty="0">
                <a:latin typeface="Times New Roman" panose="02020603050405020304" pitchFamily="18" charset="0"/>
                <a:cs typeface="Times New Roman" pitchFamily="18" charset="0"/>
              </a:rPr>
              <a:t>It is an electro chemical cell that converts chemical energy into electrical energy, in which materials (reactants, products, electrolytes) pass through the battery. Ex: Methanol-Oxygen </a:t>
            </a:r>
            <a:r>
              <a:rPr lang="en-US" sz="2400" dirty="0" smtClean="0">
                <a:latin typeface="Times New Roman" panose="02020603050405020304" pitchFamily="18" charset="0"/>
                <a:cs typeface="Times New Roman" pitchFamily="18" charset="0"/>
              </a:rPr>
              <a:t>Fuel </a:t>
            </a:r>
            <a:r>
              <a:rPr lang="en-US" sz="2400" dirty="0">
                <a:latin typeface="Times New Roman" panose="02020603050405020304" pitchFamily="18" charset="0"/>
                <a:cs typeface="Times New Roman" pitchFamily="18" charset="0"/>
              </a:rPr>
              <a:t>C</a:t>
            </a:r>
            <a:r>
              <a:rPr lang="en-US" sz="2400" dirty="0" smtClean="0">
                <a:latin typeface="Times New Roman" panose="02020603050405020304" pitchFamily="18" charset="0"/>
                <a:cs typeface="Times New Roman" pitchFamily="18" charset="0"/>
              </a:rPr>
              <a:t>ell.</a:t>
            </a:r>
            <a:endParaRPr lang="en-US" sz="2400" dirty="0">
              <a:latin typeface="Times New Roman" panose="02020603050405020304" pitchFamily="18" charset="0"/>
              <a:cs typeface="Times New Roman" pitchFamily="18" charset="0"/>
            </a:endParaRPr>
          </a:p>
        </p:txBody>
      </p:sp>
      <p:sp>
        <p:nvSpPr>
          <p:cNvPr id="4" name="TextBox 3"/>
          <p:cNvSpPr txBox="1"/>
          <p:nvPr/>
        </p:nvSpPr>
        <p:spPr>
          <a:xfrm>
            <a:off x="1983977" y="-76200"/>
            <a:ext cx="4112023" cy="523220"/>
          </a:xfrm>
          <a:prstGeom prst="rect">
            <a:avLst/>
          </a:prstGeom>
          <a:noFill/>
        </p:spPr>
        <p:txBody>
          <a:bodyPr wrap="none" rtlCol="0">
            <a:spAutoFit/>
          </a:bodyPr>
          <a:lstStyle/>
          <a:p>
            <a:r>
              <a:rPr lang="en-US" sz="2800" b="1" dirty="0" smtClean="0">
                <a:solidFill>
                  <a:srgbClr val="C00000"/>
                </a:solidFill>
                <a:latin typeface="Times New Roman" pitchFamily="18" charset="0"/>
                <a:cs typeface="Times New Roman" pitchFamily="18" charset="0"/>
              </a:rPr>
              <a:t>Classification of Batteries</a:t>
            </a:r>
            <a:endParaRPr lang="en-US" sz="2800" b="1" dirty="0">
              <a:solidFill>
                <a:srgbClr val="C00000"/>
              </a:solidFill>
              <a:latin typeface="Times New Roman" pitchFamily="18" charset="0"/>
              <a:cs typeface="Times New Roman" pitchFamily="18"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862" t="10193"/>
          <a:stretch/>
        </p:blipFill>
        <p:spPr bwMode="auto">
          <a:xfrm>
            <a:off x="7543800" y="1066800"/>
            <a:ext cx="5143499"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86742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223FAD09-BDFE-5D5B-B4E0-0B36B3EA0687}"/>
              </a:ext>
            </a:extLst>
          </p:cNvPr>
          <p:cNvGraphicFramePr>
            <a:graphicFrameLocks noGrp="1"/>
          </p:cNvGraphicFramePr>
          <p:nvPr/>
        </p:nvGraphicFramePr>
        <p:xfrm>
          <a:off x="462776" y="1132713"/>
          <a:ext cx="11876048" cy="5311136"/>
        </p:xfrm>
        <a:graphic>
          <a:graphicData uri="http://schemas.openxmlformats.org/drawingml/2006/table">
            <a:tbl>
              <a:tblPr firstRow="1" firstCol="1" bandRow="1">
                <a:tableStyleId>{BC89EF96-8CEA-46FF-86C4-4CE0E7609802}</a:tableStyleId>
              </a:tblPr>
              <a:tblGrid>
                <a:gridCol w="3679903">
                  <a:extLst>
                    <a:ext uri="{9D8B030D-6E8A-4147-A177-3AD203B41FA5}">
                      <a16:colId xmlns:a16="http://schemas.microsoft.com/office/drawing/2014/main" xmlns="" val="3012299922"/>
                    </a:ext>
                  </a:extLst>
                </a:gridCol>
                <a:gridCol w="4527395">
                  <a:extLst>
                    <a:ext uri="{9D8B030D-6E8A-4147-A177-3AD203B41FA5}">
                      <a16:colId xmlns:a16="http://schemas.microsoft.com/office/drawing/2014/main" xmlns="" val="4293484680"/>
                    </a:ext>
                  </a:extLst>
                </a:gridCol>
                <a:gridCol w="3668750">
                  <a:extLst>
                    <a:ext uri="{9D8B030D-6E8A-4147-A177-3AD203B41FA5}">
                      <a16:colId xmlns:a16="http://schemas.microsoft.com/office/drawing/2014/main" xmlns="" val="3285655621"/>
                    </a:ext>
                  </a:extLst>
                </a:gridCol>
              </a:tblGrid>
              <a:tr h="175161">
                <a:tc>
                  <a:txBody>
                    <a:bodyPr/>
                    <a:lstStyle/>
                    <a:p>
                      <a:pPr marL="0" marR="0" algn="ctr">
                        <a:lnSpc>
                          <a:spcPct val="150000"/>
                        </a:lnSpc>
                        <a:spcBef>
                          <a:spcPts val="0"/>
                        </a:spcBef>
                        <a:spcAft>
                          <a:spcPts val="2400"/>
                        </a:spcAft>
                      </a:pPr>
                      <a:r>
                        <a:rPr lang="en-US" sz="2400" b="1" kern="100">
                          <a:solidFill>
                            <a:schemeClr val="bg1"/>
                          </a:solidFill>
                          <a:effectLst/>
                          <a:latin typeface="Times New Roman" panose="02020603050405020304" pitchFamily="18" charset="0"/>
                          <a:cs typeface="Times New Roman" panose="02020603050405020304" pitchFamily="18" charset="0"/>
                        </a:rPr>
                        <a:t>Primary cell</a:t>
                      </a:r>
                      <a:endParaRPr lang="en-US" sz="2400" b="1"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3020" marR="53020" marT="7364" marB="0">
                    <a:solidFill>
                      <a:schemeClr val="accent5">
                        <a:lumMod val="50000"/>
                      </a:schemeClr>
                    </a:solidFill>
                  </a:tcPr>
                </a:tc>
                <a:tc>
                  <a:txBody>
                    <a:bodyPr/>
                    <a:lstStyle/>
                    <a:p>
                      <a:pPr marL="0" marR="0" algn="ctr">
                        <a:lnSpc>
                          <a:spcPct val="150000"/>
                        </a:lnSpc>
                        <a:spcBef>
                          <a:spcPts val="0"/>
                        </a:spcBef>
                        <a:spcAft>
                          <a:spcPts val="2400"/>
                        </a:spcAft>
                      </a:pPr>
                      <a:r>
                        <a:rPr lang="en-US" sz="2400" b="1" kern="100">
                          <a:solidFill>
                            <a:schemeClr val="bg1"/>
                          </a:solidFill>
                          <a:effectLst/>
                          <a:latin typeface="Times New Roman" panose="02020603050405020304" pitchFamily="18" charset="0"/>
                          <a:cs typeface="Times New Roman" panose="02020603050405020304" pitchFamily="18" charset="0"/>
                        </a:rPr>
                        <a:t>Secondary cells</a:t>
                      </a:r>
                      <a:endParaRPr lang="en-US" sz="2400" b="1"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3020" marR="53020" marT="7364" marB="0">
                    <a:solidFill>
                      <a:schemeClr val="accent5">
                        <a:lumMod val="50000"/>
                      </a:schemeClr>
                    </a:solidFill>
                  </a:tcPr>
                </a:tc>
                <a:tc>
                  <a:txBody>
                    <a:bodyPr/>
                    <a:lstStyle/>
                    <a:p>
                      <a:pPr marL="0" marR="0" algn="ctr">
                        <a:lnSpc>
                          <a:spcPct val="150000"/>
                        </a:lnSpc>
                        <a:spcBef>
                          <a:spcPts val="0"/>
                        </a:spcBef>
                        <a:spcAft>
                          <a:spcPts val="2400"/>
                        </a:spcAft>
                      </a:pPr>
                      <a:r>
                        <a:rPr lang="en-US" sz="2400" b="1" kern="100" dirty="0">
                          <a:solidFill>
                            <a:schemeClr val="bg1"/>
                          </a:solidFill>
                          <a:effectLst/>
                          <a:latin typeface="Times New Roman" panose="02020603050405020304" pitchFamily="18" charset="0"/>
                          <a:cs typeface="Times New Roman" panose="02020603050405020304" pitchFamily="18" charset="0"/>
                        </a:rPr>
                        <a:t>Fuel Cell</a:t>
                      </a:r>
                      <a:endParaRPr lang="en-US" sz="24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3020" marR="53020" marT="7364" marB="0">
                    <a:solidFill>
                      <a:schemeClr val="accent5">
                        <a:lumMod val="50000"/>
                      </a:schemeClr>
                    </a:solidFill>
                  </a:tcPr>
                </a:tc>
                <a:extLst>
                  <a:ext uri="{0D108BD9-81ED-4DB2-BD59-A6C34878D82A}">
                    <a16:rowId xmlns:a16="http://schemas.microsoft.com/office/drawing/2014/main" xmlns="" val="2480083251"/>
                  </a:ext>
                </a:extLst>
              </a:tr>
              <a:tr h="4176177">
                <a:tc>
                  <a:txBody>
                    <a:bodyPr/>
                    <a:lstStyle/>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It acts as a simple galvanic cell.</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Cell reaction is not reversible.</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Cannot be recharged.</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Can be used as long as the materials are active in their composition. </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Examples are Leclanche or dry cell and Lithium cells.</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Applications: Radios, torches, transistors, hearing aids.</a:t>
                      </a:r>
                    </a:p>
                    <a:p>
                      <a:pPr marL="0" marR="0" algn="just">
                        <a:lnSpc>
                          <a:spcPct val="107000"/>
                        </a:lnSpc>
                        <a:spcBef>
                          <a:spcPts val="0"/>
                        </a:spcBef>
                        <a:spcAft>
                          <a:spcPts val="800"/>
                        </a:spcAft>
                      </a:pPr>
                      <a:r>
                        <a:rPr lang="en-US" sz="2000" b="0" kern="100" dirty="0">
                          <a:effectLst/>
                          <a:latin typeface="Times New Roman" panose="02020603050405020304" pitchFamily="18" charset="0"/>
                          <a:cs typeface="Times New Roman" panose="02020603050405020304" pitchFamily="18" charset="0"/>
                        </a:rPr>
                        <a:t> </a:t>
                      </a:r>
                      <a:endParaRPr lang="en-US" sz="20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020" marR="53020" marT="7364" marB="0"/>
                </a:tc>
                <a:tc>
                  <a:txBody>
                    <a:bodyPr/>
                    <a:lstStyle/>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It acts as a galvanic cell while discharging and electrolytic cell while charging.</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Cell reaction can be reversed.</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Can be recharged</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Can be used again and again by recharging the cell.</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Examples are Lead storage cell, Lithium ion battery and Nickel cadmium battery.</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Applications: Electronic calculators, electronic flash units &amp; cordless electronic shavers.</a:t>
                      </a:r>
                      <a:endParaRPr lang="en-US" sz="20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020" marR="53020" marT="7364" marB="0"/>
                </a:tc>
                <a:tc>
                  <a:txBody>
                    <a:bodyPr/>
                    <a:lstStyle/>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It acts as a simple galvanic cell.</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Cell reaction is not reversible.</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Do not store energy.</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Energy can be withdrawn indefinitely as long as outside supply of fuel.</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Examples are H</a:t>
                      </a:r>
                      <a:r>
                        <a:rPr lang="en-US" sz="2000" b="0" kern="100" baseline="-25000" dirty="0">
                          <a:effectLst/>
                          <a:latin typeface="Times New Roman" panose="02020603050405020304" pitchFamily="18" charset="0"/>
                          <a:cs typeface="Times New Roman" panose="02020603050405020304" pitchFamily="18" charset="0"/>
                        </a:rPr>
                        <a:t>2</a:t>
                      </a:r>
                      <a:r>
                        <a:rPr lang="en-US" sz="2000" b="0" kern="100" dirty="0">
                          <a:effectLst/>
                          <a:latin typeface="Times New Roman" panose="02020603050405020304" pitchFamily="18" charset="0"/>
                          <a:cs typeface="Times New Roman" panose="02020603050405020304" pitchFamily="18" charset="0"/>
                        </a:rPr>
                        <a:t>-O</a:t>
                      </a:r>
                      <a:r>
                        <a:rPr lang="en-US" sz="2000" b="0" kern="100" baseline="-25000" dirty="0">
                          <a:effectLst/>
                          <a:latin typeface="Times New Roman" panose="02020603050405020304" pitchFamily="18" charset="0"/>
                          <a:cs typeface="Times New Roman" panose="02020603050405020304" pitchFamily="18" charset="0"/>
                        </a:rPr>
                        <a:t>2 </a:t>
                      </a:r>
                      <a:r>
                        <a:rPr lang="en-US" sz="2000" b="0" kern="100" dirty="0">
                          <a:effectLst/>
                          <a:latin typeface="Times New Roman" panose="02020603050405020304" pitchFamily="18" charset="0"/>
                          <a:cs typeface="Times New Roman" panose="02020603050405020304" pitchFamily="18" charset="0"/>
                        </a:rPr>
                        <a:t>and CH</a:t>
                      </a:r>
                      <a:r>
                        <a:rPr lang="en-US" sz="2000" b="0" kern="100" baseline="-25000" dirty="0">
                          <a:effectLst/>
                          <a:latin typeface="Times New Roman" panose="02020603050405020304" pitchFamily="18" charset="0"/>
                          <a:cs typeface="Times New Roman" panose="02020603050405020304" pitchFamily="18" charset="0"/>
                        </a:rPr>
                        <a:t>3</a:t>
                      </a:r>
                      <a:r>
                        <a:rPr lang="en-US" sz="2000" b="0" kern="100" dirty="0">
                          <a:effectLst/>
                          <a:latin typeface="Times New Roman" panose="02020603050405020304" pitchFamily="18" charset="0"/>
                          <a:cs typeface="Times New Roman" panose="02020603050405020304" pitchFamily="18" charset="0"/>
                        </a:rPr>
                        <a:t>OH-O</a:t>
                      </a:r>
                      <a:r>
                        <a:rPr lang="en-US" sz="2000" b="0" kern="100" baseline="-25000" dirty="0">
                          <a:effectLst/>
                          <a:latin typeface="Times New Roman" panose="02020603050405020304" pitchFamily="18" charset="0"/>
                          <a:cs typeface="Times New Roman" panose="02020603050405020304" pitchFamily="18" charset="0"/>
                        </a:rPr>
                        <a:t>2.</a:t>
                      </a:r>
                      <a:r>
                        <a:rPr lang="en-US" sz="2000" b="0" kern="100" dirty="0">
                          <a:effectLst/>
                          <a:latin typeface="Times New Roman" panose="02020603050405020304" pitchFamily="18" charset="0"/>
                          <a:cs typeface="Times New Roman" panose="02020603050405020304" pitchFamily="18" charset="0"/>
                        </a:rPr>
                        <a:t>fuel cells </a:t>
                      </a:r>
                    </a:p>
                    <a:p>
                      <a:pPr marL="457200" marR="0" lvl="0" indent="-457200" algn="just">
                        <a:lnSpc>
                          <a:spcPct val="107000"/>
                        </a:lnSpc>
                        <a:spcBef>
                          <a:spcPts val="0"/>
                        </a:spcBef>
                        <a:spcAft>
                          <a:spcPts val="800"/>
                        </a:spcAft>
                        <a:buFont typeface="+mj-lt"/>
                        <a:buAutoNum type="arabicPeriod"/>
                        <a:tabLst>
                          <a:tab pos="457200" algn="l"/>
                        </a:tabLst>
                      </a:pPr>
                      <a:r>
                        <a:rPr lang="en-US" sz="2000" b="0" kern="100" dirty="0">
                          <a:effectLst/>
                          <a:latin typeface="Times New Roman" panose="02020603050405020304" pitchFamily="18" charset="0"/>
                          <a:cs typeface="Times New Roman" panose="02020603050405020304" pitchFamily="18" charset="0"/>
                        </a:rPr>
                        <a:t>Applications: Space vehicles. </a:t>
                      </a:r>
                      <a:endParaRPr lang="en-US" sz="20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020" marR="53020" marT="7364" marB="0"/>
                </a:tc>
                <a:extLst>
                  <a:ext uri="{0D108BD9-81ED-4DB2-BD59-A6C34878D82A}">
                    <a16:rowId xmlns:a16="http://schemas.microsoft.com/office/drawing/2014/main" xmlns="" val="1650407128"/>
                  </a:ext>
                </a:extLst>
              </a:tr>
            </a:tbl>
          </a:graphicData>
        </a:graphic>
      </p:graphicFrame>
      <p:sp>
        <p:nvSpPr>
          <p:cNvPr id="4" name="Rectangle 1">
            <a:extLst>
              <a:ext uri="{FF2B5EF4-FFF2-40B4-BE49-F238E27FC236}">
                <a16:creationId xmlns:a16="http://schemas.microsoft.com/office/drawing/2014/main" xmlns="" id="{588DCCD3-261E-AF11-A7FC-B7A9C7720C6B}"/>
              </a:ext>
            </a:extLst>
          </p:cNvPr>
          <p:cNvSpPr>
            <a:spLocks noChangeArrowheads="1"/>
          </p:cNvSpPr>
          <p:nvPr/>
        </p:nvSpPr>
        <p:spPr bwMode="auto">
          <a:xfrm>
            <a:off x="1509254" y="309970"/>
            <a:ext cx="9809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altLang="en-US" sz="3200" b="1" i="0" u="none" strike="noStrike" cap="none" normalizeH="0" baseline="0" dirty="0">
                <a:ln>
                  <a:noFill/>
                </a:ln>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Differences between Primary, Secondary and Fuel cells</a:t>
            </a:r>
            <a:endParaRPr kumimoji="0" lang="en-US" altLang="en-US" sz="32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6053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657D6B8B-89AC-DEA8-B6F6-5B2019601623}"/>
              </a:ext>
            </a:extLst>
          </p:cNvPr>
          <p:cNvSpPr txBox="1"/>
          <p:nvPr/>
        </p:nvSpPr>
        <p:spPr>
          <a:xfrm>
            <a:off x="228599" y="762000"/>
            <a:ext cx="12268199" cy="1569660"/>
          </a:xfrm>
          <a:prstGeom prst="rect">
            <a:avLst/>
          </a:prstGeom>
          <a:noFill/>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A zinc–air battery is a type of electrochemical cell that generates electrical energy through the reaction between zinc metal and oxygen from the air.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classified as a primary battery in most commercial applications, though rechargeable variants exist. </a:t>
            </a:r>
          </a:p>
        </p:txBody>
      </p:sp>
      <p:sp>
        <p:nvSpPr>
          <p:cNvPr id="3" name="Rectangle 2"/>
          <p:cNvSpPr/>
          <p:nvPr/>
        </p:nvSpPr>
        <p:spPr>
          <a:xfrm>
            <a:off x="4851919" y="177225"/>
            <a:ext cx="3301481" cy="584775"/>
          </a:xfrm>
          <a:prstGeom prst="rect">
            <a:avLst/>
          </a:prstGeom>
        </p:spPr>
        <p:txBody>
          <a:bodyPr wrap="none">
            <a:spAutoFit/>
          </a:bodyPr>
          <a:lstStyle/>
          <a:p>
            <a:pPr algn="ctr"/>
            <a:r>
              <a:rPr lang="en-US" sz="3200" b="1" dirty="0" smtClean="0">
                <a:solidFill>
                  <a:srgbClr val="C00000"/>
                </a:solidFill>
                <a:latin typeface="Times New Roman" pitchFamily="18" charset="0"/>
                <a:cs typeface="Times New Roman" pitchFamily="18" charset="0"/>
              </a:rPr>
              <a:t>Zinc–Air Battery</a:t>
            </a:r>
            <a:r>
              <a:rPr lang="en-US" sz="3200" dirty="0" smtClean="0">
                <a:solidFill>
                  <a:srgbClr val="C00000"/>
                </a:solidFill>
                <a:latin typeface="Times New Roman" pitchFamily="18" charset="0"/>
                <a:cs typeface="Times New Roman" pitchFamily="18" charset="0"/>
              </a:rPr>
              <a:t> </a:t>
            </a:r>
            <a:endParaRPr lang="en-US" sz="3200" dirty="0">
              <a:solidFill>
                <a:srgbClr val="C00000"/>
              </a:solidFill>
              <a:latin typeface="Times New Roman" pitchFamily="18" charset="0"/>
              <a:cs typeface="Times New Roman" pitchFamily="18" charset="0"/>
            </a:endParaRPr>
          </a:p>
        </p:txBody>
      </p:sp>
      <p:sp>
        <p:nvSpPr>
          <p:cNvPr id="5" name="Rectangle 4"/>
          <p:cNvSpPr/>
          <p:nvPr/>
        </p:nvSpPr>
        <p:spPr>
          <a:xfrm>
            <a:off x="228600" y="2438400"/>
            <a:ext cx="6934200" cy="3785652"/>
          </a:xfrm>
          <a:prstGeom prst="rect">
            <a:avLst/>
          </a:prstGeom>
        </p:spPr>
        <p:txBody>
          <a:bodyPr wrap="square">
            <a:spAutoFit/>
          </a:bodyPr>
          <a:lstStyle/>
          <a:p>
            <a:pPr algn="just"/>
            <a:r>
              <a:rPr lang="en-US" sz="2400" b="1" dirty="0" smtClean="0">
                <a:solidFill>
                  <a:srgbClr val="C00000"/>
                </a:solidFill>
                <a:latin typeface="Times New Roman" pitchFamily="18" charset="0"/>
                <a:cs typeface="Times New Roman" pitchFamily="18" charset="0"/>
              </a:rPr>
              <a:t>COMPONENTS:</a:t>
            </a:r>
          </a:p>
          <a:p>
            <a:pPr marL="342900" lvl="0"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Anode: </a:t>
            </a:r>
            <a:r>
              <a:rPr lang="en-US" sz="2400" dirty="0">
                <a:latin typeface="Times New Roman" pitchFamily="18" charset="0"/>
                <a:cs typeface="Times New Roman" pitchFamily="18" charset="0"/>
              </a:rPr>
              <a:t>Zinc metal (</a:t>
            </a:r>
            <a:r>
              <a:rPr lang="en-US" sz="2400" dirty="0" smtClean="0">
                <a:latin typeface="Times New Roman" pitchFamily="18" charset="0"/>
                <a:cs typeface="Times New Roman" pitchFamily="18" charset="0"/>
              </a:rPr>
              <a:t>powder).</a:t>
            </a:r>
          </a:p>
          <a:p>
            <a:pPr marL="342900" lvl="0"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Cathode: </a:t>
            </a:r>
            <a:r>
              <a:rPr lang="en-US" sz="2400" dirty="0">
                <a:latin typeface="Times New Roman" pitchFamily="18" charset="0"/>
                <a:cs typeface="Times New Roman" pitchFamily="18" charset="0"/>
              </a:rPr>
              <a:t>Porous carbon electrode with a </a:t>
            </a:r>
            <a:r>
              <a:rPr lang="en-US" sz="2400" dirty="0" smtClean="0">
                <a:latin typeface="Times New Roman" pitchFamily="18" charset="0"/>
                <a:cs typeface="Times New Roman" pitchFamily="18" charset="0"/>
              </a:rPr>
              <a:t>catalyst (MnO</a:t>
            </a:r>
            <a:r>
              <a:rPr lang="en-US" sz="2400" dirty="0">
                <a:latin typeface="Times New Roman" pitchFamily="18" charset="0"/>
                <a:cs typeface="Times New Roman" pitchFamily="18" charset="0"/>
              </a:rPr>
              <a:t>₂, </a:t>
            </a:r>
            <a:r>
              <a:rPr lang="en-US" sz="2400" dirty="0" smtClean="0">
                <a:latin typeface="Times New Roman" pitchFamily="18" charset="0"/>
                <a:cs typeface="Times New Roman" pitchFamily="18" charset="0"/>
              </a:rPr>
              <a:t>Pt or Co). This is a air </a:t>
            </a:r>
            <a:r>
              <a:rPr lang="en-US" sz="2400" dirty="0">
                <a:latin typeface="Times New Roman" pitchFamily="18" charset="0"/>
                <a:cs typeface="Times New Roman" pitchFamily="18" charset="0"/>
              </a:rPr>
              <a:t>electrode </a:t>
            </a:r>
            <a:r>
              <a:rPr lang="en-US" sz="2400" dirty="0" smtClean="0">
                <a:latin typeface="Times New Roman" pitchFamily="18" charset="0"/>
                <a:cs typeface="Times New Roman" pitchFamily="18" charset="0"/>
              </a:rPr>
              <a:t>system. Allows </a:t>
            </a:r>
            <a:r>
              <a:rPr lang="en-US" sz="2400" dirty="0">
                <a:latin typeface="Times New Roman" pitchFamily="18" charset="0"/>
                <a:cs typeface="Times New Roman" pitchFamily="18" charset="0"/>
              </a:rPr>
              <a:t>oxygen from the atmosphere to diffuse into the cathode.</a:t>
            </a:r>
          </a:p>
          <a:p>
            <a:pPr marL="342900" lvl="0"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Electrolyte</a:t>
            </a:r>
            <a:r>
              <a:rPr lang="en-US" sz="2400" dirty="0">
                <a:solidFill>
                  <a:srgbClr val="0070C0"/>
                </a:solidFill>
                <a:latin typeface="Times New Roman" pitchFamily="18" charset="0"/>
                <a:cs typeface="Times New Roman" pitchFamily="18" charset="0"/>
              </a:rPr>
              <a:t>: </a:t>
            </a:r>
            <a:r>
              <a:rPr lang="en-US" sz="2400" dirty="0">
                <a:latin typeface="Times New Roman" pitchFamily="18" charset="0"/>
                <a:cs typeface="Times New Roman" pitchFamily="18" charset="0"/>
              </a:rPr>
              <a:t>Aqueous alkaline solution </a:t>
            </a:r>
            <a:r>
              <a:rPr lang="en-US" sz="2400" dirty="0" smtClean="0">
                <a:latin typeface="Times New Roman" pitchFamily="18" charset="0"/>
                <a:cs typeface="Times New Roman" pitchFamily="18" charset="0"/>
              </a:rPr>
              <a:t>(KOH </a:t>
            </a:r>
            <a:r>
              <a:rPr lang="en-US" sz="2400" dirty="0">
                <a:latin typeface="Times New Roman" pitchFamily="18" charset="0"/>
                <a:cs typeface="Times New Roman" pitchFamily="18" charset="0"/>
              </a:rPr>
              <a:t>or NaOH</a:t>
            </a:r>
            <a:r>
              <a:rPr lang="en-US" sz="2400" dirty="0" smtClean="0">
                <a:latin typeface="Times New Roman" pitchFamily="18" charset="0"/>
                <a:cs typeface="Times New Roman" pitchFamily="18" charset="0"/>
              </a:rPr>
              <a:t>).</a:t>
            </a:r>
          </a:p>
          <a:p>
            <a:pPr marL="342900" lvl="0"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Separator</a:t>
            </a:r>
            <a:r>
              <a:rPr lang="en-US" sz="2400" dirty="0">
                <a:solidFill>
                  <a:srgbClr val="0070C0"/>
                </a:solidFill>
                <a:latin typeface="Times New Roman" pitchFamily="18" charset="0"/>
                <a:cs typeface="Times New Roman" pitchFamily="18" charset="0"/>
              </a:rPr>
              <a:t>: </a:t>
            </a:r>
            <a:r>
              <a:rPr lang="en-US" sz="2400" dirty="0">
                <a:latin typeface="Times New Roman" pitchFamily="18" charset="0"/>
                <a:cs typeface="Times New Roman" pitchFamily="18" charset="0"/>
              </a:rPr>
              <a:t>Porous membrane that allows OH⁻ ions to pass but prevents electrode </a:t>
            </a:r>
            <a:r>
              <a:rPr lang="en-US" sz="2400" dirty="0" smtClean="0">
                <a:latin typeface="Times New Roman" pitchFamily="18" charset="0"/>
                <a:cs typeface="Times New Roman" pitchFamily="18" charset="0"/>
              </a:rPr>
              <a:t>contact.</a:t>
            </a:r>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5201" y="2057400"/>
            <a:ext cx="5333999"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528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844689"/>
            <a:ext cx="12039600" cy="5632311"/>
          </a:xfrm>
          <a:prstGeom prst="rect">
            <a:avLst/>
          </a:prstGeom>
        </p:spPr>
        <p:txBody>
          <a:bodyPr wrap="square">
            <a:spAutoFit/>
          </a:bodyPr>
          <a:lstStyle/>
          <a:p>
            <a:pPr algn="just"/>
            <a:r>
              <a:rPr lang="en-US" sz="2400" b="1" dirty="0" smtClean="0">
                <a:solidFill>
                  <a:srgbClr val="C00000"/>
                </a:solidFill>
                <a:latin typeface="Times New Roman" pitchFamily="18" charset="0"/>
                <a:cs typeface="Times New Roman" pitchFamily="18" charset="0"/>
              </a:rPr>
              <a:t>Principle: </a:t>
            </a:r>
            <a:r>
              <a:rPr lang="en-US" sz="2400" dirty="0" smtClean="0">
                <a:latin typeface="Times New Roman" pitchFamily="18" charset="0"/>
                <a:cs typeface="Times New Roman" pitchFamily="18" charset="0"/>
              </a:rPr>
              <a:t>The Zn–Air </a:t>
            </a:r>
            <a:r>
              <a:rPr lang="en-US" sz="2400" dirty="0">
                <a:latin typeface="Times New Roman" pitchFamily="18" charset="0"/>
                <a:cs typeface="Times New Roman" pitchFamily="18" charset="0"/>
              </a:rPr>
              <a:t>B</a:t>
            </a:r>
            <a:r>
              <a:rPr lang="en-US" sz="2400" dirty="0" smtClean="0">
                <a:latin typeface="Times New Roman" pitchFamily="18" charset="0"/>
                <a:cs typeface="Times New Roman" pitchFamily="18" charset="0"/>
              </a:rPr>
              <a:t>attery </a:t>
            </a:r>
            <a:r>
              <a:rPr lang="en-US" sz="2400" dirty="0">
                <a:latin typeface="Times New Roman" pitchFamily="18" charset="0"/>
                <a:cs typeface="Times New Roman" pitchFamily="18" charset="0"/>
              </a:rPr>
              <a:t>works on the principle of electrochemical redox reactions between </a:t>
            </a:r>
            <a:r>
              <a:rPr lang="en-US" sz="2400" dirty="0" smtClean="0">
                <a:latin typeface="Times New Roman" pitchFamily="18" charset="0"/>
                <a:cs typeface="Times New Roman" pitchFamily="18" charset="0"/>
              </a:rPr>
              <a:t>zinc metal (oxidized at anode) and oxygen </a:t>
            </a:r>
            <a:r>
              <a:rPr lang="en-US" sz="2400" dirty="0">
                <a:latin typeface="Times New Roman" pitchFamily="18" charset="0"/>
                <a:cs typeface="Times New Roman" pitchFamily="18" charset="0"/>
              </a:rPr>
              <a:t>from air (reduced at cathode) in the presence of an alkaline electrolyte. Oxygen acts as the oxidizing agent, while zinc is the reducing agent</a:t>
            </a:r>
            <a:r>
              <a:rPr lang="en-US" sz="2400" dirty="0" smtClean="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a:p>
            <a:pPr algn="just"/>
            <a:r>
              <a:rPr lang="en-US" sz="2400" b="1" dirty="0" smtClean="0">
                <a:solidFill>
                  <a:srgbClr val="C00000"/>
                </a:solidFill>
                <a:latin typeface="Times New Roman" pitchFamily="18" charset="0"/>
                <a:cs typeface="Times New Roman" pitchFamily="18" charset="0"/>
              </a:rPr>
              <a:t>Working mechanism: </a:t>
            </a:r>
            <a:r>
              <a:rPr lang="en-US" sz="2400" dirty="0" smtClean="0">
                <a:latin typeface="Times New Roman" pitchFamily="18" charset="0"/>
                <a:cs typeface="Times New Roman" pitchFamily="18" charset="0"/>
              </a:rPr>
              <a:t>At </a:t>
            </a:r>
            <a:r>
              <a:rPr lang="en-US" sz="2400" dirty="0">
                <a:latin typeface="Times New Roman" pitchFamily="18" charset="0"/>
                <a:cs typeface="Times New Roman" pitchFamily="18" charset="0"/>
              </a:rPr>
              <a:t>the </a:t>
            </a:r>
            <a:r>
              <a:rPr lang="en-US" sz="2400" dirty="0" smtClean="0">
                <a:latin typeface="Times New Roman" pitchFamily="18" charset="0"/>
                <a:cs typeface="Times New Roman" pitchFamily="18" charset="0"/>
              </a:rPr>
              <a:t>anode, Zinc </a:t>
            </a:r>
            <a:r>
              <a:rPr lang="en-US" sz="2400" dirty="0">
                <a:latin typeface="Times New Roman" pitchFamily="18" charset="0"/>
                <a:cs typeface="Times New Roman" pitchFamily="18" charset="0"/>
              </a:rPr>
              <a:t>is oxidized to Zn²⁺, which reacts with OH⁻ to form soluble zincate ions. Zincate later decomposes to zinc </a:t>
            </a:r>
            <a:r>
              <a:rPr lang="en-US" sz="2400" dirty="0" smtClean="0">
                <a:latin typeface="Times New Roman" pitchFamily="18" charset="0"/>
                <a:cs typeface="Times New Roman" pitchFamily="18" charset="0"/>
              </a:rPr>
              <a:t>oxide. At </a:t>
            </a:r>
            <a:r>
              <a:rPr lang="en-US" sz="2400" dirty="0">
                <a:latin typeface="Times New Roman" pitchFamily="18" charset="0"/>
                <a:cs typeface="Times New Roman" pitchFamily="18" charset="0"/>
              </a:rPr>
              <a:t>the </a:t>
            </a:r>
            <a:r>
              <a:rPr lang="en-US" sz="2400" dirty="0" smtClean="0">
                <a:latin typeface="Times New Roman" pitchFamily="18" charset="0"/>
                <a:cs typeface="Times New Roman" pitchFamily="18" charset="0"/>
              </a:rPr>
              <a:t>cathode, Oxygen </a:t>
            </a:r>
            <a:r>
              <a:rPr lang="en-US" sz="2400" dirty="0">
                <a:latin typeface="Times New Roman" pitchFamily="18" charset="0"/>
                <a:cs typeface="Times New Roman" pitchFamily="18" charset="0"/>
              </a:rPr>
              <a:t>from the air diffuses into the porous electrode and is reduced in alkaline medium to hydroxide </a:t>
            </a:r>
            <a:r>
              <a:rPr lang="en-US" sz="2400" dirty="0" smtClean="0">
                <a:latin typeface="Times New Roman" pitchFamily="18" charset="0"/>
                <a:cs typeface="Times New Roman" pitchFamily="18" charset="0"/>
              </a:rPr>
              <a:t>ions.</a:t>
            </a:r>
          </a:p>
          <a:p>
            <a:endParaRPr lang="en-US" sz="2400" dirty="0">
              <a:latin typeface="Times New Roman" pitchFamily="18" charset="0"/>
              <a:cs typeface="Times New Roman" pitchFamily="18" charset="0"/>
            </a:endParaRPr>
          </a:p>
          <a:p>
            <a:r>
              <a:rPr lang="en-US" sz="2400" b="1" dirty="0" smtClean="0">
                <a:solidFill>
                  <a:srgbClr val="C00000"/>
                </a:solidFill>
                <a:latin typeface="Times New Roman" pitchFamily="18" charset="0"/>
                <a:cs typeface="Times New Roman" pitchFamily="18" charset="0"/>
              </a:rPr>
              <a:t>Electrode </a:t>
            </a:r>
            <a:r>
              <a:rPr lang="en-US" sz="2400" b="1" dirty="0">
                <a:solidFill>
                  <a:srgbClr val="C00000"/>
                </a:solidFill>
                <a:latin typeface="Times New Roman" pitchFamily="18" charset="0"/>
                <a:cs typeface="Times New Roman" pitchFamily="18" charset="0"/>
              </a:rPr>
              <a:t>Reactions</a:t>
            </a:r>
          </a:p>
          <a:p>
            <a:pPr marL="2574925" lvl="2"/>
            <a:r>
              <a:rPr lang="en-US" sz="2400" b="1" dirty="0">
                <a:solidFill>
                  <a:srgbClr val="0070C0"/>
                </a:solidFill>
                <a:latin typeface="Times New Roman" pitchFamily="18" charset="0"/>
                <a:cs typeface="Times New Roman" pitchFamily="18" charset="0"/>
              </a:rPr>
              <a:t>Anode (oxidation</a:t>
            </a:r>
            <a:r>
              <a:rPr lang="en-US" sz="2400" b="1" dirty="0" smtClean="0">
                <a:solidFill>
                  <a:srgbClr val="0070C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Zn </a:t>
            </a:r>
            <a:r>
              <a:rPr lang="en-US" sz="2400" dirty="0">
                <a:latin typeface="Times New Roman" pitchFamily="18" charset="0"/>
                <a:cs typeface="Times New Roman" pitchFamily="18" charset="0"/>
              </a:rPr>
              <a:t>(s) + 4OH⁻ → [Zn(OH)₄]²⁻ + 2e</a:t>
            </a:r>
            <a:r>
              <a:rPr lang="en-US" sz="2400" dirty="0" smtClean="0">
                <a:latin typeface="Times New Roman" pitchFamily="18" charset="0"/>
                <a:cs typeface="Times New Roman" pitchFamily="18" charset="0"/>
              </a:rPr>
              <a:t>⁻</a:t>
            </a:r>
          </a:p>
          <a:p>
            <a:pPr marL="5197475" lvl="2"/>
            <a:r>
              <a:rPr lang="en-US" sz="2400" dirty="0" smtClean="0">
                <a:latin typeface="Times New Roman" pitchFamily="18" charset="0"/>
                <a:cs typeface="Times New Roman" pitchFamily="18" charset="0"/>
              </a:rPr>
              <a:t>[</a:t>
            </a:r>
            <a:r>
              <a:rPr lang="en-US" sz="2400" dirty="0">
                <a:latin typeface="Times New Roman" pitchFamily="18" charset="0"/>
                <a:cs typeface="Times New Roman" pitchFamily="18" charset="0"/>
              </a:rPr>
              <a:t>Zn(OH)₄]²⁻ → ZnO (s) + H₂O + 2OH</a:t>
            </a:r>
            <a:r>
              <a:rPr lang="en-US" sz="2400" dirty="0" smtClean="0">
                <a:latin typeface="Times New Roman" pitchFamily="18" charset="0"/>
                <a:cs typeface="Times New Roman" pitchFamily="18" charset="0"/>
              </a:rPr>
              <a:t>⁻</a:t>
            </a:r>
          </a:p>
          <a:p>
            <a:pPr marL="5197475" lvl="2"/>
            <a:endParaRPr lang="en-US" sz="2400" dirty="0">
              <a:latin typeface="Times New Roman" pitchFamily="18" charset="0"/>
              <a:cs typeface="Times New Roman" pitchFamily="18" charset="0"/>
            </a:endParaRPr>
          </a:p>
          <a:p>
            <a:pPr marL="2574925" lvl="2"/>
            <a:r>
              <a:rPr lang="en-US" sz="2400" b="1" dirty="0">
                <a:solidFill>
                  <a:srgbClr val="0070C0"/>
                </a:solidFill>
                <a:latin typeface="Times New Roman" pitchFamily="18" charset="0"/>
                <a:cs typeface="Times New Roman" pitchFamily="18" charset="0"/>
              </a:rPr>
              <a:t>Cathode (reduction</a:t>
            </a:r>
            <a:r>
              <a:rPr lang="en-US" sz="2400" b="1" dirty="0" smtClean="0">
                <a:solidFill>
                  <a:srgbClr val="0070C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O</a:t>
            </a:r>
            <a:r>
              <a:rPr lang="en-US" sz="2400" dirty="0">
                <a:latin typeface="Times New Roman" pitchFamily="18" charset="0"/>
                <a:cs typeface="Times New Roman" pitchFamily="18" charset="0"/>
              </a:rPr>
              <a:t>₂ + 2H₂O + 4e⁻ → 4OH</a:t>
            </a:r>
            <a:r>
              <a:rPr lang="en-US" sz="2400" dirty="0" smtClean="0">
                <a:latin typeface="Times New Roman" pitchFamily="18" charset="0"/>
                <a:cs typeface="Times New Roman" pitchFamily="18" charset="0"/>
              </a:rPr>
              <a:t>⁻</a:t>
            </a:r>
          </a:p>
          <a:p>
            <a:pPr marL="2574925" lvl="2"/>
            <a:endParaRPr lang="en-US" sz="2400" dirty="0">
              <a:latin typeface="Times New Roman" pitchFamily="18" charset="0"/>
              <a:cs typeface="Times New Roman" pitchFamily="18" charset="0"/>
            </a:endParaRPr>
          </a:p>
          <a:p>
            <a:pPr marL="2574925" lvl="2"/>
            <a:r>
              <a:rPr lang="en-US" sz="2400" b="1" dirty="0">
                <a:solidFill>
                  <a:srgbClr val="7030A0"/>
                </a:solidFill>
                <a:latin typeface="Times New Roman" pitchFamily="18" charset="0"/>
                <a:cs typeface="Times New Roman" pitchFamily="18" charset="0"/>
              </a:rPr>
              <a:t>Overall cell </a:t>
            </a:r>
            <a:r>
              <a:rPr lang="en-US" sz="2400" b="1" dirty="0" smtClean="0">
                <a:solidFill>
                  <a:srgbClr val="7030A0"/>
                </a:solidFill>
                <a:latin typeface="Times New Roman" pitchFamily="18" charset="0"/>
                <a:cs typeface="Times New Roman" pitchFamily="18" charset="0"/>
              </a:rPr>
              <a:t>reaction: 2Zn </a:t>
            </a:r>
            <a:r>
              <a:rPr lang="en-US" sz="2400" b="1" dirty="0">
                <a:solidFill>
                  <a:srgbClr val="7030A0"/>
                </a:solidFill>
                <a:latin typeface="Times New Roman" pitchFamily="18" charset="0"/>
                <a:cs typeface="Times New Roman" pitchFamily="18" charset="0"/>
              </a:rPr>
              <a:t>(s) + O₂ (g) → 2ZnO (s)</a:t>
            </a:r>
          </a:p>
        </p:txBody>
      </p:sp>
    </p:spTree>
    <p:extLst>
      <p:ext uri="{BB962C8B-B14F-4D97-AF65-F5344CB8AC3E}">
        <p14:creationId xmlns:p14="http://schemas.microsoft.com/office/powerpoint/2010/main" val="21139368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34200" y="528221"/>
            <a:ext cx="5486400" cy="5262979"/>
          </a:xfrm>
          <a:prstGeom prst="rect">
            <a:avLst/>
          </a:prstGeom>
          <a:solidFill>
            <a:schemeClr val="accent5">
              <a:lumMod val="20000"/>
              <a:lumOff val="80000"/>
            </a:schemeClr>
          </a:solidFill>
        </p:spPr>
        <p:txBody>
          <a:bodyPr wrap="square">
            <a:spAutoFit/>
          </a:bodyPr>
          <a:lstStyle/>
          <a:p>
            <a:pPr>
              <a:lnSpc>
                <a:spcPct val="200000"/>
              </a:lnSpc>
            </a:pPr>
            <a:r>
              <a:rPr lang="en-US" sz="2400" b="1" dirty="0" smtClean="0">
                <a:solidFill>
                  <a:srgbClr val="C00000"/>
                </a:solidFill>
                <a:latin typeface="Times New Roman" pitchFamily="18" charset="0"/>
                <a:cs typeface="Times New Roman" pitchFamily="18" charset="0"/>
              </a:rPr>
              <a:t>Applications</a:t>
            </a:r>
            <a:endParaRPr lang="en-US" sz="2400" b="1" dirty="0">
              <a:solidFill>
                <a:srgbClr val="C00000"/>
              </a:solidFill>
              <a:latin typeface="Times New Roman" pitchFamily="18" charset="0"/>
              <a:cs typeface="Times New Roman" pitchFamily="18" charset="0"/>
            </a:endParaRPr>
          </a:p>
          <a:p>
            <a:pPr marL="800100" lvl="1" indent="-342900">
              <a:lnSpc>
                <a:spcPct val="200000"/>
              </a:lnSpc>
              <a:buFont typeface="Arial" pitchFamily="34" charset="0"/>
              <a:buChar char="•"/>
            </a:pPr>
            <a:r>
              <a:rPr lang="en-US" sz="2400" dirty="0">
                <a:latin typeface="Times New Roman" pitchFamily="18" charset="0"/>
                <a:cs typeface="Times New Roman" pitchFamily="18" charset="0"/>
              </a:rPr>
              <a:t>Hearing aids (button cells</a:t>
            </a:r>
            <a:r>
              <a:rPr lang="en-US" sz="2400" dirty="0" smtClean="0">
                <a:latin typeface="Times New Roman" pitchFamily="18" charset="0"/>
                <a:cs typeface="Times New Roman" pitchFamily="18" charset="0"/>
              </a:rPr>
              <a:t>).</a:t>
            </a:r>
          </a:p>
          <a:p>
            <a:pPr marL="800100" lvl="1" indent="-342900">
              <a:lnSpc>
                <a:spcPct val="200000"/>
              </a:lnSpc>
              <a:buFont typeface="Arial" pitchFamily="34" charset="0"/>
              <a:buChar char="•"/>
            </a:pPr>
            <a:r>
              <a:rPr lang="en-US" sz="2400" dirty="0" smtClean="0">
                <a:latin typeface="Times New Roman" pitchFamily="18" charset="0"/>
                <a:cs typeface="Times New Roman" pitchFamily="18" charset="0"/>
              </a:rPr>
              <a:t>Medical </a:t>
            </a:r>
            <a:r>
              <a:rPr lang="en-US" sz="2400" dirty="0">
                <a:latin typeface="Times New Roman" pitchFamily="18" charset="0"/>
                <a:cs typeface="Times New Roman" pitchFamily="18" charset="0"/>
              </a:rPr>
              <a:t>devices </a:t>
            </a:r>
            <a:r>
              <a:rPr lang="en-US" sz="2400" dirty="0" smtClean="0">
                <a:latin typeface="Times New Roman" pitchFamily="18" charset="0"/>
                <a:cs typeface="Times New Roman" pitchFamily="18" charset="0"/>
              </a:rPr>
              <a:t>(Pacemakers).</a:t>
            </a:r>
          </a:p>
          <a:p>
            <a:pPr marL="800100" lvl="1" indent="-342900">
              <a:lnSpc>
                <a:spcPct val="200000"/>
              </a:lnSpc>
              <a:buFont typeface="Arial" pitchFamily="34" charset="0"/>
              <a:buChar char="•"/>
            </a:pPr>
            <a:r>
              <a:rPr lang="en-US" sz="2400" dirty="0" smtClean="0">
                <a:latin typeface="Times New Roman" pitchFamily="18" charset="0"/>
                <a:cs typeface="Times New Roman" pitchFamily="18" charset="0"/>
              </a:rPr>
              <a:t>Electric </a:t>
            </a:r>
            <a:r>
              <a:rPr lang="en-US" sz="2400" dirty="0">
                <a:latin typeface="Times New Roman" pitchFamily="18" charset="0"/>
                <a:cs typeface="Times New Roman" pitchFamily="18" charset="0"/>
              </a:rPr>
              <a:t>vehicles (</a:t>
            </a:r>
            <a:r>
              <a:rPr lang="en-US" sz="2400" dirty="0" smtClean="0">
                <a:latin typeface="Times New Roman" pitchFamily="18" charset="0"/>
                <a:cs typeface="Times New Roman" pitchFamily="18" charset="0"/>
              </a:rPr>
              <a:t>EVs).</a:t>
            </a:r>
          </a:p>
          <a:p>
            <a:pPr marL="800100" lvl="1" indent="-342900">
              <a:lnSpc>
                <a:spcPct val="200000"/>
              </a:lnSpc>
              <a:buFont typeface="Arial" pitchFamily="34" charset="0"/>
              <a:buChar char="•"/>
            </a:pPr>
            <a:r>
              <a:rPr lang="en-US" sz="2400" dirty="0" smtClean="0">
                <a:latin typeface="Times New Roman" pitchFamily="18" charset="0"/>
                <a:cs typeface="Times New Roman" pitchFamily="18" charset="0"/>
              </a:rPr>
              <a:t>Backup power systems.</a:t>
            </a:r>
          </a:p>
          <a:p>
            <a:pPr marL="800100" lvl="1" indent="-342900">
              <a:lnSpc>
                <a:spcPct val="200000"/>
              </a:lnSpc>
              <a:buFont typeface="Arial" pitchFamily="34" charset="0"/>
              <a:buChar char="•"/>
            </a:pPr>
            <a:r>
              <a:rPr lang="en-US" sz="2400" dirty="0" smtClean="0">
                <a:latin typeface="Times New Roman" pitchFamily="18" charset="0"/>
                <a:cs typeface="Times New Roman" pitchFamily="18" charset="0"/>
              </a:rPr>
              <a:t>Military </a:t>
            </a:r>
            <a:r>
              <a:rPr lang="en-US" sz="2400" dirty="0">
                <a:latin typeface="Times New Roman" pitchFamily="18" charset="0"/>
                <a:cs typeface="Times New Roman" pitchFamily="18" charset="0"/>
              </a:rPr>
              <a:t>communication </a:t>
            </a:r>
            <a:r>
              <a:rPr lang="en-US" sz="2400" dirty="0" smtClean="0">
                <a:latin typeface="Times New Roman" pitchFamily="18" charset="0"/>
                <a:cs typeface="Times New Roman" pitchFamily="18" charset="0"/>
              </a:rPr>
              <a:t>devices.</a:t>
            </a:r>
          </a:p>
          <a:p>
            <a:pPr marL="800100" lvl="1" indent="-342900">
              <a:lnSpc>
                <a:spcPct val="200000"/>
              </a:lnSpc>
              <a:buFont typeface="Arial" pitchFamily="34" charset="0"/>
              <a:buChar char="•"/>
            </a:pPr>
            <a:r>
              <a:rPr lang="en-US" sz="2400" dirty="0" smtClean="0">
                <a:latin typeface="Times New Roman" pitchFamily="18" charset="0"/>
                <a:cs typeface="Times New Roman" pitchFamily="18" charset="0"/>
              </a:rPr>
              <a:t>Portable </a:t>
            </a:r>
            <a:r>
              <a:rPr lang="en-US" sz="2400" dirty="0">
                <a:latin typeface="Times New Roman" pitchFamily="18" charset="0"/>
                <a:cs typeface="Times New Roman" pitchFamily="18" charset="0"/>
              </a:rPr>
              <a:t>electronic equipment</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41" t="30549" r="1553" b="15857"/>
          <a:stretch/>
        </p:blipFill>
        <p:spPr bwMode="auto">
          <a:xfrm>
            <a:off x="533400" y="1066800"/>
            <a:ext cx="64008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6963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3598EBF8-1D78-3047-1CCC-333520153E1F}"/>
              </a:ext>
            </a:extLst>
          </p:cNvPr>
          <p:cNvSpPr txBox="1"/>
          <p:nvPr/>
        </p:nvSpPr>
        <p:spPr>
          <a:xfrm>
            <a:off x="4114800" y="191869"/>
            <a:ext cx="4563140" cy="646331"/>
          </a:xfrm>
          <a:prstGeom prst="rect">
            <a:avLst/>
          </a:prstGeom>
          <a:noFill/>
        </p:spPr>
        <p:txBody>
          <a:bodyPr wrap="square">
            <a:spAutoFit/>
          </a:bodyPr>
          <a:lstStyle/>
          <a:p>
            <a:pPr algn="ctr" eaLnBrk="1" hangingPunct="1"/>
            <a:r>
              <a:rPr lang="en-IN" altLang="en-US" sz="3600" b="1" dirty="0">
                <a:solidFill>
                  <a:srgbClr val="C00000"/>
                </a:solidFill>
                <a:latin typeface="Times New Roman" panose="02020603050405020304" pitchFamily="18" charset="0"/>
                <a:cs typeface="Times New Roman" panose="02020603050405020304" pitchFamily="18" charset="0"/>
              </a:rPr>
              <a:t>Lithium-ion battery</a:t>
            </a:r>
          </a:p>
        </p:txBody>
      </p:sp>
      <p:pic>
        <p:nvPicPr>
          <p:cNvPr id="11" name="Picture 10">
            <a:extLst>
              <a:ext uri="{FF2B5EF4-FFF2-40B4-BE49-F238E27FC236}">
                <a16:creationId xmlns:a16="http://schemas.microsoft.com/office/drawing/2014/main" xmlns="" id="{5DB1CB1D-EBB0-1723-E045-2E91010F7800}"/>
              </a:ext>
            </a:extLst>
          </p:cNvPr>
          <p:cNvPicPr>
            <a:picLocks noChangeAspect="1"/>
          </p:cNvPicPr>
          <p:nvPr/>
        </p:nvPicPr>
        <p:blipFill rotWithShape="1">
          <a:blip r:embed="rId2"/>
          <a:srcRect l="15144" t="12257" r="14861" b="5668"/>
          <a:stretch/>
        </p:blipFill>
        <p:spPr>
          <a:xfrm>
            <a:off x="7617228" y="877186"/>
            <a:ext cx="4918557" cy="5103628"/>
          </a:xfrm>
          <a:prstGeom prst="rect">
            <a:avLst/>
          </a:prstGeom>
        </p:spPr>
      </p:pic>
      <p:sp>
        <p:nvSpPr>
          <p:cNvPr id="2" name="Rectangle 1"/>
          <p:cNvSpPr/>
          <p:nvPr/>
        </p:nvSpPr>
        <p:spPr>
          <a:xfrm>
            <a:off x="228600" y="914400"/>
            <a:ext cx="7162800" cy="5262979"/>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Lithium-ion (Li-ion) batteries are advanced rechargeable batteries that use lithium ions as the charge carriers.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They </a:t>
            </a:r>
            <a:r>
              <a:rPr lang="en-US" sz="2400" dirty="0">
                <a:latin typeface="Times New Roman" pitchFamily="18" charset="0"/>
                <a:cs typeface="Times New Roman" pitchFamily="18" charset="0"/>
              </a:rPr>
              <a:t>are widely used in portable electronic devices, electric vehicles, and energy storage systems due to their high energy density, light weight, and long cycle life.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Unlike </a:t>
            </a:r>
            <a:r>
              <a:rPr lang="en-US" sz="2400" dirty="0">
                <a:latin typeface="Times New Roman" pitchFamily="18" charset="0"/>
                <a:cs typeface="Times New Roman" pitchFamily="18" charset="0"/>
              </a:rPr>
              <a:t>primary batteries, Li-ion batteries can be recharged hundreds to thousands of times</a:t>
            </a:r>
            <a:r>
              <a:rPr lang="en-US" sz="2400" dirty="0" smtClean="0">
                <a:latin typeface="Times New Roman" pitchFamily="18" charset="0"/>
                <a:cs typeface="Times New Roman" pitchFamily="18" charset="0"/>
              </a:rPr>
              <a:t>.</a:t>
            </a:r>
          </a:p>
          <a:p>
            <a:pPr marL="342900" indent="-342900" algn="just">
              <a:buClr>
                <a:srgbClr val="7030A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 Lithium ion battery is a type of rechargeable battery in which intercalated Li compounds are used as the electrode materials. </a:t>
            </a:r>
          </a:p>
          <a:p>
            <a:pPr marL="342900" indent="-342900" algn="just">
              <a:buClr>
                <a:srgbClr val="7030A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cell reactions are reversible and works like Galvanic cell as well Electrolytic cell</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2393246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4C6BB46-82C8-AA35-0608-E2988DCCD10D}"/>
              </a:ext>
            </a:extLst>
          </p:cNvPr>
          <p:cNvSpPr txBox="1"/>
          <p:nvPr/>
        </p:nvSpPr>
        <p:spPr>
          <a:xfrm>
            <a:off x="228601" y="692289"/>
            <a:ext cx="12222126" cy="5632311"/>
          </a:xfrm>
          <a:prstGeom prst="rect">
            <a:avLst/>
          </a:prstGeom>
          <a:noFill/>
        </p:spPr>
        <p:txBody>
          <a:bodyPr wrap="square">
            <a:spAutoFit/>
          </a:bodyPr>
          <a:lstStyle/>
          <a:p>
            <a:pPr algn="just">
              <a:buClr>
                <a:srgbClr val="7030A0"/>
              </a:buClr>
            </a:pPr>
            <a:r>
              <a:rPr lang="en-US" sz="2400" b="1" dirty="0" smtClean="0">
                <a:solidFill>
                  <a:srgbClr val="C00000"/>
                </a:solidFill>
                <a:latin typeface="Times New Roman" panose="02020603050405020304" pitchFamily="18" charset="0"/>
                <a:cs typeface="Times New Roman" panose="02020603050405020304" pitchFamily="18" charset="0"/>
              </a:rPr>
              <a:t>COMPONENTS OF LITHIUM-ION BATTERY:</a:t>
            </a:r>
          </a:p>
          <a:p>
            <a:pPr marL="1257300" lvl="2"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Anode </a:t>
            </a:r>
            <a:r>
              <a:rPr lang="en-US" sz="2400" dirty="0">
                <a:solidFill>
                  <a:srgbClr val="0070C0"/>
                </a:solidFill>
                <a:latin typeface="Times New Roman" pitchFamily="18" charset="0"/>
                <a:cs typeface="Times New Roman" pitchFamily="18" charset="0"/>
              </a:rPr>
              <a:t>(Negative electrode): </a:t>
            </a:r>
            <a:r>
              <a:rPr lang="en-US" sz="2400" dirty="0">
                <a:latin typeface="Times New Roman" pitchFamily="18" charset="0"/>
                <a:cs typeface="Times New Roman" pitchFamily="18" charset="0"/>
              </a:rPr>
              <a:t>Usually made of </a:t>
            </a:r>
            <a:r>
              <a:rPr lang="en-US" sz="2400" dirty="0" smtClean="0">
                <a:latin typeface="Times New Roman" pitchFamily="18" charset="0"/>
                <a:cs typeface="Times New Roman" pitchFamily="18" charset="0"/>
              </a:rPr>
              <a:t>graphite.</a:t>
            </a:r>
          </a:p>
          <a:p>
            <a:pPr marL="1257300" lvl="2"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Cathode </a:t>
            </a:r>
            <a:r>
              <a:rPr lang="en-US" sz="2400" dirty="0">
                <a:solidFill>
                  <a:srgbClr val="0070C0"/>
                </a:solidFill>
                <a:latin typeface="Times New Roman" pitchFamily="18" charset="0"/>
                <a:cs typeface="Times New Roman" pitchFamily="18" charset="0"/>
              </a:rPr>
              <a:t>(Positive electrode): </a:t>
            </a:r>
            <a:r>
              <a:rPr lang="en-US" sz="2400" dirty="0">
                <a:latin typeface="Times New Roman" pitchFamily="18" charset="0"/>
                <a:cs typeface="Times New Roman" pitchFamily="18" charset="0"/>
              </a:rPr>
              <a:t>Typically made of lithium metal oxides such as LiCoO₂, LiFePO₄, LiMn₂O₄, or LiNiMnCoO₂</a:t>
            </a:r>
            <a:r>
              <a:rPr lang="en-US" sz="2400" dirty="0" smtClean="0">
                <a:latin typeface="Times New Roman" pitchFamily="18" charset="0"/>
                <a:cs typeface="Times New Roman" pitchFamily="18" charset="0"/>
              </a:rPr>
              <a:t>.</a:t>
            </a:r>
          </a:p>
          <a:p>
            <a:pPr marL="1257300" lvl="2"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Electrolyte</a:t>
            </a:r>
            <a:r>
              <a:rPr lang="en-US" sz="2400" dirty="0">
                <a:solidFill>
                  <a:srgbClr val="0070C0"/>
                </a:solidFill>
                <a:latin typeface="Times New Roman" pitchFamily="18" charset="0"/>
                <a:cs typeface="Times New Roman" pitchFamily="18" charset="0"/>
              </a:rPr>
              <a:t>: </a:t>
            </a:r>
            <a:r>
              <a:rPr lang="en-US" sz="2400" dirty="0">
                <a:latin typeface="Times New Roman" pitchFamily="18" charset="0"/>
                <a:cs typeface="Times New Roman" pitchFamily="18" charset="0"/>
              </a:rPr>
              <a:t>A lithium salt </a:t>
            </a:r>
            <a:r>
              <a:rPr lang="en-US" sz="2400" dirty="0" smtClean="0">
                <a:latin typeface="Times New Roman" pitchFamily="18" charset="0"/>
                <a:cs typeface="Times New Roman" pitchFamily="18" charset="0"/>
              </a:rPr>
              <a:t>(LiPF</a:t>
            </a:r>
            <a:r>
              <a:rPr lang="en-US" sz="2400" dirty="0">
                <a:latin typeface="Times New Roman" pitchFamily="18" charset="0"/>
                <a:cs typeface="Times New Roman" pitchFamily="18" charset="0"/>
              </a:rPr>
              <a:t>₆, LiClO₄) dissolved in an organic solvent, which allows movement of Li⁺ </a:t>
            </a:r>
            <a:r>
              <a:rPr lang="en-US" sz="2400" dirty="0" smtClean="0">
                <a:latin typeface="Times New Roman" pitchFamily="18" charset="0"/>
                <a:cs typeface="Times New Roman" pitchFamily="18" charset="0"/>
              </a:rPr>
              <a:t>ions.</a:t>
            </a:r>
          </a:p>
          <a:p>
            <a:pPr marL="1257300" lvl="2"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Separator</a:t>
            </a:r>
            <a:r>
              <a:rPr lang="en-US" sz="2400" dirty="0">
                <a:solidFill>
                  <a:srgbClr val="0070C0"/>
                </a:solidFill>
                <a:latin typeface="Times New Roman" pitchFamily="18" charset="0"/>
                <a:cs typeface="Times New Roman" pitchFamily="18" charset="0"/>
              </a:rPr>
              <a:t>: </a:t>
            </a:r>
            <a:r>
              <a:rPr lang="en-US" sz="2400" dirty="0">
                <a:latin typeface="Times New Roman" pitchFamily="18" charset="0"/>
                <a:cs typeface="Times New Roman" pitchFamily="18" charset="0"/>
              </a:rPr>
              <a:t>A thin porous polymer membrane (polyethylene or polypropylene) that prevents contact between electrodes but allows ionic </a:t>
            </a:r>
            <a:r>
              <a:rPr lang="en-US" sz="2400" dirty="0" smtClean="0">
                <a:latin typeface="Times New Roman" pitchFamily="18" charset="0"/>
                <a:cs typeface="Times New Roman" pitchFamily="18" charset="0"/>
              </a:rPr>
              <a:t>movement.</a:t>
            </a:r>
          </a:p>
          <a:p>
            <a:pPr marL="1257300" lvl="2" indent="-342900" algn="just">
              <a:buFont typeface="Arial" pitchFamily="34" charset="0"/>
              <a:buChar char="•"/>
            </a:pPr>
            <a:r>
              <a:rPr lang="en-US" sz="2400" dirty="0" smtClean="0">
                <a:solidFill>
                  <a:srgbClr val="0070C0"/>
                </a:solidFill>
                <a:latin typeface="Times New Roman" pitchFamily="18" charset="0"/>
                <a:cs typeface="Times New Roman" pitchFamily="18" charset="0"/>
              </a:rPr>
              <a:t>Current </a:t>
            </a:r>
            <a:r>
              <a:rPr lang="en-US" sz="2400" dirty="0">
                <a:solidFill>
                  <a:srgbClr val="0070C0"/>
                </a:solidFill>
                <a:latin typeface="Times New Roman" pitchFamily="18" charset="0"/>
                <a:cs typeface="Times New Roman" pitchFamily="18" charset="0"/>
              </a:rPr>
              <a:t>Collectors: </a:t>
            </a:r>
            <a:r>
              <a:rPr lang="en-US" sz="2400" dirty="0">
                <a:latin typeface="Times New Roman" pitchFamily="18" charset="0"/>
                <a:cs typeface="Times New Roman" pitchFamily="18" charset="0"/>
              </a:rPr>
              <a:t>Copper foil (anode) and Aluminum foil (cathode</a:t>
            </a:r>
            <a:r>
              <a:rPr lang="en-US" sz="2400" dirty="0" smtClean="0">
                <a:latin typeface="Times New Roman" pitchFamily="18" charset="0"/>
                <a:cs typeface="Times New Roman" pitchFamily="18" charset="0"/>
              </a:rPr>
              <a:t>).</a:t>
            </a:r>
          </a:p>
          <a:p>
            <a:r>
              <a:rPr lang="en-US" sz="2400" b="1" dirty="0" smtClean="0">
                <a:solidFill>
                  <a:srgbClr val="C00000"/>
                </a:solidFill>
                <a:latin typeface="Times New Roman" pitchFamily="18" charset="0"/>
                <a:cs typeface="Times New Roman" pitchFamily="18" charset="0"/>
              </a:rPr>
              <a:t>PRINCIPLE</a:t>
            </a:r>
          </a:p>
          <a:p>
            <a:pPr marL="1257300" lvl="2" indent="-342900">
              <a:buFont typeface="Wingdings" pitchFamily="2" charset="2"/>
              <a:buChar char="v"/>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working principle of a Li-ion battery is based on the reversible intercalation and de-intercalation of lithium ions between the anode and cathode. </a:t>
            </a:r>
            <a:endParaRPr lang="en-US" sz="2400" dirty="0" smtClean="0">
              <a:latin typeface="Times New Roman" pitchFamily="18" charset="0"/>
              <a:cs typeface="Times New Roman" pitchFamily="18" charset="0"/>
            </a:endParaRPr>
          </a:p>
          <a:p>
            <a:pPr marL="1257300" lvl="2" indent="-342900">
              <a:buFont typeface="Wingdings" pitchFamily="2" charset="2"/>
              <a:buChar char="v"/>
            </a:pPr>
            <a:r>
              <a:rPr lang="en-US" sz="2400" dirty="0" smtClean="0">
                <a:latin typeface="Times New Roman" pitchFamily="18" charset="0"/>
                <a:cs typeface="Times New Roman" pitchFamily="18" charset="0"/>
              </a:rPr>
              <a:t>During </a:t>
            </a:r>
            <a:r>
              <a:rPr lang="en-US" sz="2400" dirty="0">
                <a:latin typeface="Times New Roman" pitchFamily="18" charset="0"/>
                <a:cs typeface="Times New Roman" pitchFamily="18" charset="0"/>
              </a:rPr>
              <a:t>charging, lithium ions move from the cathode to the anode and get stored in graphite layers. </a:t>
            </a:r>
            <a:endParaRPr lang="en-US" sz="2400" dirty="0" smtClean="0">
              <a:latin typeface="Times New Roman" pitchFamily="18" charset="0"/>
              <a:cs typeface="Times New Roman" pitchFamily="18" charset="0"/>
            </a:endParaRPr>
          </a:p>
          <a:p>
            <a:pPr marL="1257300" lvl="2" indent="-342900">
              <a:buFont typeface="Wingdings" pitchFamily="2" charset="2"/>
              <a:buChar char="v"/>
            </a:pPr>
            <a:r>
              <a:rPr lang="en-US" sz="2400" dirty="0" smtClean="0">
                <a:latin typeface="Times New Roman" pitchFamily="18" charset="0"/>
                <a:cs typeface="Times New Roman" pitchFamily="18" charset="0"/>
              </a:rPr>
              <a:t>During </a:t>
            </a:r>
            <a:r>
              <a:rPr lang="en-US" sz="2400" dirty="0">
                <a:latin typeface="Times New Roman" pitchFamily="18" charset="0"/>
                <a:cs typeface="Times New Roman" pitchFamily="18" charset="0"/>
              </a:rPr>
              <a:t>discharging, lithium ions move back to the cathode, releasing electrical energy</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1103186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12192000" cy="6001643"/>
          </a:xfrm>
          <a:prstGeom prst="rect">
            <a:avLst/>
          </a:prstGeom>
        </p:spPr>
        <p:txBody>
          <a:bodyPr wrap="square">
            <a:spAutoFit/>
          </a:bodyPr>
          <a:lstStyle/>
          <a:p>
            <a:r>
              <a:rPr lang="en-US" sz="2400" b="1" dirty="0" smtClean="0">
                <a:solidFill>
                  <a:srgbClr val="C00000"/>
                </a:solidFill>
                <a:latin typeface="Times New Roman" pitchFamily="18" charset="0"/>
                <a:cs typeface="Times New Roman" pitchFamily="18" charset="0"/>
              </a:rPr>
              <a:t>WORKING MECHANISM</a:t>
            </a:r>
          </a:p>
          <a:p>
            <a:endParaRPr lang="en-US" sz="2400" b="1" dirty="0" smtClean="0">
              <a:solidFill>
                <a:srgbClr val="C00000"/>
              </a:solidFill>
              <a:latin typeface="Times New Roman" pitchFamily="18" charset="0"/>
              <a:cs typeface="Times New Roman" pitchFamily="18" charset="0"/>
            </a:endParaRPr>
          </a:p>
          <a:p>
            <a:pPr marL="514350" indent="-514350" algn="just">
              <a:buFont typeface="+mj-lt"/>
              <a:buAutoNum type="romanUcPeriod"/>
            </a:pPr>
            <a:r>
              <a:rPr lang="en-US" sz="2400" b="1" dirty="0" smtClean="0">
                <a:solidFill>
                  <a:srgbClr val="0070C0"/>
                </a:solidFill>
                <a:latin typeface="Times New Roman" pitchFamily="18" charset="0"/>
                <a:cs typeface="Times New Roman" pitchFamily="18" charset="0"/>
              </a:rPr>
              <a:t>Charging process: </a:t>
            </a:r>
            <a:r>
              <a:rPr lang="en-US" sz="2400" dirty="0" smtClean="0">
                <a:latin typeface="Times New Roman" pitchFamily="18" charset="0"/>
                <a:cs typeface="Times New Roman" pitchFamily="18" charset="0"/>
              </a:rPr>
              <a:t>An external power source supplies current. Lithium ions move from the cathode (LiCoO₂) through the electrolyte and get intercalated into the graphite anode. Electrons flow through the external circuit to balance charge. Cathode releases Li⁺ and electron, anode stores them.</a:t>
            </a:r>
          </a:p>
          <a:p>
            <a:pPr algn="just"/>
            <a:endParaRPr lang="en-US" sz="2400" dirty="0" smtClean="0">
              <a:latin typeface="Times New Roman" pitchFamily="18" charset="0"/>
              <a:cs typeface="Times New Roman" pitchFamily="18" charset="0"/>
            </a:endParaRPr>
          </a:p>
          <a:p>
            <a:pPr lvl="1"/>
            <a:r>
              <a:rPr lang="en-US" sz="2400" dirty="0" smtClean="0">
                <a:solidFill>
                  <a:srgbClr val="C00000"/>
                </a:solidFill>
                <a:latin typeface="Times New Roman" pitchFamily="18" charset="0"/>
                <a:cs typeface="Times New Roman" pitchFamily="18" charset="0"/>
              </a:rPr>
              <a:t>At </a:t>
            </a:r>
            <a:r>
              <a:rPr lang="en-US" sz="2400" dirty="0">
                <a:solidFill>
                  <a:srgbClr val="C00000"/>
                </a:solidFill>
                <a:latin typeface="Times New Roman" pitchFamily="18" charset="0"/>
                <a:cs typeface="Times New Roman" pitchFamily="18" charset="0"/>
              </a:rPr>
              <a:t>Cathode (LiCoO₂ </a:t>
            </a:r>
            <a:r>
              <a:rPr lang="en-US" sz="2400" dirty="0" smtClean="0">
                <a:solidFill>
                  <a:srgbClr val="C00000"/>
                </a:solidFill>
                <a:latin typeface="Times New Roman" pitchFamily="18" charset="0"/>
                <a:cs typeface="Times New Roman" pitchFamily="18" charset="0"/>
              </a:rPr>
              <a:t>): </a:t>
            </a:r>
            <a:r>
              <a:rPr lang="en-US" sz="2400" b="1" dirty="0" smtClean="0">
                <a:solidFill>
                  <a:srgbClr val="0070C0"/>
                </a:solidFill>
                <a:latin typeface="Times New Roman" pitchFamily="18" charset="0"/>
                <a:cs typeface="Times New Roman" pitchFamily="18" charset="0"/>
              </a:rPr>
              <a:t>LiCoO</a:t>
            </a:r>
            <a:r>
              <a:rPr lang="en-US" sz="2400" b="1" dirty="0">
                <a:solidFill>
                  <a:srgbClr val="0070C0"/>
                </a:solidFill>
                <a:latin typeface="Times New Roman" pitchFamily="18" charset="0"/>
                <a:cs typeface="Times New Roman" pitchFamily="18" charset="0"/>
              </a:rPr>
              <a:t>₂ → Li₁₋ₓCoO₂ + xLi⁺ + xe⁻</a:t>
            </a:r>
          </a:p>
          <a:p>
            <a:pPr lvl="1"/>
            <a:r>
              <a:rPr lang="en-US" sz="2400" dirty="0" smtClean="0">
                <a:solidFill>
                  <a:srgbClr val="C00000"/>
                </a:solidFill>
                <a:latin typeface="Times New Roman" pitchFamily="18" charset="0"/>
                <a:cs typeface="Times New Roman" pitchFamily="18" charset="0"/>
              </a:rPr>
              <a:t>At </a:t>
            </a:r>
            <a:r>
              <a:rPr lang="en-US" sz="2400" dirty="0">
                <a:solidFill>
                  <a:srgbClr val="C00000"/>
                </a:solidFill>
                <a:latin typeface="Times New Roman" pitchFamily="18" charset="0"/>
                <a:cs typeface="Times New Roman" pitchFamily="18" charset="0"/>
              </a:rPr>
              <a:t>Anode (Graphite</a:t>
            </a:r>
            <a:r>
              <a:rPr lang="en-US" sz="2400" dirty="0" smtClean="0">
                <a:solidFill>
                  <a:srgbClr val="C00000"/>
                </a:solidFill>
                <a:latin typeface="Times New Roman" pitchFamily="18" charset="0"/>
                <a:cs typeface="Times New Roman" pitchFamily="18" charset="0"/>
              </a:rPr>
              <a:t>):    </a:t>
            </a:r>
            <a:r>
              <a:rPr lang="en-US" sz="2400" b="1" dirty="0" smtClean="0">
                <a:solidFill>
                  <a:srgbClr val="0070C0"/>
                </a:solidFill>
                <a:latin typeface="Times New Roman" pitchFamily="18" charset="0"/>
                <a:cs typeface="Times New Roman" pitchFamily="18" charset="0"/>
              </a:rPr>
              <a:t>C</a:t>
            </a:r>
            <a:r>
              <a:rPr lang="en-US" sz="2400" b="1" dirty="0">
                <a:solidFill>
                  <a:srgbClr val="0070C0"/>
                </a:solidFill>
                <a:latin typeface="Times New Roman" pitchFamily="18" charset="0"/>
                <a:cs typeface="Times New Roman" pitchFamily="18" charset="0"/>
              </a:rPr>
              <a:t>₆ + Li⁺ + e⁻ → LiC</a:t>
            </a:r>
            <a:r>
              <a:rPr lang="en-US" sz="2400" b="1" dirty="0" smtClean="0">
                <a:solidFill>
                  <a:srgbClr val="0070C0"/>
                </a:solidFill>
                <a:latin typeface="Times New Roman" pitchFamily="18" charset="0"/>
                <a:cs typeface="Times New Roman" pitchFamily="18" charset="0"/>
              </a:rPr>
              <a:t>₆</a:t>
            </a:r>
          </a:p>
          <a:p>
            <a:pPr lvl="1"/>
            <a:endParaRPr lang="en-US" sz="2400" b="1" dirty="0" smtClean="0">
              <a:solidFill>
                <a:srgbClr val="0070C0"/>
              </a:solidFill>
              <a:latin typeface="Times New Roman" pitchFamily="18" charset="0"/>
              <a:cs typeface="Times New Roman" pitchFamily="18" charset="0"/>
            </a:endParaRPr>
          </a:p>
          <a:p>
            <a:pPr marL="514350" indent="-514350" algn="just">
              <a:buFont typeface="+mj-lt"/>
              <a:buAutoNum type="romanUcPeriod" startAt="2"/>
            </a:pPr>
            <a:r>
              <a:rPr lang="en-US" sz="2400" b="1" dirty="0" smtClean="0">
                <a:solidFill>
                  <a:srgbClr val="0070C0"/>
                </a:solidFill>
                <a:latin typeface="Times New Roman" pitchFamily="18" charset="0"/>
                <a:cs typeface="Times New Roman" pitchFamily="18" charset="0"/>
              </a:rPr>
              <a:t>Discharging process: </a:t>
            </a:r>
            <a:r>
              <a:rPr lang="en-US" sz="2400" dirty="0" smtClean="0">
                <a:latin typeface="Times New Roman" pitchFamily="18" charset="0"/>
                <a:cs typeface="Times New Roman" pitchFamily="18" charset="0"/>
              </a:rPr>
              <a:t>Lithium </a:t>
            </a:r>
            <a:r>
              <a:rPr lang="en-US" sz="2400" dirty="0">
                <a:latin typeface="Times New Roman" pitchFamily="18" charset="0"/>
                <a:cs typeface="Times New Roman" pitchFamily="18" charset="0"/>
              </a:rPr>
              <a:t>ions migrate back from the anode to the </a:t>
            </a:r>
            <a:r>
              <a:rPr lang="en-US" sz="2400" dirty="0" smtClean="0">
                <a:latin typeface="Times New Roman" pitchFamily="18" charset="0"/>
                <a:cs typeface="Times New Roman" pitchFamily="18" charset="0"/>
              </a:rPr>
              <a:t>cathode.</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Electrons </a:t>
            </a:r>
            <a:r>
              <a:rPr lang="en-US" sz="2400" dirty="0">
                <a:latin typeface="Times New Roman" pitchFamily="18" charset="0"/>
                <a:cs typeface="Times New Roman" pitchFamily="18" charset="0"/>
              </a:rPr>
              <a:t>travel through the external circuit, providing electrical power to the connected </a:t>
            </a:r>
            <a:r>
              <a:rPr lang="en-US" sz="2400" dirty="0" smtClean="0">
                <a:latin typeface="Times New Roman" pitchFamily="18" charset="0"/>
                <a:cs typeface="Times New Roman" pitchFamily="18" charset="0"/>
              </a:rPr>
              <a:t>device.</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process is reversible, making the battery rechargeable</a:t>
            </a:r>
            <a:r>
              <a:rPr lang="en-US" sz="2400" dirty="0" smtClean="0">
                <a:latin typeface="Times New Roman" pitchFamily="18" charset="0"/>
                <a:cs typeface="Times New Roman" pitchFamily="18" charset="0"/>
              </a:rPr>
              <a:t>.</a:t>
            </a:r>
          </a:p>
          <a:p>
            <a:pPr algn="just"/>
            <a:endParaRPr lang="en-US" sz="2400" dirty="0" smtClean="0">
              <a:latin typeface="Times New Roman" pitchFamily="18" charset="0"/>
              <a:cs typeface="Times New Roman" pitchFamily="18" charset="0"/>
            </a:endParaRPr>
          </a:p>
          <a:p>
            <a:pPr lvl="1"/>
            <a:r>
              <a:rPr lang="en-US" sz="2400" dirty="0">
                <a:solidFill>
                  <a:srgbClr val="C00000"/>
                </a:solidFill>
                <a:latin typeface="Times New Roman" pitchFamily="18" charset="0"/>
                <a:cs typeface="Times New Roman" pitchFamily="18" charset="0"/>
              </a:rPr>
              <a:t>At Anode (Graphite</a:t>
            </a:r>
            <a:r>
              <a:rPr lang="en-US" sz="2400" dirty="0" smtClean="0">
                <a:solidFill>
                  <a:srgbClr val="C00000"/>
                </a:solidFill>
                <a:latin typeface="Times New Roman" pitchFamily="18" charset="0"/>
                <a:cs typeface="Times New Roman" pitchFamily="18" charset="0"/>
              </a:rPr>
              <a:t>):</a:t>
            </a:r>
            <a:r>
              <a:rPr lang="en-US" sz="2400" b="1" dirty="0" smtClean="0">
                <a:solidFill>
                  <a:srgbClr val="0070C0"/>
                </a:solidFill>
                <a:latin typeface="Times New Roman" pitchFamily="18" charset="0"/>
                <a:cs typeface="Times New Roman" pitchFamily="18" charset="0"/>
              </a:rPr>
              <a:t> LiC</a:t>
            </a:r>
            <a:r>
              <a:rPr lang="en-US" sz="2400" b="1" dirty="0">
                <a:solidFill>
                  <a:srgbClr val="0070C0"/>
                </a:solidFill>
                <a:latin typeface="Times New Roman" pitchFamily="18" charset="0"/>
                <a:cs typeface="Times New Roman" pitchFamily="18" charset="0"/>
              </a:rPr>
              <a:t>₆ → C₆ + Li⁺ + e⁻</a:t>
            </a:r>
          </a:p>
          <a:p>
            <a:pPr lvl="1"/>
            <a:r>
              <a:rPr lang="en-US" sz="2400" dirty="0" smtClean="0">
                <a:solidFill>
                  <a:srgbClr val="C00000"/>
                </a:solidFill>
                <a:latin typeface="Times New Roman" pitchFamily="18" charset="0"/>
                <a:cs typeface="Times New Roman" pitchFamily="18" charset="0"/>
              </a:rPr>
              <a:t>At </a:t>
            </a:r>
            <a:r>
              <a:rPr lang="en-US" sz="2400" dirty="0">
                <a:solidFill>
                  <a:srgbClr val="C00000"/>
                </a:solidFill>
                <a:latin typeface="Times New Roman" pitchFamily="18" charset="0"/>
                <a:cs typeface="Times New Roman" pitchFamily="18" charset="0"/>
              </a:rPr>
              <a:t>Cathode (LiCoO</a:t>
            </a:r>
            <a:r>
              <a:rPr lang="en-US" sz="2400" dirty="0" smtClean="0">
                <a:solidFill>
                  <a:srgbClr val="C00000"/>
                </a:solidFill>
                <a:latin typeface="Times New Roman" pitchFamily="18" charset="0"/>
                <a:cs typeface="Times New Roman" pitchFamily="18" charset="0"/>
              </a:rPr>
              <a:t>₂): </a:t>
            </a:r>
            <a:r>
              <a:rPr lang="en-US" sz="2400" b="1" dirty="0" smtClean="0">
                <a:solidFill>
                  <a:srgbClr val="0070C0"/>
                </a:solidFill>
                <a:latin typeface="Times New Roman" pitchFamily="18" charset="0"/>
                <a:cs typeface="Times New Roman" pitchFamily="18" charset="0"/>
              </a:rPr>
              <a:t>Li</a:t>
            </a:r>
            <a:r>
              <a:rPr lang="en-US" sz="2400" b="1" dirty="0">
                <a:solidFill>
                  <a:srgbClr val="0070C0"/>
                </a:solidFill>
                <a:latin typeface="Times New Roman" pitchFamily="18" charset="0"/>
                <a:cs typeface="Times New Roman" pitchFamily="18" charset="0"/>
              </a:rPr>
              <a:t>₁₋ₓCoO₂ + xLi⁺ + xe⁻ → LiCoO</a:t>
            </a:r>
            <a:r>
              <a:rPr lang="en-US" sz="2400" b="1" dirty="0" smtClean="0">
                <a:solidFill>
                  <a:srgbClr val="0070C0"/>
                </a:solidFill>
                <a:latin typeface="Times New Roman" pitchFamily="18" charset="0"/>
                <a:cs typeface="Times New Roman" pitchFamily="18" charset="0"/>
              </a:rPr>
              <a:t>₂</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8972992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8843E390-B26B-E1A4-D5E1-F1060CFE4A3E}"/>
              </a:ext>
            </a:extLst>
          </p:cNvPr>
          <p:cNvSpPr txBox="1"/>
          <p:nvPr/>
        </p:nvSpPr>
        <p:spPr>
          <a:xfrm>
            <a:off x="152399" y="152400"/>
            <a:ext cx="7970873" cy="6740307"/>
          </a:xfrm>
          <a:prstGeom prst="rect">
            <a:avLst/>
          </a:prstGeom>
          <a:noFill/>
        </p:spPr>
        <p:txBody>
          <a:bodyPr wrap="square">
            <a:spAutoFit/>
          </a:bodyPr>
          <a:lstStyle/>
          <a:p>
            <a:pPr algn="just"/>
            <a:r>
              <a:rPr lang="en-US" sz="2400" b="1" dirty="0">
                <a:solidFill>
                  <a:srgbClr val="C00000"/>
                </a:solidFill>
                <a:latin typeface="Times New Roman" pitchFamily="18" charset="0"/>
                <a:cs typeface="Times New Roman" pitchFamily="18" charset="0"/>
              </a:rPr>
              <a:t>Applications</a:t>
            </a:r>
          </a:p>
          <a:p>
            <a:pPr marL="1257300" lvl="2" indent="-342900" algn="just">
              <a:buFont typeface="Arial" pitchFamily="34" charset="0"/>
              <a:buChar char="•"/>
            </a:pPr>
            <a:r>
              <a:rPr lang="en-US" sz="2400" dirty="0">
                <a:latin typeface="Times New Roman" pitchFamily="18" charset="0"/>
                <a:cs typeface="Times New Roman" pitchFamily="18" charset="0"/>
              </a:rPr>
              <a:t>Mobile phones, laptops, </a:t>
            </a:r>
            <a:r>
              <a:rPr lang="en-US" sz="2400" dirty="0" smtClean="0">
                <a:latin typeface="Times New Roman" pitchFamily="18" charset="0"/>
                <a:cs typeface="Times New Roman" pitchFamily="18" charset="0"/>
              </a:rPr>
              <a:t>tablets</a:t>
            </a:r>
          </a:p>
          <a:p>
            <a:pPr marL="1257300" lvl="2" indent="-342900" algn="just">
              <a:buFont typeface="Arial" pitchFamily="34" charset="0"/>
              <a:buChar char="•"/>
            </a:pPr>
            <a:r>
              <a:rPr lang="en-US" sz="2400" dirty="0" smtClean="0">
                <a:latin typeface="Times New Roman" pitchFamily="18" charset="0"/>
                <a:cs typeface="Times New Roman" pitchFamily="18" charset="0"/>
              </a:rPr>
              <a:t>Electric </a:t>
            </a:r>
            <a:r>
              <a:rPr lang="en-US" sz="2400" dirty="0">
                <a:latin typeface="Times New Roman" pitchFamily="18" charset="0"/>
                <a:cs typeface="Times New Roman" pitchFamily="18" charset="0"/>
              </a:rPr>
              <a:t>vehicles (EVs) and hybrid </a:t>
            </a:r>
            <a:r>
              <a:rPr lang="en-US" sz="2400" dirty="0" smtClean="0">
                <a:latin typeface="Times New Roman" pitchFamily="18" charset="0"/>
                <a:cs typeface="Times New Roman" pitchFamily="18" charset="0"/>
              </a:rPr>
              <a:t>vehicles</a:t>
            </a:r>
          </a:p>
          <a:p>
            <a:pPr marL="1257300" lvl="2" indent="-342900" algn="just">
              <a:buFont typeface="Arial" pitchFamily="34" charset="0"/>
              <a:buChar char="•"/>
            </a:pPr>
            <a:r>
              <a:rPr lang="en-US" sz="2400" dirty="0" smtClean="0">
                <a:latin typeface="Times New Roman" pitchFamily="18" charset="0"/>
                <a:cs typeface="Times New Roman" pitchFamily="18" charset="0"/>
              </a:rPr>
              <a:t>Aerospace </a:t>
            </a:r>
            <a:r>
              <a:rPr lang="en-US" sz="2400" dirty="0">
                <a:latin typeface="Times New Roman" pitchFamily="18" charset="0"/>
                <a:cs typeface="Times New Roman" pitchFamily="18" charset="0"/>
              </a:rPr>
              <a:t>and </a:t>
            </a:r>
            <a:r>
              <a:rPr lang="en-US" sz="2400" dirty="0" smtClean="0">
                <a:latin typeface="Times New Roman" pitchFamily="18" charset="0"/>
                <a:cs typeface="Times New Roman" pitchFamily="18" charset="0"/>
              </a:rPr>
              <a:t>defense</a:t>
            </a:r>
          </a:p>
          <a:p>
            <a:pPr marL="1257300" lvl="2" indent="-342900" algn="just">
              <a:buFont typeface="Arial" pitchFamily="34" charset="0"/>
              <a:buChar char="•"/>
            </a:pPr>
            <a:r>
              <a:rPr lang="en-US" sz="2400" dirty="0" smtClean="0">
                <a:latin typeface="Times New Roman" pitchFamily="18" charset="0"/>
                <a:cs typeface="Times New Roman" pitchFamily="18" charset="0"/>
              </a:rPr>
              <a:t>Power </a:t>
            </a:r>
            <a:r>
              <a:rPr lang="en-US" sz="2400" dirty="0">
                <a:latin typeface="Times New Roman" pitchFamily="18" charset="0"/>
                <a:cs typeface="Times New Roman" pitchFamily="18" charset="0"/>
              </a:rPr>
              <a:t>backup (UPS </a:t>
            </a:r>
            <a:r>
              <a:rPr lang="en-US" sz="2400" dirty="0" smtClean="0">
                <a:latin typeface="Times New Roman" pitchFamily="18" charset="0"/>
                <a:cs typeface="Times New Roman" pitchFamily="18" charset="0"/>
              </a:rPr>
              <a:t>systems)</a:t>
            </a:r>
          </a:p>
          <a:p>
            <a:pPr marL="1257300" lvl="2" indent="-342900" algn="just">
              <a:buFont typeface="Arial" pitchFamily="34" charset="0"/>
              <a:buChar char="•"/>
            </a:pPr>
            <a:r>
              <a:rPr lang="en-US" sz="2400" dirty="0" smtClean="0">
                <a:latin typeface="Times New Roman" pitchFamily="18" charset="0"/>
                <a:cs typeface="Times New Roman" pitchFamily="18" charset="0"/>
              </a:rPr>
              <a:t>Medical </a:t>
            </a:r>
            <a:r>
              <a:rPr lang="en-US" sz="2400" dirty="0">
                <a:latin typeface="Times New Roman" pitchFamily="18" charset="0"/>
                <a:cs typeface="Times New Roman" pitchFamily="18" charset="0"/>
              </a:rPr>
              <a:t>devices (pacemakers, hearing aids)</a:t>
            </a:r>
          </a:p>
          <a:p>
            <a:pPr algn="just"/>
            <a:r>
              <a:rPr lang="en-US" sz="2400" b="1" dirty="0">
                <a:solidFill>
                  <a:srgbClr val="C00000"/>
                </a:solidFill>
                <a:latin typeface="Times New Roman" pitchFamily="18" charset="0"/>
                <a:cs typeface="Times New Roman" pitchFamily="18" charset="0"/>
              </a:rPr>
              <a:t>Advantages</a:t>
            </a:r>
          </a:p>
          <a:p>
            <a:pPr marL="1714500" lvl="3" indent="-342900" algn="just">
              <a:buFont typeface="Arial" pitchFamily="34" charset="0"/>
              <a:buChar char="•"/>
            </a:pPr>
            <a:r>
              <a:rPr lang="en-US" sz="2400" dirty="0">
                <a:latin typeface="Times New Roman" pitchFamily="18" charset="0"/>
                <a:cs typeface="Times New Roman" pitchFamily="18" charset="0"/>
              </a:rPr>
              <a:t>High energy density </a:t>
            </a:r>
            <a:r>
              <a:rPr lang="en-US" sz="2400" dirty="0" smtClean="0">
                <a:latin typeface="Times New Roman" pitchFamily="18" charset="0"/>
                <a:cs typeface="Times New Roman" pitchFamily="18" charset="0"/>
              </a:rPr>
              <a:t>(smaller size)</a:t>
            </a:r>
          </a:p>
          <a:p>
            <a:pPr marL="1714500" lvl="3" indent="-342900" algn="just">
              <a:buFont typeface="Arial" pitchFamily="34" charset="0"/>
              <a:buChar char="•"/>
            </a:pPr>
            <a:r>
              <a:rPr lang="en-US" sz="2400" dirty="0" smtClean="0">
                <a:latin typeface="Times New Roman" pitchFamily="18" charset="0"/>
                <a:cs typeface="Times New Roman" pitchFamily="18" charset="0"/>
              </a:rPr>
              <a:t>Lightweight batteries</a:t>
            </a:r>
          </a:p>
          <a:p>
            <a:pPr marL="1714500" lvl="3" indent="-342900" algn="just">
              <a:buFont typeface="Arial" pitchFamily="34" charset="0"/>
              <a:buChar char="•"/>
            </a:pPr>
            <a:r>
              <a:rPr lang="en-US" sz="2400" dirty="0" smtClean="0">
                <a:latin typeface="Times New Roman" pitchFamily="18" charset="0"/>
                <a:cs typeface="Times New Roman" pitchFamily="18" charset="0"/>
              </a:rPr>
              <a:t>Low </a:t>
            </a:r>
            <a:r>
              <a:rPr lang="en-US" sz="2400" dirty="0">
                <a:latin typeface="Times New Roman" pitchFamily="18" charset="0"/>
                <a:cs typeface="Times New Roman" pitchFamily="18" charset="0"/>
              </a:rPr>
              <a:t>self-discharge </a:t>
            </a:r>
            <a:r>
              <a:rPr lang="en-US" sz="2400" dirty="0" smtClean="0">
                <a:latin typeface="Times New Roman" pitchFamily="18" charset="0"/>
                <a:cs typeface="Times New Roman" pitchFamily="18" charset="0"/>
              </a:rPr>
              <a:t>rate</a:t>
            </a:r>
          </a:p>
          <a:p>
            <a:pPr marL="1714500" lvl="3" indent="-342900" algn="just">
              <a:buFont typeface="Arial" pitchFamily="34" charset="0"/>
              <a:buChar char="•"/>
            </a:pPr>
            <a:r>
              <a:rPr lang="en-US" sz="2400" dirty="0" smtClean="0">
                <a:latin typeface="Times New Roman" pitchFamily="18" charset="0"/>
                <a:cs typeface="Times New Roman" pitchFamily="18" charset="0"/>
              </a:rPr>
              <a:t>Long </a:t>
            </a:r>
            <a:r>
              <a:rPr lang="en-US" sz="2400" dirty="0">
                <a:latin typeface="Times New Roman" pitchFamily="18" charset="0"/>
                <a:cs typeface="Times New Roman" pitchFamily="18" charset="0"/>
              </a:rPr>
              <a:t>cycle life </a:t>
            </a:r>
            <a:r>
              <a:rPr lang="en-US" sz="2400" dirty="0" smtClean="0">
                <a:latin typeface="Times New Roman" pitchFamily="18" charset="0"/>
                <a:cs typeface="Times New Roman" pitchFamily="18" charset="0"/>
              </a:rPr>
              <a:t>Environmentally friendlier</a:t>
            </a:r>
            <a:endParaRPr lang="en-US" sz="2400" dirty="0">
              <a:latin typeface="Times New Roman" pitchFamily="18" charset="0"/>
              <a:cs typeface="Times New Roman" pitchFamily="18" charset="0"/>
            </a:endParaRPr>
          </a:p>
          <a:p>
            <a:pPr algn="just"/>
            <a:r>
              <a:rPr lang="en-US" sz="2400" b="1" dirty="0">
                <a:solidFill>
                  <a:srgbClr val="C00000"/>
                </a:solidFill>
                <a:latin typeface="Times New Roman" pitchFamily="18" charset="0"/>
                <a:cs typeface="Times New Roman" pitchFamily="18" charset="0"/>
              </a:rPr>
              <a:t>Limitations</a:t>
            </a:r>
          </a:p>
          <a:p>
            <a:pPr marL="800100" lvl="1" indent="-342900" algn="just">
              <a:buFont typeface="Arial" pitchFamily="34" charset="0"/>
              <a:buChar char="•"/>
            </a:pPr>
            <a:r>
              <a:rPr lang="en-US" sz="2400" dirty="0">
                <a:latin typeface="Times New Roman" pitchFamily="18" charset="0"/>
                <a:cs typeface="Times New Roman" pitchFamily="18" charset="0"/>
              </a:rPr>
              <a:t>High initial </a:t>
            </a:r>
            <a:r>
              <a:rPr lang="en-US" sz="2400" dirty="0" smtClean="0">
                <a:latin typeface="Times New Roman" pitchFamily="18" charset="0"/>
                <a:cs typeface="Times New Roman" pitchFamily="18" charset="0"/>
              </a:rPr>
              <a:t>cost</a:t>
            </a:r>
          </a:p>
          <a:p>
            <a:pPr marL="800100" lvl="1" indent="-342900" algn="just">
              <a:buFont typeface="Arial" pitchFamily="34" charset="0"/>
              <a:buChar char="•"/>
            </a:pPr>
            <a:r>
              <a:rPr lang="en-US" sz="2400" dirty="0" smtClean="0">
                <a:latin typeface="Times New Roman" pitchFamily="18" charset="0"/>
                <a:cs typeface="Times New Roman" pitchFamily="18" charset="0"/>
              </a:rPr>
              <a:t>Requires protection to </a:t>
            </a:r>
            <a:r>
              <a:rPr lang="en-US" sz="2400" dirty="0">
                <a:latin typeface="Times New Roman" pitchFamily="18" charset="0"/>
                <a:cs typeface="Times New Roman" pitchFamily="18" charset="0"/>
              </a:rPr>
              <a:t>avoid </a:t>
            </a:r>
            <a:r>
              <a:rPr lang="en-US" sz="2400" dirty="0" smtClean="0">
                <a:latin typeface="Times New Roman" pitchFamily="18" charset="0"/>
                <a:cs typeface="Times New Roman" pitchFamily="18" charset="0"/>
              </a:rPr>
              <a:t>overcharging or discharging</a:t>
            </a:r>
            <a:endParaRPr lang="en-US" sz="2400" dirty="0">
              <a:latin typeface="Times New Roman" pitchFamily="18" charset="0"/>
              <a:cs typeface="Times New Roman" pitchFamily="18" charset="0"/>
            </a:endParaRPr>
          </a:p>
          <a:p>
            <a:pPr marL="800100" lvl="1" indent="-342900" algn="just">
              <a:buFont typeface="Arial" pitchFamily="34" charset="0"/>
              <a:buChar char="•"/>
            </a:pPr>
            <a:r>
              <a:rPr lang="en-US" sz="2400" dirty="0" smtClean="0">
                <a:latin typeface="Times New Roman" pitchFamily="18" charset="0"/>
                <a:cs typeface="Times New Roman" pitchFamily="18" charset="0"/>
              </a:rPr>
              <a:t>Sensitive </a:t>
            </a:r>
            <a:r>
              <a:rPr lang="en-US" sz="2400" dirty="0">
                <a:latin typeface="Times New Roman" pitchFamily="18" charset="0"/>
                <a:cs typeface="Times New Roman" pitchFamily="18" charset="0"/>
              </a:rPr>
              <a:t>to high </a:t>
            </a:r>
            <a:r>
              <a:rPr lang="en-US" sz="2400" dirty="0" smtClean="0">
                <a:latin typeface="Times New Roman" pitchFamily="18" charset="0"/>
                <a:cs typeface="Times New Roman" pitchFamily="18" charset="0"/>
              </a:rPr>
              <a:t>temperature</a:t>
            </a:r>
          </a:p>
          <a:p>
            <a:pPr marL="800100" lvl="1" indent="-342900" algn="just">
              <a:buFont typeface="Arial" pitchFamily="34" charset="0"/>
              <a:buChar char="•"/>
            </a:pPr>
            <a:r>
              <a:rPr lang="en-US" sz="2400" dirty="0" smtClean="0">
                <a:latin typeface="Times New Roman" pitchFamily="18" charset="0"/>
                <a:cs typeface="Times New Roman" pitchFamily="18" charset="0"/>
              </a:rPr>
              <a:t>Performance </a:t>
            </a:r>
            <a:r>
              <a:rPr lang="en-US" sz="2400" dirty="0">
                <a:latin typeface="Times New Roman" pitchFamily="18" charset="0"/>
                <a:cs typeface="Times New Roman" pitchFamily="18" charset="0"/>
              </a:rPr>
              <a:t>decreases in very low </a:t>
            </a:r>
            <a:r>
              <a:rPr lang="en-US" sz="2400" dirty="0" smtClean="0">
                <a:latin typeface="Times New Roman" pitchFamily="18" charset="0"/>
                <a:cs typeface="Times New Roman" pitchFamily="18" charset="0"/>
              </a:rPr>
              <a:t>temperatures</a:t>
            </a:r>
          </a:p>
          <a:p>
            <a:pPr marL="800100" lvl="1" indent="-342900" algn="just">
              <a:buFont typeface="Arial" pitchFamily="34" charset="0"/>
              <a:buChar char="•"/>
            </a:pPr>
            <a:r>
              <a:rPr lang="en-US" sz="2400" dirty="0" smtClean="0">
                <a:latin typeface="Times New Roman" pitchFamily="18" charset="0"/>
                <a:cs typeface="Times New Roman" pitchFamily="18" charset="0"/>
              </a:rPr>
              <a:t>Recycling </a:t>
            </a:r>
            <a:r>
              <a:rPr lang="en-US" sz="2400" dirty="0">
                <a:latin typeface="Times New Roman" pitchFamily="18" charset="0"/>
                <a:cs typeface="Times New Roman" pitchFamily="18" charset="0"/>
              </a:rPr>
              <a:t>challenges due to toxic electrolytes and flammable organic </a:t>
            </a:r>
            <a:r>
              <a:rPr lang="en-US" sz="2400" dirty="0" smtClean="0">
                <a:latin typeface="Times New Roman" pitchFamily="18" charset="0"/>
                <a:cs typeface="Times New Roman" pitchFamily="18" charset="0"/>
              </a:rPr>
              <a:t>solvents.</a:t>
            </a:r>
            <a:endParaRPr lang="en-US" sz="2400" dirty="0">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xmlns="" id="{7B1F5414-746C-79EB-A500-294EAC0F5F2E}"/>
              </a:ext>
            </a:extLst>
          </p:cNvPr>
          <p:cNvPicPr>
            <a:picLocks noChangeAspect="1"/>
          </p:cNvPicPr>
          <p:nvPr/>
        </p:nvPicPr>
        <p:blipFill rotWithShape="1">
          <a:blip r:embed="rId3"/>
          <a:srcRect r="2401" b="5477"/>
          <a:stretch/>
        </p:blipFill>
        <p:spPr>
          <a:xfrm>
            <a:off x="8123273" y="310526"/>
            <a:ext cx="4525927" cy="6077506"/>
          </a:xfrm>
          <a:prstGeom prst="rect">
            <a:avLst/>
          </a:prstGeom>
        </p:spPr>
      </p:pic>
    </p:spTree>
    <p:extLst>
      <p:ext uri="{BB962C8B-B14F-4D97-AF65-F5344CB8AC3E}">
        <p14:creationId xmlns:p14="http://schemas.microsoft.com/office/powerpoint/2010/main" val="10281205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FADCC79-2E2C-38F2-5858-AC040FE5D209}"/>
              </a:ext>
            </a:extLst>
          </p:cNvPr>
          <p:cNvSpPr txBox="1"/>
          <p:nvPr/>
        </p:nvSpPr>
        <p:spPr>
          <a:xfrm>
            <a:off x="287079" y="762000"/>
            <a:ext cx="12301870" cy="5628529"/>
          </a:xfrm>
          <a:prstGeom prst="rect">
            <a:avLst/>
          </a:prstGeom>
          <a:noFill/>
        </p:spPr>
        <p:txBody>
          <a:bodyPr wrap="square">
            <a:spAutoFit/>
          </a:bodyPr>
          <a:lstStyle/>
          <a:p>
            <a:pPr marL="342900" marR="0" indent="-342900" algn="just">
              <a:lnSpc>
                <a:spcPct val="107000"/>
              </a:lnSpc>
              <a:spcBef>
                <a:spcPts val="0"/>
              </a:spcBef>
              <a:spcAft>
                <a:spcPts val="800"/>
              </a:spcAft>
              <a:buClr>
                <a:srgbClr val="7030A0"/>
              </a:buClr>
              <a:buFont typeface="Wingdings" panose="05000000000000000000" pitchFamily="2" charset="2"/>
              <a:buChar char="v"/>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A fuel cell is an electrochemical cell, converts chemical energy of a fuel and oxidant into electrical energy.</a:t>
            </a:r>
          </a:p>
          <a:p>
            <a:pPr marL="342900" marR="0" indent="-342900" algn="just">
              <a:lnSpc>
                <a:spcPct val="107000"/>
              </a:lnSpc>
              <a:spcBef>
                <a:spcPts val="0"/>
              </a:spcBef>
              <a:spcAft>
                <a:spcPts val="800"/>
              </a:spcAft>
              <a:buClr>
                <a:srgbClr val="7030A0"/>
              </a:buClr>
              <a:buFont typeface="Wingdings" panose="05000000000000000000" pitchFamily="2" charset="2"/>
              <a:buChar char="v"/>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The principle of fuel cell is same as that of the electro chemical cell, only difference is, the fuel and oxidant stored outside the cell.</a:t>
            </a:r>
          </a:p>
          <a:p>
            <a:pPr marL="342900" marR="0" indent="-342900" algn="just">
              <a:lnSpc>
                <a:spcPct val="107000"/>
              </a:lnSpc>
              <a:spcBef>
                <a:spcPts val="0"/>
              </a:spcBef>
              <a:spcAft>
                <a:spcPts val="800"/>
              </a:spcAft>
              <a:buClr>
                <a:srgbClr val="7030A0"/>
              </a:buClr>
              <a:buFont typeface="Wingdings" panose="05000000000000000000" pitchFamily="2" charset="2"/>
              <a:buChar char="v"/>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These are also primary cells, but the electricity can be generated as long as the fuel and oxygen are supplied into the cell.</a:t>
            </a:r>
          </a:p>
          <a:p>
            <a:pPr marL="342900" marR="0" indent="-342900" algn="just">
              <a:lnSpc>
                <a:spcPct val="107000"/>
              </a:lnSpc>
              <a:spcBef>
                <a:spcPts val="0"/>
              </a:spcBef>
              <a:spcAft>
                <a:spcPts val="800"/>
              </a:spcAft>
              <a:buClr>
                <a:srgbClr val="7030A0"/>
              </a:buClr>
              <a:buFont typeface="Wingdings" panose="05000000000000000000" pitchFamily="2" charset="2"/>
              <a:buChar char="v"/>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This cell consists of a liquid electrolyte sandwiched between the two porous electrodes.</a:t>
            </a:r>
          </a:p>
          <a:p>
            <a:pPr marL="342900" marR="0" indent="-342900" algn="just">
              <a:lnSpc>
                <a:spcPct val="107000"/>
              </a:lnSpc>
              <a:spcBef>
                <a:spcPts val="0"/>
              </a:spcBef>
              <a:spcAft>
                <a:spcPts val="800"/>
              </a:spcAft>
              <a:buClr>
                <a:srgbClr val="7030A0"/>
              </a:buClr>
              <a:buFont typeface="Wingdings" panose="05000000000000000000" pitchFamily="2" charset="2"/>
              <a:buChar char="v"/>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Porous electrodes are used in fuel cells to provide a large surface area.</a:t>
            </a:r>
          </a:p>
          <a:p>
            <a:pPr marL="342900" marR="0" indent="-342900" algn="just">
              <a:lnSpc>
                <a:spcPct val="107000"/>
              </a:lnSpc>
              <a:spcBef>
                <a:spcPts val="0"/>
              </a:spcBef>
              <a:spcAft>
                <a:spcPts val="800"/>
              </a:spcAft>
              <a:buClr>
                <a:srgbClr val="7030A0"/>
              </a:buClr>
              <a:buFont typeface="Wingdings" panose="05000000000000000000" pitchFamily="2" charset="2"/>
              <a:buChar char="v"/>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A catalyst such as Pt, Pd, Mg or Ni is often used to initiate and speed up the reactions.</a:t>
            </a: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07000"/>
              </a:lnSpc>
              <a:spcBef>
                <a:spcPts val="0"/>
              </a:spcBef>
              <a:spcAft>
                <a:spcPts val="800"/>
              </a:spcAft>
              <a:buClr>
                <a:srgbClr val="7030A0"/>
              </a:buClr>
              <a:buFont typeface="Wingdings" panose="05000000000000000000" pitchFamily="2" charset="2"/>
              <a:buChar char="v"/>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There is no combustion involved. Oxidation of the hydrogen takes place electrochemically.</a:t>
            </a:r>
          </a:p>
          <a:p>
            <a:pPr marL="342900" marR="0" indent="-342900" algn="just">
              <a:lnSpc>
                <a:spcPct val="107000"/>
              </a:lnSpc>
              <a:spcBef>
                <a:spcPts val="0"/>
              </a:spcBef>
              <a:spcAft>
                <a:spcPts val="800"/>
              </a:spcAft>
              <a:buClr>
                <a:srgbClr val="7030A0"/>
              </a:buClr>
              <a:buFont typeface="Wingdings" panose="05000000000000000000" pitchFamily="2" charset="2"/>
              <a:buChar char="v"/>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It is highly eco-friendly i.e. there is no harmful product.</a:t>
            </a:r>
          </a:p>
          <a:p>
            <a:pPr algn="ctr">
              <a:lnSpc>
                <a:spcPct val="107000"/>
              </a:lnSpc>
              <a:spcAft>
                <a:spcPts val="800"/>
              </a:spcAft>
            </a:pPr>
            <a:r>
              <a:rPr lang="en-US" sz="2400" b="1" kern="1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Example: CH</a:t>
            </a:r>
            <a:r>
              <a:rPr lang="en-US" sz="2400" b="1" kern="100" baseline="-250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3</a:t>
            </a:r>
            <a:r>
              <a:rPr lang="en-US" sz="2400" b="1" kern="1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OH-O</a:t>
            </a:r>
            <a:r>
              <a:rPr lang="en-US" sz="2400" b="1" kern="100" baseline="-250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kern="1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Fuel cell.</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xmlns="" id="{7D06F120-302A-2FA4-1A66-6E7514F298BA}"/>
              </a:ext>
            </a:extLst>
          </p:cNvPr>
          <p:cNvSpPr txBox="1"/>
          <p:nvPr/>
        </p:nvSpPr>
        <p:spPr>
          <a:xfrm>
            <a:off x="3955311" y="152400"/>
            <a:ext cx="4869712" cy="583750"/>
          </a:xfrm>
          <a:prstGeom prst="rect">
            <a:avLst/>
          </a:prstGeom>
          <a:noFill/>
        </p:spPr>
        <p:txBody>
          <a:bodyPr wrap="square">
            <a:spAutoFit/>
          </a:bodyPr>
          <a:lstStyle/>
          <a:p>
            <a:pPr marL="0" marR="0" algn="ctr">
              <a:lnSpc>
                <a:spcPct val="107000"/>
              </a:lnSpc>
              <a:spcBef>
                <a:spcPts val="0"/>
              </a:spcBef>
              <a:spcAft>
                <a:spcPts val="800"/>
              </a:spcAft>
            </a:pPr>
            <a:r>
              <a:rPr lang="en-US" sz="32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Fuel cells or Flow batteries</a:t>
            </a:r>
          </a:p>
        </p:txBody>
      </p:sp>
    </p:spTree>
    <p:extLst>
      <p:ext uri="{BB962C8B-B14F-4D97-AF65-F5344CB8AC3E}">
        <p14:creationId xmlns:p14="http://schemas.microsoft.com/office/powerpoint/2010/main" val="17790553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08859333"/>
              </p:ext>
            </p:extLst>
          </p:nvPr>
        </p:nvGraphicFramePr>
        <p:xfrm>
          <a:off x="381000" y="780288"/>
          <a:ext cx="11963401" cy="5468112"/>
        </p:xfrm>
        <a:graphic>
          <a:graphicData uri="http://schemas.openxmlformats.org/drawingml/2006/table">
            <a:tbl>
              <a:tblPr firstRow="1" firstCol="1" bandRow="1">
                <a:tableStyleId>{5C22544A-7EE6-4342-B048-85BDC9FD1C3A}</a:tableStyleId>
              </a:tblPr>
              <a:tblGrid>
                <a:gridCol w="1828800"/>
                <a:gridCol w="4800600"/>
                <a:gridCol w="5334001"/>
              </a:tblGrid>
              <a:tr h="0">
                <a:tc>
                  <a:txBody>
                    <a:bodyPr/>
                    <a:lstStyle/>
                    <a:p>
                      <a:pPr marL="0" marR="0" algn="l">
                        <a:lnSpc>
                          <a:spcPct val="115000"/>
                        </a:lnSpc>
                        <a:spcBef>
                          <a:spcPts val="0"/>
                        </a:spcBef>
                        <a:spcAft>
                          <a:spcPts val="0"/>
                        </a:spcAft>
                      </a:pPr>
                      <a:r>
                        <a:rPr lang="en-US" sz="2400" dirty="0">
                          <a:effectLst/>
                          <a:latin typeface="Times New Roman" pitchFamily="18" charset="0"/>
                          <a:cs typeface="Times New Roman" pitchFamily="18" charset="0"/>
                        </a:rPr>
                        <a:t>Feature</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gn="ctr">
                        <a:lnSpc>
                          <a:spcPct val="115000"/>
                        </a:lnSpc>
                        <a:spcBef>
                          <a:spcPts val="0"/>
                        </a:spcBef>
                        <a:spcAft>
                          <a:spcPts val="0"/>
                        </a:spcAft>
                      </a:pPr>
                      <a:r>
                        <a:rPr lang="en-US" sz="2400">
                          <a:effectLst/>
                          <a:latin typeface="Times New Roman" pitchFamily="18" charset="0"/>
                          <a:cs typeface="Times New Roman" pitchFamily="18" charset="0"/>
                        </a:rPr>
                        <a:t>Battery</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Fuel Cell</a:t>
                      </a:r>
                      <a:endParaRPr lang="en-US" sz="2400" dirty="0">
                        <a:effectLst/>
                        <a:latin typeface="Times New Roman" pitchFamily="18" charset="0"/>
                        <a:ea typeface="MS Mincho"/>
                        <a:cs typeface="Times New Roman" pitchFamily="18" charset="0"/>
                      </a:endParaRPr>
                    </a:p>
                  </a:txBody>
                  <a:tcPr marL="68580" marR="68580" marT="0" marB="0"/>
                </a:tc>
              </a:tr>
              <a:tr h="0">
                <a:tc>
                  <a:txBody>
                    <a:bodyPr/>
                    <a:lstStyle/>
                    <a:p>
                      <a:pPr marL="0" marR="0" algn="l">
                        <a:lnSpc>
                          <a:spcPct val="115000"/>
                        </a:lnSpc>
                        <a:spcBef>
                          <a:spcPts val="0"/>
                        </a:spcBef>
                        <a:spcAft>
                          <a:spcPts val="0"/>
                        </a:spcAft>
                      </a:pPr>
                      <a:r>
                        <a:rPr lang="en-US" sz="2400">
                          <a:effectLst/>
                          <a:latin typeface="Times New Roman" pitchFamily="18" charset="0"/>
                          <a:cs typeface="Times New Roman" pitchFamily="18" charset="0"/>
                        </a:rPr>
                        <a:t>Source of Energy</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Stores chemical energy inside; limited by internal chemicals.</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Generates electricity as long as external fuel and oxidant are supplied.</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algn="l">
                        <a:lnSpc>
                          <a:spcPct val="115000"/>
                        </a:lnSpc>
                        <a:spcBef>
                          <a:spcPts val="0"/>
                        </a:spcBef>
                        <a:spcAft>
                          <a:spcPts val="0"/>
                        </a:spcAft>
                      </a:pPr>
                      <a:r>
                        <a:rPr lang="en-US" sz="2400">
                          <a:effectLst/>
                          <a:latin typeface="Times New Roman" pitchFamily="18" charset="0"/>
                          <a:cs typeface="Times New Roman" pitchFamily="18" charset="0"/>
                        </a:rPr>
                        <a:t>Reactants</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Contained within the battery (closed system).</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Continuously supplied from outside (open system).</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algn="l">
                        <a:lnSpc>
                          <a:spcPct val="115000"/>
                        </a:lnSpc>
                        <a:spcBef>
                          <a:spcPts val="0"/>
                        </a:spcBef>
                        <a:spcAft>
                          <a:spcPts val="0"/>
                        </a:spcAft>
                      </a:pPr>
                      <a:r>
                        <a:rPr lang="en-US" sz="2400">
                          <a:effectLst/>
                          <a:latin typeface="Times New Roman" pitchFamily="18" charset="0"/>
                          <a:cs typeface="Times New Roman" pitchFamily="18" charset="0"/>
                        </a:rPr>
                        <a:t>Life Cycle</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Discharges with use; rechargeable (secondary) or disposable (primary).</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Operates continuously without recharging if fuel supply is maintained.</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algn="l">
                        <a:lnSpc>
                          <a:spcPct val="115000"/>
                        </a:lnSpc>
                        <a:spcBef>
                          <a:spcPts val="0"/>
                        </a:spcBef>
                        <a:spcAft>
                          <a:spcPts val="0"/>
                        </a:spcAft>
                      </a:pPr>
                      <a:r>
                        <a:rPr lang="en-US" sz="2400">
                          <a:effectLst/>
                          <a:latin typeface="Times New Roman" pitchFamily="18" charset="0"/>
                          <a:cs typeface="Times New Roman" pitchFamily="18" charset="0"/>
                        </a:rPr>
                        <a:t>Efficiency</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Efficiency decreases with repeated charge-discharge cycles.</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High efficiency; consistent power output if fuel is pure.</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algn="l">
                        <a:lnSpc>
                          <a:spcPct val="115000"/>
                        </a:lnSpc>
                        <a:spcBef>
                          <a:spcPts val="0"/>
                        </a:spcBef>
                        <a:spcAft>
                          <a:spcPts val="0"/>
                        </a:spcAft>
                      </a:pPr>
                      <a:r>
                        <a:rPr lang="en-US" sz="2400">
                          <a:effectLst/>
                          <a:latin typeface="Times New Roman" pitchFamily="18" charset="0"/>
                          <a:cs typeface="Times New Roman" pitchFamily="18" charset="0"/>
                        </a:rPr>
                        <a:t>Applications</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Portable electronics, electric vehicles, backup power.</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Spacecraft, submarines, electric vehicles, stationary power plants.</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algn="l">
                        <a:lnSpc>
                          <a:spcPct val="115000"/>
                        </a:lnSpc>
                        <a:spcBef>
                          <a:spcPts val="0"/>
                        </a:spcBef>
                        <a:spcAft>
                          <a:spcPts val="0"/>
                        </a:spcAft>
                      </a:pPr>
                      <a:r>
                        <a:rPr lang="en-US" sz="2400" dirty="0">
                          <a:effectLst/>
                          <a:latin typeface="Times New Roman" pitchFamily="18" charset="0"/>
                          <a:cs typeface="Times New Roman" pitchFamily="18" charset="0"/>
                        </a:rPr>
                        <a:t>Environmental Aspect</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a:effectLst/>
                          <a:latin typeface="Times New Roman" pitchFamily="18" charset="0"/>
                          <a:cs typeface="Times New Roman" pitchFamily="18" charset="0"/>
                        </a:rPr>
                        <a:t>Disposal/recycling may cause pollution (heavy metals, electrolytes).</a:t>
                      </a:r>
                      <a:endParaRPr lang="en-US" sz="2400">
                        <a:effectLst/>
                        <a:latin typeface="Times New Roman" pitchFamily="18" charset="0"/>
                        <a:ea typeface="MS Mincho"/>
                        <a:cs typeface="Times New Roman" pitchFamily="18" charset="0"/>
                      </a:endParaRPr>
                    </a:p>
                  </a:txBody>
                  <a:tcPr marL="68580" marR="68580" marT="0" marB="0"/>
                </a:tc>
                <a:tc>
                  <a:txBody>
                    <a:bodyPr/>
                    <a:lstStyle/>
                    <a:p>
                      <a:pPr marL="0" marR="0" algn="just">
                        <a:lnSpc>
                          <a:spcPct val="115000"/>
                        </a:lnSpc>
                        <a:spcBef>
                          <a:spcPts val="0"/>
                        </a:spcBef>
                        <a:spcAft>
                          <a:spcPts val="0"/>
                        </a:spcAft>
                      </a:pPr>
                      <a:r>
                        <a:rPr lang="en-US" sz="2400" dirty="0">
                          <a:effectLst/>
                          <a:latin typeface="Times New Roman" pitchFamily="18" charset="0"/>
                          <a:cs typeface="Times New Roman" pitchFamily="18" charset="0"/>
                        </a:rPr>
                        <a:t>Cleaner; hydrogen fuel cells produce only water and heat.</a:t>
                      </a:r>
                      <a:endParaRPr lang="en-US" sz="2400" dirty="0">
                        <a:effectLst/>
                        <a:latin typeface="Times New Roman" pitchFamily="18" charset="0"/>
                        <a:ea typeface="MS Mincho"/>
                        <a:cs typeface="Times New Roman" pitchFamily="18" charset="0"/>
                      </a:endParaRPr>
                    </a:p>
                  </a:txBody>
                  <a:tcPr marL="68580" marR="68580" marT="0" marB="0"/>
                </a:tc>
              </a:tr>
            </a:tbl>
          </a:graphicData>
        </a:graphic>
      </p:graphicFrame>
      <p:sp>
        <p:nvSpPr>
          <p:cNvPr id="3" name="Rectangle 1"/>
          <p:cNvSpPr>
            <a:spLocks noChangeArrowheads="1"/>
          </p:cNvSpPr>
          <p:nvPr/>
        </p:nvSpPr>
        <p:spPr bwMode="auto">
          <a:xfrm>
            <a:off x="2743200" y="76200"/>
            <a:ext cx="7230121"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1" i="0" u="none" strike="noStrike" cap="none" normalizeH="0" baseline="0" dirty="0" smtClean="0">
                <a:ln>
                  <a:noFill/>
                </a:ln>
                <a:solidFill>
                  <a:srgbClr val="C00000"/>
                </a:solidFill>
                <a:effectLst/>
                <a:latin typeface="Times New Roman" pitchFamily="18" charset="0"/>
                <a:ea typeface="MS Gothic" pitchFamily="49" charset="-128"/>
                <a:cs typeface="Times New Roman" pitchFamily="18" charset="0"/>
              </a:rPr>
              <a:t>Difference between Battery and Fuel Cell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smtClean="0">
              <a:ln>
                <a:noFill/>
              </a:ln>
              <a:solidFill>
                <a:srgbClr val="C00000"/>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6246275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AE516E7-8238-8296-9ABF-64F3EA2AA332}"/>
              </a:ext>
            </a:extLst>
          </p:cNvPr>
          <p:cNvSpPr txBox="1"/>
          <p:nvPr/>
        </p:nvSpPr>
        <p:spPr>
          <a:xfrm>
            <a:off x="265813" y="646006"/>
            <a:ext cx="12248707" cy="5970865"/>
          </a:xfrm>
          <a:prstGeom prst="rect">
            <a:avLst/>
          </a:prstGeom>
          <a:noFill/>
        </p:spPr>
        <p:txBody>
          <a:bodyPr wrap="square">
            <a:spAutoFit/>
          </a:bodyPr>
          <a:lstStyle/>
          <a:p>
            <a:pPr marL="342900" indent="-342900" algn="just">
              <a:spcBef>
                <a:spcPts val="600"/>
              </a:spcBef>
              <a:spcAft>
                <a:spcPts val="600"/>
              </a:spcAft>
              <a:buFont typeface="Wingdings" pitchFamily="2" charset="2"/>
              <a:buChar char="v"/>
            </a:pPr>
            <a:r>
              <a:rPr lang="en-US" sz="2400" dirty="0">
                <a:latin typeface="Times New Roman" pitchFamily="18" charset="0"/>
                <a:cs typeface="Times New Roman" pitchFamily="18" charset="0"/>
              </a:rPr>
              <a:t>A Direct Methanol Fuel Cell (DMFC) is a type of proton exchange membrane fuel cell (PEMFC) where methanol (CH₃OH) is used directly as the fuel without prior </a:t>
            </a:r>
            <a:r>
              <a:rPr lang="en-US" sz="2400" dirty="0" smtClean="0">
                <a:latin typeface="Times New Roman" pitchFamily="18" charset="0"/>
                <a:cs typeface="Times New Roman" pitchFamily="18" charset="0"/>
              </a:rPr>
              <a:t>reforming.</a:t>
            </a:r>
          </a:p>
          <a:p>
            <a:pPr marL="342900" indent="-342900" algn="just">
              <a:spcBef>
                <a:spcPts val="600"/>
              </a:spcBef>
              <a:spcAft>
                <a:spcPts val="600"/>
              </a:spcAft>
              <a:buFont typeface="Wingdings" pitchFamily="2" charset="2"/>
              <a:buChar char="v"/>
            </a:pPr>
            <a:r>
              <a:rPr lang="en-US" sz="2400" kern="1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C</a:t>
            </a:r>
            <a:r>
              <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arbon </a:t>
            </a:r>
            <a:r>
              <a:rPr lang="en-US" sz="24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rods impregnated with Platinum are used as electrodes.</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Polymeric proton exchange membrane is used as </a:t>
            </a:r>
            <a:r>
              <a:rPr lang="en-US" sz="2400" kern="100" dirty="0" smtClean="0">
                <a:effectLst/>
                <a:latin typeface="Times New Roman" panose="02020603050405020304" pitchFamily="18" charset="0"/>
                <a:ea typeface="Calibri" panose="020F0502020204030204" pitchFamily="34" charset="0"/>
                <a:cs typeface="Times New Roman" panose="02020603050405020304" pitchFamily="18" charset="0"/>
              </a:rPr>
              <a:t>electrolyte.</a:t>
            </a:r>
          </a:p>
          <a:p>
            <a:pPr marL="342900" indent="-342900" algn="just">
              <a:spcBef>
                <a:spcPts val="600"/>
              </a:spcBef>
              <a:spcAft>
                <a:spcPts val="600"/>
              </a:spcAft>
              <a:buFont typeface="Wingdings" pitchFamily="2" charset="2"/>
              <a:buChar char="v"/>
            </a:pPr>
            <a:r>
              <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In </a:t>
            </a:r>
            <a:r>
              <a:rPr lang="en-US" sz="24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fuel methanol and water supplied to the anode.  The methanol molecule's carbon-hydrogen, and oxygen-hydrogen bonds are broken to generate electrons and </a:t>
            </a:r>
            <a:r>
              <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protons.</a:t>
            </a:r>
          </a:p>
          <a:p>
            <a:pPr marL="342900" indent="-342900" algn="just">
              <a:spcBef>
                <a:spcPts val="600"/>
              </a:spcBef>
              <a:spcAft>
                <a:spcPts val="600"/>
              </a:spcAft>
              <a:buFont typeface="Wingdings" pitchFamily="2" charset="2"/>
              <a:buChar char="v"/>
            </a:pPr>
            <a:r>
              <a:rPr lang="en-US" sz="2400" kern="1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W</a:t>
            </a:r>
            <a:r>
              <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ater </a:t>
            </a:r>
            <a:r>
              <a:rPr lang="en-US" sz="24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molecule's oxygen-hydrogen bond is also broken to generate an electron and </a:t>
            </a:r>
            <a:r>
              <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proton.</a:t>
            </a:r>
          </a:p>
          <a:p>
            <a:pPr marL="342900" indent="-342900" algn="just">
              <a:spcBef>
                <a:spcPts val="600"/>
              </a:spcBef>
              <a:spcAft>
                <a:spcPts val="600"/>
              </a:spcAft>
              <a:buFont typeface="Wingdings" pitchFamily="2" charset="2"/>
              <a:buChar char="v"/>
            </a:pPr>
            <a:r>
              <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US" sz="24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carbon from the methanol and the oxygen from the water combine to form carbon dioxide. </a:t>
            </a:r>
            <a:endPar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spcBef>
                <a:spcPts val="600"/>
              </a:spcBef>
              <a:spcAft>
                <a:spcPts val="600"/>
              </a:spcAft>
              <a:buFont typeface="Wingdings" pitchFamily="2" charset="2"/>
              <a:buChar char="v"/>
            </a:pPr>
            <a:r>
              <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Oxygen </a:t>
            </a:r>
            <a:r>
              <a:rPr lang="en-US" sz="24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from air (supplied to the cathode) is simultaneously reduced at the </a:t>
            </a:r>
            <a:r>
              <a:rPr lang="en-US" sz="2400" kern="100" dirty="0" smtClean="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cathode.</a:t>
            </a:r>
          </a:p>
          <a:p>
            <a:pPr marL="342900" indent="-342900" algn="just">
              <a:spcBef>
                <a:spcPts val="600"/>
              </a:spcBef>
              <a:spcAft>
                <a:spcPts val="600"/>
              </a:spcAft>
              <a:buFont typeface="Wingdings" pitchFamily="2" charset="2"/>
              <a:buChar char="v"/>
            </a:pPr>
            <a:r>
              <a:rPr lang="en-US" sz="2400" kern="100" dirty="0" smtClean="0">
                <a:effectLst/>
                <a:latin typeface="Times New Roman" panose="02020603050405020304" pitchFamily="18" charset="0"/>
                <a:ea typeface="Calibri" panose="020F0502020204030204" pitchFamily="34" charset="0"/>
                <a:cs typeface="Times New Roman" panose="02020603050405020304" pitchFamily="18" charset="0"/>
              </a:rPr>
              <a:t>The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positive ions (H</a:t>
            </a:r>
            <a:r>
              <a:rPr lang="en-US" sz="2400" kern="1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are transferred across the proton exchange membrane to the cathode where they react with oxygen to produce </a:t>
            </a:r>
            <a:r>
              <a:rPr lang="en-US" sz="2400" kern="100" dirty="0" smtClean="0">
                <a:effectLst/>
                <a:latin typeface="Times New Roman" panose="02020603050405020304" pitchFamily="18" charset="0"/>
                <a:ea typeface="Calibri" panose="020F0502020204030204" pitchFamily="34" charset="0"/>
                <a:cs typeface="Times New Roman" panose="02020603050405020304" pitchFamily="18" charset="0"/>
              </a:rPr>
              <a:t>water.</a:t>
            </a:r>
          </a:p>
          <a:p>
            <a:pPr marL="342900" indent="-342900" algn="just">
              <a:spcBef>
                <a:spcPts val="600"/>
              </a:spcBef>
              <a:spcAft>
                <a:spcPts val="600"/>
              </a:spcAft>
              <a:buFont typeface="Wingdings" pitchFamily="2" charset="2"/>
              <a:buChar char="v"/>
            </a:pPr>
            <a:r>
              <a:rPr lang="en-US" sz="2400" kern="100" dirty="0" smtClean="0">
                <a:effectLst/>
                <a:latin typeface="Times New Roman" panose="02020603050405020304" pitchFamily="18" charset="0"/>
                <a:ea typeface="Calibri" panose="020F0502020204030204" pitchFamily="34" charset="0"/>
                <a:cs typeface="Times New Roman" panose="02020603050405020304" pitchFamily="18" charset="0"/>
              </a:rPr>
              <a:t>Electrons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are transported through an external circuit from anode to cathode, providing power to a connected device. </a:t>
            </a:r>
          </a:p>
        </p:txBody>
      </p:sp>
      <p:sp>
        <p:nvSpPr>
          <p:cNvPr id="5" name="TextBox 4">
            <a:extLst>
              <a:ext uri="{FF2B5EF4-FFF2-40B4-BE49-F238E27FC236}">
                <a16:creationId xmlns:a16="http://schemas.microsoft.com/office/drawing/2014/main" xmlns="" id="{CDF9369B-8E4E-5F6D-34BD-FA6CF9370BB5}"/>
              </a:ext>
            </a:extLst>
          </p:cNvPr>
          <p:cNvSpPr txBox="1"/>
          <p:nvPr/>
        </p:nvSpPr>
        <p:spPr>
          <a:xfrm>
            <a:off x="3810000" y="150540"/>
            <a:ext cx="4834277" cy="553357"/>
          </a:xfrm>
          <a:prstGeom prst="rect">
            <a:avLst/>
          </a:prstGeom>
          <a:noFill/>
        </p:spPr>
        <p:txBody>
          <a:bodyPr wrap="square">
            <a:spAutoFit/>
          </a:bodyPr>
          <a:lstStyle/>
          <a:p>
            <a:pPr marL="0" marR="0" algn="ctr">
              <a:lnSpc>
                <a:spcPct val="107000"/>
              </a:lnSpc>
              <a:spcBef>
                <a:spcPts val="0"/>
              </a:spcBef>
              <a:spcAft>
                <a:spcPts val="800"/>
              </a:spcAft>
            </a:pPr>
            <a:r>
              <a:rPr lang="en-US" sz="28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Methanol – Oxygen </a:t>
            </a:r>
            <a:r>
              <a:rPr lang="en-US" sz="2800" b="1" kern="100" dirty="0" smtClean="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Fuel </a:t>
            </a:r>
            <a:r>
              <a:rPr lang="en-US" sz="2800" b="1" kern="1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C</a:t>
            </a:r>
            <a:r>
              <a:rPr lang="en-US" sz="2800" b="1" kern="100" dirty="0" smtClean="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ell</a:t>
            </a:r>
            <a:endParaRPr lang="en-US" sz="28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17801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C9B8A7D9-D846-A723-9084-5343819BDA84}"/>
              </a:ext>
            </a:extLst>
          </p:cNvPr>
          <p:cNvPicPr>
            <a:picLocks noChangeAspect="1"/>
          </p:cNvPicPr>
          <p:nvPr/>
        </p:nvPicPr>
        <p:blipFill>
          <a:blip r:embed="rId3"/>
          <a:stretch>
            <a:fillRect/>
          </a:stretch>
        </p:blipFill>
        <p:spPr>
          <a:xfrm>
            <a:off x="6400800" y="381000"/>
            <a:ext cx="6018397" cy="301541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7B8D9D6B-0962-F180-3C84-96F678813C53}"/>
                  </a:ext>
                </a:extLst>
              </p:cNvPr>
              <p:cNvSpPr txBox="1"/>
              <p:nvPr/>
            </p:nvSpPr>
            <p:spPr>
              <a:xfrm>
                <a:off x="76200" y="730777"/>
                <a:ext cx="7761778" cy="2164823"/>
              </a:xfrm>
              <a:prstGeom prst="rect">
                <a:avLst/>
              </a:prstGeom>
              <a:noFill/>
            </p:spPr>
            <p:txBody>
              <a:bodyPr wrap="square">
                <a:spAutoFit/>
              </a:bodyPr>
              <a:lstStyle/>
              <a:p>
                <a:pPr marL="0" marR="0" algn="just">
                  <a:lnSpc>
                    <a:spcPct val="115000"/>
                  </a:lnSpc>
                  <a:spcBef>
                    <a:spcPts val="0"/>
                  </a:spcBef>
                  <a:spcAft>
                    <a:spcPts val="0"/>
                  </a:spcAft>
                </a:pPr>
                <a:r>
                  <a:rPr lang="en-US" sz="24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The half – reactions are: </a:t>
                </a:r>
              </a:p>
              <a:p>
                <a:pPr marL="0" marR="0" algn="just">
                  <a:lnSpc>
                    <a:spcPct val="115000"/>
                  </a:lnSpc>
                  <a:spcBef>
                    <a:spcPts val="0"/>
                  </a:spcBef>
                  <a:spcAft>
                    <a:spcPts val="0"/>
                  </a:spcAft>
                </a:pP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Oxidation: </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CH</a:t>
                </a:r>
                <a:r>
                  <a:rPr lang="en-US" sz="2400" b="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3</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OH(l) + H</a:t>
                </a:r>
                <a:r>
                  <a:rPr lang="en-US" sz="2400" b="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O (l) → CO</a:t>
                </a:r>
                <a:r>
                  <a:rPr lang="en-US" sz="2400" b="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(g) + 6H</a:t>
                </a:r>
                <a:r>
                  <a:rPr lang="en-US" sz="2400" b="1" kern="100" baseline="30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kern="100" dirty="0" smtClean="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6e</a:t>
                </a:r>
                <a:r>
                  <a:rPr lang="en-US" sz="2400" b="1" kern="100" baseline="30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gn="just">
                  <a:lnSpc>
                    <a:spcPct val="115000"/>
                  </a:lnSpc>
                  <a:spcBef>
                    <a:spcPts val="0"/>
                  </a:spcBef>
                  <a:spcAft>
                    <a:spcPts val="0"/>
                  </a:spcAft>
                </a:pP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Reduction: </a:t>
                </a:r>
                <a14:m>
                  <m:oMath xmlns:m="http://schemas.openxmlformats.org/officeDocument/2006/math">
                    <m:f>
                      <m:fPr>
                        <m:ctrlPr>
                          <a:rPr lang="en-US" sz="2400" b="1" i="1" kern="100" smtClean="0">
                            <a:solidFill>
                              <a:srgbClr val="7030A0"/>
                            </a:solidFill>
                            <a:effectLst/>
                            <a:latin typeface="Cambria Math"/>
                            <a:ea typeface="Calibri" panose="020F0502020204030204" pitchFamily="34" charset="0"/>
                            <a:cs typeface="Times New Roman" panose="02020603050405020304" pitchFamily="18" charset="0"/>
                          </a:rPr>
                        </m:ctrlPr>
                      </m:fPr>
                      <m:num>
                        <m:r>
                          <a:rPr lang="en-US" sz="2400" b="1" i="1" kern="100">
                            <a:solidFill>
                              <a:srgbClr val="7030A0"/>
                            </a:solidFill>
                            <a:effectLst/>
                            <a:latin typeface="Cambria Math" panose="02040503050406030204" pitchFamily="18" charset="0"/>
                            <a:ea typeface="Calibri" panose="020F0502020204030204" pitchFamily="34" charset="0"/>
                            <a:cs typeface="Times New Roman" panose="02020603050405020304" pitchFamily="18" charset="0"/>
                          </a:rPr>
                          <m:t>𝟑</m:t>
                        </m:r>
                      </m:num>
                      <m:den>
                        <m:r>
                          <a:rPr lang="en-US" sz="2400" b="1" i="1" kern="100">
                            <a:solidFill>
                              <a:srgbClr val="7030A0"/>
                            </a:solidFill>
                            <a:effectLst/>
                            <a:latin typeface="Cambria Math" panose="02040503050406030204" pitchFamily="18" charset="0"/>
                            <a:ea typeface="Calibri" panose="020F0502020204030204" pitchFamily="34" charset="0"/>
                            <a:cs typeface="Times New Roman" panose="02020603050405020304" pitchFamily="18" charset="0"/>
                          </a:rPr>
                          <m:t>𝟐</m:t>
                        </m:r>
                      </m:den>
                    </m:f>
                  </m:oMath>
                </a14:m>
                <a:r>
                  <a:rPr lang="en-US" sz="2400" b="1" kern="1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 O</a:t>
                </a:r>
                <a:r>
                  <a:rPr lang="en-US" sz="2400" b="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(g) + 6H</a:t>
                </a:r>
                <a:r>
                  <a:rPr lang="en-US" sz="2400" b="1" kern="100" baseline="30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(aq) + 6e</a:t>
                </a:r>
                <a:r>
                  <a:rPr lang="en-US" sz="2400" b="1" kern="100" baseline="30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 3H</a:t>
                </a:r>
                <a:r>
                  <a:rPr lang="en-US" sz="2400" b="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O (l)</a:t>
                </a:r>
              </a:p>
              <a:p>
                <a:pPr marL="0" marR="0" algn="just">
                  <a:lnSpc>
                    <a:spcPct val="115000"/>
                  </a:lnSpc>
                  <a:spcBef>
                    <a:spcPts val="0"/>
                  </a:spcBef>
                  <a:spcAft>
                    <a:spcPts val="0"/>
                  </a:spcAft>
                </a:pP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Net: </a:t>
                </a:r>
                <a:r>
                  <a:rPr lang="en-US" sz="24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CH</a:t>
                </a:r>
                <a:r>
                  <a:rPr lang="en-US" sz="2400" b="1" kern="100" baseline="-250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3</a:t>
                </a:r>
                <a:r>
                  <a:rPr lang="en-US" sz="24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OH(l) + </a:t>
                </a:r>
                <a14:m>
                  <m:oMath xmlns:m="http://schemas.openxmlformats.org/officeDocument/2006/math">
                    <m:f>
                      <m:fPr>
                        <m:ctrlPr>
                          <a:rPr lang="en-US" sz="2400" b="1" i="1" kern="100">
                            <a:solidFill>
                              <a:srgbClr val="C00000"/>
                            </a:solidFill>
                            <a:effectLst/>
                            <a:latin typeface="Cambria Math"/>
                            <a:ea typeface="Calibri" panose="020F0502020204030204" pitchFamily="34" charset="0"/>
                            <a:cs typeface="Times New Roman" panose="02020603050405020304" pitchFamily="18" charset="0"/>
                          </a:rPr>
                        </m:ctrlPr>
                      </m:fPr>
                      <m:num>
                        <m:r>
                          <a:rPr lang="en-US" sz="2400" b="1" i="1" kern="100">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𝟑</m:t>
                        </m:r>
                      </m:num>
                      <m:den>
                        <m:r>
                          <a:rPr lang="en-US" sz="2400" b="1" i="1" kern="100">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𝟐</m:t>
                        </m:r>
                      </m:den>
                    </m:f>
                  </m:oMath>
                </a14:m>
                <a:r>
                  <a:rPr lang="en-US" sz="24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O</a:t>
                </a:r>
                <a:r>
                  <a:rPr lang="en-US" sz="2400" b="1" kern="100" baseline="-250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(g) → CO</a:t>
                </a:r>
                <a:r>
                  <a:rPr lang="en-US" sz="2400" b="1" kern="100" baseline="-250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(g) + 2H</a:t>
                </a:r>
                <a:r>
                  <a:rPr lang="en-US" sz="2400" b="1" kern="100" baseline="-250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O(l)</a:t>
                </a:r>
                <a:endPar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xmlns:a14="http://schemas.microsoft.com/office/drawing/2010/main" xmlns="" id="{7B8D9D6B-0962-F180-3C84-96F678813C53}"/>
                  </a:ext>
                </a:extLst>
              </p:cNvPr>
              <p:cNvSpPr txBox="1">
                <a:spLocks noRot="1" noChangeAspect="1" noMove="1" noResize="1" noEditPoints="1" noAdjustHandles="1" noChangeArrowheads="1" noChangeShapeType="1" noTextEdit="1"/>
              </p:cNvSpPr>
              <p:nvPr/>
            </p:nvSpPr>
            <p:spPr>
              <a:xfrm>
                <a:off x="76200" y="730777"/>
                <a:ext cx="7761778" cy="2164823"/>
              </a:xfrm>
              <a:prstGeom prst="rect">
                <a:avLst/>
              </a:prstGeom>
              <a:blipFill rotWithShape="1">
                <a:blip r:embed="rId4"/>
                <a:stretch>
                  <a:fillRect l="-1257" t="-1127" b="-1972"/>
                </a:stretch>
              </a:blipFill>
            </p:spPr>
            <p:txBody>
              <a:bodyPr/>
              <a:lstStyle/>
              <a:p>
                <a:r>
                  <a:rPr lang="en-US">
                    <a:noFill/>
                  </a:rPr>
                  <a:t> </a:t>
                </a:r>
              </a:p>
            </p:txBody>
          </p:sp>
        </mc:Fallback>
      </mc:AlternateContent>
      <p:sp>
        <p:nvSpPr>
          <p:cNvPr id="2" name="Rectangle 1"/>
          <p:cNvSpPr/>
          <p:nvPr/>
        </p:nvSpPr>
        <p:spPr>
          <a:xfrm>
            <a:off x="380999" y="3351074"/>
            <a:ext cx="12038197" cy="3000821"/>
          </a:xfrm>
          <a:prstGeom prst="rect">
            <a:avLst/>
          </a:prstGeom>
        </p:spPr>
        <p:txBody>
          <a:bodyPr wrap="square">
            <a:spAutoFit/>
          </a:bodyPr>
          <a:lstStyle/>
          <a:p>
            <a:r>
              <a:rPr lang="en-US" sz="2400" b="1" dirty="0">
                <a:solidFill>
                  <a:srgbClr val="C00000"/>
                </a:solidFill>
                <a:latin typeface="Times New Roman" pitchFamily="18" charset="0"/>
                <a:cs typeface="Times New Roman" pitchFamily="18" charset="0"/>
              </a:rPr>
              <a:t>Applications of DMFC</a:t>
            </a:r>
          </a:p>
          <a:p>
            <a:pPr lvl="3">
              <a:spcBef>
                <a:spcPts val="600"/>
              </a:spcBef>
              <a:spcAft>
                <a:spcPts val="600"/>
              </a:spcAft>
            </a:pPr>
            <a:r>
              <a:rPr lang="en-US" sz="2400" dirty="0">
                <a:latin typeface="Times New Roman" pitchFamily="18" charset="0"/>
                <a:cs typeface="Times New Roman" pitchFamily="18" charset="0"/>
              </a:rPr>
              <a:t>1. </a:t>
            </a:r>
            <a:r>
              <a:rPr lang="en-US" sz="2400" b="1" dirty="0">
                <a:solidFill>
                  <a:srgbClr val="0070C0"/>
                </a:solidFill>
                <a:latin typeface="Times New Roman" pitchFamily="18" charset="0"/>
                <a:cs typeface="Times New Roman" pitchFamily="18" charset="0"/>
              </a:rPr>
              <a:t>Portable Power Sources – </a:t>
            </a:r>
            <a:r>
              <a:rPr lang="en-US" sz="2400" dirty="0">
                <a:latin typeface="Times New Roman" pitchFamily="18" charset="0"/>
                <a:cs typeface="Times New Roman" pitchFamily="18" charset="0"/>
              </a:rPr>
              <a:t>mobile phones, laptops, tablets, and cameras.</a:t>
            </a:r>
          </a:p>
          <a:p>
            <a:pPr lvl="3">
              <a:spcBef>
                <a:spcPts val="600"/>
              </a:spcBef>
              <a:spcAft>
                <a:spcPts val="600"/>
              </a:spcAft>
            </a:pPr>
            <a:r>
              <a:rPr lang="en-US" sz="2400" dirty="0">
                <a:latin typeface="Times New Roman" pitchFamily="18" charset="0"/>
                <a:cs typeface="Times New Roman" pitchFamily="18" charset="0"/>
              </a:rPr>
              <a:t>2. </a:t>
            </a:r>
            <a:r>
              <a:rPr lang="en-US" sz="2400" b="1" dirty="0">
                <a:solidFill>
                  <a:srgbClr val="0070C0"/>
                </a:solidFill>
                <a:latin typeface="Times New Roman" pitchFamily="18" charset="0"/>
                <a:cs typeface="Times New Roman" pitchFamily="18" charset="0"/>
              </a:rPr>
              <a:t>Military Applications – </a:t>
            </a:r>
            <a:r>
              <a:rPr lang="en-US" sz="2400" dirty="0">
                <a:latin typeface="Times New Roman" pitchFamily="18" charset="0"/>
                <a:cs typeface="Times New Roman" pitchFamily="18" charset="0"/>
              </a:rPr>
              <a:t>lightweight power packs for soldiers in remote areas.</a:t>
            </a:r>
          </a:p>
          <a:p>
            <a:pPr lvl="3">
              <a:spcBef>
                <a:spcPts val="600"/>
              </a:spcBef>
              <a:spcAft>
                <a:spcPts val="600"/>
              </a:spcAft>
            </a:pPr>
            <a:r>
              <a:rPr lang="en-US" sz="2400" dirty="0">
                <a:latin typeface="Times New Roman" pitchFamily="18" charset="0"/>
                <a:cs typeface="Times New Roman" pitchFamily="18" charset="0"/>
              </a:rPr>
              <a:t>3. </a:t>
            </a:r>
            <a:r>
              <a:rPr lang="en-US" sz="2400" b="1" dirty="0">
                <a:solidFill>
                  <a:srgbClr val="0070C0"/>
                </a:solidFill>
                <a:latin typeface="Times New Roman" pitchFamily="18" charset="0"/>
                <a:cs typeface="Times New Roman" pitchFamily="18" charset="0"/>
              </a:rPr>
              <a:t>Transportation – </a:t>
            </a:r>
            <a:r>
              <a:rPr lang="en-US" sz="2400" dirty="0">
                <a:latin typeface="Times New Roman" pitchFamily="18" charset="0"/>
                <a:cs typeface="Times New Roman" pitchFamily="18" charset="0"/>
              </a:rPr>
              <a:t>potential use in automobiles, buses, and drones.</a:t>
            </a:r>
          </a:p>
          <a:p>
            <a:pPr lvl="3">
              <a:spcBef>
                <a:spcPts val="600"/>
              </a:spcBef>
              <a:spcAft>
                <a:spcPts val="600"/>
              </a:spcAft>
            </a:pPr>
            <a:r>
              <a:rPr lang="en-US" sz="2400" b="1" dirty="0">
                <a:solidFill>
                  <a:srgbClr val="0070C0"/>
                </a:solidFill>
                <a:latin typeface="Times New Roman" pitchFamily="18" charset="0"/>
                <a:cs typeface="Times New Roman" pitchFamily="18" charset="0"/>
              </a:rPr>
              <a:t>4. Backup Power – </a:t>
            </a:r>
            <a:r>
              <a:rPr lang="en-US" sz="2400" dirty="0">
                <a:latin typeface="Times New Roman" pitchFamily="18" charset="0"/>
                <a:cs typeface="Times New Roman" pitchFamily="18" charset="0"/>
              </a:rPr>
              <a:t>emergency systems, remote sensors, and telecommunications.</a:t>
            </a:r>
          </a:p>
          <a:p>
            <a:pPr lvl="3">
              <a:spcBef>
                <a:spcPts val="600"/>
              </a:spcBef>
              <a:spcAft>
                <a:spcPts val="600"/>
              </a:spcAft>
            </a:pPr>
            <a:r>
              <a:rPr lang="en-US" sz="2400" b="1" dirty="0">
                <a:solidFill>
                  <a:srgbClr val="0070C0"/>
                </a:solidFill>
                <a:latin typeface="Times New Roman" pitchFamily="18" charset="0"/>
                <a:cs typeface="Times New Roman" pitchFamily="18" charset="0"/>
              </a:rPr>
              <a:t>5. Consumer Electronics – </a:t>
            </a:r>
            <a:r>
              <a:rPr lang="en-US" sz="2400" dirty="0">
                <a:latin typeface="Times New Roman" pitchFamily="18" charset="0"/>
                <a:cs typeface="Times New Roman" pitchFamily="18" charset="0"/>
              </a:rPr>
              <a:t>disposable methanol cartridges for recharging devices.</a:t>
            </a:r>
          </a:p>
        </p:txBody>
      </p:sp>
    </p:spTree>
    <p:extLst>
      <p:ext uri="{BB962C8B-B14F-4D97-AF65-F5344CB8AC3E}">
        <p14:creationId xmlns:p14="http://schemas.microsoft.com/office/powerpoint/2010/main" val="1237881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FFF35BC-ABA0-70D4-8EF5-761BA5613A27}"/>
              </a:ext>
            </a:extLst>
          </p:cNvPr>
          <p:cNvSpPr txBox="1"/>
          <p:nvPr/>
        </p:nvSpPr>
        <p:spPr>
          <a:xfrm>
            <a:off x="340242" y="575324"/>
            <a:ext cx="12301870" cy="6119945"/>
          </a:xfrm>
          <a:prstGeom prst="rect">
            <a:avLst/>
          </a:prstGeom>
          <a:noFill/>
        </p:spPr>
        <p:txBody>
          <a:bodyPr wrap="square">
            <a:spAutoFit/>
          </a:bodyPr>
          <a:lstStyle/>
          <a:p>
            <a:pPr marL="0" marR="0" fontAlgn="base">
              <a:lnSpc>
                <a:spcPct val="150000"/>
              </a:lnSpc>
              <a:spcBef>
                <a:spcPts val="0"/>
              </a:spcBef>
              <a:spcAft>
                <a:spcPts val="0"/>
              </a:spcAft>
            </a:pPr>
            <a:r>
              <a:rPr lang="en-US"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2400" dirty="0">
              <a:solidFill>
                <a:srgbClr val="373737"/>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indent="-342900" fontAlgn="base">
              <a:lnSpc>
                <a:spcPct val="150000"/>
              </a:lnSpc>
              <a:spcBef>
                <a:spcPts val="0"/>
              </a:spcBef>
              <a:spcAft>
                <a:spcPts val="0"/>
              </a:spcAft>
              <a:buClr>
                <a:srgbClr val="7030A0"/>
              </a:buClr>
              <a:buFont typeface="Wingdings" panose="05000000000000000000" pitchFamily="2" charset="2"/>
              <a:buChar char="v"/>
            </a:pP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High Efficiency- </a:t>
            </a: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when utilizing co-generation, fuel cells can attain over 80% energy efficiency.</a:t>
            </a:r>
          </a:p>
          <a:p>
            <a:pPr marL="342900" marR="0" indent="-342900" fontAlgn="base">
              <a:lnSpc>
                <a:spcPct val="150000"/>
              </a:lnSpc>
              <a:spcBef>
                <a:spcPts val="0"/>
              </a:spcBef>
              <a:spcAft>
                <a:spcPts val="0"/>
              </a:spcAft>
              <a:buClr>
                <a:srgbClr val="7030A0"/>
              </a:buClr>
              <a:buFont typeface="Wingdings" panose="05000000000000000000" pitchFamily="2" charset="2"/>
              <a:buChar char="v"/>
            </a:pP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Good reliability- </a:t>
            </a: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quality of power provided does not degrade over time.</a:t>
            </a:r>
          </a:p>
          <a:p>
            <a:pPr marL="342900" marR="0" indent="-342900" fontAlgn="base">
              <a:lnSpc>
                <a:spcPct val="150000"/>
              </a:lnSpc>
              <a:spcBef>
                <a:spcPts val="0"/>
              </a:spcBef>
              <a:spcAft>
                <a:spcPts val="0"/>
              </a:spcAft>
              <a:buClr>
                <a:srgbClr val="7030A0"/>
              </a:buClr>
              <a:buFont typeface="Wingdings" panose="05000000000000000000" pitchFamily="2" charset="2"/>
              <a:buChar char="v"/>
            </a:pP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Noise-</a:t>
            </a: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 offers a much more silent and smoother alternative to conventional energy production.</a:t>
            </a:r>
          </a:p>
          <a:p>
            <a:pPr marL="342900" indent="-342900" fontAlgn="base">
              <a:lnSpc>
                <a:spcPct val="150000"/>
              </a:lnSpc>
              <a:buClr>
                <a:srgbClr val="7030A0"/>
              </a:buClr>
              <a:buFont typeface="Wingdings" panose="05000000000000000000" pitchFamily="2" charset="2"/>
              <a:buChar char="v"/>
            </a:pP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Environmentally beneficial- </a:t>
            </a: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greatly reduces CO</a:t>
            </a:r>
            <a:r>
              <a:rPr lang="en-US" sz="2400" kern="100" baseline="-250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 and harmful pollutant emissions.</a:t>
            </a:r>
          </a:p>
          <a:p>
            <a:pPr marL="342900" marR="0" indent="-342900" fontAlgn="base">
              <a:lnSpc>
                <a:spcPct val="150000"/>
              </a:lnSpc>
              <a:spcBef>
                <a:spcPts val="0"/>
              </a:spcBef>
              <a:spcAft>
                <a:spcPts val="0"/>
              </a:spcAft>
              <a:buClr>
                <a:srgbClr val="7030A0"/>
              </a:buClr>
              <a:buFont typeface="Wingdings" panose="05000000000000000000" pitchFamily="2" charset="2"/>
              <a:buChar char="v"/>
            </a:pPr>
            <a:r>
              <a:rPr lang="en-US" sz="24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Size reduction- </a:t>
            </a: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fuel cells are significantly lighter and more compact.</a:t>
            </a: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a:p>
            <a:pPr marR="0" fontAlgn="base">
              <a:lnSpc>
                <a:spcPct val="150000"/>
              </a:lnSpc>
              <a:spcBef>
                <a:spcPts val="0"/>
              </a:spcBef>
              <a:spcAft>
                <a:spcPts val="0"/>
              </a:spcAft>
              <a:buClr>
                <a:srgbClr val="7030A0"/>
              </a:buClr>
            </a:pPr>
            <a:r>
              <a:rPr lang="en-US"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sz="24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indent="-342900" fontAlgn="base">
              <a:lnSpc>
                <a:spcPct val="150000"/>
              </a:lnSpc>
              <a:spcBef>
                <a:spcPts val="0"/>
              </a:spcBef>
              <a:spcAft>
                <a:spcPts val="0"/>
              </a:spcAft>
              <a:buClr>
                <a:srgbClr val="7030A0"/>
              </a:buClr>
              <a:buFont typeface="Wingdings" panose="05000000000000000000" pitchFamily="2" charset="2"/>
              <a:buChar char="v"/>
            </a:pP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Expensive to manufacture due the high cost of catalysts (platinum).</a:t>
            </a:r>
          </a:p>
          <a:p>
            <a:pPr marL="342900" marR="0" indent="-342900" fontAlgn="base">
              <a:lnSpc>
                <a:spcPct val="150000"/>
              </a:lnSpc>
              <a:spcBef>
                <a:spcPts val="0"/>
              </a:spcBef>
              <a:spcAft>
                <a:spcPts val="0"/>
              </a:spcAft>
              <a:buClr>
                <a:srgbClr val="7030A0"/>
              </a:buClr>
              <a:buFont typeface="Wingdings" panose="05000000000000000000" pitchFamily="2" charset="2"/>
              <a:buChar char="v"/>
            </a:pP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Lack of infrastructure to support the distribution of hydrogen.</a:t>
            </a:r>
          </a:p>
          <a:p>
            <a:pPr marL="342900" marR="0" indent="-342900" fontAlgn="base">
              <a:lnSpc>
                <a:spcPct val="150000"/>
              </a:lnSpc>
              <a:spcBef>
                <a:spcPts val="0"/>
              </a:spcBef>
              <a:spcAft>
                <a:spcPts val="0"/>
              </a:spcAft>
              <a:buClr>
                <a:srgbClr val="7030A0"/>
              </a:buClr>
              <a:buFont typeface="Wingdings" panose="05000000000000000000" pitchFamily="2" charset="2"/>
              <a:buChar char="v"/>
            </a:pPr>
            <a:r>
              <a:rPr lang="en-US" sz="2400" kern="100" dirty="0">
                <a:solidFill>
                  <a:srgbClr val="373737"/>
                </a:solidFill>
                <a:latin typeface="Times New Roman" panose="02020603050405020304" pitchFamily="18" charset="0"/>
                <a:ea typeface="Calibri" panose="020F0502020204030204" pitchFamily="34" charset="0"/>
                <a:cs typeface="Times New Roman" panose="02020603050405020304" pitchFamily="18" charset="0"/>
              </a:rPr>
              <a:t>T</a:t>
            </a: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he currently available fuel cell technology is in the prototype stage and not yet validated.</a:t>
            </a:r>
          </a:p>
          <a:p>
            <a:pPr marL="342900" marR="0" indent="-342900" fontAlgn="base">
              <a:lnSpc>
                <a:spcPct val="150000"/>
              </a:lnSpc>
              <a:spcBef>
                <a:spcPts val="0"/>
              </a:spcBef>
              <a:spcAft>
                <a:spcPts val="0"/>
              </a:spcAft>
              <a:buClr>
                <a:srgbClr val="7030A0"/>
              </a:buClr>
              <a:buFont typeface="Wingdings" panose="05000000000000000000" pitchFamily="2" charset="2"/>
              <a:buChar char="v"/>
            </a:pPr>
            <a:r>
              <a:rPr lang="en-US" sz="2400" kern="100" dirty="0">
                <a:solidFill>
                  <a:srgbClr val="373737"/>
                </a:solidFill>
                <a:effectLst/>
                <a:latin typeface="Times New Roman" panose="02020603050405020304" pitchFamily="18" charset="0"/>
                <a:ea typeface="Calibri" panose="020F0502020204030204" pitchFamily="34" charset="0"/>
                <a:cs typeface="Times New Roman" panose="02020603050405020304" pitchFamily="18" charset="0"/>
              </a:rPr>
              <a:t>Hydrogen is expensive to produce and not widely available.</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5" name="TextBox 4">
            <a:extLst>
              <a:ext uri="{FF2B5EF4-FFF2-40B4-BE49-F238E27FC236}">
                <a16:creationId xmlns:a16="http://schemas.microsoft.com/office/drawing/2014/main" xmlns="" id="{16911E43-3DED-8E30-69F5-0F76D3EB850E}"/>
              </a:ext>
            </a:extLst>
          </p:cNvPr>
          <p:cNvSpPr txBox="1"/>
          <p:nvPr/>
        </p:nvSpPr>
        <p:spPr>
          <a:xfrm>
            <a:off x="2232837" y="131093"/>
            <a:ext cx="8431619" cy="553998"/>
          </a:xfrm>
          <a:prstGeom prst="rect">
            <a:avLst/>
          </a:prstGeom>
          <a:noFill/>
        </p:spPr>
        <p:txBody>
          <a:bodyPr wrap="square">
            <a:spAutoFit/>
          </a:bodyPr>
          <a:lstStyle/>
          <a:p>
            <a:pPr marL="0" marR="0" algn="ctr" fontAlgn="base">
              <a:lnSpc>
                <a:spcPts val="3600"/>
              </a:lnSpc>
              <a:spcBef>
                <a:spcPts val="0"/>
              </a:spcBef>
              <a:spcAft>
                <a:spcPts val="0"/>
              </a:spcAft>
            </a:pPr>
            <a:r>
              <a:rPr lang="en-US" sz="3200" b="1" kern="1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A</a:t>
            </a:r>
            <a:r>
              <a:rPr lang="en-US" sz="32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dvantages and Disadvantages of Fuel Battery</a:t>
            </a:r>
          </a:p>
        </p:txBody>
      </p:sp>
    </p:spTree>
    <p:extLst>
      <p:ext uri="{BB962C8B-B14F-4D97-AF65-F5344CB8AC3E}">
        <p14:creationId xmlns:p14="http://schemas.microsoft.com/office/powerpoint/2010/main" val="37455000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609600"/>
            <a:ext cx="7924800" cy="6124754"/>
          </a:xfrm>
          <a:prstGeom prst="rect">
            <a:avLst/>
          </a:prstGeom>
        </p:spPr>
        <p:txBody>
          <a:bodyPr wrap="square">
            <a:spAutoFit/>
          </a:bodyPr>
          <a:lstStyle/>
          <a:p>
            <a:pPr marL="457200" indent="-457200" algn="just">
              <a:buClr>
                <a:srgbClr val="C00000"/>
              </a:buClr>
              <a:buFont typeface="Wingdings" pitchFamily="2" charset="2"/>
              <a:buChar char="v"/>
            </a:pPr>
            <a:r>
              <a:rPr lang="en-US" sz="2800" dirty="0" smtClean="0">
                <a:latin typeface="Times New Roman" pitchFamily="18" charset="0"/>
                <a:cs typeface="Times New Roman" pitchFamily="18" charset="0"/>
              </a:rPr>
              <a:t>Fuels </a:t>
            </a:r>
            <a:r>
              <a:rPr lang="en-US" sz="2800" dirty="0">
                <a:latin typeface="Times New Roman" pitchFamily="18" charset="0"/>
                <a:cs typeface="Times New Roman" pitchFamily="18" charset="0"/>
              </a:rPr>
              <a:t>are substances that produce usable energy when burned </a:t>
            </a:r>
            <a:r>
              <a:rPr lang="en-US" sz="2800" dirty="0" smtClean="0">
                <a:latin typeface="Times New Roman" pitchFamily="18" charset="0"/>
                <a:cs typeface="Times New Roman" pitchFamily="18" charset="0"/>
              </a:rPr>
              <a:t>or consumed </a:t>
            </a:r>
            <a:r>
              <a:rPr lang="en-US" sz="2800" dirty="0">
                <a:latin typeface="Times New Roman" pitchFamily="18" charset="0"/>
                <a:cs typeface="Times New Roman" pitchFamily="18" charset="0"/>
              </a:rPr>
              <a:t>through chemical or nuclear </a:t>
            </a:r>
            <a:r>
              <a:rPr lang="en-US" sz="2800" dirty="0" smtClean="0">
                <a:latin typeface="Times New Roman" pitchFamily="18" charset="0"/>
                <a:cs typeface="Times New Roman" pitchFamily="18" charset="0"/>
              </a:rPr>
              <a:t>reactions.</a:t>
            </a:r>
          </a:p>
          <a:p>
            <a:pPr marL="457200" indent="-457200" algn="just">
              <a:buClr>
                <a:srgbClr val="C00000"/>
              </a:buClr>
              <a:buFont typeface="Wingdings" pitchFamily="2" charset="2"/>
              <a:buChar char="v"/>
            </a:pPr>
            <a:r>
              <a:rPr lang="en-US" sz="2800" dirty="0" smtClean="0">
                <a:latin typeface="Times New Roman" pitchFamily="18" charset="0"/>
                <a:cs typeface="Times New Roman" pitchFamily="18" charset="0"/>
              </a:rPr>
              <a:t>The </a:t>
            </a:r>
            <a:r>
              <a:rPr lang="en-US" sz="2800" dirty="0">
                <a:latin typeface="Times New Roman" pitchFamily="18" charset="0"/>
                <a:cs typeface="Times New Roman" pitchFamily="18" charset="0"/>
              </a:rPr>
              <a:t>primary function of a fuel is to provide energy in the form of heat or power, which can be converted into mechanical </a:t>
            </a:r>
            <a:r>
              <a:rPr lang="en-US" sz="2800" dirty="0" smtClean="0">
                <a:latin typeface="Times New Roman" pitchFamily="18" charset="0"/>
                <a:cs typeface="Times New Roman" pitchFamily="18" charset="0"/>
              </a:rPr>
              <a:t>work and electricity.</a:t>
            </a:r>
          </a:p>
          <a:p>
            <a:pPr marL="457200" indent="-457200" algn="just">
              <a:buClr>
                <a:srgbClr val="C00000"/>
              </a:buClr>
              <a:buFont typeface="Wingdings" pitchFamily="2" charset="2"/>
              <a:buChar char="v"/>
            </a:pPr>
            <a:r>
              <a:rPr lang="en-US" sz="2800" dirty="0" smtClean="0">
                <a:latin typeface="Times New Roman" pitchFamily="18" charset="0"/>
                <a:cs typeface="Times New Roman" pitchFamily="18" charset="0"/>
              </a:rPr>
              <a:t>Fuels </a:t>
            </a:r>
            <a:r>
              <a:rPr lang="en-US" sz="2800" dirty="0">
                <a:latin typeface="Times New Roman" pitchFamily="18" charset="0"/>
                <a:cs typeface="Times New Roman" pitchFamily="18" charset="0"/>
              </a:rPr>
              <a:t>can be broadly classified into Natural fuels (such as </a:t>
            </a:r>
            <a:r>
              <a:rPr lang="en-US" sz="2800" dirty="0" smtClean="0">
                <a:latin typeface="Times New Roman" pitchFamily="18" charset="0"/>
                <a:cs typeface="Times New Roman" pitchFamily="18" charset="0"/>
              </a:rPr>
              <a:t>Wood</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Coal</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Petroleum</a:t>
            </a:r>
            <a:r>
              <a:rPr lang="en-US" sz="2800" dirty="0">
                <a:latin typeface="Times New Roman" pitchFamily="18" charset="0"/>
                <a:cs typeface="Times New Roman" pitchFamily="18" charset="0"/>
              </a:rPr>
              <a:t>, and </a:t>
            </a:r>
            <a:r>
              <a:rPr lang="en-US" sz="2800" dirty="0" smtClean="0">
                <a:latin typeface="Times New Roman" pitchFamily="18" charset="0"/>
                <a:cs typeface="Times New Roman" pitchFamily="18" charset="0"/>
              </a:rPr>
              <a:t>Natural </a:t>
            </a:r>
            <a:r>
              <a:rPr lang="en-US" sz="2800" dirty="0">
                <a:latin typeface="Times New Roman" pitchFamily="18" charset="0"/>
                <a:cs typeface="Times New Roman" pitchFamily="18" charset="0"/>
              </a:rPr>
              <a:t>gas) and Synthetic fuels (such as </a:t>
            </a:r>
            <a:r>
              <a:rPr lang="en-US" sz="2800" dirty="0" smtClean="0">
                <a:latin typeface="Times New Roman" pitchFamily="18" charset="0"/>
                <a:cs typeface="Times New Roman" pitchFamily="18" charset="0"/>
              </a:rPr>
              <a:t>Hydrogen</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Producer </a:t>
            </a:r>
            <a:r>
              <a:rPr lang="en-US" sz="2800" dirty="0">
                <a:latin typeface="Times New Roman" pitchFamily="18" charset="0"/>
                <a:cs typeface="Times New Roman" pitchFamily="18" charset="0"/>
              </a:rPr>
              <a:t>gas, and </a:t>
            </a:r>
            <a:r>
              <a:rPr lang="en-US" sz="2800" dirty="0" smtClean="0">
                <a:latin typeface="Times New Roman" pitchFamily="18" charset="0"/>
                <a:cs typeface="Times New Roman" pitchFamily="18" charset="0"/>
              </a:rPr>
              <a:t>Biofuels).</a:t>
            </a:r>
          </a:p>
          <a:p>
            <a:pPr marL="457200" indent="-457200" algn="just">
              <a:buClr>
                <a:srgbClr val="C00000"/>
              </a:buClr>
              <a:buFont typeface="Wingdings" pitchFamily="2" charset="2"/>
              <a:buChar char="v"/>
            </a:pPr>
            <a:r>
              <a:rPr lang="en-US" sz="2800" dirty="0" smtClean="0">
                <a:latin typeface="Times New Roman" pitchFamily="18" charset="0"/>
                <a:cs typeface="Times New Roman" pitchFamily="18" charset="0"/>
              </a:rPr>
              <a:t>Based </a:t>
            </a:r>
            <a:r>
              <a:rPr lang="en-US" sz="2800" dirty="0">
                <a:latin typeface="Times New Roman" pitchFamily="18" charset="0"/>
                <a:cs typeface="Times New Roman" pitchFamily="18" charset="0"/>
              </a:rPr>
              <a:t>on their physical state, they </a:t>
            </a:r>
            <a:r>
              <a:rPr lang="en-US" sz="2800" dirty="0" smtClean="0">
                <a:latin typeface="Times New Roman" pitchFamily="18" charset="0"/>
                <a:cs typeface="Times New Roman" pitchFamily="18" charset="0"/>
              </a:rPr>
              <a:t>are categorized </a:t>
            </a:r>
            <a:r>
              <a:rPr lang="en-US" sz="2800" dirty="0">
                <a:latin typeface="Times New Roman" pitchFamily="18" charset="0"/>
                <a:cs typeface="Times New Roman" pitchFamily="18" charset="0"/>
              </a:rPr>
              <a:t>as Solid fuels </a:t>
            </a:r>
            <a:r>
              <a:rPr lang="en-US" sz="2800" dirty="0" smtClean="0">
                <a:latin typeface="Times New Roman" pitchFamily="18" charset="0"/>
                <a:cs typeface="Times New Roman" pitchFamily="18" charset="0"/>
              </a:rPr>
              <a:t>(Coal</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Coke</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Wood</a:t>
            </a:r>
            <a:r>
              <a:rPr lang="en-US" sz="2800" dirty="0">
                <a:latin typeface="Times New Roman" pitchFamily="18" charset="0"/>
                <a:cs typeface="Times New Roman" pitchFamily="18" charset="0"/>
              </a:rPr>
              <a:t>), Liquid fuels </a:t>
            </a:r>
            <a:r>
              <a:rPr lang="en-US" sz="2800" dirty="0" smtClean="0">
                <a:latin typeface="Times New Roman" pitchFamily="18" charset="0"/>
                <a:cs typeface="Times New Roman" pitchFamily="18" charset="0"/>
              </a:rPr>
              <a:t>(Petrol</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Diesel</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Kerosene</a:t>
            </a:r>
            <a:r>
              <a:rPr lang="en-US" sz="2800" dirty="0">
                <a:latin typeface="Times New Roman" pitchFamily="18" charset="0"/>
                <a:cs typeface="Times New Roman" pitchFamily="18" charset="0"/>
              </a:rPr>
              <a:t>), and Gaseous fuels (LPG, CNG, </a:t>
            </a:r>
            <a:r>
              <a:rPr lang="en-US" sz="2800" dirty="0" smtClean="0">
                <a:latin typeface="Times New Roman" pitchFamily="18" charset="0"/>
                <a:cs typeface="Times New Roman" pitchFamily="18" charset="0"/>
              </a:rPr>
              <a:t>Hydrogen</a:t>
            </a:r>
            <a:r>
              <a:rPr lang="en-US" sz="2800" dirty="0">
                <a:latin typeface="Times New Roman" pitchFamily="18" charset="0"/>
                <a:cs typeface="Times New Roman" pitchFamily="18" charset="0"/>
              </a:rPr>
              <a:t>, biogas).</a:t>
            </a:r>
          </a:p>
        </p:txBody>
      </p:sp>
      <p:sp>
        <p:nvSpPr>
          <p:cNvPr id="3" name="Rectangle 2"/>
          <p:cNvSpPr/>
          <p:nvPr/>
        </p:nvSpPr>
        <p:spPr>
          <a:xfrm>
            <a:off x="4177438" y="0"/>
            <a:ext cx="4356962" cy="646331"/>
          </a:xfrm>
          <a:prstGeom prst="rect">
            <a:avLst/>
          </a:prstGeom>
        </p:spPr>
        <p:txBody>
          <a:bodyPr wrap="none">
            <a:spAutoFit/>
          </a:bodyPr>
          <a:lstStyle/>
          <a:p>
            <a:r>
              <a:rPr lang="en-US" sz="3600" b="1" dirty="0">
                <a:solidFill>
                  <a:srgbClr val="FF0000"/>
                </a:solidFill>
                <a:latin typeface="Times New Roman" pitchFamily="18" charset="0"/>
                <a:cs typeface="Times New Roman" pitchFamily="18" charset="0"/>
              </a:rPr>
              <a:t>Introduction to Fuels</a:t>
            </a:r>
            <a:endParaRPr lang="en-US" sz="3600" dirty="0">
              <a:solidFill>
                <a:srgbClr val="FF0000"/>
              </a:solidFill>
              <a:latin typeface="Times New Roman" pitchFamily="18" charset="0"/>
              <a:cs typeface="Times New Roman" pitchFamily="18" charset="0"/>
            </a:endParaRPr>
          </a:p>
        </p:txBody>
      </p:sp>
      <p:pic>
        <p:nvPicPr>
          <p:cNvPr id="1026" name="Picture 2" descr="Fire Triangle Illustration With Heat Oxygen And Fuel - Fire Triangle  Diagram with Heat, Oxygen, and Fuel - Clea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1143000"/>
            <a:ext cx="42672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7027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0"/>
            <a:ext cx="12420600" cy="5632311"/>
          </a:xfrm>
          <a:prstGeom prst="rect">
            <a:avLst/>
          </a:prstGeom>
        </p:spPr>
        <p:txBody>
          <a:bodyPr wrap="square">
            <a:spAutoFit/>
          </a:bodyPr>
          <a:lstStyle/>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High </a:t>
            </a:r>
            <a:r>
              <a:rPr lang="en-US" sz="2400" b="1" dirty="0">
                <a:solidFill>
                  <a:srgbClr val="C00000"/>
                </a:solidFill>
                <a:latin typeface="Times New Roman" pitchFamily="18" charset="0"/>
                <a:cs typeface="Times New Roman" pitchFamily="18" charset="0"/>
              </a:rPr>
              <a:t>Calorific Value:</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It should produce a large amount of heat per unit mass or </a:t>
            </a:r>
            <a:r>
              <a:rPr lang="en-US" sz="2400" dirty="0" smtClean="0">
                <a:latin typeface="Times New Roman" pitchFamily="18" charset="0"/>
                <a:cs typeface="Times New Roman" pitchFamily="18" charset="0"/>
              </a:rPr>
              <a:t>volume.</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Moderate </a:t>
            </a:r>
            <a:r>
              <a:rPr lang="en-US" sz="2400" b="1" dirty="0">
                <a:solidFill>
                  <a:srgbClr val="C00000"/>
                </a:solidFill>
                <a:latin typeface="Times New Roman" pitchFamily="18" charset="0"/>
                <a:cs typeface="Times New Roman" pitchFamily="18" charset="0"/>
              </a:rPr>
              <a:t>Ignition Temperature:</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The fuel should ignite easily but not so low that it catches fire </a:t>
            </a:r>
            <a:r>
              <a:rPr lang="en-US" sz="2400" dirty="0" smtClean="0">
                <a:latin typeface="Times New Roman" pitchFamily="18" charset="0"/>
                <a:cs typeface="Times New Roman" pitchFamily="18" charset="0"/>
              </a:rPr>
              <a:t>accidentally.</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Controlled </a:t>
            </a:r>
            <a:r>
              <a:rPr lang="en-US" sz="2400" b="1" dirty="0">
                <a:solidFill>
                  <a:srgbClr val="C00000"/>
                </a:solidFill>
                <a:latin typeface="Times New Roman" pitchFamily="18" charset="0"/>
                <a:cs typeface="Times New Roman" pitchFamily="18" charset="0"/>
              </a:rPr>
              <a:t>Combustion:</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It should burn smoothly and steadily without explosions or harmful </a:t>
            </a:r>
            <a:r>
              <a:rPr lang="en-US" sz="2400" dirty="0" smtClean="0">
                <a:latin typeface="Times New Roman" pitchFamily="18" charset="0"/>
                <a:cs typeface="Times New Roman" pitchFamily="18" charset="0"/>
              </a:rPr>
              <a:t>byproducts.</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Availability </a:t>
            </a:r>
            <a:r>
              <a:rPr lang="en-US" sz="2400" b="1" dirty="0">
                <a:solidFill>
                  <a:srgbClr val="C00000"/>
                </a:solidFill>
                <a:latin typeface="Times New Roman" pitchFamily="18" charset="0"/>
                <a:cs typeface="Times New Roman" pitchFamily="18" charset="0"/>
              </a:rPr>
              <a:t>and Cost:</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It must be easily available in nature and economical to </a:t>
            </a:r>
            <a:r>
              <a:rPr lang="en-US" sz="2400" dirty="0" smtClean="0">
                <a:latin typeface="Times New Roman" pitchFamily="18" charset="0"/>
                <a:cs typeface="Times New Roman" pitchFamily="18" charset="0"/>
              </a:rPr>
              <a:t>use.</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Ease </a:t>
            </a:r>
            <a:r>
              <a:rPr lang="en-US" sz="2400" b="1" dirty="0">
                <a:solidFill>
                  <a:srgbClr val="C00000"/>
                </a:solidFill>
                <a:latin typeface="Times New Roman" pitchFamily="18" charset="0"/>
                <a:cs typeface="Times New Roman" pitchFamily="18" charset="0"/>
              </a:rPr>
              <a:t>of Transportation and Storage:</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It should be easy and safe to store, handle, and </a:t>
            </a:r>
            <a:r>
              <a:rPr lang="en-US" sz="2400" dirty="0" smtClean="0">
                <a:latin typeface="Times New Roman" pitchFamily="18" charset="0"/>
                <a:cs typeface="Times New Roman" pitchFamily="18" charset="0"/>
              </a:rPr>
              <a:t>transport.</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Low </a:t>
            </a:r>
            <a:r>
              <a:rPr lang="en-US" sz="2400" b="1" dirty="0">
                <a:solidFill>
                  <a:srgbClr val="C00000"/>
                </a:solidFill>
                <a:latin typeface="Times New Roman" pitchFamily="18" charset="0"/>
                <a:cs typeface="Times New Roman" pitchFamily="18" charset="0"/>
              </a:rPr>
              <a:t>Moisture and Non-combustible Matter:</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Less water and ash content give higher </a:t>
            </a:r>
            <a:r>
              <a:rPr lang="en-US" sz="2400" dirty="0" smtClean="0">
                <a:latin typeface="Times New Roman" pitchFamily="18" charset="0"/>
                <a:cs typeface="Times New Roman" pitchFamily="18" charset="0"/>
              </a:rPr>
              <a:t>efficiency.</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Minimal </a:t>
            </a:r>
            <a:r>
              <a:rPr lang="en-US" sz="2400" b="1" dirty="0">
                <a:solidFill>
                  <a:srgbClr val="C00000"/>
                </a:solidFill>
                <a:latin typeface="Times New Roman" pitchFamily="18" charset="0"/>
                <a:cs typeface="Times New Roman" pitchFamily="18" charset="0"/>
              </a:rPr>
              <a:t>Pollution</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It should release fewer harmful gases (SO₂, CO, NO</a:t>
            </a:r>
            <a:r>
              <a:rPr lang="en-US" sz="2400" baseline="-25000" dirty="0">
                <a:latin typeface="Times New Roman" pitchFamily="18" charset="0"/>
                <a:cs typeface="Times New Roman" pitchFamily="18" charset="0"/>
              </a:rPr>
              <a:t>x</a:t>
            </a:r>
            <a:r>
              <a:rPr lang="en-US" sz="2400" dirty="0">
                <a:latin typeface="Times New Roman" pitchFamily="18" charset="0"/>
                <a:cs typeface="Times New Roman" pitchFamily="18" charset="0"/>
              </a:rPr>
              <a:t>, smoke) during </a:t>
            </a:r>
            <a:r>
              <a:rPr lang="en-US" sz="2400" dirty="0" smtClean="0">
                <a:latin typeface="Times New Roman" pitchFamily="18" charset="0"/>
                <a:cs typeface="Times New Roman" pitchFamily="18" charset="0"/>
              </a:rPr>
              <a:t>combustion.</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High </a:t>
            </a:r>
            <a:r>
              <a:rPr lang="en-US" sz="2400" b="1" dirty="0">
                <a:solidFill>
                  <a:srgbClr val="C00000"/>
                </a:solidFill>
                <a:latin typeface="Times New Roman" pitchFamily="18" charset="0"/>
                <a:cs typeface="Times New Roman" pitchFamily="18" charset="0"/>
              </a:rPr>
              <a:t>Density:</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A compact, energy-rich fuel is preferable for storage and </a:t>
            </a:r>
            <a:r>
              <a:rPr lang="en-US" sz="2400" dirty="0" smtClean="0">
                <a:latin typeface="Times New Roman" pitchFamily="18" charset="0"/>
                <a:cs typeface="Times New Roman" pitchFamily="18" charset="0"/>
              </a:rPr>
              <a:t>transport.</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Non-toxic </a:t>
            </a:r>
            <a:r>
              <a:rPr lang="en-US" sz="2400" b="1" dirty="0">
                <a:solidFill>
                  <a:srgbClr val="C00000"/>
                </a:solidFill>
                <a:latin typeface="Times New Roman" pitchFamily="18" charset="0"/>
                <a:cs typeface="Times New Roman" pitchFamily="18" charset="0"/>
              </a:rPr>
              <a:t>and safe:</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It should not pose serious health hazards or risks of explosion under normal </a:t>
            </a:r>
            <a:r>
              <a:rPr lang="en-US" sz="2400" dirty="0" smtClean="0">
                <a:latin typeface="Times New Roman" pitchFamily="18" charset="0"/>
                <a:cs typeface="Times New Roman" pitchFamily="18" charset="0"/>
              </a:rPr>
              <a:t>conditions.</a:t>
            </a:r>
          </a:p>
          <a:p>
            <a:pPr marL="457200" lvl="0" indent="-457200" algn="just">
              <a:buFont typeface="+mj-lt"/>
              <a:buAutoNum type="arabicPeriod"/>
            </a:pPr>
            <a:r>
              <a:rPr lang="en-US" sz="2400" b="1" dirty="0" smtClean="0">
                <a:solidFill>
                  <a:srgbClr val="C00000"/>
                </a:solidFill>
                <a:latin typeface="Times New Roman" pitchFamily="18" charset="0"/>
                <a:cs typeface="Times New Roman" pitchFamily="18" charset="0"/>
              </a:rPr>
              <a:t>Residue </a:t>
            </a:r>
            <a:r>
              <a:rPr lang="en-US" sz="2400" b="1" dirty="0">
                <a:solidFill>
                  <a:srgbClr val="C00000"/>
                </a:solidFill>
                <a:latin typeface="Times New Roman" pitchFamily="18" charset="0"/>
                <a:cs typeface="Times New Roman" pitchFamily="18" charset="0"/>
              </a:rPr>
              <a:t>after Combustion</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A good fuel should leave very little ash or other solid residues.</a:t>
            </a:r>
          </a:p>
        </p:txBody>
      </p:sp>
      <p:sp>
        <p:nvSpPr>
          <p:cNvPr id="3" name="Rectangle 2"/>
          <p:cNvSpPr/>
          <p:nvPr/>
        </p:nvSpPr>
        <p:spPr>
          <a:xfrm>
            <a:off x="3200400" y="76200"/>
            <a:ext cx="6211957" cy="646331"/>
          </a:xfrm>
          <a:prstGeom prst="rect">
            <a:avLst/>
          </a:prstGeom>
        </p:spPr>
        <p:txBody>
          <a:bodyPr wrap="none">
            <a:spAutoFit/>
          </a:bodyPr>
          <a:lstStyle/>
          <a:p>
            <a:r>
              <a:rPr lang="en-US" sz="3600" b="1" dirty="0">
                <a:solidFill>
                  <a:srgbClr val="FF0000"/>
                </a:solidFill>
                <a:latin typeface="Times New Roman" pitchFamily="18" charset="0"/>
                <a:cs typeface="Times New Roman" pitchFamily="18" charset="0"/>
              </a:rPr>
              <a:t>Characteristics of a Good Fuel</a:t>
            </a:r>
            <a:endParaRPr lang="en-US" sz="36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2745604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19600" y="0"/>
            <a:ext cx="3888950" cy="584775"/>
          </a:xfrm>
          <a:prstGeom prst="rect">
            <a:avLst/>
          </a:prstGeom>
        </p:spPr>
        <p:txBody>
          <a:bodyPr wrap="none">
            <a:spAutoFit/>
          </a:bodyPr>
          <a:lstStyle/>
          <a:p>
            <a:r>
              <a:rPr lang="en-US" sz="3200" b="1" dirty="0">
                <a:solidFill>
                  <a:srgbClr val="FF0000"/>
                </a:solidFill>
                <a:latin typeface="Times New Roman" pitchFamily="18" charset="0"/>
                <a:cs typeface="Times New Roman" pitchFamily="18" charset="0"/>
              </a:rPr>
              <a:t>Calorific </a:t>
            </a:r>
            <a:r>
              <a:rPr lang="en-US" sz="3200" b="1" dirty="0" smtClean="0">
                <a:solidFill>
                  <a:srgbClr val="FF0000"/>
                </a:solidFill>
                <a:latin typeface="Times New Roman" pitchFamily="18" charset="0"/>
                <a:cs typeface="Times New Roman" pitchFamily="18" charset="0"/>
              </a:rPr>
              <a:t>Value (CV)</a:t>
            </a:r>
            <a:r>
              <a:rPr lang="en-IN" sz="3200" b="1" dirty="0" smtClean="0">
                <a:solidFill>
                  <a:srgbClr val="FF0000"/>
                </a:solidFill>
                <a:latin typeface="Times New Roman" pitchFamily="18" charset="0"/>
                <a:cs typeface="Times New Roman" pitchFamily="18" charset="0"/>
              </a:rPr>
              <a:t> </a:t>
            </a:r>
            <a:endParaRPr lang="en-US" sz="3200" b="1" dirty="0">
              <a:solidFill>
                <a:srgbClr val="FF0000"/>
              </a:solidFill>
              <a:latin typeface="Times New Roman" pitchFamily="18" charset="0"/>
              <a:cs typeface="Times New Roman" pitchFamily="18" charset="0"/>
            </a:endParaRPr>
          </a:p>
        </p:txBody>
      </p:sp>
      <p:sp>
        <p:nvSpPr>
          <p:cNvPr id="3" name="Rectangle 2"/>
          <p:cNvSpPr/>
          <p:nvPr/>
        </p:nvSpPr>
        <p:spPr>
          <a:xfrm>
            <a:off x="457200" y="645616"/>
            <a:ext cx="12039600" cy="5632311"/>
          </a:xfrm>
          <a:prstGeom prst="rect">
            <a:avLst/>
          </a:prstGeom>
        </p:spPr>
        <p:txBody>
          <a:bodyPr wrap="square">
            <a:spAutoFit/>
          </a:bodyPr>
          <a:lstStyle/>
          <a:p>
            <a:pPr algn="just"/>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calorific value of a fuel is the amount of heat energy produced when one unit </a:t>
            </a:r>
            <a:r>
              <a:rPr lang="en-US" sz="2400" dirty="0" smtClean="0">
                <a:latin typeface="Times New Roman" pitchFamily="18" charset="0"/>
                <a:cs typeface="Times New Roman" pitchFamily="18" charset="0"/>
              </a:rPr>
              <a:t>mass of </a:t>
            </a:r>
            <a:r>
              <a:rPr lang="en-US" sz="2400" dirty="0">
                <a:latin typeface="Times New Roman" pitchFamily="18" charset="0"/>
                <a:cs typeface="Times New Roman" pitchFamily="18" charset="0"/>
              </a:rPr>
              <a:t>the fuel is completely burnt in oxygen. It is expressed in </a:t>
            </a:r>
            <a:r>
              <a:rPr lang="en-US" sz="2400" dirty="0" smtClean="0">
                <a:latin typeface="Times New Roman" pitchFamily="18" charset="0"/>
                <a:cs typeface="Times New Roman" pitchFamily="18" charset="0"/>
              </a:rPr>
              <a:t>two ways.</a:t>
            </a:r>
          </a:p>
          <a:p>
            <a:pPr algn="just"/>
            <a:endParaRPr lang="en-US" sz="2400" dirty="0">
              <a:latin typeface="Times New Roman" pitchFamily="18" charset="0"/>
              <a:cs typeface="Times New Roman" pitchFamily="18" charset="0"/>
            </a:endParaRPr>
          </a:p>
          <a:p>
            <a:pPr marL="514350" indent="-514350" algn="just">
              <a:buFont typeface="+mj-lt"/>
              <a:buAutoNum type="romanUcPeriod"/>
            </a:pPr>
            <a:r>
              <a:rPr lang="en-US" sz="2400" b="1" dirty="0">
                <a:solidFill>
                  <a:srgbClr val="C00000"/>
                </a:solidFill>
                <a:latin typeface="Times New Roman" pitchFamily="18" charset="0"/>
                <a:cs typeface="Times New Roman" pitchFamily="18" charset="0"/>
              </a:rPr>
              <a:t>Higher Calorific Value (HCV) / Gross Calorific Value (GCV): </a:t>
            </a:r>
            <a:r>
              <a:rPr lang="en-US" sz="2400" dirty="0">
                <a:latin typeface="Times New Roman" pitchFamily="18" charset="0"/>
                <a:cs typeface="Times New Roman" pitchFamily="18" charset="0"/>
              </a:rPr>
              <a:t>It is the total heat liberated when fuel is completely burnt and the products of combustion are cooled to room temperature, so that the latent heat of condensation of water vapor is also </a:t>
            </a:r>
            <a:r>
              <a:rPr lang="en-US" sz="2400" dirty="0" smtClean="0">
                <a:latin typeface="Times New Roman" pitchFamily="18" charset="0"/>
                <a:cs typeface="Times New Roman" pitchFamily="18" charset="0"/>
              </a:rPr>
              <a:t>included.</a:t>
            </a:r>
          </a:p>
          <a:p>
            <a:pPr algn="just"/>
            <a:endParaRPr lang="en-US" sz="2400" dirty="0" smtClean="0">
              <a:latin typeface="Times New Roman" pitchFamily="18" charset="0"/>
              <a:cs typeface="Times New Roman" pitchFamily="18" charset="0"/>
            </a:endParaRPr>
          </a:p>
          <a:p>
            <a:pPr marL="517525" algn="just"/>
            <a:r>
              <a:rPr lang="en-US" sz="2400" b="1" dirty="0" smtClean="0">
                <a:solidFill>
                  <a:srgbClr val="7030A0"/>
                </a:solidFill>
                <a:latin typeface="Times New Roman" pitchFamily="18" charset="0"/>
                <a:cs typeface="Times New Roman" pitchFamily="18" charset="0"/>
              </a:rPr>
              <a:t>Ex:</a:t>
            </a:r>
            <a:r>
              <a:rPr lang="en-US" sz="2400" dirty="0" smtClean="0">
                <a:solidFill>
                  <a:srgbClr val="7030A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If hydrogen is burnt, the water vapor formed condenses and releases latent heat, which is counted in HCV.</a:t>
            </a:r>
          </a:p>
          <a:p>
            <a:pPr marL="517525" algn="just"/>
            <a:endParaRPr lang="en-US" sz="2400" dirty="0" smtClean="0">
              <a:latin typeface="Times New Roman" pitchFamily="18" charset="0"/>
              <a:cs typeface="Times New Roman" pitchFamily="18" charset="0"/>
            </a:endParaRPr>
          </a:p>
          <a:p>
            <a:pPr marL="517525" indent="-517525" algn="just"/>
            <a:r>
              <a:rPr lang="en-US" sz="2400" b="1" dirty="0" smtClean="0">
                <a:solidFill>
                  <a:srgbClr val="C00000"/>
                </a:solidFill>
                <a:latin typeface="Times New Roman" pitchFamily="18" charset="0"/>
                <a:cs typeface="Times New Roman" pitchFamily="18" charset="0"/>
              </a:rPr>
              <a:t>II. Lower </a:t>
            </a:r>
            <a:r>
              <a:rPr lang="en-US" sz="2400" b="1" dirty="0">
                <a:solidFill>
                  <a:srgbClr val="C00000"/>
                </a:solidFill>
                <a:latin typeface="Times New Roman" pitchFamily="18" charset="0"/>
                <a:cs typeface="Times New Roman" pitchFamily="18" charset="0"/>
              </a:rPr>
              <a:t>Calorific Value (LCV) / Net Calorific Value (NCV): </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It is the heat produced when fuel is completely burnt but the products are not cooled, hence the latent heat of vaporization of water vapor is not recovered. </a:t>
            </a:r>
            <a:endParaRPr lang="en-US" sz="2400" dirty="0" smtClean="0">
              <a:latin typeface="Times New Roman" pitchFamily="18" charset="0"/>
              <a:cs typeface="Times New Roman" pitchFamily="18" charset="0"/>
            </a:endParaRPr>
          </a:p>
          <a:p>
            <a:pPr marL="517525" indent="-517525" algn="just"/>
            <a:endParaRPr lang="en-US" sz="2400" dirty="0" smtClean="0">
              <a:latin typeface="Times New Roman" pitchFamily="18" charset="0"/>
              <a:cs typeface="Times New Roman" pitchFamily="18" charset="0"/>
            </a:endParaRPr>
          </a:p>
          <a:p>
            <a:pPr marL="517525" indent="-517525" algn="ctr"/>
            <a:r>
              <a:rPr lang="en-US" sz="2400" dirty="0">
                <a:latin typeface="Times New Roman" pitchFamily="18" charset="0"/>
                <a:cs typeface="Times New Roman" pitchFamily="18" charset="0"/>
              </a:rPr>
              <a:t>	</a:t>
            </a:r>
            <a:r>
              <a:rPr lang="en-US" sz="2400" b="1" dirty="0" smtClean="0">
                <a:solidFill>
                  <a:srgbClr val="7030A0"/>
                </a:solidFill>
                <a:latin typeface="Times New Roman" pitchFamily="18" charset="0"/>
                <a:cs typeface="Times New Roman" pitchFamily="18" charset="0"/>
              </a:rPr>
              <a:t>LCV </a:t>
            </a:r>
            <a:r>
              <a:rPr lang="en-US" sz="2400" b="1" dirty="0">
                <a:solidFill>
                  <a:srgbClr val="7030A0"/>
                </a:solidFill>
                <a:latin typeface="Times New Roman" pitchFamily="18" charset="0"/>
                <a:cs typeface="Times New Roman" pitchFamily="18" charset="0"/>
              </a:rPr>
              <a:t>= HCV – </a:t>
            </a:r>
            <a:r>
              <a:rPr lang="en-US" sz="2400" b="1" dirty="0" smtClean="0">
                <a:solidFill>
                  <a:srgbClr val="7030A0"/>
                </a:solidFill>
                <a:latin typeface="Times New Roman" pitchFamily="18" charset="0"/>
                <a:cs typeface="Times New Roman" pitchFamily="18" charset="0"/>
              </a:rPr>
              <a:t>Mass of water </a:t>
            </a:r>
            <a:r>
              <a:rPr lang="en-US" sz="2400" dirty="0" smtClean="0">
                <a:solidFill>
                  <a:srgbClr val="7030A0"/>
                </a:solidFill>
                <a:latin typeface="Times New Roman" pitchFamily="18" charset="0"/>
                <a:cs typeface="Times New Roman" pitchFamily="18" charset="0"/>
              </a:rPr>
              <a:t>X</a:t>
            </a:r>
            <a:r>
              <a:rPr lang="en-US" sz="2400" b="1" dirty="0" smtClean="0">
                <a:solidFill>
                  <a:srgbClr val="7030A0"/>
                </a:solidFill>
                <a:latin typeface="Times New Roman" pitchFamily="18" charset="0"/>
                <a:cs typeface="Times New Roman" pitchFamily="18" charset="0"/>
              </a:rPr>
              <a:t> Latent </a:t>
            </a:r>
            <a:r>
              <a:rPr lang="en-US" sz="2400" b="1" dirty="0">
                <a:solidFill>
                  <a:srgbClr val="7030A0"/>
                </a:solidFill>
                <a:latin typeface="Times New Roman" pitchFamily="18" charset="0"/>
                <a:cs typeface="Times New Roman" pitchFamily="18" charset="0"/>
              </a:rPr>
              <a:t>heat of vaporization of </a:t>
            </a:r>
            <a:r>
              <a:rPr lang="en-US" sz="2400" b="1" dirty="0" smtClean="0">
                <a:solidFill>
                  <a:srgbClr val="7030A0"/>
                </a:solidFill>
                <a:latin typeface="Times New Roman" pitchFamily="18" charset="0"/>
                <a:cs typeface="Times New Roman" pitchFamily="18" charset="0"/>
              </a:rPr>
              <a:t>steam.</a:t>
            </a:r>
          </a:p>
        </p:txBody>
      </p:sp>
    </p:spTree>
    <p:extLst>
      <p:ext uri="{BB962C8B-B14F-4D97-AF65-F5344CB8AC3E}">
        <p14:creationId xmlns:p14="http://schemas.microsoft.com/office/powerpoint/2010/main" val="27971318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0"/>
            <a:ext cx="5029200" cy="5632311"/>
          </a:xfrm>
          <a:prstGeom prst="rect">
            <a:avLst/>
          </a:prstGeom>
        </p:spPr>
        <p:txBody>
          <a:bodyPr wrap="square">
            <a:spAutoFit/>
          </a:bodyPr>
          <a:lstStyle/>
          <a:p>
            <a:pPr marL="457200" indent="-457200" algn="just">
              <a:buFont typeface="+mj-lt"/>
              <a:buAutoNum type="arabicPeriod"/>
            </a:pPr>
            <a:r>
              <a:rPr lang="en-US" sz="2400" b="1" dirty="0" smtClean="0">
                <a:solidFill>
                  <a:srgbClr val="C00000"/>
                </a:solidFill>
                <a:latin typeface="Times New Roman" pitchFamily="18" charset="0"/>
                <a:cs typeface="Times New Roman" pitchFamily="18" charset="0"/>
              </a:rPr>
              <a:t>Calorie</a:t>
            </a:r>
            <a:r>
              <a:rPr lang="en-US" sz="2400" b="1" dirty="0">
                <a:solidFill>
                  <a:srgbClr val="C0000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the amount of heat required to raise the temperature of 1 gram of water through one degree </a:t>
            </a:r>
            <a:r>
              <a:rPr lang="en-US" sz="2400" dirty="0" smtClean="0">
                <a:latin typeface="Times New Roman" pitchFamily="18" charset="0"/>
                <a:cs typeface="Times New Roman" pitchFamily="18" charset="0"/>
              </a:rPr>
              <a:t>centigrade.</a:t>
            </a:r>
          </a:p>
          <a:p>
            <a:pPr algn="just"/>
            <a:endParaRPr lang="en-US" sz="2400" dirty="0" smtClean="0">
              <a:latin typeface="Times New Roman" pitchFamily="18" charset="0"/>
              <a:cs typeface="Times New Roman" pitchFamily="18" charset="0"/>
            </a:endParaRPr>
          </a:p>
          <a:p>
            <a:pPr marL="350838" indent="-350838" algn="just"/>
            <a:r>
              <a:rPr lang="en-US" sz="2400" b="1" dirty="0" smtClean="0">
                <a:solidFill>
                  <a:srgbClr val="C00000"/>
                </a:solidFill>
                <a:latin typeface="Times New Roman" pitchFamily="18" charset="0"/>
                <a:cs typeface="Times New Roman" pitchFamily="18" charset="0"/>
              </a:rPr>
              <a:t>2. British </a:t>
            </a:r>
            <a:r>
              <a:rPr lang="en-US" sz="2400" b="1" dirty="0">
                <a:solidFill>
                  <a:srgbClr val="C00000"/>
                </a:solidFill>
                <a:latin typeface="Times New Roman" pitchFamily="18" charset="0"/>
                <a:cs typeface="Times New Roman" pitchFamily="18" charset="0"/>
              </a:rPr>
              <a:t>Thermal Unit (BTU): </a:t>
            </a: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the amount of heat required to raise the temperature of 1 pond of water to one degree Fahrenheit. </a:t>
            </a:r>
            <a:endParaRPr lang="en-US" sz="2400" dirty="0" smtClean="0">
              <a:latin typeface="Times New Roman" pitchFamily="18" charset="0"/>
              <a:cs typeface="Times New Roman" pitchFamily="18" charset="0"/>
            </a:endParaRPr>
          </a:p>
          <a:p>
            <a:pPr algn="ctr"/>
            <a:endParaRPr lang="en-US" sz="2400" b="1" dirty="0" smtClean="0">
              <a:latin typeface="Times New Roman" pitchFamily="18" charset="0"/>
              <a:cs typeface="Times New Roman" pitchFamily="18" charset="0"/>
            </a:endParaRPr>
          </a:p>
          <a:p>
            <a:pPr marL="350838" indent="-350838" algn="just"/>
            <a:r>
              <a:rPr lang="en-US" sz="2400" b="1" dirty="0" smtClean="0">
                <a:solidFill>
                  <a:srgbClr val="C00000"/>
                </a:solidFill>
                <a:latin typeface="Times New Roman" pitchFamily="18" charset="0"/>
                <a:cs typeface="Times New Roman" pitchFamily="18" charset="0"/>
              </a:rPr>
              <a:t>3. Centigrade </a:t>
            </a:r>
            <a:r>
              <a:rPr lang="en-US" sz="2400" b="1" dirty="0">
                <a:solidFill>
                  <a:srgbClr val="C00000"/>
                </a:solidFill>
                <a:latin typeface="Times New Roman" pitchFamily="18" charset="0"/>
                <a:cs typeface="Times New Roman" pitchFamily="18" charset="0"/>
              </a:rPr>
              <a:t>Heat Unit (CHU): </a:t>
            </a: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define as the amount of heat required to raise the temperature of 1 pond of water to one degree centigrade. </a:t>
            </a:r>
            <a:endParaRPr lang="en-US" sz="2400" dirty="0" smtClean="0">
              <a:latin typeface="Times New Roman" pitchFamily="18" charset="0"/>
              <a:cs typeface="Times New Roman" pitchFamily="18" charset="0"/>
            </a:endParaRPr>
          </a:p>
        </p:txBody>
      </p:sp>
      <p:sp>
        <p:nvSpPr>
          <p:cNvPr id="3" name="Rectangle 2"/>
          <p:cNvSpPr/>
          <p:nvPr/>
        </p:nvSpPr>
        <p:spPr>
          <a:xfrm>
            <a:off x="4191000" y="152400"/>
            <a:ext cx="4401911" cy="584775"/>
          </a:xfrm>
          <a:prstGeom prst="rect">
            <a:avLst/>
          </a:prstGeom>
        </p:spPr>
        <p:txBody>
          <a:bodyPr wrap="none">
            <a:spAutoFit/>
          </a:bodyPr>
          <a:lstStyle/>
          <a:p>
            <a:r>
              <a:rPr lang="en-US" sz="3200" b="1" dirty="0" smtClean="0">
                <a:solidFill>
                  <a:srgbClr val="C00000"/>
                </a:solidFill>
                <a:latin typeface="Times New Roman" pitchFamily="18" charset="0"/>
                <a:cs typeface="Times New Roman" pitchFamily="18" charset="0"/>
              </a:rPr>
              <a:t>Units of Calorific Value </a:t>
            </a:r>
            <a:endParaRPr lang="en-US" sz="3200" b="1" dirty="0">
              <a:solidFill>
                <a:srgbClr val="C00000"/>
              </a:solidFill>
            </a:endParaRPr>
          </a:p>
        </p:txBody>
      </p:sp>
      <p:sp>
        <p:nvSpPr>
          <p:cNvPr id="4" name="Rectangle 3"/>
          <p:cNvSpPr/>
          <p:nvPr/>
        </p:nvSpPr>
        <p:spPr>
          <a:xfrm>
            <a:off x="6019800" y="838200"/>
            <a:ext cx="6400800" cy="5632311"/>
          </a:xfrm>
          <a:prstGeom prst="rect">
            <a:avLst/>
          </a:prstGeom>
        </p:spPr>
        <p:txBody>
          <a:bodyPr>
            <a:spAutoFit/>
          </a:bodyPr>
          <a:lstStyle/>
          <a:p>
            <a:r>
              <a:rPr lang="en-US" sz="2400" b="1" dirty="0">
                <a:solidFill>
                  <a:srgbClr val="C00000"/>
                </a:solidFill>
                <a:latin typeface="Times New Roman" pitchFamily="18" charset="0"/>
                <a:cs typeface="Times New Roman" pitchFamily="18" charset="0"/>
              </a:rPr>
              <a:t>SI Units (preferred)</a:t>
            </a:r>
          </a:p>
          <a:p>
            <a:pPr marL="800100" lvl="1" indent="-342900">
              <a:buClr>
                <a:srgbClr val="C00000"/>
              </a:buClr>
              <a:buFont typeface="Arial" pitchFamily="34" charset="0"/>
              <a:buChar char="•"/>
            </a:pPr>
            <a:r>
              <a:rPr lang="en-US" sz="2400" dirty="0">
                <a:latin typeface="Times New Roman" pitchFamily="18" charset="0"/>
                <a:cs typeface="Times New Roman" pitchFamily="18" charset="0"/>
              </a:rPr>
              <a:t>Joules per kilogram (J/kg) → for solid and liquid </a:t>
            </a:r>
            <a:r>
              <a:rPr lang="en-US" sz="2400" dirty="0" smtClean="0">
                <a:latin typeface="Times New Roman" pitchFamily="18" charset="0"/>
                <a:cs typeface="Times New Roman" pitchFamily="18" charset="0"/>
              </a:rPr>
              <a:t>fuels</a:t>
            </a:r>
          </a:p>
          <a:p>
            <a:pPr marL="800100" lvl="1" indent="-342900">
              <a:buClr>
                <a:srgbClr val="C00000"/>
              </a:buClr>
              <a:buFont typeface="Arial" pitchFamily="34" charset="0"/>
              <a:buChar char="•"/>
            </a:pPr>
            <a:r>
              <a:rPr lang="en-US" sz="2400" dirty="0" smtClean="0">
                <a:latin typeface="Times New Roman" pitchFamily="18" charset="0"/>
                <a:cs typeface="Times New Roman" pitchFamily="18" charset="0"/>
              </a:rPr>
              <a:t>Joules </a:t>
            </a:r>
            <a:r>
              <a:rPr lang="en-US" sz="2400" dirty="0">
                <a:latin typeface="Times New Roman" pitchFamily="18" charset="0"/>
                <a:cs typeface="Times New Roman" pitchFamily="18" charset="0"/>
              </a:rPr>
              <a:t>per cubic meter (J/m³) → for gaseous fuels</a:t>
            </a:r>
          </a:p>
          <a:p>
            <a:r>
              <a:rPr lang="en-US" sz="2400" b="1" dirty="0">
                <a:solidFill>
                  <a:srgbClr val="C00000"/>
                </a:solidFill>
                <a:latin typeface="Times New Roman" pitchFamily="18" charset="0"/>
                <a:cs typeface="Times New Roman" pitchFamily="18" charset="0"/>
              </a:rPr>
              <a:t>CGS Unit (older system)</a:t>
            </a:r>
          </a:p>
          <a:p>
            <a:pPr marL="800100" lvl="1" indent="-342900">
              <a:buClr>
                <a:srgbClr val="C00000"/>
              </a:buClr>
              <a:buFont typeface="Arial" pitchFamily="34" charset="0"/>
              <a:buChar char="•"/>
            </a:pPr>
            <a:r>
              <a:rPr lang="en-US" sz="2400" dirty="0">
                <a:latin typeface="Times New Roman" pitchFamily="18" charset="0"/>
                <a:cs typeface="Times New Roman" pitchFamily="18" charset="0"/>
              </a:rPr>
              <a:t>calorie per gram (</a:t>
            </a:r>
            <a:r>
              <a:rPr lang="en-US" sz="2400" dirty="0" smtClean="0">
                <a:latin typeface="Times New Roman" pitchFamily="18" charset="0"/>
                <a:cs typeface="Times New Roman" pitchFamily="18" charset="0"/>
              </a:rPr>
              <a:t>cal/g)</a:t>
            </a:r>
          </a:p>
          <a:p>
            <a:pPr marL="800100" lvl="1" indent="-342900">
              <a:buClr>
                <a:srgbClr val="C00000"/>
              </a:buClr>
              <a:buFont typeface="Arial" pitchFamily="34" charset="0"/>
              <a:buChar char="•"/>
            </a:pPr>
            <a:r>
              <a:rPr lang="en-US" sz="2400" dirty="0" smtClean="0">
                <a:latin typeface="Times New Roman" pitchFamily="18" charset="0"/>
                <a:cs typeface="Times New Roman" pitchFamily="18" charset="0"/>
              </a:rPr>
              <a:t>kilocalorie </a:t>
            </a:r>
            <a:r>
              <a:rPr lang="en-US" sz="2400" dirty="0">
                <a:latin typeface="Times New Roman" pitchFamily="18" charset="0"/>
                <a:cs typeface="Times New Roman" pitchFamily="18" charset="0"/>
              </a:rPr>
              <a:t>per kilogram (</a:t>
            </a:r>
            <a:r>
              <a:rPr lang="en-US" sz="2400" dirty="0" smtClean="0">
                <a:latin typeface="Times New Roman" pitchFamily="18" charset="0"/>
                <a:cs typeface="Times New Roman" pitchFamily="18" charset="0"/>
              </a:rPr>
              <a:t>kcal/kg)</a:t>
            </a:r>
          </a:p>
          <a:p>
            <a:pPr marL="800100" lvl="1" indent="-342900">
              <a:buClr>
                <a:srgbClr val="C00000"/>
              </a:buClr>
              <a:buFont typeface="Arial" pitchFamily="34" charset="0"/>
              <a:buChar char="•"/>
            </a:pPr>
            <a:r>
              <a:rPr lang="en-US" sz="2400" dirty="0" smtClean="0">
                <a:latin typeface="Times New Roman" pitchFamily="18" charset="0"/>
                <a:cs typeface="Times New Roman" pitchFamily="18" charset="0"/>
              </a:rPr>
              <a:t>kilocalorie </a:t>
            </a:r>
            <a:r>
              <a:rPr lang="en-US" sz="2400" dirty="0">
                <a:latin typeface="Times New Roman" pitchFamily="18" charset="0"/>
                <a:cs typeface="Times New Roman" pitchFamily="18" charset="0"/>
              </a:rPr>
              <a:t>per cubic meter (kcal/m³)</a:t>
            </a:r>
          </a:p>
          <a:p>
            <a:r>
              <a:rPr lang="en-US" sz="2400" b="1" dirty="0">
                <a:solidFill>
                  <a:srgbClr val="C00000"/>
                </a:solidFill>
                <a:latin typeface="Times New Roman" pitchFamily="18" charset="0"/>
                <a:cs typeface="Times New Roman" pitchFamily="18" charset="0"/>
              </a:rPr>
              <a:t>Conversion Factors</a:t>
            </a:r>
          </a:p>
          <a:p>
            <a:pPr marL="800100" lvl="1" indent="-342900">
              <a:buClr>
                <a:srgbClr val="C00000"/>
              </a:buClr>
              <a:buFont typeface="Arial" pitchFamily="34" charset="0"/>
              <a:buChar char="•"/>
            </a:pPr>
            <a:r>
              <a:rPr lang="en-US" sz="2400" dirty="0">
                <a:latin typeface="Times New Roman" pitchFamily="18" charset="0"/>
                <a:cs typeface="Times New Roman" pitchFamily="18" charset="0"/>
              </a:rPr>
              <a:t>1 cal = 4.184 </a:t>
            </a:r>
            <a:r>
              <a:rPr lang="en-US" sz="2400" dirty="0" smtClean="0">
                <a:latin typeface="Times New Roman" pitchFamily="18" charset="0"/>
                <a:cs typeface="Times New Roman" pitchFamily="18" charset="0"/>
              </a:rPr>
              <a:t>J</a:t>
            </a:r>
          </a:p>
          <a:p>
            <a:pPr marL="800100" lvl="1" indent="-342900">
              <a:buClr>
                <a:srgbClr val="C00000"/>
              </a:buClr>
              <a:buFont typeface="Arial" pitchFamily="34" charset="0"/>
              <a:buChar char="•"/>
            </a:pPr>
            <a:r>
              <a:rPr lang="en-US" sz="2400" dirty="0" smtClean="0">
                <a:latin typeface="Times New Roman" pitchFamily="18" charset="0"/>
                <a:cs typeface="Times New Roman" pitchFamily="18" charset="0"/>
              </a:rPr>
              <a:t>1 </a:t>
            </a:r>
            <a:r>
              <a:rPr lang="en-US" sz="2400" dirty="0">
                <a:latin typeface="Times New Roman" pitchFamily="18" charset="0"/>
                <a:cs typeface="Times New Roman" pitchFamily="18" charset="0"/>
              </a:rPr>
              <a:t>kcal/kg = 4.184 kJ/g = 4184 J/g = 4184 </a:t>
            </a:r>
            <a:r>
              <a:rPr lang="en-US" sz="2400" dirty="0" smtClean="0">
                <a:latin typeface="Times New Roman" pitchFamily="18" charset="0"/>
                <a:cs typeface="Times New Roman" pitchFamily="18" charset="0"/>
              </a:rPr>
              <a:t>kJ/kg</a:t>
            </a:r>
          </a:p>
          <a:p>
            <a:pPr marL="800100" lvl="1" indent="-342900">
              <a:buClr>
                <a:srgbClr val="C00000"/>
              </a:buClr>
              <a:buFont typeface="Arial" pitchFamily="34" charset="0"/>
              <a:buChar char="•"/>
            </a:pPr>
            <a:r>
              <a:rPr lang="en-US" sz="2400" dirty="0" smtClean="0">
                <a:latin typeface="Times New Roman" pitchFamily="18" charset="0"/>
                <a:cs typeface="Times New Roman" pitchFamily="18" charset="0"/>
              </a:rPr>
              <a:t>1 </a:t>
            </a:r>
            <a:r>
              <a:rPr lang="en-US" sz="2400" dirty="0">
                <a:latin typeface="Times New Roman" pitchFamily="18" charset="0"/>
                <a:cs typeface="Times New Roman" pitchFamily="18" charset="0"/>
              </a:rPr>
              <a:t>BTU = 1055 </a:t>
            </a:r>
            <a:r>
              <a:rPr lang="en-US" sz="2400" dirty="0" smtClean="0">
                <a:latin typeface="Times New Roman" pitchFamily="18" charset="0"/>
                <a:cs typeface="Times New Roman" pitchFamily="18" charset="0"/>
              </a:rPr>
              <a:t>J</a:t>
            </a:r>
          </a:p>
          <a:p>
            <a:pPr marL="800100" lvl="1" indent="-342900">
              <a:buClr>
                <a:srgbClr val="C00000"/>
              </a:buClr>
              <a:buFont typeface="Arial" pitchFamily="34" charset="0"/>
              <a:buChar char="•"/>
            </a:pPr>
            <a:r>
              <a:rPr lang="en-US" sz="2400" dirty="0" smtClean="0">
                <a:latin typeface="Times New Roman" pitchFamily="18" charset="0"/>
                <a:cs typeface="Times New Roman" pitchFamily="18" charset="0"/>
              </a:rPr>
              <a:t>1 </a:t>
            </a:r>
            <a:r>
              <a:rPr lang="en-US" sz="2400" dirty="0">
                <a:latin typeface="Times New Roman" pitchFamily="18" charset="0"/>
                <a:cs typeface="Times New Roman" pitchFamily="18" charset="0"/>
              </a:rPr>
              <a:t>kcal = 3.968 BTU</a:t>
            </a:r>
          </a:p>
        </p:txBody>
      </p:sp>
    </p:spTree>
    <p:extLst>
      <p:ext uri="{BB962C8B-B14F-4D97-AF65-F5344CB8AC3E}">
        <p14:creationId xmlns:p14="http://schemas.microsoft.com/office/powerpoint/2010/main" val="28787502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304800" y="609600"/>
                <a:ext cx="12268200" cy="5608715"/>
              </a:xfrm>
              <a:prstGeom prst="rect">
                <a:avLst/>
              </a:prstGeom>
            </p:spPr>
            <p:txBody>
              <a:bodyPr wrap="square">
                <a:spAutoFit/>
              </a:bodyPr>
              <a:lstStyle/>
              <a:p>
                <a:pPr marL="342900" indent="-342900">
                  <a:buFont typeface="Wingdings" pitchFamily="2" charset="2"/>
                  <a:buChar char="v"/>
                </a:pPr>
                <a:r>
                  <a:rPr lang="en-US" sz="2400" dirty="0" smtClean="0">
                    <a:latin typeface="Times New Roman" pitchFamily="18" charset="0"/>
                    <a:cs typeface="Times New Roman" pitchFamily="18" charset="0"/>
                  </a:rPr>
                  <a:t>Dulong’s </a:t>
                </a:r>
                <a:r>
                  <a:rPr lang="en-US" sz="2400" dirty="0">
                    <a:latin typeface="Times New Roman" pitchFamily="18" charset="0"/>
                    <a:cs typeface="Times New Roman" pitchFamily="18" charset="0"/>
                  </a:rPr>
                  <a:t>formula is an empirical relation used to calculate the calorific value of a fuel based on its elemental composition (percentage of Carbon, Hydrogen, Oxygen, and Sulphur</a:t>
                </a:r>
                <a:r>
                  <a:rPr lang="en-US" sz="2400" dirty="0" smtClean="0">
                    <a:latin typeface="Times New Roman" pitchFamily="18" charset="0"/>
                    <a:cs typeface="Times New Roman" pitchFamily="18" charset="0"/>
                  </a:rPr>
                  <a:t>).</a:t>
                </a:r>
              </a:p>
              <a:p>
                <a:pPr marL="342900" indent="-342900">
                  <a:buFont typeface="Wingdings" pitchFamily="2" charset="2"/>
                  <a:buChar char="v"/>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theoretical calculation of calorific value of a fuel can be approximately calculated by Dulong’s formula,</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pPr algn="ctr"/>
                <a:r>
                  <a:rPr lang="en-US" sz="2400" b="1" dirty="0" smtClean="0">
                    <a:solidFill>
                      <a:srgbClr val="7030A0"/>
                    </a:solidFill>
                    <a:latin typeface="Times New Roman" pitchFamily="18" charset="0"/>
                    <a:cs typeface="Times New Roman" pitchFamily="18" charset="0"/>
                  </a:rPr>
                  <a:t>HCV (kcal/kg) =</a:t>
                </a:r>
                <a14:m>
                  <m:oMath xmlns:m="http://schemas.openxmlformats.org/officeDocument/2006/math">
                    <m:f>
                      <m:fPr>
                        <m:ctrlPr>
                          <a:rPr lang="en-US" sz="2400" b="1" i="1">
                            <a:solidFill>
                              <a:srgbClr val="7030A0"/>
                            </a:solidFill>
                            <a:latin typeface="Cambria Math"/>
                          </a:rPr>
                        </m:ctrlPr>
                      </m:fPr>
                      <m:num>
                        <m:r>
                          <a:rPr lang="en-US" sz="2400" b="1" i="1">
                            <a:solidFill>
                              <a:srgbClr val="7030A0"/>
                            </a:solidFill>
                            <a:latin typeface="Cambria Math"/>
                          </a:rPr>
                          <m:t>𝟏</m:t>
                        </m:r>
                      </m:num>
                      <m:den>
                        <m:r>
                          <a:rPr lang="en-US" sz="2400" b="1" i="1">
                            <a:solidFill>
                              <a:srgbClr val="7030A0"/>
                            </a:solidFill>
                            <a:latin typeface="Cambria Math"/>
                          </a:rPr>
                          <m:t>𝟏𝟎𝟎</m:t>
                        </m:r>
                      </m:den>
                    </m:f>
                    <m:r>
                      <a:rPr lang="en-US" sz="2400" b="1" i="1">
                        <a:solidFill>
                          <a:srgbClr val="7030A0"/>
                        </a:solidFill>
                        <a:latin typeface="Cambria Math"/>
                      </a:rPr>
                      <m:t>[</m:t>
                    </m:r>
                    <m:r>
                      <a:rPr lang="en-US" sz="2400" b="1" i="1">
                        <a:solidFill>
                          <a:srgbClr val="7030A0"/>
                        </a:solidFill>
                        <a:latin typeface="Cambria Math"/>
                      </a:rPr>
                      <m:t>𝟖𝟎𝟖𝟎</m:t>
                    </m:r>
                    <m:r>
                      <a:rPr lang="en-US" sz="2400" b="1" i="1">
                        <a:solidFill>
                          <a:srgbClr val="7030A0"/>
                        </a:solidFill>
                        <a:latin typeface="Cambria Math"/>
                      </a:rPr>
                      <m:t>𝑪</m:t>
                    </m:r>
                    <m:r>
                      <a:rPr lang="en-US" sz="2400" b="1" i="1">
                        <a:solidFill>
                          <a:srgbClr val="7030A0"/>
                        </a:solidFill>
                        <a:latin typeface="Cambria Math"/>
                      </a:rPr>
                      <m:t>+</m:t>
                    </m:r>
                    <m:r>
                      <a:rPr lang="en-US" sz="2400" b="1" i="1">
                        <a:solidFill>
                          <a:srgbClr val="7030A0"/>
                        </a:solidFill>
                        <a:latin typeface="Cambria Math"/>
                      </a:rPr>
                      <m:t>𝟑𝟒𝟓𝟎𝟎</m:t>
                    </m:r>
                    <m:r>
                      <a:rPr lang="en-US" sz="2400" b="1" i="1">
                        <a:solidFill>
                          <a:srgbClr val="7030A0"/>
                        </a:solidFill>
                        <a:latin typeface="Cambria Math"/>
                      </a:rPr>
                      <m:t> </m:t>
                    </m:r>
                    <m:d>
                      <m:dPr>
                        <m:ctrlPr>
                          <a:rPr lang="en-US" sz="2400" b="1" i="1">
                            <a:solidFill>
                              <a:srgbClr val="7030A0"/>
                            </a:solidFill>
                            <a:latin typeface="Cambria Math"/>
                          </a:rPr>
                        </m:ctrlPr>
                      </m:dPr>
                      <m:e>
                        <m:r>
                          <a:rPr lang="en-US" sz="2400" b="1" i="1">
                            <a:solidFill>
                              <a:srgbClr val="7030A0"/>
                            </a:solidFill>
                            <a:latin typeface="Cambria Math"/>
                          </a:rPr>
                          <m:t>𝑯</m:t>
                        </m:r>
                        <m:r>
                          <a:rPr lang="en-US" sz="2400" b="1" i="1">
                            <a:solidFill>
                              <a:srgbClr val="7030A0"/>
                            </a:solidFill>
                            <a:latin typeface="Cambria Math"/>
                          </a:rPr>
                          <m:t>− </m:t>
                        </m:r>
                        <m:f>
                          <m:fPr>
                            <m:ctrlPr>
                              <a:rPr lang="en-US" sz="2400" b="1" i="1">
                                <a:solidFill>
                                  <a:srgbClr val="7030A0"/>
                                </a:solidFill>
                                <a:latin typeface="Cambria Math"/>
                              </a:rPr>
                            </m:ctrlPr>
                          </m:fPr>
                          <m:num>
                            <m:r>
                              <a:rPr lang="en-US" sz="2400" b="1" i="1">
                                <a:solidFill>
                                  <a:srgbClr val="7030A0"/>
                                </a:solidFill>
                                <a:latin typeface="Cambria Math"/>
                              </a:rPr>
                              <m:t>𝑶</m:t>
                            </m:r>
                          </m:num>
                          <m:den>
                            <m:r>
                              <a:rPr lang="en-US" sz="2400" b="1" i="1">
                                <a:solidFill>
                                  <a:srgbClr val="7030A0"/>
                                </a:solidFill>
                                <a:latin typeface="Cambria Math"/>
                              </a:rPr>
                              <m:t>𝟖</m:t>
                            </m:r>
                          </m:den>
                        </m:f>
                      </m:e>
                    </m:d>
                    <m:r>
                      <a:rPr lang="en-US" sz="2400" b="1" i="1">
                        <a:solidFill>
                          <a:srgbClr val="7030A0"/>
                        </a:solidFill>
                        <a:latin typeface="Cambria Math"/>
                      </a:rPr>
                      <m:t>+</m:t>
                    </m:r>
                    <m:r>
                      <a:rPr lang="en-US" sz="2400" b="1" i="1">
                        <a:solidFill>
                          <a:srgbClr val="7030A0"/>
                        </a:solidFill>
                        <a:latin typeface="Cambria Math"/>
                      </a:rPr>
                      <m:t>𝟐𝟐𝟒𝟎</m:t>
                    </m:r>
                    <m:r>
                      <a:rPr lang="en-US" sz="2400" b="1" i="1">
                        <a:solidFill>
                          <a:srgbClr val="7030A0"/>
                        </a:solidFill>
                        <a:latin typeface="Cambria Math"/>
                      </a:rPr>
                      <m:t>𝑺</m:t>
                    </m:r>
                    <m:r>
                      <a:rPr lang="en-US" sz="2400" b="1" i="1">
                        <a:solidFill>
                          <a:srgbClr val="7030A0"/>
                        </a:solidFill>
                        <a:latin typeface="Cambria Math"/>
                      </a:rPr>
                      <m:t>]</m:t>
                    </m:r>
                  </m:oMath>
                </a14:m>
                <a:endParaRPr lang="en-US" sz="2400" b="1" dirty="0">
                  <a:solidFill>
                    <a:srgbClr val="7030A0"/>
                  </a:solidFill>
                  <a:latin typeface="Times New Roman" pitchFamily="18" charset="0"/>
                  <a:cs typeface="Times New Roman" pitchFamily="18" charset="0"/>
                </a:endParaRPr>
              </a:p>
              <a:p>
                <a:r>
                  <a:rPr lang="en-US" sz="2400" b="1" dirty="0">
                    <a:latin typeface="Times New Roman" pitchFamily="18" charset="0"/>
                    <a:cs typeface="Times New Roman" pitchFamily="18" charset="0"/>
                  </a:rPr>
                  <a:t>Where:</a:t>
                </a:r>
              </a:p>
              <a:p>
                <a:pPr marL="1714500" lvl="3" indent="-342900">
                  <a:buFont typeface="Wingdings" pitchFamily="2" charset="2"/>
                  <a:buChar char="v"/>
                </a:pPr>
                <a:r>
                  <a:rPr lang="en-US" sz="2400" b="1" dirty="0">
                    <a:solidFill>
                      <a:srgbClr val="7030A0"/>
                    </a:solidFill>
                    <a:latin typeface="Times New Roman" pitchFamily="18" charset="0"/>
                    <a:cs typeface="Times New Roman" pitchFamily="18" charset="0"/>
                  </a:rPr>
                  <a:t>C, H, O, S: </a:t>
                </a:r>
                <a:r>
                  <a:rPr lang="en-US" sz="2400" dirty="0">
                    <a:latin typeface="Times New Roman" pitchFamily="18" charset="0"/>
                    <a:cs typeface="Times New Roman" pitchFamily="18" charset="0"/>
                  </a:rPr>
                  <a:t>Percentage by weight of Carbon, Hydrogen, Oxygen, and Sulfur, respectively, in the </a:t>
                </a:r>
                <a:r>
                  <a:rPr lang="en-US" sz="2400" dirty="0" smtClean="0">
                    <a:latin typeface="Times New Roman" pitchFamily="18" charset="0"/>
                    <a:cs typeface="Times New Roman" pitchFamily="18" charset="0"/>
                  </a:rPr>
                  <a:t>fuel.</a:t>
                </a:r>
              </a:p>
              <a:p>
                <a:pPr marL="1714500" lvl="3" indent="-342900">
                  <a:buFont typeface="Wingdings" pitchFamily="2" charset="2"/>
                  <a:buChar char="v"/>
                </a:pPr>
                <a:r>
                  <a:rPr lang="en-US" sz="2400" b="1" dirty="0" smtClean="0">
                    <a:solidFill>
                      <a:srgbClr val="7030A0"/>
                    </a:solidFill>
                    <a:latin typeface="Times New Roman" pitchFamily="18" charset="0"/>
                    <a:cs typeface="Times New Roman" pitchFamily="18" charset="0"/>
                  </a:rPr>
                  <a:t>8080</a:t>
                </a:r>
                <a:r>
                  <a:rPr lang="en-US" sz="2400" b="1" dirty="0">
                    <a:solidFill>
                      <a:srgbClr val="7030A0"/>
                    </a:solidFill>
                    <a:latin typeface="Times New Roman" pitchFamily="18" charset="0"/>
                    <a:cs typeface="Times New Roman" pitchFamily="18" charset="0"/>
                  </a:rPr>
                  <a:t>, 34500, </a:t>
                </a:r>
                <a:r>
                  <a:rPr lang="en-US" sz="2400" b="1" dirty="0" smtClean="0">
                    <a:solidFill>
                      <a:srgbClr val="7030A0"/>
                    </a:solidFill>
                    <a:latin typeface="Times New Roman" pitchFamily="18" charset="0"/>
                    <a:cs typeface="Times New Roman" pitchFamily="18" charset="0"/>
                  </a:rPr>
                  <a:t>2240: </a:t>
                </a:r>
                <a:r>
                  <a:rPr lang="en-US" sz="2400" dirty="0" smtClean="0">
                    <a:latin typeface="Times New Roman" pitchFamily="18" charset="0"/>
                    <a:cs typeface="Times New Roman" pitchFamily="18" charset="0"/>
                  </a:rPr>
                  <a:t>Constants </a:t>
                </a:r>
                <a:r>
                  <a:rPr lang="en-US" sz="2400" dirty="0">
                    <a:latin typeface="Times New Roman" pitchFamily="18" charset="0"/>
                    <a:cs typeface="Times New Roman" pitchFamily="18" charset="0"/>
                  </a:rPr>
                  <a:t>representing the calorific value of C, H, O, S in calories per </a:t>
                </a:r>
                <a:r>
                  <a:rPr lang="en-US" sz="2400" dirty="0" smtClean="0">
                    <a:latin typeface="Times New Roman" pitchFamily="18" charset="0"/>
                    <a:cs typeface="Times New Roman" pitchFamily="18" charset="0"/>
                  </a:rPr>
                  <a:t>gram.</a:t>
                </a:r>
              </a:p>
              <a:p>
                <a:pPr marL="1714500" lvl="3" indent="-342900">
                  <a:buFont typeface="Wingdings" pitchFamily="2" charset="2"/>
                  <a:buChar char="v"/>
                </a:pPr>
                <a:r>
                  <a:rPr lang="en-US" sz="2400" b="1" dirty="0" smtClean="0">
                    <a:solidFill>
                      <a:srgbClr val="7030A0"/>
                    </a:solidFill>
                    <a:latin typeface="Times New Roman" pitchFamily="18" charset="0"/>
                    <a:cs typeface="Times New Roman" pitchFamily="18" charset="0"/>
                  </a:rPr>
                  <a:t>The </a:t>
                </a:r>
                <a:r>
                  <a:rPr lang="en-US" sz="2400" b="1" dirty="0">
                    <a:solidFill>
                      <a:srgbClr val="7030A0"/>
                    </a:solidFill>
                    <a:latin typeface="Times New Roman" pitchFamily="18" charset="0"/>
                    <a:cs typeface="Times New Roman" pitchFamily="18" charset="0"/>
                  </a:rPr>
                  <a:t>term (H - </a:t>
                </a:r>
                <a:r>
                  <a:rPr lang="en-US" sz="2400" b="1" dirty="0" smtClean="0">
                    <a:solidFill>
                      <a:srgbClr val="7030A0"/>
                    </a:solidFill>
                    <a:latin typeface="Times New Roman" pitchFamily="18" charset="0"/>
                    <a:cs typeface="Times New Roman" pitchFamily="18" charset="0"/>
                  </a:rPr>
                  <a:t>O/8): </a:t>
                </a:r>
                <a:r>
                  <a:rPr lang="en-US" sz="2400" dirty="0" smtClean="0">
                    <a:latin typeface="Times New Roman" pitchFamily="18" charset="0"/>
                    <a:cs typeface="Times New Roman" pitchFamily="18" charset="0"/>
                  </a:rPr>
                  <a:t>Used </a:t>
                </a:r>
                <a:r>
                  <a:rPr lang="en-US" sz="2400" dirty="0">
                    <a:latin typeface="Times New Roman" pitchFamily="18" charset="0"/>
                    <a:cs typeface="Times New Roman" pitchFamily="18" charset="0"/>
                  </a:rPr>
                  <a:t>because 8 parts of oxygen combine with 1 part of hydrogen to form water, so only the “available hydrogen” contributes to combustion</a:t>
                </a:r>
                <a:r>
                  <a:rPr lang="en-US" sz="2400" dirty="0" smtClean="0">
                    <a:latin typeface="Times New Roman" pitchFamily="18" charset="0"/>
                    <a:cs typeface="Times New Roman" pitchFamily="18" charset="0"/>
                  </a:rPr>
                  <a:t>.</a:t>
                </a:r>
              </a:p>
              <a:p>
                <a:pPr lvl="3" algn="ctr"/>
                <a:r>
                  <a:rPr lang="en-US" sz="2400" b="1" dirty="0" smtClean="0">
                    <a:solidFill>
                      <a:srgbClr val="002060"/>
                    </a:solidFill>
                  </a:rPr>
                  <a:t>LCV = HCV – </a:t>
                </a:r>
                <a14:m>
                  <m:oMath xmlns:m="http://schemas.openxmlformats.org/officeDocument/2006/math">
                    <m:f>
                      <m:fPr>
                        <m:ctrlPr>
                          <a:rPr lang="en-US" sz="2400" b="1" i="1" smtClean="0">
                            <a:solidFill>
                              <a:srgbClr val="002060"/>
                            </a:solidFill>
                            <a:latin typeface="Cambria Math"/>
                          </a:rPr>
                        </m:ctrlPr>
                      </m:fPr>
                      <m:num>
                        <m:r>
                          <a:rPr lang="en-US" sz="2400" b="1" i="1" smtClean="0">
                            <a:solidFill>
                              <a:srgbClr val="002060"/>
                            </a:solidFill>
                            <a:latin typeface="Cambria Math"/>
                          </a:rPr>
                          <m:t>𝑯</m:t>
                        </m:r>
                      </m:num>
                      <m:den>
                        <m:r>
                          <a:rPr lang="en-US" sz="2400" b="1" i="1" smtClean="0">
                            <a:solidFill>
                              <a:srgbClr val="002060"/>
                            </a:solidFill>
                            <a:latin typeface="Cambria Math"/>
                          </a:rPr>
                          <m:t>𝟏𝟎𝟎</m:t>
                        </m:r>
                      </m:den>
                    </m:f>
                  </m:oMath>
                </a14:m>
                <a:r>
                  <a:rPr lang="en-US" sz="2400" b="1" dirty="0" smtClean="0">
                    <a:solidFill>
                      <a:srgbClr val="002060"/>
                    </a:solidFill>
                  </a:rPr>
                  <a:t> </a:t>
                </a:r>
                <a:r>
                  <a:rPr lang="en-US" sz="2400" b="1" dirty="0">
                    <a:solidFill>
                      <a:srgbClr val="002060"/>
                    </a:solidFill>
                  </a:rPr>
                  <a:t>× 𝟗 × 587 kcal/kg</a:t>
                </a:r>
                <a:endParaRPr lang="en-US" sz="2400" b="1" dirty="0">
                  <a:solidFill>
                    <a:srgbClr val="002060"/>
                  </a:solidFill>
                  <a:latin typeface="Times New Roman" pitchFamily="18" charset="0"/>
                  <a:cs typeface="Times New Roman"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304800" y="609600"/>
                <a:ext cx="12268200" cy="5608715"/>
              </a:xfrm>
              <a:prstGeom prst="rect">
                <a:avLst/>
              </a:prstGeom>
              <a:blipFill rotWithShape="1">
                <a:blip r:embed="rId3"/>
                <a:stretch>
                  <a:fillRect l="-745" t="-870" r="-546" b="-217"/>
                </a:stretch>
              </a:blipFill>
            </p:spPr>
            <p:txBody>
              <a:bodyPr/>
              <a:lstStyle/>
              <a:p>
                <a:r>
                  <a:rPr lang="en-US">
                    <a:noFill/>
                  </a:rPr>
                  <a:t> </a:t>
                </a:r>
              </a:p>
            </p:txBody>
          </p:sp>
        </mc:Fallback>
      </mc:AlternateContent>
      <p:sp>
        <p:nvSpPr>
          <p:cNvPr id="3" name="Rectangle 2"/>
          <p:cNvSpPr/>
          <p:nvPr/>
        </p:nvSpPr>
        <p:spPr>
          <a:xfrm>
            <a:off x="4648200" y="0"/>
            <a:ext cx="3370603" cy="584775"/>
          </a:xfrm>
          <a:prstGeom prst="rect">
            <a:avLst/>
          </a:prstGeom>
        </p:spPr>
        <p:txBody>
          <a:bodyPr wrap="none">
            <a:spAutoFit/>
          </a:bodyPr>
          <a:lstStyle/>
          <a:p>
            <a:r>
              <a:rPr lang="en-US" sz="3200" b="1" dirty="0">
                <a:solidFill>
                  <a:srgbClr val="FF0000"/>
                </a:solidFill>
                <a:latin typeface="Times New Roman" pitchFamily="18" charset="0"/>
                <a:cs typeface="Times New Roman" pitchFamily="18" charset="0"/>
              </a:rPr>
              <a:t>Dulong’s </a:t>
            </a:r>
            <a:r>
              <a:rPr lang="en-US" sz="3200" b="1" dirty="0" smtClean="0">
                <a:solidFill>
                  <a:srgbClr val="FF0000"/>
                </a:solidFill>
                <a:latin typeface="Times New Roman" pitchFamily="18" charset="0"/>
                <a:cs typeface="Times New Roman" pitchFamily="18" charset="0"/>
              </a:rPr>
              <a:t>Formula</a:t>
            </a:r>
            <a:endParaRPr lang="en-US" sz="32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6831124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p:cNvSpPr/>
              <p:nvPr/>
            </p:nvSpPr>
            <p:spPr>
              <a:xfrm>
                <a:off x="304800" y="498953"/>
                <a:ext cx="12115800" cy="5978047"/>
              </a:xfrm>
              <a:prstGeom prst="rect">
                <a:avLst/>
              </a:prstGeom>
            </p:spPr>
            <p:txBody>
              <a:bodyPr wrap="square">
                <a:spAutoFit/>
              </a:bodyPr>
              <a:lstStyle/>
              <a:p>
                <a:pPr algn="ctr"/>
                <a:r>
                  <a:rPr lang="en-US" sz="3200" b="1" dirty="0">
                    <a:solidFill>
                      <a:srgbClr val="C00000"/>
                    </a:solidFill>
                    <a:latin typeface="Times New Roman" pitchFamily="18" charset="0"/>
                    <a:cs typeface="Times New Roman" pitchFamily="18" charset="0"/>
                  </a:rPr>
                  <a:t>Example Calculation</a:t>
                </a:r>
                <a:r>
                  <a:rPr lang="en-US" sz="3200" b="1" dirty="0" smtClean="0">
                    <a:solidFill>
                      <a:srgbClr val="C00000"/>
                    </a:solidFill>
                    <a:latin typeface="Times New Roman" pitchFamily="18" charset="0"/>
                    <a:cs typeface="Times New Roman" pitchFamily="18" charset="0"/>
                  </a:rPr>
                  <a:t>:</a:t>
                </a:r>
              </a:p>
              <a:p>
                <a:pPr algn="ctr"/>
                <a:endParaRPr lang="en-US" sz="3200" b="1" dirty="0">
                  <a:solidFill>
                    <a:srgbClr val="C00000"/>
                  </a:solidFill>
                  <a:latin typeface="Times New Roman" pitchFamily="18" charset="0"/>
                  <a:cs typeface="Times New Roman" pitchFamily="18" charset="0"/>
                </a:endParaRPr>
              </a:p>
              <a:p>
                <a:pPr algn="just"/>
                <a:r>
                  <a:rPr lang="en-US" sz="2400" b="1" dirty="0">
                    <a:solidFill>
                      <a:srgbClr val="C00000"/>
                    </a:solidFill>
                    <a:latin typeface="Times New Roman" pitchFamily="18" charset="0"/>
                    <a:cs typeface="Times New Roman" pitchFamily="18" charset="0"/>
                  </a:rPr>
                  <a:t>A fuel contains: C = 80%, H = 10%, O = 5%, S = 2</a:t>
                </a:r>
                <a:r>
                  <a:rPr lang="en-US" sz="2400" b="1" dirty="0" smtClean="0">
                    <a:solidFill>
                      <a:srgbClr val="C00000"/>
                    </a:solidFill>
                    <a:latin typeface="Times New Roman" pitchFamily="18" charset="0"/>
                    <a:cs typeface="Times New Roman" pitchFamily="18" charset="0"/>
                  </a:rPr>
                  <a:t>%. Calculate HCV and LCV.</a:t>
                </a:r>
              </a:p>
              <a:p>
                <a:pPr algn="just"/>
                <a:endParaRPr lang="en-US" sz="2400" b="1" dirty="0" smtClean="0">
                  <a:solidFill>
                    <a:srgbClr val="7030A0"/>
                  </a:solidFill>
                  <a:latin typeface="Times New Roman" pitchFamily="18" charset="0"/>
                  <a:cs typeface="Times New Roman" pitchFamily="18" charset="0"/>
                </a:endParaRPr>
              </a:p>
              <a:p>
                <a:pPr marL="342900" indent="-342900">
                  <a:buFont typeface="Wingdings" pitchFamily="2" charset="2"/>
                  <a:buChar char="v"/>
                </a:pPr>
                <a:r>
                  <a:rPr lang="en-US" sz="2400" b="1" dirty="0" smtClean="0">
                    <a:solidFill>
                      <a:srgbClr val="7030A0"/>
                    </a:solidFill>
                    <a:latin typeface="Times New Roman" pitchFamily="18" charset="0"/>
                    <a:cs typeface="Times New Roman" pitchFamily="18" charset="0"/>
                  </a:rPr>
                  <a:t>Formula for HCV </a:t>
                </a:r>
                <a:r>
                  <a:rPr lang="en-US" sz="2400" b="1" dirty="0">
                    <a:solidFill>
                      <a:srgbClr val="7030A0"/>
                    </a:solidFill>
                    <a:latin typeface="Times New Roman" pitchFamily="18" charset="0"/>
                    <a:cs typeface="Times New Roman" pitchFamily="18" charset="0"/>
                  </a:rPr>
                  <a:t>(kcal/kg) =</a:t>
                </a:r>
                <a14:m>
                  <m:oMath xmlns:m="http://schemas.openxmlformats.org/officeDocument/2006/math">
                    <m:f>
                      <m:fPr>
                        <m:ctrlPr>
                          <a:rPr lang="en-US" sz="2400" b="1" i="1">
                            <a:solidFill>
                              <a:srgbClr val="7030A0"/>
                            </a:solidFill>
                            <a:latin typeface="Cambria Math"/>
                          </a:rPr>
                        </m:ctrlPr>
                      </m:fPr>
                      <m:num>
                        <m:r>
                          <a:rPr lang="en-US" sz="2400" b="1" i="1">
                            <a:solidFill>
                              <a:srgbClr val="7030A0"/>
                            </a:solidFill>
                            <a:latin typeface="Cambria Math"/>
                          </a:rPr>
                          <m:t>𝟏</m:t>
                        </m:r>
                      </m:num>
                      <m:den>
                        <m:r>
                          <a:rPr lang="en-US" sz="2400" b="1" i="1">
                            <a:solidFill>
                              <a:srgbClr val="7030A0"/>
                            </a:solidFill>
                            <a:latin typeface="Cambria Math"/>
                          </a:rPr>
                          <m:t>𝟏𝟎𝟎</m:t>
                        </m:r>
                      </m:den>
                    </m:f>
                    <m:r>
                      <a:rPr lang="en-US" sz="2400" b="1" i="1">
                        <a:solidFill>
                          <a:srgbClr val="7030A0"/>
                        </a:solidFill>
                        <a:latin typeface="Cambria Math"/>
                      </a:rPr>
                      <m:t>[</m:t>
                    </m:r>
                    <m:r>
                      <a:rPr lang="en-US" sz="2400" b="1" i="1">
                        <a:solidFill>
                          <a:srgbClr val="7030A0"/>
                        </a:solidFill>
                        <a:latin typeface="Cambria Math"/>
                      </a:rPr>
                      <m:t>𝟖𝟎𝟖𝟎</m:t>
                    </m:r>
                    <m:r>
                      <a:rPr lang="en-US" sz="2400" b="1" i="1">
                        <a:solidFill>
                          <a:srgbClr val="7030A0"/>
                        </a:solidFill>
                        <a:latin typeface="Cambria Math"/>
                      </a:rPr>
                      <m:t> </m:t>
                    </m:r>
                    <m:r>
                      <a:rPr lang="en-US" sz="2400" b="1" i="1">
                        <a:solidFill>
                          <a:srgbClr val="7030A0"/>
                        </a:solidFill>
                        <a:latin typeface="Cambria Math"/>
                      </a:rPr>
                      <m:t>𝑿</m:t>
                    </m:r>
                    <m:r>
                      <a:rPr lang="en-US" sz="2400" b="1" i="1">
                        <a:solidFill>
                          <a:srgbClr val="7030A0"/>
                        </a:solidFill>
                        <a:latin typeface="Cambria Math"/>
                      </a:rPr>
                      <m:t> </m:t>
                    </m:r>
                    <m:r>
                      <a:rPr lang="en-US" sz="2400" b="1" i="1">
                        <a:solidFill>
                          <a:srgbClr val="7030A0"/>
                        </a:solidFill>
                        <a:latin typeface="Cambria Math"/>
                      </a:rPr>
                      <m:t>𝟖𝟎</m:t>
                    </m:r>
                    <m:r>
                      <a:rPr lang="en-US" sz="2400" b="1" i="1">
                        <a:solidFill>
                          <a:srgbClr val="7030A0"/>
                        </a:solidFill>
                        <a:latin typeface="Cambria Math"/>
                      </a:rPr>
                      <m:t>+</m:t>
                    </m:r>
                    <m:r>
                      <a:rPr lang="en-US" sz="2400" b="1" i="1">
                        <a:solidFill>
                          <a:srgbClr val="7030A0"/>
                        </a:solidFill>
                        <a:latin typeface="Cambria Math"/>
                      </a:rPr>
                      <m:t>𝟑𝟒𝟓𝟎𝟎</m:t>
                    </m:r>
                    <m:r>
                      <a:rPr lang="en-US" sz="2400" b="1" i="1">
                        <a:solidFill>
                          <a:srgbClr val="7030A0"/>
                        </a:solidFill>
                        <a:latin typeface="Cambria Math"/>
                      </a:rPr>
                      <m:t> </m:t>
                    </m:r>
                    <m:d>
                      <m:dPr>
                        <m:ctrlPr>
                          <a:rPr lang="en-US" sz="2400" b="1" i="1">
                            <a:solidFill>
                              <a:srgbClr val="7030A0"/>
                            </a:solidFill>
                            <a:latin typeface="Cambria Math"/>
                          </a:rPr>
                        </m:ctrlPr>
                      </m:dPr>
                      <m:e>
                        <m:r>
                          <a:rPr lang="en-US" sz="2400" b="1" i="1">
                            <a:solidFill>
                              <a:srgbClr val="7030A0"/>
                            </a:solidFill>
                            <a:latin typeface="Cambria Math"/>
                          </a:rPr>
                          <m:t>𝟏𝟎</m:t>
                        </m:r>
                        <m:r>
                          <a:rPr lang="en-US" sz="2400" b="1" i="1">
                            <a:solidFill>
                              <a:srgbClr val="7030A0"/>
                            </a:solidFill>
                            <a:latin typeface="Cambria Math"/>
                          </a:rPr>
                          <m:t>− </m:t>
                        </m:r>
                        <m:f>
                          <m:fPr>
                            <m:ctrlPr>
                              <a:rPr lang="en-US" sz="2400" b="1" i="1">
                                <a:solidFill>
                                  <a:srgbClr val="7030A0"/>
                                </a:solidFill>
                                <a:latin typeface="Cambria Math"/>
                              </a:rPr>
                            </m:ctrlPr>
                          </m:fPr>
                          <m:num>
                            <m:r>
                              <a:rPr lang="en-US" sz="2400" b="1" i="1">
                                <a:solidFill>
                                  <a:srgbClr val="7030A0"/>
                                </a:solidFill>
                                <a:latin typeface="Cambria Math"/>
                              </a:rPr>
                              <m:t>𝟓</m:t>
                            </m:r>
                          </m:num>
                          <m:den>
                            <m:r>
                              <a:rPr lang="en-US" sz="2400" b="1" i="1">
                                <a:solidFill>
                                  <a:srgbClr val="7030A0"/>
                                </a:solidFill>
                                <a:latin typeface="Cambria Math"/>
                              </a:rPr>
                              <m:t>𝟖</m:t>
                            </m:r>
                          </m:den>
                        </m:f>
                      </m:e>
                    </m:d>
                    <m:r>
                      <a:rPr lang="en-US" sz="2400" b="1" i="1">
                        <a:solidFill>
                          <a:srgbClr val="7030A0"/>
                        </a:solidFill>
                        <a:latin typeface="Cambria Math"/>
                      </a:rPr>
                      <m:t>+</m:t>
                    </m:r>
                    <m:r>
                      <a:rPr lang="en-US" sz="2400" b="1" i="1">
                        <a:solidFill>
                          <a:srgbClr val="7030A0"/>
                        </a:solidFill>
                        <a:latin typeface="Cambria Math"/>
                      </a:rPr>
                      <m:t>𝟐𝟐𝟒𝟎</m:t>
                    </m:r>
                    <m:r>
                      <a:rPr lang="en-US" sz="2400" b="1" i="1">
                        <a:solidFill>
                          <a:srgbClr val="7030A0"/>
                        </a:solidFill>
                        <a:latin typeface="Cambria Math"/>
                      </a:rPr>
                      <m:t> </m:t>
                    </m:r>
                    <m:r>
                      <a:rPr lang="en-US" sz="2400" b="1" i="1">
                        <a:solidFill>
                          <a:srgbClr val="7030A0"/>
                        </a:solidFill>
                        <a:latin typeface="Cambria Math"/>
                      </a:rPr>
                      <m:t>𝑿</m:t>
                    </m:r>
                    <m:r>
                      <a:rPr lang="en-US" sz="2400" b="1" i="1">
                        <a:solidFill>
                          <a:srgbClr val="7030A0"/>
                        </a:solidFill>
                        <a:latin typeface="Cambria Math"/>
                      </a:rPr>
                      <m:t>𝟐</m:t>
                    </m:r>
                    <m:r>
                      <a:rPr lang="en-US" sz="2400" b="1" i="1">
                        <a:solidFill>
                          <a:srgbClr val="7030A0"/>
                        </a:solidFill>
                        <a:latin typeface="Cambria Math"/>
                      </a:rPr>
                      <m:t>]</m:t>
                    </m:r>
                  </m:oMath>
                </a14:m>
                <a:endParaRPr lang="en-US" sz="2400" b="1" dirty="0">
                  <a:solidFill>
                    <a:srgbClr val="7030A0"/>
                  </a:solidFill>
                  <a:latin typeface="Times New Roman" pitchFamily="18" charset="0"/>
                  <a:cs typeface="Times New Roman" pitchFamily="18" charset="0"/>
                </a:endParaRPr>
              </a:p>
              <a:p>
                <a:pPr algn="ctr"/>
                <a:r>
                  <a:rPr lang="en-US" sz="2400" dirty="0">
                    <a:latin typeface="Times New Roman" pitchFamily="18" charset="0"/>
                    <a:cs typeface="Times New Roman" pitchFamily="18" charset="0"/>
                  </a:rPr>
                  <a:t> </a:t>
                </a:r>
              </a:p>
              <a:p>
                <a:pPr lvl="8"/>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  </a:t>
                </a:r>
                <a14:m>
                  <m:oMath xmlns:m="http://schemas.openxmlformats.org/officeDocument/2006/math">
                    <m:f>
                      <m:fPr>
                        <m:ctrlPr>
                          <a:rPr lang="en-US" sz="2400" i="1">
                            <a:latin typeface="Cambria Math"/>
                          </a:rPr>
                        </m:ctrlPr>
                      </m:fPr>
                      <m:num>
                        <m:r>
                          <a:rPr lang="en-US" sz="2400" b="0" i="1">
                            <a:latin typeface="Cambria Math"/>
                          </a:rPr>
                          <m:t>1</m:t>
                        </m:r>
                      </m:num>
                      <m:den>
                        <m:r>
                          <a:rPr lang="en-US" sz="2400" b="0" i="1">
                            <a:latin typeface="Cambria Math"/>
                          </a:rPr>
                          <m:t>100</m:t>
                        </m:r>
                      </m:den>
                    </m:f>
                    <m:r>
                      <a:rPr lang="en-US" sz="2400" b="0" i="1">
                        <a:latin typeface="Cambria Math"/>
                      </a:rPr>
                      <m:t>[646400+34500 </m:t>
                    </m:r>
                    <m:d>
                      <m:dPr>
                        <m:ctrlPr>
                          <a:rPr lang="en-US" sz="2400" i="1">
                            <a:latin typeface="Cambria Math"/>
                          </a:rPr>
                        </m:ctrlPr>
                      </m:dPr>
                      <m:e>
                        <m:r>
                          <a:rPr lang="en-US" sz="2400" b="0" i="1">
                            <a:latin typeface="Cambria Math"/>
                          </a:rPr>
                          <m:t>9.375</m:t>
                        </m:r>
                      </m:e>
                    </m:d>
                    <m:r>
                      <a:rPr lang="en-US" sz="2400" b="0" i="1">
                        <a:latin typeface="Cambria Math"/>
                      </a:rPr>
                      <m:t>+4480]</m:t>
                    </m:r>
                  </m:oMath>
                </a14:m>
                <a:endParaRPr lang="en-US" sz="2400" dirty="0">
                  <a:latin typeface="Times New Roman" pitchFamily="18" charset="0"/>
                  <a:cs typeface="Times New Roman" pitchFamily="18" charset="0"/>
                </a:endParaRPr>
              </a:p>
              <a:p>
                <a:pPr lvl="8"/>
                <a:r>
                  <a:rPr lang="en-US" sz="2400" dirty="0">
                    <a:latin typeface="Times New Roman" pitchFamily="18" charset="0"/>
                    <a:cs typeface="Times New Roman" pitchFamily="18" charset="0"/>
                  </a:rPr>
                  <a:t> </a:t>
                </a:r>
              </a:p>
              <a:p>
                <a:pPr lvl="8"/>
                <a:r>
                  <a:rPr lang="en-US" sz="2400" dirty="0" smtClean="0">
                    <a:latin typeface="Times New Roman" pitchFamily="18" charset="0"/>
                    <a:cs typeface="Times New Roman" pitchFamily="18" charset="0"/>
                  </a:rPr>
                  <a:t>=  </a:t>
                </a:r>
                <a14:m>
                  <m:oMath xmlns:m="http://schemas.openxmlformats.org/officeDocument/2006/math">
                    <m:f>
                      <m:fPr>
                        <m:ctrlPr>
                          <a:rPr lang="en-US" sz="2400" i="1">
                            <a:latin typeface="Cambria Math"/>
                          </a:rPr>
                        </m:ctrlPr>
                      </m:fPr>
                      <m:num>
                        <m:r>
                          <a:rPr lang="en-US" sz="2400" b="0" i="1">
                            <a:latin typeface="Cambria Math"/>
                          </a:rPr>
                          <m:t>1</m:t>
                        </m:r>
                      </m:num>
                      <m:den>
                        <m:r>
                          <a:rPr lang="en-US" sz="2400" b="0" i="1">
                            <a:latin typeface="Cambria Math"/>
                          </a:rPr>
                          <m:t>100</m:t>
                        </m:r>
                      </m:den>
                    </m:f>
                    <m:r>
                      <a:rPr lang="en-US" sz="2400" b="0" i="1">
                        <a:latin typeface="Cambria Math"/>
                      </a:rPr>
                      <m:t>[646400+323437.5+4480]</m:t>
                    </m:r>
                  </m:oMath>
                </a14:m>
                <a:r>
                  <a:rPr lang="en-US" sz="2400" dirty="0">
                    <a:latin typeface="Times New Roman" pitchFamily="18" charset="0"/>
                    <a:cs typeface="Times New Roman" pitchFamily="18" charset="0"/>
                  </a:rPr>
                  <a:t> = 9743 </a:t>
                </a:r>
                <a:r>
                  <a:rPr lang="en-US" sz="2400" dirty="0" smtClean="0">
                    <a:latin typeface="Times New Roman" pitchFamily="18" charset="0"/>
                    <a:cs typeface="Times New Roman" pitchFamily="18" charset="0"/>
                  </a:rPr>
                  <a:t>kcal/kg</a:t>
                </a:r>
              </a:p>
              <a:p>
                <a:pPr algn="ctr"/>
                <a:endParaRPr lang="en-US" sz="2400" dirty="0">
                  <a:latin typeface="Times New Roman" pitchFamily="18" charset="0"/>
                  <a:cs typeface="Times New Roman" pitchFamily="18" charset="0"/>
                </a:endParaRPr>
              </a:p>
              <a:p>
                <a:pPr marL="342900" indent="-342900">
                  <a:buFont typeface="Wingdings" pitchFamily="2" charset="2"/>
                  <a:buChar char="v"/>
                </a:pPr>
                <a:r>
                  <a:rPr lang="en-US" sz="2400" b="1" dirty="0" smtClean="0">
                    <a:solidFill>
                      <a:srgbClr val="7030A0"/>
                    </a:solidFill>
                    <a:latin typeface="Times New Roman" pitchFamily="18" charset="0"/>
                    <a:cs typeface="Times New Roman" pitchFamily="18" charset="0"/>
                  </a:rPr>
                  <a:t>Formula for LCV = HCV – </a:t>
                </a:r>
                <a14:m>
                  <m:oMath xmlns:m="http://schemas.openxmlformats.org/officeDocument/2006/math">
                    <m:f>
                      <m:fPr>
                        <m:ctrlPr>
                          <a:rPr lang="en-US" sz="2400" b="1" i="1">
                            <a:solidFill>
                              <a:srgbClr val="7030A0"/>
                            </a:solidFill>
                            <a:latin typeface="Cambria Math"/>
                          </a:rPr>
                        </m:ctrlPr>
                      </m:fPr>
                      <m:num>
                        <m:r>
                          <a:rPr lang="en-US" sz="2400" b="1" i="1">
                            <a:solidFill>
                              <a:srgbClr val="7030A0"/>
                            </a:solidFill>
                            <a:latin typeface="Cambria Math"/>
                          </a:rPr>
                          <m:t>𝑯</m:t>
                        </m:r>
                      </m:num>
                      <m:den>
                        <m:r>
                          <a:rPr lang="en-US" sz="2400" b="1" i="1">
                            <a:solidFill>
                              <a:srgbClr val="7030A0"/>
                            </a:solidFill>
                            <a:latin typeface="Cambria Math"/>
                          </a:rPr>
                          <m:t>𝟏𝟎𝟎</m:t>
                        </m:r>
                      </m:den>
                    </m:f>
                  </m:oMath>
                </a14:m>
                <a:r>
                  <a:rPr lang="en-US" sz="2400" b="1" dirty="0">
                    <a:solidFill>
                      <a:srgbClr val="7030A0"/>
                    </a:solidFill>
                    <a:latin typeface="Times New Roman" pitchFamily="18" charset="0"/>
                    <a:cs typeface="Times New Roman" pitchFamily="18" charset="0"/>
                  </a:rPr>
                  <a:t> × 𝟗 × </a:t>
                </a:r>
                <a:r>
                  <a:rPr lang="en-US" sz="2400" b="1" dirty="0" smtClean="0">
                    <a:solidFill>
                      <a:srgbClr val="7030A0"/>
                    </a:solidFill>
                    <a:latin typeface="Times New Roman" pitchFamily="18" charset="0"/>
                    <a:cs typeface="Times New Roman" pitchFamily="18" charset="0"/>
                  </a:rPr>
                  <a:t>587</a:t>
                </a:r>
              </a:p>
              <a:p>
                <a:pPr marL="5654675" lvl="8"/>
                <a:r>
                  <a:rPr lang="en-US" sz="2400" dirty="0" smtClean="0">
                    <a:latin typeface="Times New Roman" pitchFamily="18" charset="0"/>
                    <a:cs typeface="Times New Roman" pitchFamily="18" charset="0"/>
                  </a:rPr>
                  <a:t>= 9743 </a:t>
                </a:r>
                <a:r>
                  <a:rPr lang="en-US" sz="2400" dirty="0">
                    <a:latin typeface="Times New Roman" pitchFamily="18" charset="0"/>
                    <a:cs typeface="Times New Roman" pitchFamily="18" charset="0"/>
                  </a:rPr>
                  <a:t>– </a:t>
                </a:r>
                <a14:m>
                  <m:oMath xmlns:m="http://schemas.openxmlformats.org/officeDocument/2006/math">
                    <m:f>
                      <m:fPr>
                        <m:ctrlPr>
                          <a:rPr lang="en-US" sz="2400" i="1">
                            <a:latin typeface="Cambria Math"/>
                          </a:rPr>
                        </m:ctrlPr>
                      </m:fPr>
                      <m:num>
                        <m:r>
                          <a:rPr lang="en-US" sz="2400" b="0" i="1">
                            <a:latin typeface="Cambria Math"/>
                          </a:rPr>
                          <m:t>10</m:t>
                        </m:r>
                      </m:num>
                      <m:den>
                        <m:r>
                          <a:rPr lang="en-US" sz="2400" b="0" i="1">
                            <a:latin typeface="Cambria Math"/>
                          </a:rPr>
                          <m:t>100</m:t>
                        </m:r>
                      </m:den>
                    </m:f>
                  </m:oMath>
                </a14:m>
                <a:r>
                  <a:rPr lang="en-US" sz="2400" dirty="0">
                    <a:latin typeface="Times New Roman" pitchFamily="18" charset="0"/>
                    <a:cs typeface="Times New Roman" pitchFamily="18" charset="0"/>
                  </a:rPr>
                  <a:t> × 𝟗 </a:t>
                </a:r>
                <a:r>
                  <a:rPr lang="en-US" sz="2400" dirty="0" smtClean="0">
                    <a:latin typeface="Times New Roman" pitchFamily="18" charset="0"/>
                    <a:cs typeface="Times New Roman" pitchFamily="18" charset="0"/>
                  </a:rPr>
                  <a:t>× 587 </a:t>
                </a:r>
              </a:p>
              <a:p>
                <a:pPr marL="5654675" lvl="8"/>
                <a:r>
                  <a:rPr lang="en-US" sz="2400" dirty="0" smtClean="0">
                    <a:latin typeface="Times New Roman" pitchFamily="18" charset="0"/>
                    <a:cs typeface="Times New Roman" pitchFamily="18" charset="0"/>
                  </a:rPr>
                  <a:t>= 9743 </a:t>
                </a:r>
                <a:r>
                  <a:rPr lang="en-US" sz="2400" dirty="0">
                    <a:latin typeface="Times New Roman" pitchFamily="18" charset="0"/>
                    <a:cs typeface="Times New Roman" pitchFamily="18" charset="0"/>
                  </a:rPr>
                  <a:t>– </a:t>
                </a:r>
                <a14:m>
                  <m:oMath xmlns:m="http://schemas.openxmlformats.org/officeDocument/2006/math">
                    <m:r>
                      <a:rPr lang="en-US" sz="2400" b="0" i="1">
                        <a:latin typeface="Cambria Math"/>
                      </a:rPr>
                      <m:t>528.3</m:t>
                    </m:r>
                  </m:oMath>
                </a14:m>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 9214.7 kcal/kg</a:t>
                </a:r>
              </a:p>
            </p:txBody>
          </p:sp>
        </mc:Choice>
        <mc:Fallback xmlns="">
          <p:sp>
            <p:nvSpPr>
              <p:cNvPr id="5" name="Rectangle 4"/>
              <p:cNvSpPr>
                <a:spLocks noRot="1" noChangeAspect="1" noMove="1" noResize="1" noEditPoints="1" noAdjustHandles="1" noChangeArrowheads="1" noChangeShapeType="1" noTextEdit="1"/>
              </p:cNvSpPr>
              <p:nvPr/>
            </p:nvSpPr>
            <p:spPr>
              <a:xfrm>
                <a:off x="304800" y="498953"/>
                <a:ext cx="12115800" cy="5978047"/>
              </a:xfrm>
              <a:prstGeom prst="rect">
                <a:avLst/>
              </a:prstGeom>
              <a:blipFill rotWithShape="1">
                <a:blip r:embed="rId3"/>
                <a:stretch>
                  <a:fillRect l="-755" t="-1427" b="-1325"/>
                </a:stretch>
              </a:blipFill>
            </p:spPr>
            <p:txBody>
              <a:bodyPr/>
              <a:lstStyle/>
              <a:p>
                <a:r>
                  <a:rPr lang="en-US">
                    <a:noFill/>
                  </a:rPr>
                  <a:t> </a:t>
                </a:r>
              </a:p>
            </p:txBody>
          </p:sp>
        </mc:Fallback>
      </mc:AlternateContent>
    </p:spTree>
    <p:extLst>
      <p:ext uri="{BB962C8B-B14F-4D97-AF65-F5344CB8AC3E}">
        <p14:creationId xmlns:p14="http://schemas.microsoft.com/office/powerpoint/2010/main" val="33398042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0"/>
            <a:ext cx="6858000" cy="6001643"/>
          </a:xfrm>
          <a:prstGeom prst="rect">
            <a:avLst/>
          </a:prstGeom>
        </p:spPr>
        <p:txBody>
          <a:bodyPr wrap="square">
            <a:spAutoFit/>
          </a:bodyPr>
          <a:lstStyle/>
          <a:p>
            <a:pPr marL="342900" indent="-342900" algn="just">
              <a:buFont typeface="Wingdings" pitchFamily="2" charset="2"/>
              <a:buChar char="v"/>
            </a:pPr>
            <a:r>
              <a:rPr lang="en-US" sz="2400" dirty="0" smtClean="0">
                <a:latin typeface="Times New Roman" pitchFamily="18" charset="0"/>
                <a:cs typeface="Times New Roman" pitchFamily="18" charset="0"/>
              </a:rPr>
              <a:t>Fossil </a:t>
            </a:r>
            <a:r>
              <a:rPr lang="en-US" sz="2400" dirty="0">
                <a:latin typeface="Times New Roman" pitchFamily="18" charset="0"/>
                <a:cs typeface="Times New Roman" pitchFamily="18" charset="0"/>
              </a:rPr>
              <a:t>fuels are natural energy resources formed from the decomposition of ancient plants and animals buried deep under the earth’s crust for millions of years.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Under </a:t>
            </a:r>
            <a:r>
              <a:rPr lang="en-US" sz="2400" dirty="0">
                <a:latin typeface="Times New Roman" pitchFamily="18" charset="0"/>
                <a:cs typeface="Times New Roman" pitchFamily="18" charset="0"/>
              </a:rPr>
              <a:t>high temperature and pressure, these organic materials undergo chemical and physical transformations, resulting in carbon-rich fuels such as coal, petroleum, and natural gas.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They </a:t>
            </a:r>
            <a:r>
              <a:rPr lang="en-US" sz="2400" dirty="0">
                <a:latin typeface="Times New Roman" pitchFamily="18" charset="0"/>
                <a:cs typeface="Times New Roman" pitchFamily="18" charset="0"/>
              </a:rPr>
              <a:t>are the primary source of energy for industrial, domestic, and transport purposes, contributing to over 80% of the world’s energy demand.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However</a:t>
            </a:r>
            <a:r>
              <a:rPr lang="en-US" sz="2400" dirty="0">
                <a:latin typeface="Times New Roman" pitchFamily="18" charset="0"/>
                <a:cs typeface="Times New Roman" pitchFamily="18" charset="0"/>
              </a:rPr>
              <a:t>, their usage leads to air pollution, greenhouse gas emissions, and global </a:t>
            </a:r>
            <a:r>
              <a:rPr lang="en-US" sz="2400" dirty="0" smtClean="0">
                <a:latin typeface="Times New Roman" pitchFamily="18" charset="0"/>
                <a:cs typeface="Times New Roman" pitchFamily="18" charset="0"/>
              </a:rPr>
              <a:t>warming.</a:t>
            </a:r>
          </a:p>
          <a:p>
            <a:pPr marL="342900" indent="-342900" algn="just">
              <a:buFont typeface="Wingdings" pitchFamily="2" charset="2"/>
              <a:buChar char="v"/>
            </a:pPr>
            <a:r>
              <a:rPr lang="en-US" sz="2400" dirty="0" smtClean="0">
                <a:latin typeface="Times New Roman" pitchFamily="18" charset="0"/>
                <a:cs typeface="Times New Roman" pitchFamily="18" charset="0"/>
              </a:rPr>
              <a:t>Based </a:t>
            </a:r>
            <a:r>
              <a:rPr lang="en-US" sz="2400" dirty="0">
                <a:latin typeface="Times New Roman" pitchFamily="18" charset="0"/>
                <a:cs typeface="Times New Roman" pitchFamily="18" charset="0"/>
              </a:rPr>
              <a:t>on r</a:t>
            </a:r>
            <a:r>
              <a:rPr lang="en-US" sz="2400" dirty="0" smtClean="0">
                <a:latin typeface="Times New Roman" pitchFamily="18" charset="0"/>
                <a:cs typeface="Times New Roman" pitchFamily="18" charset="0"/>
              </a:rPr>
              <a:t>enewability fossil </a:t>
            </a:r>
            <a:r>
              <a:rPr lang="en-US" sz="2400" dirty="0">
                <a:latin typeface="Times New Roman" pitchFamily="18" charset="0"/>
                <a:cs typeface="Times New Roman" pitchFamily="18" charset="0"/>
              </a:rPr>
              <a:t>fuels are </a:t>
            </a:r>
            <a:r>
              <a:rPr lang="en-US" sz="2400" dirty="0" smtClean="0">
                <a:latin typeface="Times New Roman" pitchFamily="18" charset="0"/>
                <a:cs typeface="Times New Roman" pitchFamily="18" charset="0"/>
              </a:rPr>
              <a:t>non-renewable, finite </a:t>
            </a:r>
            <a:r>
              <a:rPr lang="en-US" sz="2400" dirty="0">
                <a:latin typeface="Times New Roman" pitchFamily="18" charset="0"/>
                <a:cs typeface="Times New Roman" pitchFamily="18" charset="0"/>
              </a:rPr>
              <a:t>resources and </a:t>
            </a:r>
            <a:r>
              <a:rPr lang="en-US" sz="2400" dirty="0" smtClean="0">
                <a:latin typeface="Times New Roman" pitchFamily="18" charset="0"/>
                <a:cs typeface="Times New Roman" pitchFamily="18" charset="0"/>
              </a:rPr>
              <a:t>can </a:t>
            </a:r>
            <a:r>
              <a:rPr lang="en-US" sz="2400" dirty="0">
                <a:latin typeface="Times New Roman" pitchFamily="18" charset="0"/>
                <a:cs typeface="Times New Roman" pitchFamily="18" charset="0"/>
              </a:rPr>
              <a:t>be </a:t>
            </a:r>
            <a:r>
              <a:rPr lang="en-US" sz="2400" dirty="0" smtClean="0">
                <a:latin typeface="Times New Roman" pitchFamily="18" charset="0"/>
                <a:cs typeface="Times New Roman" pitchFamily="18" charset="0"/>
              </a:rPr>
              <a:t>replenished.</a:t>
            </a:r>
            <a:endParaRPr lang="en-US" sz="2400" dirty="0">
              <a:latin typeface="Times New Roman" pitchFamily="18" charset="0"/>
              <a:cs typeface="Times New Roman" pitchFamily="18" charset="0"/>
            </a:endParaRPr>
          </a:p>
        </p:txBody>
      </p:sp>
      <p:sp>
        <p:nvSpPr>
          <p:cNvPr id="3" name="Rectangle 2"/>
          <p:cNvSpPr/>
          <p:nvPr/>
        </p:nvSpPr>
        <p:spPr>
          <a:xfrm>
            <a:off x="5029200" y="0"/>
            <a:ext cx="2864887" cy="707886"/>
          </a:xfrm>
          <a:prstGeom prst="rect">
            <a:avLst/>
          </a:prstGeom>
        </p:spPr>
        <p:txBody>
          <a:bodyPr wrap="none">
            <a:spAutoFit/>
          </a:bodyPr>
          <a:lstStyle/>
          <a:p>
            <a:r>
              <a:rPr lang="en-US" sz="4000" b="1" dirty="0">
                <a:solidFill>
                  <a:srgbClr val="FF0000"/>
                </a:solidFill>
                <a:latin typeface="Times New Roman" pitchFamily="18" charset="0"/>
                <a:cs typeface="Times New Roman" pitchFamily="18" charset="0"/>
              </a:rPr>
              <a:t>Fossil </a:t>
            </a:r>
            <a:r>
              <a:rPr lang="en-US" sz="4000" b="1" dirty="0" smtClean="0">
                <a:solidFill>
                  <a:srgbClr val="FF0000"/>
                </a:solidFill>
                <a:latin typeface="Times New Roman" pitchFamily="18" charset="0"/>
                <a:cs typeface="Times New Roman" pitchFamily="18" charset="0"/>
              </a:rPr>
              <a:t>Fuels </a:t>
            </a:r>
            <a:endParaRPr lang="en-US" sz="4000" b="1" dirty="0">
              <a:solidFill>
                <a:srgbClr val="FF0000"/>
              </a:solidFill>
              <a:latin typeface="Times New Roman" pitchFamily="18" charset="0"/>
              <a:cs typeface="Times New Roman" pitchFamily="18" charset="0"/>
            </a:endParaRPr>
          </a:p>
        </p:txBody>
      </p:sp>
      <p:pic>
        <p:nvPicPr>
          <p:cNvPr id="1026" name="Picture 2" descr="Fossil Fuels: Types, Uses, Pros and Cons | Earth Reminder"/>
          <p:cNvPicPr>
            <a:picLocks noChangeAspect="1" noChangeArrowheads="1"/>
          </p:cNvPicPr>
          <p:nvPr/>
        </p:nvPicPr>
        <p:blipFill rotWithShape="1">
          <a:blip r:embed="rId2">
            <a:extLst>
              <a:ext uri="{28A0092B-C50C-407E-A947-70E740481C1C}">
                <a14:useLocalDpi xmlns:a14="http://schemas.microsoft.com/office/drawing/2010/main" val="0"/>
              </a:ext>
            </a:extLst>
          </a:blip>
          <a:srcRect l="-3129" t="14594" r="2982" b="4478"/>
          <a:stretch/>
        </p:blipFill>
        <p:spPr bwMode="auto">
          <a:xfrm>
            <a:off x="7239000" y="990600"/>
            <a:ext cx="519684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10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533400"/>
            <a:ext cx="12496800" cy="6063198"/>
          </a:xfrm>
          <a:prstGeom prst="rect">
            <a:avLst/>
          </a:prstGeom>
        </p:spPr>
        <p:txBody>
          <a:bodyPr wrap="square">
            <a:spAutoFit/>
          </a:bodyPr>
          <a:lstStyle/>
          <a:p>
            <a:pPr algn="just"/>
            <a:r>
              <a:rPr lang="en-US" sz="2800" b="1" dirty="0" smtClean="0">
                <a:solidFill>
                  <a:srgbClr val="7030A0"/>
                </a:solidFill>
                <a:latin typeface="Times New Roman" pitchFamily="18" charset="0"/>
                <a:cs typeface="Times New Roman" pitchFamily="18" charset="0"/>
              </a:rPr>
              <a:t>Fossil fuels can be classified in </a:t>
            </a:r>
            <a:r>
              <a:rPr lang="en-US" sz="2800" b="1" dirty="0">
                <a:solidFill>
                  <a:srgbClr val="7030A0"/>
                </a:solidFill>
                <a:latin typeface="Times New Roman" pitchFamily="18" charset="0"/>
                <a:cs typeface="Times New Roman" pitchFamily="18" charset="0"/>
              </a:rPr>
              <a:t>several ways</a:t>
            </a:r>
            <a:r>
              <a:rPr lang="en-US" sz="2800" b="1" dirty="0" smtClean="0">
                <a:solidFill>
                  <a:srgbClr val="7030A0"/>
                </a:solidFill>
                <a:latin typeface="Times New Roman" pitchFamily="18" charset="0"/>
                <a:cs typeface="Times New Roman" pitchFamily="18" charset="0"/>
              </a:rPr>
              <a:t>:</a:t>
            </a:r>
            <a:endParaRPr lang="en-US" sz="2800" b="1" dirty="0">
              <a:solidFill>
                <a:srgbClr val="7030A0"/>
              </a:solidFill>
              <a:latin typeface="Times New Roman" pitchFamily="18" charset="0"/>
              <a:cs typeface="Times New Roman" pitchFamily="18" charset="0"/>
            </a:endParaRPr>
          </a:p>
          <a:p>
            <a:pPr marL="514350" indent="-514350" algn="just">
              <a:lnSpc>
                <a:spcPct val="200000"/>
              </a:lnSpc>
              <a:buAutoNum type="romanUcPeriod"/>
            </a:pPr>
            <a:r>
              <a:rPr lang="en-US" sz="2400" b="1" dirty="0" smtClean="0">
                <a:solidFill>
                  <a:srgbClr val="002060"/>
                </a:solidFill>
                <a:latin typeface="Times New Roman" pitchFamily="18" charset="0"/>
                <a:cs typeface="Times New Roman" pitchFamily="18" charset="0"/>
              </a:rPr>
              <a:t>Based </a:t>
            </a:r>
            <a:r>
              <a:rPr lang="en-US" sz="2400" b="1" dirty="0">
                <a:solidFill>
                  <a:srgbClr val="002060"/>
                </a:solidFill>
                <a:latin typeface="Times New Roman" pitchFamily="18" charset="0"/>
                <a:cs typeface="Times New Roman" pitchFamily="18" charset="0"/>
              </a:rPr>
              <a:t>on Physical </a:t>
            </a:r>
            <a:r>
              <a:rPr lang="en-US" sz="2400" b="1" dirty="0" smtClean="0">
                <a:solidFill>
                  <a:srgbClr val="002060"/>
                </a:solidFill>
                <a:latin typeface="Times New Roman" pitchFamily="18" charset="0"/>
                <a:cs typeface="Times New Roman" pitchFamily="18" charset="0"/>
              </a:rPr>
              <a:t>State</a:t>
            </a:r>
            <a:endParaRPr lang="en-US" sz="2400" b="1" dirty="0">
              <a:solidFill>
                <a:srgbClr val="002060"/>
              </a:solidFill>
              <a:latin typeface="Times New Roman" pitchFamily="18" charset="0"/>
              <a:cs typeface="Times New Roman" pitchFamily="18" charset="0"/>
            </a:endParaRPr>
          </a:p>
          <a:p>
            <a:pPr marL="3543300" lvl="7" indent="-342900" algn="just">
              <a:buFont typeface="Wingdings" pitchFamily="2" charset="2"/>
              <a:buChar char="v"/>
            </a:pPr>
            <a:r>
              <a:rPr lang="en-US" sz="2400" b="1" dirty="0">
                <a:solidFill>
                  <a:srgbClr val="0070C0"/>
                </a:solidFill>
                <a:latin typeface="Times New Roman" pitchFamily="18" charset="0"/>
                <a:cs typeface="Times New Roman" pitchFamily="18" charset="0"/>
              </a:rPr>
              <a:t>Solid: </a:t>
            </a:r>
            <a:r>
              <a:rPr lang="en-US" sz="2400" dirty="0">
                <a:latin typeface="Times New Roman" pitchFamily="18" charset="0"/>
                <a:cs typeface="Times New Roman" pitchFamily="18" charset="0"/>
              </a:rPr>
              <a:t>Coal, lignite, </a:t>
            </a:r>
            <a:r>
              <a:rPr lang="en-US" sz="2400" dirty="0" smtClean="0">
                <a:latin typeface="Times New Roman" pitchFamily="18" charset="0"/>
                <a:cs typeface="Times New Roman" pitchFamily="18" charset="0"/>
              </a:rPr>
              <a:t>peat</a:t>
            </a:r>
          </a:p>
          <a:p>
            <a:pPr marL="3543300" lvl="7" indent="-342900" algn="just">
              <a:buFont typeface="Wingdings" pitchFamily="2" charset="2"/>
              <a:buChar char="v"/>
            </a:pPr>
            <a:r>
              <a:rPr lang="en-US" sz="2400" b="1" dirty="0" smtClean="0">
                <a:solidFill>
                  <a:srgbClr val="0070C0"/>
                </a:solidFill>
                <a:latin typeface="Times New Roman" pitchFamily="18" charset="0"/>
                <a:cs typeface="Times New Roman" pitchFamily="18" charset="0"/>
              </a:rPr>
              <a:t>Liquid</a:t>
            </a:r>
            <a:r>
              <a:rPr lang="en-US" sz="2400" b="1" dirty="0">
                <a:solidFill>
                  <a:srgbClr val="0070C0"/>
                </a:solidFill>
                <a:latin typeface="Times New Roman" pitchFamily="18" charset="0"/>
                <a:cs typeface="Times New Roman" pitchFamily="18" charset="0"/>
              </a:rPr>
              <a:t>: </a:t>
            </a:r>
            <a:r>
              <a:rPr lang="en-US" sz="2400" dirty="0">
                <a:latin typeface="Times New Roman" pitchFamily="18" charset="0"/>
                <a:cs typeface="Times New Roman" pitchFamily="18" charset="0"/>
              </a:rPr>
              <a:t>Petroleum (crude oil, diesel, kerosene, </a:t>
            </a:r>
            <a:r>
              <a:rPr lang="en-US" sz="2400" dirty="0" smtClean="0">
                <a:latin typeface="Times New Roman" pitchFamily="18" charset="0"/>
                <a:cs typeface="Times New Roman" pitchFamily="18" charset="0"/>
              </a:rPr>
              <a:t>petrol)</a:t>
            </a:r>
          </a:p>
          <a:p>
            <a:pPr marL="3543300" lvl="7" indent="-342900" algn="just">
              <a:buFont typeface="Wingdings" pitchFamily="2" charset="2"/>
              <a:buChar char="v"/>
            </a:pPr>
            <a:r>
              <a:rPr lang="en-US" sz="2400" b="1" dirty="0" smtClean="0">
                <a:solidFill>
                  <a:srgbClr val="0070C0"/>
                </a:solidFill>
                <a:latin typeface="Times New Roman" pitchFamily="18" charset="0"/>
                <a:cs typeface="Times New Roman" pitchFamily="18" charset="0"/>
              </a:rPr>
              <a:t>Gaseous</a:t>
            </a:r>
            <a:r>
              <a:rPr lang="en-US" sz="2400" b="1" dirty="0">
                <a:solidFill>
                  <a:srgbClr val="0070C0"/>
                </a:solidFill>
                <a:latin typeface="Times New Roman" pitchFamily="18" charset="0"/>
                <a:cs typeface="Times New Roman" pitchFamily="18" charset="0"/>
              </a:rPr>
              <a:t>: </a:t>
            </a:r>
            <a:r>
              <a:rPr lang="en-US" sz="2400" dirty="0">
                <a:latin typeface="Times New Roman" pitchFamily="18" charset="0"/>
                <a:cs typeface="Times New Roman" pitchFamily="18" charset="0"/>
              </a:rPr>
              <a:t>Natural gas, coal gas, oil gas, shale gas</a:t>
            </a:r>
          </a:p>
          <a:p>
            <a:pPr algn="just">
              <a:lnSpc>
                <a:spcPct val="200000"/>
              </a:lnSpc>
            </a:pPr>
            <a:r>
              <a:rPr lang="en-US" sz="2400" b="1" dirty="0" smtClean="0">
                <a:solidFill>
                  <a:srgbClr val="002060"/>
                </a:solidFill>
                <a:latin typeface="Times New Roman" pitchFamily="18" charset="0"/>
                <a:cs typeface="Times New Roman" pitchFamily="18" charset="0"/>
              </a:rPr>
              <a:t>II. Based </a:t>
            </a:r>
            <a:r>
              <a:rPr lang="en-US" sz="2400" b="1" dirty="0">
                <a:solidFill>
                  <a:srgbClr val="002060"/>
                </a:solidFill>
                <a:latin typeface="Times New Roman" pitchFamily="18" charset="0"/>
                <a:cs typeface="Times New Roman" pitchFamily="18" charset="0"/>
              </a:rPr>
              <a:t>on </a:t>
            </a:r>
            <a:r>
              <a:rPr lang="en-US" sz="2400" b="1" dirty="0" smtClean="0">
                <a:solidFill>
                  <a:srgbClr val="002060"/>
                </a:solidFill>
                <a:latin typeface="Times New Roman" pitchFamily="18" charset="0"/>
                <a:cs typeface="Times New Roman" pitchFamily="18" charset="0"/>
              </a:rPr>
              <a:t>Origin</a:t>
            </a:r>
            <a:endParaRPr lang="en-US" sz="2400" b="1" dirty="0">
              <a:solidFill>
                <a:srgbClr val="002060"/>
              </a:solidFill>
              <a:latin typeface="Times New Roman" pitchFamily="18" charset="0"/>
              <a:cs typeface="Times New Roman" pitchFamily="18" charset="0"/>
            </a:endParaRPr>
          </a:p>
          <a:p>
            <a:pPr marL="1714500" lvl="3" indent="-342900" algn="just">
              <a:buFont typeface="Wingdings" pitchFamily="2" charset="2"/>
              <a:buChar char="v"/>
            </a:pPr>
            <a:r>
              <a:rPr lang="en-US" sz="2400" b="1" dirty="0">
                <a:solidFill>
                  <a:srgbClr val="00B0F0"/>
                </a:solidFill>
                <a:latin typeface="Times New Roman" pitchFamily="18" charset="0"/>
                <a:cs typeface="Times New Roman" pitchFamily="18" charset="0"/>
              </a:rPr>
              <a:t>Terrestrial origin: </a:t>
            </a:r>
            <a:r>
              <a:rPr lang="en-US" sz="2400" dirty="0">
                <a:latin typeface="Times New Roman" pitchFamily="18" charset="0"/>
                <a:cs typeface="Times New Roman" pitchFamily="18" charset="0"/>
              </a:rPr>
              <a:t>Derived mainly from land plants </a:t>
            </a:r>
            <a:r>
              <a:rPr lang="en-US" sz="2400" dirty="0" smtClean="0">
                <a:latin typeface="Times New Roman" pitchFamily="18" charset="0"/>
                <a:cs typeface="Times New Roman" pitchFamily="18" charset="0"/>
              </a:rPr>
              <a:t>(coal).</a:t>
            </a:r>
          </a:p>
          <a:p>
            <a:pPr marL="1714500" lvl="3" indent="-342900" algn="just">
              <a:buFont typeface="Wingdings" pitchFamily="2" charset="2"/>
              <a:buChar char="v"/>
            </a:pPr>
            <a:r>
              <a:rPr lang="en-US" sz="2400" b="1" dirty="0" smtClean="0">
                <a:solidFill>
                  <a:srgbClr val="00B0F0"/>
                </a:solidFill>
                <a:latin typeface="Times New Roman" pitchFamily="18" charset="0"/>
                <a:cs typeface="Times New Roman" pitchFamily="18" charset="0"/>
              </a:rPr>
              <a:t>Marine </a:t>
            </a:r>
            <a:r>
              <a:rPr lang="en-US" sz="2400" b="1" dirty="0">
                <a:solidFill>
                  <a:srgbClr val="00B0F0"/>
                </a:solidFill>
                <a:latin typeface="Times New Roman" pitchFamily="18" charset="0"/>
                <a:cs typeface="Times New Roman" pitchFamily="18" charset="0"/>
              </a:rPr>
              <a:t>origin: </a:t>
            </a:r>
            <a:r>
              <a:rPr lang="en-US" sz="2400" dirty="0">
                <a:latin typeface="Times New Roman" pitchFamily="18" charset="0"/>
                <a:cs typeface="Times New Roman" pitchFamily="18" charset="0"/>
              </a:rPr>
              <a:t>Derived mainly from marine organisms </a:t>
            </a:r>
            <a:r>
              <a:rPr lang="en-US" sz="2400" dirty="0" smtClean="0">
                <a:latin typeface="Times New Roman" pitchFamily="18" charset="0"/>
                <a:cs typeface="Times New Roman" pitchFamily="18" charset="0"/>
              </a:rPr>
              <a:t>(petroleum</a:t>
            </a:r>
            <a:r>
              <a:rPr lang="en-US" sz="2400" dirty="0">
                <a:latin typeface="Times New Roman" pitchFamily="18" charset="0"/>
                <a:cs typeface="Times New Roman" pitchFamily="18" charset="0"/>
              </a:rPr>
              <a:t>, natural gas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algn="just">
              <a:lnSpc>
                <a:spcPct val="200000"/>
              </a:lnSpc>
            </a:pPr>
            <a:r>
              <a:rPr lang="en-US" sz="2400" b="1" dirty="0" smtClean="0">
                <a:solidFill>
                  <a:srgbClr val="002060"/>
                </a:solidFill>
                <a:latin typeface="Times New Roman" pitchFamily="18" charset="0"/>
                <a:cs typeface="Times New Roman" pitchFamily="18" charset="0"/>
              </a:rPr>
              <a:t>III. Based </a:t>
            </a:r>
            <a:r>
              <a:rPr lang="en-US" sz="2400" b="1" dirty="0">
                <a:solidFill>
                  <a:srgbClr val="002060"/>
                </a:solidFill>
                <a:latin typeface="Times New Roman" pitchFamily="18" charset="0"/>
                <a:cs typeface="Times New Roman" pitchFamily="18" charset="0"/>
              </a:rPr>
              <a:t>on Carbon Content (Coal types</a:t>
            </a:r>
            <a:r>
              <a:rPr lang="en-US" sz="2400" b="1" dirty="0" smtClean="0">
                <a:solidFill>
                  <a:srgbClr val="002060"/>
                </a:solidFill>
                <a:latin typeface="Times New Roman" pitchFamily="18" charset="0"/>
                <a:cs typeface="Times New Roman" pitchFamily="18" charset="0"/>
              </a:rPr>
              <a:t>)</a:t>
            </a:r>
            <a:endParaRPr lang="en-US" sz="2400" b="1" dirty="0">
              <a:solidFill>
                <a:srgbClr val="002060"/>
              </a:solidFill>
              <a:latin typeface="Times New Roman" pitchFamily="18" charset="0"/>
              <a:cs typeface="Times New Roman" pitchFamily="18" charset="0"/>
            </a:endParaRPr>
          </a:p>
          <a:p>
            <a:pPr marL="3543300" lvl="7" indent="-342900" algn="just">
              <a:buFont typeface="Wingdings" pitchFamily="2" charset="2"/>
              <a:buChar char="v"/>
            </a:pPr>
            <a:r>
              <a:rPr lang="en-US" sz="2400" b="1" dirty="0">
                <a:solidFill>
                  <a:srgbClr val="00B050"/>
                </a:solidFill>
                <a:latin typeface="Times New Roman" pitchFamily="18" charset="0"/>
                <a:cs typeface="Times New Roman" pitchFamily="18" charset="0"/>
              </a:rPr>
              <a:t>Peat</a:t>
            </a:r>
            <a:r>
              <a:rPr lang="en-US" sz="2400" dirty="0">
                <a:latin typeface="Times New Roman" pitchFamily="18" charset="0"/>
                <a:cs typeface="Times New Roman" pitchFamily="18" charset="0"/>
              </a:rPr>
              <a:t> (lowest carbon, high moisture, low calorific </a:t>
            </a:r>
            <a:r>
              <a:rPr lang="en-US" sz="2400" dirty="0" smtClean="0">
                <a:latin typeface="Times New Roman" pitchFamily="18" charset="0"/>
                <a:cs typeface="Times New Roman" pitchFamily="18" charset="0"/>
              </a:rPr>
              <a:t>value)</a:t>
            </a:r>
          </a:p>
          <a:p>
            <a:pPr marL="3543300" lvl="7" indent="-342900" algn="just">
              <a:buFont typeface="Wingdings" pitchFamily="2" charset="2"/>
              <a:buChar char="v"/>
            </a:pPr>
            <a:r>
              <a:rPr lang="en-US" sz="2400" b="1" dirty="0" smtClean="0">
                <a:solidFill>
                  <a:srgbClr val="00B050"/>
                </a:solidFill>
                <a:latin typeface="Times New Roman" pitchFamily="18" charset="0"/>
                <a:cs typeface="Times New Roman" pitchFamily="18" charset="0"/>
              </a:rPr>
              <a:t>L</a:t>
            </a:r>
            <a:r>
              <a:rPr lang="en-US" sz="2400" dirty="0" smtClean="0">
                <a:solidFill>
                  <a:srgbClr val="00B050"/>
                </a:solidFill>
                <a:latin typeface="Times New Roman" pitchFamily="18" charset="0"/>
                <a:cs typeface="Times New Roman" pitchFamily="18" charset="0"/>
              </a:rPr>
              <a:t>ignite </a:t>
            </a:r>
            <a:r>
              <a:rPr lang="en-US" sz="2400" dirty="0">
                <a:latin typeface="Times New Roman" pitchFamily="18" charset="0"/>
                <a:cs typeface="Times New Roman" pitchFamily="18" charset="0"/>
              </a:rPr>
              <a:t>(brown coal, moderate carbon, higher </a:t>
            </a:r>
            <a:r>
              <a:rPr lang="en-US" sz="2400" dirty="0" smtClean="0">
                <a:latin typeface="Times New Roman" pitchFamily="18" charset="0"/>
                <a:cs typeface="Times New Roman" pitchFamily="18" charset="0"/>
              </a:rPr>
              <a:t>moisture)</a:t>
            </a:r>
          </a:p>
          <a:p>
            <a:pPr marL="3543300" lvl="7" indent="-342900" algn="just">
              <a:buFont typeface="Wingdings" pitchFamily="2" charset="2"/>
              <a:buChar char="v"/>
            </a:pPr>
            <a:r>
              <a:rPr lang="en-US" sz="2400" b="1" dirty="0" smtClean="0">
                <a:solidFill>
                  <a:srgbClr val="00B050"/>
                </a:solidFill>
                <a:latin typeface="Times New Roman" pitchFamily="18" charset="0"/>
                <a:cs typeface="Times New Roman" pitchFamily="18" charset="0"/>
              </a:rPr>
              <a:t>Bituminous </a:t>
            </a:r>
            <a:r>
              <a:rPr lang="en-US" sz="2400" b="1" dirty="0">
                <a:solidFill>
                  <a:srgbClr val="00B050"/>
                </a:solidFill>
                <a:latin typeface="Times New Roman" pitchFamily="18" charset="0"/>
                <a:cs typeface="Times New Roman" pitchFamily="18" charset="0"/>
              </a:rPr>
              <a:t>coal  </a:t>
            </a:r>
            <a:r>
              <a:rPr lang="en-US" sz="2400" dirty="0">
                <a:latin typeface="Times New Roman" pitchFamily="18" charset="0"/>
                <a:cs typeface="Times New Roman" pitchFamily="18" charset="0"/>
              </a:rPr>
              <a:t>(most common, high carbon, used in </a:t>
            </a:r>
            <a:r>
              <a:rPr lang="en-US" sz="2400" dirty="0" smtClean="0">
                <a:latin typeface="Times New Roman" pitchFamily="18" charset="0"/>
                <a:cs typeface="Times New Roman" pitchFamily="18" charset="0"/>
              </a:rPr>
              <a:t>industries)</a:t>
            </a:r>
          </a:p>
          <a:p>
            <a:pPr marL="3543300" lvl="7" indent="-342900" algn="just">
              <a:buFont typeface="Wingdings" pitchFamily="2" charset="2"/>
              <a:buChar char="v"/>
            </a:pPr>
            <a:r>
              <a:rPr lang="en-US" sz="2400" b="1" dirty="0" smtClean="0">
                <a:solidFill>
                  <a:srgbClr val="00B050"/>
                </a:solidFill>
                <a:latin typeface="Times New Roman" pitchFamily="18" charset="0"/>
                <a:cs typeface="Times New Roman" pitchFamily="18" charset="0"/>
              </a:rPr>
              <a:t>Anthracite</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(highest carbon, hardest, highest calorific value)</a:t>
            </a:r>
          </a:p>
        </p:txBody>
      </p:sp>
      <p:sp>
        <p:nvSpPr>
          <p:cNvPr id="3" name="Rectangle 2"/>
          <p:cNvSpPr/>
          <p:nvPr/>
        </p:nvSpPr>
        <p:spPr>
          <a:xfrm>
            <a:off x="3380884" y="-76200"/>
            <a:ext cx="5763116" cy="646331"/>
          </a:xfrm>
          <a:prstGeom prst="rect">
            <a:avLst/>
          </a:prstGeom>
        </p:spPr>
        <p:txBody>
          <a:bodyPr wrap="none">
            <a:spAutoFit/>
          </a:bodyPr>
          <a:lstStyle/>
          <a:p>
            <a:r>
              <a:rPr lang="en-US" sz="3600" b="1" dirty="0" smtClean="0">
                <a:solidFill>
                  <a:srgbClr val="FF0000"/>
                </a:solidFill>
                <a:latin typeface="Times New Roman" pitchFamily="18" charset="0"/>
                <a:cs typeface="Times New Roman" pitchFamily="18" charset="0"/>
              </a:rPr>
              <a:t>Classification of Fossil Fuels</a:t>
            </a:r>
            <a:endParaRPr lang="en-US" sz="3600" b="1" dirty="0">
              <a:solidFill>
                <a:srgbClr val="FF0000"/>
              </a:solidFill>
            </a:endParaRPr>
          </a:p>
        </p:txBody>
      </p:sp>
    </p:spTree>
    <p:extLst>
      <p:ext uri="{BB962C8B-B14F-4D97-AF65-F5344CB8AC3E}">
        <p14:creationId xmlns:p14="http://schemas.microsoft.com/office/powerpoint/2010/main" val="1768830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685800"/>
            <a:ext cx="12039600" cy="6001643"/>
          </a:xfrm>
          <a:prstGeom prst="rect">
            <a:avLst/>
          </a:prstGeom>
        </p:spPr>
        <p:txBody>
          <a:bodyPr wrap="square">
            <a:spAutoFit/>
          </a:bodyPr>
          <a:lstStyle/>
          <a:p>
            <a:pPr algn="just"/>
            <a:r>
              <a:rPr lang="en-US" sz="2400" dirty="0" smtClean="0">
                <a:latin typeface="Times New Roman" pitchFamily="18" charset="0"/>
                <a:cs typeface="Times New Roman" pitchFamily="18" charset="0"/>
              </a:rPr>
              <a:t>Cracking </a:t>
            </a:r>
            <a:r>
              <a:rPr lang="en-US" sz="2400" dirty="0">
                <a:latin typeface="Times New Roman" pitchFamily="18" charset="0"/>
                <a:cs typeface="Times New Roman" pitchFamily="18" charset="0"/>
              </a:rPr>
              <a:t>is the process of breaking down large hydrocarbon molecules (high molecular weight) into smaller, more useful molecules (low molecular weight) such as gasoline, diesel, and olefins. </a:t>
            </a:r>
            <a:endParaRPr lang="en-US" sz="2400" dirty="0" smtClean="0">
              <a:latin typeface="Times New Roman" pitchFamily="18" charset="0"/>
              <a:cs typeface="Times New Roman" pitchFamily="18" charset="0"/>
            </a:endParaRPr>
          </a:p>
          <a:p>
            <a:pPr algn="ctr">
              <a:lnSpc>
                <a:spcPct val="200000"/>
              </a:lnSpc>
            </a:pPr>
            <a:r>
              <a:rPr lang="en-US" sz="2400" b="1" dirty="0" smtClean="0">
                <a:solidFill>
                  <a:srgbClr val="0070C0"/>
                </a:solidFill>
                <a:latin typeface="Times New Roman" pitchFamily="18" charset="0"/>
                <a:cs typeface="Times New Roman" pitchFamily="18" charset="0"/>
              </a:rPr>
              <a:t>Cracking </a:t>
            </a:r>
            <a:r>
              <a:rPr lang="en-US" sz="2400" b="1" dirty="0">
                <a:solidFill>
                  <a:srgbClr val="0070C0"/>
                </a:solidFill>
                <a:latin typeface="Times New Roman" pitchFamily="18" charset="0"/>
                <a:cs typeface="Times New Roman" pitchFamily="18" charset="0"/>
              </a:rPr>
              <a:t>is a vital process in the petroleum industry for several </a:t>
            </a:r>
            <a:r>
              <a:rPr lang="en-US" sz="2400" b="1" dirty="0" smtClean="0">
                <a:solidFill>
                  <a:srgbClr val="0070C0"/>
                </a:solidFill>
                <a:latin typeface="Times New Roman" pitchFamily="18" charset="0"/>
                <a:cs typeface="Times New Roman" pitchFamily="18" charset="0"/>
              </a:rPr>
              <a:t>reasons</a:t>
            </a:r>
          </a:p>
          <a:p>
            <a:pPr algn="just">
              <a:lnSpc>
                <a:spcPct val="150000"/>
              </a:lnSpc>
            </a:pPr>
            <a:r>
              <a:rPr lang="en-US" sz="2400" dirty="0">
                <a:latin typeface="Times New Roman" pitchFamily="18" charset="0"/>
                <a:cs typeface="Times New Roman" pitchFamily="18" charset="0"/>
              </a:rPr>
              <a:t>It is a key process in petroleum refining to improve the yield of valuable fuels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marL="2574925" indent="-2574925" algn="just">
              <a:lnSpc>
                <a:spcPct val="150000"/>
              </a:lnSpc>
            </a:pPr>
            <a:r>
              <a:rPr lang="en-US" sz="2400" b="1" dirty="0" smtClean="0">
                <a:solidFill>
                  <a:srgbClr val="00B050"/>
                </a:solidFill>
                <a:latin typeface="Times New Roman" pitchFamily="18" charset="0"/>
                <a:cs typeface="Times New Roman" pitchFamily="18" charset="0"/>
              </a:rPr>
              <a:t>I. Producing Fuels: </a:t>
            </a: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converts heavy, less desirable fractions of crude oil into lighter, more useful fuels like gasoline, diesel, and jet fuel. </a:t>
            </a:r>
          </a:p>
          <a:p>
            <a:pPr marL="2636838" indent="-2636838" algn="just">
              <a:lnSpc>
                <a:spcPct val="150000"/>
              </a:lnSpc>
            </a:pPr>
            <a:r>
              <a:rPr lang="en-US" sz="2400" b="1" dirty="0" smtClean="0">
                <a:solidFill>
                  <a:srgbClr val="00B050"/>
                </a:solidFill>
                <a:latin typeface="Times New Roman" pitchFamily="18" charset="0"/>
                <a:cs typeface="Times New Roman" pitchFamily="18" charset="0"/>
              </a:rPr>
              <a:t>II. Creating </a:t>
            </a:r>
            <a:r>
              <a:rPr lang="en-US" sz="2400" b="1" dirty="0">
                <a:solidFill>
                  <a:srgbClr val="00B050"/>
                </a:solidFill>
                <a:latin typeface="Times New Roman" pitchFamily="18" charset="0"/>
                <a:cs typeface="Times New Roman" pitchFamily="18" charset="0"/>
              </a:rPr>
              <a:t>Petrochemical </a:t>
            </a:r>
            <a:r>
              <a:rPr lang="en-US" sz="2400" b="1" dirty="0" smtClean="0">
                <a:solidFill>
                  <a:srgbClr val="00B050"/>
                </a:solidFill>
                <a:latin typeface="Times New Roman" pitchFamily="18" charset="0"/>
                <a:cs typeface="Times New Roman" pitchFamily="18" charset="0"/>
              </a:rPr>
              <a:t>Feedstock: </a:t>
            </a:r>
            <a:r>
              <a:rPr lang="en-US" sz="2400" dirty="0" smtClean="0">
                <a:latin typeface="Times New Roman" pitchFamily="18" charset="0"/>
                <a:cs typeface="Times New Roman" pitchFamily="18" charset="0"/>
              </a:rPr>
              <a:t>Cracking </a:t>
            </a:r>
            <a:r>
              <a:rPr lang="en-US" sz="2400" dirty="0">
                <a:latin typeface="Times New Roman" pitchFamily="18" charset="0"/>
                <a:cs typeface="Times New Roman" pitchFamily="18" charset="0"/>
              </a:rPr>
              <a:t>produces alkenes (like ethylene and propylene) which are essential building blocks for plastics and other chemicals. </a:t>
            </a:r>
          </a:p>
          <a:p>
            <a:pPr marL="2636838" indent="-2636838" algn="just">
              <a:lnSpc>
                <a:spcPct val="150000"/>
              </a:lnSpc>
            </a:pPr>
            <a:r>
              <a:rPr lang="en-US" sz="2400" b="1" dirty="0" smtClean="0">
                <a:solidFill>
                  <a:srgbClr val="00B050"/>
                </a:solidFill>
                <a:latin typeface="Times New Roman" pitchFamily="18" charset="0"/>
                <a:cs typeface="Times New Roman" pitchFamily="18" charset="0"/>
              </a:rPr>
              <a:t>III. Meeting </a:t>
            </a:r>
            <a:r>
              <a:rPr lang="en-US" sz="2400" b="1" dirty="0">
                <a:solidFill>
                  <a:srgbClr val="00B050"/>
                </a:solidFill>
                <a:latin typeface="Times New Roman" pitchFamily="18" charset="0"/>
                <a:cs typeface="Times New Roman" pitchFamily="18" charset="0"/>
              </a:rPr>
              <a:t>Market </a:t>
            </a:r>
            <a:r>
              <a:rPr lang="en-US" sz="2400" b="1" dirty="0" smtClean="0">
                <a:solidFill>
                  <a:srgbClr val="00B050"/>
                </a:solidFill>
                <a:latin typeface="Times New Roman" pitchFamily="18" charset="0"/>
                <a:cs typeface="Times New Roman" pitchFamily="18" charset="0"/>
              </a:rPr>
              <a:t>Demands: </a:t>
            </a:r>
            <a:r>
              <a:rPr lang="en-US" sz="2400" dirty="0" smtClean="0">
                <a:latin typeface="Times New Roman" pitchFamily="18" charset="0"/>
                <a:cs typeface="Times New Roman" pitchFamily="18" charset="0"/>
              </a:rPr>
              <a:t>By </a:t>
            </a:r>
            <a:r>
              <a:rPr lang="en-US" sz="2400" dirty="0">
                <a:latin typeface="Times New Roman" pitchFamily="18" charset="0"/>
                <a:cs typeface="Times New Roman" pitchFamily="18" charset="0"/>
              </a:rPr>
              <a:t>adjusting the cracking process, refiners can tailor the product mix to meet the specific demands of the market</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3" name="Rectangle 2"/>
          <p:cNvSpPr/>
          <p:nvPr/>
        </p:nvSpPr>
        <p:spPr>
          <a:xfrm>
            <a:off x="5486400" y="152400"/>
            <a:ext cx="1826141" cy="584775"/>
          </a:xfrm>
          <a:prstGeom prst="rect">
            <a:avLst/>
          </a:prstGeom>
        </p:spPr>
        <p:txBody>
          <a:bodyPr wrap="none">
            <a:spAutoFit/>
          </a:bodyPr>
          <a:lstStyle/>
          <a:p>
            <a:r>
              <a:rPr lang="en-US" sz="3200" b="1" dirty="0">
                <a:solidFill>
                  <a:srgbClr val="FF0000"/>
                </a:solidFill>
                <a:latin typeface="Times New Roman" pitchFamily="18" charset="0"/>
                <a:cs typeface="Times New Roman" pitchFamily="18" charset="0"/>
              </a:rPr>
              <a:t>Cracking</a:t>
            </a:r>
          </a:p>
        </p:txBody>
      </p:sp>
    </p:spTree>
    <p:extLst>
      <p:ext uri="{BB962C8B-B14F-4D97-AF65-F5344CB8AC3E}">
        <p14:creationId xmlns:p14="http://schemas.microsoft.com/office/powerpoint/2010/main" val="7152510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685800"/>
            <a:ext cx="12268200" cy="6001643"/>
          </a:xfrm>
          <a:prstGeom prst="rect">
            <a:avLst/>
          </a:prstGeom>
        </p:spPr>
        <p:txBody>
          <a:bodyPr wrap="square">
            <a:spAutoFit/>
          </a:bodyPr>
          <a:lstStyle/>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chemical process of cracking involves various free radical reactions. </a:t>
            </a:r>
          </a:p>
          <a:p>
            <a:pPr algn="just"/>
            <a:r>
              <a:rPr lang="en-US" sz="2400" b="1" dirty="0" smtClean="0">
                <a:solidFill>
                  <a:srgbClr val="00B050"/>
                </a:solidFill>
                <a:latin typeface="Times New Roman" pitchFamily="18" charset="0"/>
                <a:cs typeface="Times New Roman" pitchFamily="18" charset="0"/>
              </a:rPr>
              <a:t>A. Initiation: </a:t>
            </a:r>
            <a:r>
              <a:rPr lang="en-US" sz="2400" dirty="0" smtClean="0">
                <a:latin typeface="Times New Roman" pitchFamily="18" charset="0"/>
                <a:cs typeface="Times New Roman" pitchFamily="18" charset="0"/>
              </a:rPr>
              <a:t>Free </a:t>
            </a:r>
            <a:r>
              <a:rPr lang="en-US" sz="2400" dirty="0">
                <a:latin typeface="Times New Roman" pitchFamily="18" charset="0"/>
                <a:cs typeface="Times New Roman" pitchFamily="18" charset="0"/>
              </a:rPr>
              <a:t>radicals are important for the process of cracking. One molecule is broken down </a:t>
            </a:r>
            <a:r>
              <a:rPr lang="en-US" sz="2400" dirty="0" smtClean="0">
                <a:latin typeface="Times New Roman" pitchFamily="18" charset="0"/>
                <a:cs typeface="Times New Roman" pitchFamily="18" charset="0"/>
              </a:rPr>
              <a:t>into two free </a:t>
            </a:r>
            <a:r>
              <a:rPr lang="en-US" sz="2400" dirty="0">
                <a:latin typeface="Times New Roman" pitchFamily="18" charset="0"/>
                <a:cs typeface="Times New Roman" pitchFamily="18" charset="0"/>
              </a:rPr>
              <a:t>radicals, in which the smaller portion undergoes initiation.</a:t>
            </a:r>
          </a:p>
          <a:p>
            <a:pPr algn="ct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 → 2 CH</a:t>
            </a:r>
            <a:r>
              <a:rPr lang="en-US" sz="2400" b="1" baseline="-25000" dirty="0">
                <a:solidFill>
                  <a:srgbClr val="C00000"/>
                </a:solidFill>
                <a:latin typeface="Times New Roman" pitchFamily="18" charset="0"/>
                <a:cs typeface="Times New Roman" pitchFamily="18" charset="0"/>
              </a:rPr>
              <a:t>3</a:t>
            </a:r>
            <a:r>
              <a:rPr lang="en-US" sz="2400" b="1" baseline="30000" dirty="0">
                <a:solidFill>
                  <a:srgbClr val="C00000"/>
                </a:solidFill>
                <a:latin typeface="Times New Roman" pitchFamily="18" charset="0"/>
                <a:cs typeface="Times New Roman" pitchFamily="18" charset="0"/>
              </a:rPr>
              <a:t>•</a:t>
            </a:r>
            <a:endParaRPr lang="en-US" sz="2400" dirty="0">
              <a:solidFill>
                <a:srgbClr val="C00000"/>
              </a:solidFill>
              <a:latin typeface="Times New Roman" pitchFamily="18" charset="0"/>
              <a:cs typeface="Times New Roman" pitchFamily="18" charset="0"/>
            </a:endParaRPr>
          </a:p>
          <a:p>
            <a:pPr algn="just"/>
            <a:r>
              <a:rPr lang="en-US" sz="2400" b="1" dirty="0" smtClean="0">
                <a:solidFill>
                  <a:srgbClr val="00B050"/>
                </a:solidFill>
                <a:latin typeface="Times New Roman" pitchFamily="18" charset="0"/>
                <a:cs typeface="Times New Roman" pitchFamily="18" charset="0"/>
              </a:rPr>
              <a:t>B. Hydrogen Abstraction: </a:t>
            </a:r>
            <a:r>
              <a:rPr lang="en-US" sz="2400" dirty="0" smtClean="0">
                <a:latin typeface="Times New Roman" pitchFamily="18" charset="0"/>
                <a:cs typeface="Times New Roman" pitchFamily="18" charset="0"/>
              </a:rPr>
              <a:t>Hydrogen</a:t>
            </a:r>
            <a:r>
              <a:rPr lang="en-US" sz="2400" dirty="0">
                <a:latin typeface="Times New Roman" pitchFamily="18" charset="0"/>
                <a:cs typeface="Times New Roman" pitchFamily="18" charset="0"/>
              </a:rPr>
              <a:t> is removed from the second molecule; hence it becomes a free radical as shown.</a:t>
            </a:r>
          </a:p>
          <a:p>
            <a:pPr algn="ct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r>
              <a:rPr lang="en-US" sz="2400" b="1" baseline="30000" dirty="0">
                <a:solidFill>
                  <a:srgbClr val="C00000"/>
                </a:solidFill>
                <a:latin typeface="Times New Roman" pitchFamily="18" charset="0"/>
                <a:cs typeface="Times New Roman" pitchFamily="18" charset="0"/>
              </a:rPr>
              <a:t>•</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4</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baseline="30000" dirty="0">
                <a:solidFill>
                  <a:srgbClr val="C00000"/>
                </a:solidFill>
                <a:latin typeface="Times New Roman" pitchFamily="18" charset="0"/>
                <a:cs typeface="Times New Roman" pitchFamily="18" charset="0"/>
              </a:rPr>
              <a:t>•</a:t>
            </a:r>
            <a:endParaRPr lang="en-US" sz="2400" dirty="0">
              <a:solidFill>
                <a:srgbClr val="C00000"/>
              </a:solidFill>
              <a:latin typeface="Times New Roman" pitchFamily="18" charset="0"/>
              <a:cs typeface="Times New Roman" pitchFamily="18" charset="0"/>
            </a:endParaRPr>
          </a:p>
          <a:p>
            <a:pPr algn="just"/>
            <a:r>
              <a:rPr lang="en-US" sz="2400" b="1" dirty="0" smtClean="0">
                <a:solidFill>
                  <a:srgbClr val="00B050"/>
                </a:solidFill>
                <a:latin typeface="Times New Roman" pitchFamily="18" charset="0"/>
                <a:cs typeface="Times New Roman" pitchFamily="18" charset="0"/>
              </a:rPr>
              <a:t>C. Radical Decomposition: </a:t>
            </a:r>
            <a:r>
              <a:rPr lang="en-US" sz="2400" dirty="0" smtClean="0">
                <a:latin typeface="Times New Roman" pitchFamily="18" charset="0"/>
                <a:cs typeface="Times New Roman" pitchFamily="18" charset="0"/>
              </a:rPr>
              <a:t>Free </a:t>
            </a:r>
            <a:r>
              <a:rPr lang="en-US" sz="2400" dirty="0">
                <a:latin typeface="Times New Roman" pitchFamily="18" charset="0"/>
                <a:cs typeface="Times New Roman" pitchFamily="18" charset="0"/>
              </a:rPr>
              <a:t>radicals break into other free </a:t>
            </a:r>
            <a:r>
              <a:rPr lang="en-US" sz="2400" dirty="0" smtClean="0">
                <a:latin typeface="Times New Roman" pitchFamily="18" charset="0"/>
                <a:cs typeface="Times New Roman" pitchFamily="18" charset="0"/>
              </a:rPr>
              <a:t>radical to </a:t>
            </a:r>
            <a:r>
              <a:rPr lang="en-US" sz="2400" dirty="0">
                <a:latin typeface="Times New Roman" pitchFamily="18" charset="0"/>
                <a:cs typeface="Times New Roman" pitchFamily="18" charset="0"/>
              </a:rPr>
              <a:t>produce alkene products.</a:t>
            </a:r>
          </a:p>
          <a:p>
            <a:pPr algn="ct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baseline="30000" dirty="0">
                <a:solidFill>
                  <a:srgbClr val="C00000"/>
                </a:solidFill>
                <a:latin typeface="Times New Roman" pitchFamily="18" charset="0"/>
                <a:cs typeface="Times New Roman" pitchFamily="18" charset="0"/>
              </a:rPr>
              <a:t>• </a:t>
            </a:r>
            <a:r>
              <a:rPr lang="en-US" sz="2400" b="1" dirty="0">
                <a:solidFill>
                  <a:srgbClr val="C00000"/>
                </a:solidFill>
                <a:latin typeface="Times New Roman" pitchFamily="18" charset="0"/>
                <a:cs typeface="Times New Roman" pitchFamily="18" charset="0"/>
              </a:rPr>
              <a:t>→ 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 + H</a:t>
            </a:r>
            <a:r>
              <a:rPr lang="en-US" sz="2400" b="1" baseline="30000" dirty="0">
                <a:solidFill>
                  <a:srgbClr val="C00000"/>
                </a:solidFill>
                <a:latin typeface="Times New Roman" pitchFamily="18" charset="0"/>
                <a:cs typeface="Times New Roman" pitchFamily="18" charset="0"/>
              </a:rPr>
              <a:t>•</a:t>
            </a:r>
            <a:endParaRPr lang="en-US" sz="2400" dirty="0">
              <a:solidFill>
                <a:srgbClr val="C00000"/>
              </a:solidFill>
              <a:latin typeface="Times New Roman" pitchFamily="18" charset="0"/>
              <a:cs typeface="Times New Roman" pitchFamily="18" charset="0"/>
            </a:endParaRPr>
          </a:p>
          <a:p>
            <a:pPr algn="just"/>
            <a:r>
              <a:rPr lang="en-US" sz="2400" b="1" dirty="0" smtClean="0">
                <a:solidFill>
                  <a:srgbClr val="00B050"/>
                </a:solidFill>
                <a:latin typeface="Times New Roman" pitchFamily="18" charset="0"/>
                <a:cs typeface="Times New Roman" pitchFamily="18" charset="0"/>
              </a:rPr>
              <a:t>D. Radical Addition: </a:t>
            </a:r>
            <a:r>
              <a:rPr lang="en-US" sz="2400" dirty="0" smtClean="0">
                <a:latin typeface="Times New Roman" pitchFamily="18" charset="0"/>
                <a:cs typeface="Times New Roman" pitchFamily="18" charset="0"/>
              </a:rPr>
              <a:t>Free </a:t>
            </a:r>
            <a:r>
              <a:rPr lang="en-US" sz="2400" dirty="0">
                <a:latin typeface="Times New Roman" pitchFamily="18" charset="0"/>
                <a:cs typeface="Times New Roman" pitchFamily="18" charset="0"/>
              </a:rPr>
              <a:t>radicals react with alkene and produce free radicals which form </a:t>
            </a:r>
            <a:r>
              <a:rPr lang="en-US" sz="2400" dirty="0" smtClean="0">
                <a:latin typeface="Times New Roman" pitchFamily="18" charset="0"/>
                <a:cs typeface="Times New Roman" pitchFamily="18" charset="0"/>
              </a:rPr>
              <a:t>aromatic</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products</a:t>
            </a:r>
            <a:r>
              <a:rPr lang="en-US" sz="2400" dirty="0">
                <a:latin typeface="Times New Roman" pitchFamily="18" charset="0"/>
                <a:cs typeface="Times New Roman" pitchFamily="18" charset="0"/>
              </a:rPr>
              <a:t>.</a:t>
            </a:r>
          </a:p>
          <a:p>
            <a:pPr algn="ct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baseline="30000" dirty="0">
                <a:solidFill>
                  <a:srgbClr val="C00000"/>
                </a:solidFill>
                <a:latin typeface="Times New Roman" pitchFamily="18" charset="0"/>
                <a:cs typeface="Times New Roman" pitchFamily="18" charset="0"/>
              </a:rPr>
              <a:t>•</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baseline="30000" dirty="0">
                <a:solidFill>
                  <a:srgbClr val="C00000"/>
                </a:solidFill>
                <a:latin typeface="Times New Roman" pitchFamily="18" charset="0"/>
                <a:cs typeface="Times New Roman" pitchFamily="18" charset="0"/>
              </a:rPr>
              <a:t>•</a:t>
            </a:r>
            <a:endParaRPr lang="en-US" sz="2400" dirty="0">
              <a:solidFill>
                <a:srgbClr val="C00000"/>
              </a:solidFill>
              <a:latin typeface="Times New Roman" pitchFamily="18" charset="0"/>
              <a:cs typeface="Times New Roman" pitchFamily="18" charset="0"/>
            </a:endParaRPr>
          </a:p>
          <a:p>
            <a:pPr algn="just"/>
            <a:r>
              <a:rPr lang="en-US" sz="2400" b="1" dirty="0" smtClean="0">
                <a:solidFill>
                  <a:srgbClr val="00B050"/>
                </a:solidFill>
                <a:latin typeface="Times New Roman" pitchFamily="18" charset="0"/>
                <a:cs typeface="Times New Roman" pitchFamily="18" charset="0"/>
              </a:rPr>
              <a:t>E. Termination: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termination process happens when two radicals react with each other to form a non-free radical product resulting in recombination and disproportionation.</a:t>
            </a:r>
          </a:p>
          <a:p>
            <a:pPr algn="ct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r>
              <a:rPr lang="en-US" sz="2400" b="1" baseline="30000" dirty="0">
                <a:solidFill>
                  <a:srgbClr val="C00000"/>
                </a:solidFill>
                <a:latin typeface="Times New Roman" pitchFamily="18" charset="0"/>
                <a:cs typeface="Times New Roman" pitchFamily="18" charset="0"/>
              </a:rPr>
              <a:t>•</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baseline="30000" dirty="0">
                <a:solidFill>
                  <a:srgbClr val="C00000"/>
                </a:solidFill>
                <a:latin typeface="Times New Roman" pitchFamily="18" charset="0"/>
                <a:cs typeface="Times New Roman" pitchFamily="18" charset="0"/>
              </a:rPr>
              <a:t>•</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endParaRPr lang="en-US" sz="2400" dirty="0">
              <a:solidFill>
                <a:srgbClr val="C00000"/>
              </a:solidFill>
              <a:latin typeface="Times New Roman" pitchFamily="18" charset="0"/>
              <a:cs typeface="Times New Roman" pitchFamily="18" charset="0"/>
            </a:endParaRPr>
          </a:p>
          <a:p>
            <a:pPr algn="ct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baseline="30000" dirty="0">
                <a:solidFill>
                  <a:srgbClr val="C00000"/>
                </a:solidFill>
                <a:latin typeface="Times New Roman" pitchFamily="18" charset="0"/>
                <a:cs typeface="Times New Roman" pitchFamily="18" charset="0"/>
              </a:rPr>
              <a:t>•</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baseline="30000" dirty="0">
                <a:solidFill>
                  <a:srgbClr val="C00000"/>
                </a:solidFill>
                <a:latin typeface="Times New Roman" pitchFamily="18" charset="0"/>
                <a:cs typeface="Times New Roman" pitchFamily="18" charset="0"/>
              </a:rPr>
              <a:t>•</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2</a:t>
            </a:r>
            <a:r>
              <a:rPr lang="en-US" sz="2400" b="1" dirty="0">
                <a:solidFill>
                  <a:srgbClr val="C00000"/>
                </a:solidFill>
                <a:latin typeface="Times New Roman" pitchFamily="18" charset="0"/>
                <a:cs typeface="Times New Roman" pitchFamily="18" charset="0"/>
              </a:rPr>
              <a:t> + CH</a:t>
            </a:r>
            <a:r>
              <a:rPr lang="en-US" sz="2400" b="1" baseline="-25000" dirty="0">
                <a:solidFill>
                  <a:srgbClr val="C00000"/>
                </a:solidFill>
                <a:latin typeface="Times New Roman" pitchFamily="18" charset="0"/>
                <a:cs typeface="Times New Roman" pitchFamily="18" charset="0"/>
              </a:rPr>
              <a:t>3</a:t>
            </a:r>
            <a:r>
              <a:rPr lang="en-US" sz="2400" b="1" dirty="0">
                <a:solidFill>
                  <a:srgbClr val="C00000"/>
                </a:solidFill>
                <a:latin typeface="Times New Roman" pitchFamily="18" charset="0"/>
                <a:cs typeface="Times New Roman" pitchFamily="18" charset="0"/>
              </a:rPr>
              <a:t>CH</a:t>
            </a:r>
            <a:r>
              <a:rPr lang="en-US" sz="2400" b="1" baseline="-25000" dirty="0">
                <a:solidFill>
                  <a:srgbClr val="C00000"/>
                </a:solidFill>
                <a:latin typeface="Times New Roman" pitchFamily="18" charset="0"/>
                <a:cs typeface="Times New Roman" pitchFamily="18" charset="0"/>
              </a:rPr>
              <a:t>3</a:t>
            </a:r>
            <a:endParaRPr lang="en-US" sz="2400" dirty="0">
              <a:solidFill>
                <a:srgbClr val="C00000"/>
              </a:solidFill>
              <a:latin typeface="Times New Roman" pitchFamily="18" charset="0"/>
              <a:cs typeface="Times New Roman" pitchFamily="18" charset="0"/>
            </a:endParaRPr>
          </a:p>
        </p:txBody>
      </p:sp>
      <p:sp>
        <p:nvSpPr>
          <p:cNvPr id="4" name="Rectangle 3"/>
          <p:cNvSpPr/>
          <p:nvPr/>
        </p:nvSpPr>
        <p:spPr>
          <a:xfrm>
            <a:off x="4495800" y="152400"/>
            <a:ext cx="3689408" cy="584775"/>
          </a:xfrm>
          <a:prstGeom prst="rect">
            <a:avLst/>
          </a:prstGeom>
        </p:spPr>
        <p:txBody>
          <a:bodyPr wrap="none">
            <a:spAutoFit/>
          </a:bodyPr>
          <a:lstStyle/>
          <a:p>
            <a:r>
              <a:rPr lang="en-US" sz="3200" b="1" dirty="0">
                <a:solidFill>
                  <a:srgbClr val="FF0000"/>
                </a:solidFill>
                <a:latin typeface="Times New Roman" pitchFamily="18" charset="0"/>
                <a:cs typeface="Times New Roman" pitchFamily="18" charset="0"/>
              </a:rPr>
              <a:t>Process of Cracking</a:t>
            </a:r>
            <a:endParaRPr lang="en-US" sz="3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1312713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844689"/>
            <a:ext cx="6934200" cy="5632311"/>
          </a:xfrm>
          <a:prstGeom prst="rect">
            <a:avLst/>
          </a:prstGeom>
        </p:spPr>
        <p:txBody>
          <a:bodyPr wrap="square">
            <a:spAutoFit/>
          </a:bodyPr>
          <a:lstStyle/>
          <a:p>
            <a:pPr algn="just"/>
            <a:r>
              <a:rPr lang="en-US" sz="2400" dirty="0" smtClean="0">
                <a:latin typeface="Times New Roman" pitchFamily="18" charset="0"/>
                <a:cs typeface="Times New Roman" pitchFamily="18" charset="0"/>
              </a:rPr>
              <a:t>Cracking </a:t>
            </a:r>
            <a:r>
              <a:rPr lang="en-US" sz="2400" dirty="0">
                <a:latin typeface="Times New Roman" pitchFamily="18" charset="0"/>
                <a:cs typeface="Times New Roman" pitchFamily="18" charset="0"/>
              </a:rPr>
              <a:t>can be broadly classified into Thermal Cracking and Catalytic Cracking:</a:t>
            </a:r>
          </a:p>
          <a:p>
            <a:pPr algn="just"/>
            <a:r>
              <a:rPr lang="en-US" sz="2400" b="1" dirty="0" smtClean="0">
                <a:solidFill>
                  <a:srgbClr val="C00000"/>
                </a:solidFill>
                <a:latin typeface="Times New Roman" pitchFamily="18" charset="0"/>
                <a:cs typeface="Times New Roman" pitchFamily="18" charset="0"/>
              </a:rPr>
              <a:t>I. Thermal Cracking:</a:t>
            </a:r>
            <a:endParaRPr lang="en-US" sz="2400" b="1" dirty="0">
              <a:solidFill>
                <a:srgbClr val="C00000"/>
              </a:solidFill>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Decomposition of heavy hydrocarbons into smaller molecules by heating at high temperature and pressure</a:t>
            </a:r>
          </a:p>
          <a:p>
            <a:pPr marL="342900" indent="-342900" algn="just">
              <a:buFont typeface="Arial" pitchFamily="34" charset="0"/>
              <a:buChar char="•"/>
            </a:pPr>
            <a:r>
              <a:rPr lang="en-US" sz="2400" b="1" dirty="0">
                <a:solidFill>
                  <a:srgbClr val="C00000"/>
                </a:solidFill>
                <a:latin typeface="Times New Roman" pitchFamily="18" charset="0"/>
                <a:cs typeface="Times New Roman" pitchFamily="18" charset="0"/>
              </a:rPr>
              <a:t>Conditions: </a:t>
            </a:r>
            <a:r>
              <a:rPr lang="en-US" sz="2400" dirty="0">
                <a:latin typeface="Times New Roman" pitchFamily="18" charset="0"/>
                <a:cs typeface="Times New Roman" pitchFamily="18" charset="0"/>
              </a:rPr>
              <a:t>Temperature range </a:t>
            </a:r>
            <a:r>
              <a:rPr lang="en-US" sz="2400" dirty="0" smtClean="0">
                <a:latin typeface="Times New Roman" pitchFamily="18" charset="0"/>
                <a:cs typeface="Times New Roman" pitchFamily="18" charset="0"/>
              </a:rPr>
              <a:t>450–750 °C</a:t>
            </a:r>
            <a:r>
              <a:rPr lang="en-US" sz="2400" dirty="0">
                <a:latin typeface="Times New Roman" pitchFamily="18" charset="0"/>
                <a:cs typeface="Times New Roman" pitchFamily="18" charset="0"/>
              </a:rPr>
              <a:t>, pressure 70–7000 </a:t>
            </a:r>
            <a:r>
              <a:rPr lang="en-US" sz="2400" dirty="0" smtClean="0">
                <a:latin typeface="Times New Roman" pitchFamily="18" charset="0"/>
                <a:cs typeface="Times New Roman" pitchFamily="18" charset="0"/>
              </a:rPr>
              <a:t>kPa.</a:t>
            </a:r>
          </a:p>
          <a:p>
            <a:pPr marL="342900" indent="-342900" algn="just">
              <a:buFont typeface="Arial" pitchFamily="34" charset="0"/>
              <a:buChar char="•"/>
            </a:pPr>
            <a:r>
              <a:rPr lang="en-US" sz="2400" b="1" dirty="0" smtClean="0">
                <a:solidFill>
                  <a:srgbClr val="C00000"/>
                </a:solidFill>
                <a:latin typeface="Times New Roman" pitchFamily="18" charset="0"/>
                <a:cs typeface="Times New Roman" pitchFamily="18" charset="0"/>
              </a:rPr>
              <a:t>Products</a:t>
            </a:r>
            <a:r>
              <a:rPr lang="en-US" sz="2400" b="1"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Alkenes (ethylene, propylene, butylene) and some gasoline. </a:t>
            </a:r>
            <a:endParaRPr lang="en-US" sz="2400" dirty="0" smtClean="0">
              <a:latin typeface="Times New Roman" pitchFamily="18" charset="0"/>
              <a:cs typeface="Times New Roman" pitchFamily="18" charset="0"/>
            </a:endParaRPr>
          </a:p>
          <a:p>
            <a:pPr algn="just"/>
            <a:r>
              <a:rPr lang="en-US" sz="2400" b="1" dirty="0" smtClean="0">
                <a:solidFill>
                  <a:srgbClr val="C00000"/>
                </a:solidFill>
                <a:latin typeface="Times New Roman" pitchFamily="18" charset="0"/>
                <a:cs typeface="Times New Roman" pitchFamily="18" charset="0"/>
              </a:rPr>
              <a:t>Types</a:t>
            </a:r>
            <a:r>
              <a:rPr lang="en-US" sz="2400" b="1" dirty="0">
                <a:solidFill>
                  <a:srgbClr val="C00000"/>
                </a:solidFill>
                <a:latin typeface="Times New Roman" pitchFamily="18" charset="0"/>
                <a:cs typeface="Times New Roman" pitchFamily="18" charset="0"/>
              </a:rPr>
              <a:t>:</a:t>
            </a:r>
          </a:p>
          <a:p>
            <a:pPr marL="342900" indent="-342900" algn="just">
              <a:buFont typeface="Arial" pitchFamily="34" charset="0"/>
              <a:buChar char="•"/>
            </a:pPr>
            <a:r>
              <a:rPr lang="en-US" sz="2400" b="1" dirty="0">
                <a:solidFill>
                  <a:srgbClr val="0070C0"/>
                </a:solidFill>
                <a:latin typeface="Times New Roman" pitchFamily="18" charset="0"/>
                <a:cs typeface="Times New Roman" pitchFamily="18" charset="0"/>
              </a:rPr>
              <a:t>Liquid Phase Thermal Cracking: </a:t>
            </a:r>
            <a:r>
              <a:rPr lang="en-US" sz="2400" dirty="0">
                <a:latin typeface="Times New Roman" pitchFamily="18" charset="0"/>
                <a:cs typeface="Times New Roman" pitchFamily="18" charset="0"/>
              </a:rPr>
              <a:t>High pressure, moderate temperature; produces </a:t>
            </a:r>
            <a:r>
              <a:rPr lang="en-US" sz="2400" dirty="0" smtClean="0">
                <a:latin typeface="Times New Roman" pitchFamily="18" charset="0"/>
                <a:cs typeface="Times New Roman" pitchFamily="18" charset="0"/>
              </a:rPr>
              <a:t>gasoline.</a:t>
            </a:r>
          </a:p>
          <a:p>
            <a:pPr marL="342900" indent="-342900" algn="just">
              <a:buFont typeface="Arial" pitchFamily="34" charset="0"/>
              <a:buChar char="•"/>
            </a:pPr>
            <a:r>
              <a:rPr lang="en-US" sz="2400" b="1" dirty="0" smtClean="0">
                <a:solidFill>
                  <a:srgbClr val="0070C0"/>
                </a:solidFill>
                <a:latin typeface="Times New Roman" pitchFamily="18" charset="0"/>
                <a:cs typeface="Times New Roman" pitchFamily="18" charset="0"/>
              </a:rPr>
              <a:t>Vapor </a:t>
            </a:r>
            <a:r>
              <a:rPr lang="en-US" sz="2400" b="1" dirty="0">
                <a:solidFill>
                  <a:srgbClr val="0070C0"/>
                </a:solidFill>
                <a:latin typeface="Times New Roman" pitchFamily="18" charset="0"/>
                <a:cs typeface="Times New Roman" pitchFamily="18" charset="0"/>
              </a:rPr>
              <a:t>Phase Thermal Cracking: </a:t>
            </a:r>
            <a:r>
              <a:rPr lang="en-US" sz="2400" dirty="0">
                <a:latin typeface="Times New Roman" pitchFamily="18" charset="0"/>
                <a:cs typeface="Times New Roman" pitchFamily="18" charset="0"/>
              </a:rPr>
              <a:t>High temperature, lower pressure; produces olefins and light oils.</a:t>
            </a:r>
          </a:p>
        </p:txBody>
      </p:sp>
      <p:sp>
        <p:nvSpPr>
          <p:cNvPr id="3" name="Rectangle 2"/>
          <p:cNvSpPr/>
          <p:nvPr/>
        </p:nvSpPr>
        <p:spPr>
          <a:xfrm>
            <a:off x="4704663" y="76200"/>
            <a:ext cx="3392275" cy="584775"/>
          </a:xfrm>
          <a:prstGeom prst="rect">
            <a:avLst/>
          </a:prstGeom>
        </p:spPr>
        <p:txBody>
          <a:bodyPr wrap="none">
            <a:spAutoFit/>
          </a:bodyPr>
          <a:lstStyle/>
          <a:p>
            <a:pPr algn="just"/>
            <a:r>
              <a:rPr lang="en-US" sz="3200" b="1" dirty="0">
                <a:solidFill>
                  <a:srgbClr val="C00000"/>
                </a:solidFill>
                <a:latin typeface="Times New Roman" pitchFamily="18" charset="0"/>
                <a:cs typeface="Times New Roman" pitchFamily="18" charset="0"/>
              </a:rPr>
              <a:t>Types of Cracking</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889456"/>
            <a:ext cx="4876800" cy="5282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29506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920889"/>
            <a:ext cx="12344400" cy="5693866"/>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In this method, breaking </a:t>
            </a:r>
            <a:r>
              <a:rPr lang="en-US" sz="2400" dirty="0">
                <a:latin typeface="Times New Roman" pitchFamily="18" charset="0"/>
                <a:cs typeface="Times New Roman" pitchFamily="18" charset="0"/>
              </a:rPr>
              <a:t>down </a:t>
            </a:r>
            <a:r>
              <a:rPr lang="en-US" sz="2400" dirty="0" smtClean="0">
                <a:latin typeface="Times New Roman" pitchFamily="18" charset="0"/>
                <a:cs typeface="Times New Roman" pitchFamily="18" charset="0"/>
              </a:rPr>
              <a:t>of hydrocarbons </a:t>
            </a:r>
            <a:r>
              <a:rPr lang="en-US" sz="2400" dirty="0">
                <a:latin typeface="Times New Roman" pitchFamily="18" charset="0"/>
                <a:cs typeface="Times New Roman" pitchFamily="18" charset="0"/>
              </a:rPr>
              <a:t>in the presence of a catalyst </a:t>
            </a:r>
            <a:r>
              <a:rPr lang="en-US" sz="2400" dirty="0" smtClean="0">
                <a:latin typeface="Times New Roman" pitchFamily="18" charset="0"/>
                <a:cs typeface="Times New Roman" pitchFamily="18" charset="0"/>
              </a:rPr>
              <a:t>(zeolites</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alumino- silicates</a:t>
            </a:r>
            <a:r>
              <a:rPr lang="en-US" sz="2400" dirty="0">
                <a:latin typeface="Times New Roman" pitchFamily="18" charset="0"/>
                <a:cs typeface="Times New Roman" pitchFamily="18" charset="0"/>
              </a:rPr>
              <a:t>) at lower temperatures than thermal </a:t>
            </a:r>
            <a:r>
              <a:rPr lang="en-US" sz="2400" dirty="0" smtClean="0">
                <a:latin typeface="Times New Roman" pitchFamily="18" charset="0"/>
                <a:cs typeface="Times New Roman" pitchFamily="18" charset="0"/>
              </a:rPr>
              <a:t>cracking.</a:t>
            </a:r>
            <a:endParaRPr lang="en-US" sz="2400" dirty="0">
              <a:latin typeface="Times New Roman" pitchFamily="18" charset="0"/>
              <a:cs typeface="Times New Roman" pitchFamily="18" charset="0"/>
            </a:endParaRPr>
          </a:p>
          <a:p>
            <a:pPr lvl="2" algn="ctr"/>
            <a:r>
              <a:rPr lang="en-US" sz="2800" b="1" dirty="0" smtClean="0">
                <a:solidFill>
                  <a:srgbClr val="C00000"/>
                </a:solidFill>
                <a:latin typeface="Times New Roman" pitchFamily="18" charset="0"/>
                <a:cs typeface="Times New Roman" pitchFamily="18" charset="0"/>
              </a:rPr>
              <a:t>Moving </a:t>
            </a:r>
            <a:r>
              <a:rPr lang="en-US" sz="2800" b="1" dirty="0">
                <a:solidFill>
                  <a:srgbClr val="C00000"/>
                </a:solidFill>
                <a:latin typeface="Times New Roman" pitchFamily="18" charset="0"/>
                <a:cs typeface="Times New Roman" pitchFamily="18" charset="0"/>
              </a:rPr>
              <a:t>Bed Catalytic Cracking (MBCC</a:t>
            </a:r>
            <a:r>
              <a:rPr lang="en-US" sz="2800" b="1" dirty="0" smtClean="0">
                <a:solidFill>
                  <a:srgbClr val="C00000"/>
                </a:solidFill>
                <a:latin typeface="Times New Roman" pitchFamily="18" charset="0"/>
                <a:cs typeface="Times New Roman" pitchFamily="18" charset="0"/>
              </a:rPr>
              <a:t>)</a:t>
            </a:r>
          </a:p>
          <a:p>
            <a:pPr lvl="2" algn="ctr"/>
            <a:endParaRPr lang="en-US" sz="2400" b="1" dirty="0" smtClean="0">
              <a:solidFill>
                <a:srgbClr val="C00000"/>
              </a:solidFill>
              <a:latin typeface="Times New Roman" pitchFamily="18" charset="0"/>
              <a:cs typeface="Times New Roman" pitchFamily="18" charset="0"/>
            </a:endParaRPr>
          </a:p>
          <a:p>
            <a:pPr marL="342900" lvl="2" indent="-342900" algn="just">
              <a:buFont typeface="Wingdings" pitchFamily="2" charset="2"/>
              <a:buChar char="v"/>
            </a:pPr>
            <a:r>
              <a:rPr lang="en-US" sz="2400" dirty="0"/>
              <a:t>Moving Bed Catalytic Cracking (MBCC) is a process used in petroleum refineries to convert heavy hydrocarbon fractions (like vacuum gas oil) into more valuable lighter products such as gasoline, LPG, olefins, and middle distillates. </a:t>
            </a:r>
            <a:endParaRPr lang="en-US" sz="2400" dirty="0" smtClean="0"/>
          </a:p>
          <a:p>
            <a:pPr algn="just"/>
            <a:r>
              <a:rPr lang="en-US" sz="2400" b="1" dirty="0" smtClean="0">
                <a:solidFill>
                  <a:srgbClr val="C00000"/>
                </a:solidFill>
                <a:latin typeface="Times New Roman" pitchFamily="18" charset="0"/>
                <a:cs typeface="Times New Roman" pitchFamily="18" charset="0"/>
              </a:rPr>
              <a:t>Principle </a:t>
            </a:r>
            <a:r>
              <a:rPr lang="en-US" sz="2400" b="1" dirty="0">
                <a:solidFill>
                  <a:srgbClr val="C00000"/>
                </a:solidFill>
                <a:latin typeface="Times New Roman" pitchFamily="18" charset="0"/>
                <a:cs typeface="Times New Roman" pitchFamily="18" charset="0"/>
              </a:rPr>
              <a:t>of Moving Bed Catalytic Cracking: </a:t>
            </a:r>
          </a:p>
          <a:p>
            <a:pPr marL="342900" indent="-342900" algn="just">
              <a:buFont typeface="Wingdings" pitchFamily="2" charset="2"/>
              <a:buChar char="v"/>
            </a:pPr>
            <a:r>
              <a:rPr lang="en-US" sz="2400" dirty="0">
                <a:latin typeface="Times New Roman" pitchFamily="18" charset="0"/>
                <a:cs typeface="Times New Roman" pitchFamily="18" charset="0"/>
              </a:rPr>
              <a:t>The process is based on catalytic cracking, where high-molecular-weight hydrocarbons are broken down into smaller hydrocarbons in the presence of a solid acid catalyst (commonly zeolites). </a:t>
            </a:r>
          </a:p>
          <a:p>
            <a:pPr marL="342900" indent="-342900" algn="just">
              <a:buFont typeface="Wingdings" pitchFamily="2" charset="2"/>
              <a:buChar char="v"/>
            </a:pPr>
            <a:r>
              <a:rPr lang="en-US" sz="2400" dirty="0">
                <a:latin typeface="Times New Roman" pitchFamily="18" charset="0"/>
                <a:cs typeface="Times New Roman" pitchFamily="18" charset="0"/>
              </a:rPr>
              <a:t>In MBCC, the catalyst is in the form of small pellets or beads that move downwards by gravity through the reactor and regenerator. </a:t>
            </a:r>
          </a:p>
          <a:p>
            <a:pPr marL="342900" indent="-342900" algn="just">
              <a:buFont typeface="Wingdings" pitchFamily="2" charset="2"/>
              <a:buChar char="v"/>
            </a:pPr>
            <a:r>
              <a:rPr lang="en-US" sz="2400" dirty="0">
                <a:latin typeface="Times New Roman" pitchFamily="18" charset="0"/>
                <a:cs typeface="Times New Roman" pitchFamily="18" charset="0"/>
              </a:rPr>
              <a:t>This movement allows continuous catalyst circulation, maintaining high activity and preventing deactivation due to coke deposits</a:t>
            </a:r>
            <a:r>
              <a:rPr lang="en-US" sz="2400" dirty="0" smtClean="0">
                <a:latin typeface="Times New Roman" pitchFamily="18" charset="0"/>
                <a:cs typeface="Times New Roman" pitchFamily="18" charset="0"/>
              </a:rPr>
              <a:t>.</a:t>
            </a:r>
            <a:endParaRPr lang="en-US" sz="2400" b="1" dirty="0"/>
          </a:p>
        </p:txBody>
      </p:sp>
      <p:sp>
        <p:nvSpPr>
          <p:cNvPr id="3" name="Rectangle 2"/>
          <p:cNvSpPr/>
          <p:nvPr/>
        </p:nvSpPr>
        <p:spPr>
          <a:xfrm>
            <a:off x="4038600" y="228600"/>
            <a:ext cx="4532010" cy="646331"/>
          </a:xfrm>
          <a:prstGeom prst="rect">
            <a:avLst/>
          </a:prstGeom>
        </p:spPr>
        <p:txBody>
          <a:bodyPr wrap="none">
            <a:spAutoFit/>
          </a:bodyPr>
          <a:lstStyle/>
          <a:p>
            <a:r>
              <a:rPr lang="en-US" sz="3600" b="1" dirty="0" smtClean="0">
                <a:solidFill>
                  <a:srgbClr val="C00000"/>
                </a:solidFill>
                <a:latin typeface="Times New Roman" pitchFamily="18" charset="0"/>
                <a:cs typeface="Times New Roman" pitchFamily="18" charset="0"/>
              </a:rPr>
              <a:t>II. Catalytic </a:t>
            </a:r>
            <a:r>
              <a:rPr lang="en-US" sz="3600" b="1" dirty="0">
                <a:solidFill>
                  <a:srgbClr val="C00000"/>
                </a:solidFill>
                <a:latin typeface="Times New Roman" pitchFamily="18" charset="0"/>
                <a:cs typeface="Times New Roman" pitchFamily="18" charset="0"/>
              </a:rPr>
              <a:t>Cracking</a:t>
            </a:r>
          </a:p>
        </p:txBody>
      </p:sp>
    </p:spTree>
    <p:extLst>
      <p:ext uri="{BB962C8B-B14F-4D97-AF65-F5344CB8AC3E}">
        <p14:creationId xmlns:p14="http://schemas.microsoft.com/office/powerpoint/2010/main" val="25366200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429697"/>
            <a:ext cx="12420600" cy="5755422"/>
          </a:xfrm>
          <a:prstGeom prst="rect">
            <a:avLst/>
          </a:prstGeom>
        </p:spPr>
        <p:txBody>
          <a:bodyPr wrap="square">
            <a:spAutoFit/>
          </a:bodyPr>
          <a:lstStyle/>
          <a:p>
            <a:pPr algn="just"/>
            <a:r>
              <a:rPr lang="en-US" sz="2800" b="1" dirty="0" smtClean="0">
                <a:solidFill>
                  <a:srgbClr val="C00000"/>
                </a:solidFill>
                <a:latin typeface="Times New Roman" pitchFamily="18" charset="0"/>
                <a:cs typeface="Times New Roman" pitchFamily="18" charset="0"/>
              </a:rPr>
              <a:t>Process </a:t>
            </a:r>
            <a:r>
              <a:rPr lang="en-US" sz="2800" b="1" dirty="0">
                <a:solidFill>
                  <a:srgbClr val="C00000"/>
                </a:solidFill>
                <a:latin typeface="Times New Roman" pitchFamily="18" charset="0"/>
                <a:cs typeface="Times New Roman" pitchFamily="18" charset="0"/>
              </a:rPr>
              <a:t>Description</a:t>
            </a:r>
            <a:r>
              <a:rPr lang="en-US" sz="2800" b="1" dirty="0" smtClean="0">
                <a:solidFill>
                  <a:srgbClr val="C00000"/>
                </a:solidFill>
                <a:latin typeface="Times New Roman" pitchFamily="18" charset="0"/>
                <a:cs typeface="Times New Roman" pitchFamily="18" charset="0"/>
              </a:rPr>
              <a:t>:</a:t>
            </a:r>
          </a:p>
          <a:p>
            <a:pPr algn="just"/>
            <a:endParaRPr lang="en-US" sz="2800" b="1" dirty="0">
              <a:solidFill>
                <a:srgbClr val="C00000"/>
              </a:solidFill>
              <a:latin typeface="Times New Roman" pitchFamily="18" charset="0"/>
              <a:cs typeface="Times New Roman" pitchFamily="18" charset="0"/>
            </a:endParaRPr>
          </a:p>
          <a:p>
            <a:pPr marL="457200" indent="-457200" algn="just">
              <a:buAutoNum type="arabicPeriod"/>
            </a:pPr>
            <a:r>
              <a:rPr lang="en-US" sz="2400" b="1" dirty="0" smtClean="0">
                <a:solidFill>
                  <a:srgbClr val="002060"/>
                </a:solidFill>
                <a:latin typeface="Times New Roman" pitchFamily="18" charset="0"/>
                <a:cs typeface="Times New Roman" pitchFamily="18" charset="0"/>
              </a:rPr>
              <a:t>Feed Introduction: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heavy hydrocarbon feed (gas oil, vacuum gas oil, etc.) is preheated and fed into the </a:t>
            </a:r>
            <a:r>
              <a:rPr lang="en-US" sz="2400" dirty="0" smtClean="0">
                <a:latin typeface="Times New Roman" pitchFamily="18" charset="0"/>
                <a:cs typeface="Times New Roman" pitchFamily="18" charset="0"/>
              </a:rPr>
              <a:t>reactor.</a:t>
            </a:r>
          </a:p>
          <a:p>
            <a:pPr marL="457200" indent="-457200" algn="just">
              <a:buAutoNum type="arabicPeriod"/>
            </a:pPr>
            <a:endParaRPr lang="en-US" sz="2400" b="1" dirty="0">
              <a:solidFill>
                <a:srgbClr val="002060"/>
              </a:solidFill>
              <a:latin typeface="Times New Roman" pitchFamily="18" charset="0"/>
              <a:cs typeface="Times New Roman" pitchFamily="18" charset="0"/>
            </a:endParaRPr>
          </a:p>
          <a:p>
            <a:pPr marL="457200" indent="-457200" algn="just">
              <a:buAutoNum type="arabicPeriod"/>
            </a:pPr>
            <a:r>
              <a:rPr lang="en-US" sz="2400" b="1" dirty="0" smtClean="0">
                <a:solidFill>
                  <a:srgbClr val="002060"/>
                </a:solidFill>
                <a:latin typeface="Times New Roman" pitchFamily="18" charset="0"/>
                <a:cs typeface="Times New Roman" pitchFamily="18" charset="0"/>
              </a:rPr>
              <a:t>Cracking Reaction: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feed contacts the moving bed of hot catalyst (typically 500–550 °C</a:t>
            </a:r>
            <a:r>
              <a:rPr lang="en-US" sz="2400" dirty="0" smtClean="0">
                <a:latin typeface="Times New Roman" pitchFamily="18" charset="0"/>
                <a:cs typeface="Times New Roman" pitchFamily="18" charset="0"/>
              </a:rPr>
              <a:t>).</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Large </a:t>
            </a:r>
            <a:r>
              <a:rPr lang="en-US" sz="2400" dirty="0">
                <a:latin typeface="Times New Roman" pitchFamily="18" charset="0"/>
                <a:cs typeface="Times New Roman" pitchFamily="18" charset="0"/>
              </a:rPr>
              <a:t>hydrocarbon molecules crack into smaller ones like gasoline (C5–C12), LPG (C3–C4), olefins, and cycle </a:t>
            </a:r>
            <a:r>
              <a:rPr lang="en-US" sz="2400" dirty="0" smtClean="0">
                <a:latin typeface="Times New Roman" pitchFamily="18" charset="0"/>
                <a:cs typeface="Times New Roman" pitchFamily="18" charset="0"/>
              </a:rPr>
              <a:t>oils. Coke </a:t>
            </a:r>
            <a:r>
              <a:rPr lang="en-US" sz="2400" dirty="0">
                <a:latin typeface="Times New Roman" pitchFamily="18" charset="0"/>
                <a:cs typeface="Times New Roman" pitchFamily="18" charset="0"/>
              </a:rPr>
              <a:t>is simultaneously deposited on the catalyst surface, deactivating </a:t>
            </a:r>
            <a:r>
              <a:rPr lang="en-US" sz="2400" dirty="0" smtClean="0">
                <a:latin typeface="Times New Roman" pitchFamily="18" charset="0"/>
                <a:cs typeface="Times New Roman" pitchFamily="18" charset="0"/>
              </a:rPr>
              <a:t>it.</a:t>
            </a:r>
          </a:p>
          <a:p>
            <a:pPr marL="457200" indent="-457200" algn="just">
              <a:buAutoNum type="arabicPeriod"/>
            </a:pPr>
            <a:endParaRPr lang="en-US" sz="2400" b="1" dirty="0">
              <a:solidFill>
                <a:srgbClr val="002060"/>
              </a:solidFill>
              <a:latin typeface="Times New Roman" pitchFamily="18" charset="0"/>
              <a:cs typeface="Times New Roman" pitchFamily="18" charset="0"/>
            </a:endParaRPr>
          </a:p>
          <a:p>
            <a:pPr marL="457200" indent="-457200" algn="just">
              <a:buAutoNum type="arabicPeriod"/>
            </a:pPr>
            <a:r>
              <a:rPr lang="en-US" sz="2400" b="1" dirty="0" smtClean="0">
                <a:solidFill>
                  <a:srgbClr val="002060"/>
                </a:solidFill>
                <a:latin typeface="Times New Roman" pitchFamily="18" charset="0"/>
                <a:cs typeface="Times New Roman" pitchFamily="18" charset="0"/>
              </a:rPr>
              <a:t>Catalyst </a:t>
            </a:r>
            <a:r>
              <a:rPr lang="en-US" sz="2400" b="1" dirty="0">
                <a:solidFill>
                  <a:srgbClr val="002060"/>
                </a:solidFill>
                <a:latin typeface="Times New Roman" pitchFamily="18" charset="0"/>
                <a:cs typeface="Times New Roman" pitchFamily="18" charset="0"/>
              </a:rPr>
              <a:t>Withdrawal: </a:t>
            </a:r>
            <a:r>
              <a:rPr lang="en-US" sz="2400" dirty="0">
                <a:latin typeface="Times New Roman" pitchFamily="18" charset="0"/>
                <a:cs typeface="Times New Roman" pitchFamily="18" charset="0"/>
              </a:rPr>
              <a:t>The coked catalyst is withdrawn from the reactor bottom. Fresh or regenerated catalyst enters the top, ensuring continuous </a:t>
            </a:r>
            <a:r>
              <a:rPr lang="en-US" sz="2400" dirty="0" smtClean="0">
                <a:latin typeface="Times New Roman" pitchFamily="18" charset="0"/>
                <a:cs typeface="Times New Roman" pitchFamily="18" charset="0"/>
              </a:rPr>
              <a:t>movement.</a:t>
            </a:r>
          </a:p>
          <a:p>
            <a:pPr marL="457200" indent="-457200" algn="just">
              <a:buAutoNum type="arabicPeriod"/>
            </a:pPr>
            <a:endParaRPr lang="en-US" sz="2400" b="1" dirty="0">
              <a:solidFill>
                <a:srgbClr val="002060"/>
              </a:solidFill>
              <a:latin typeface="Times New Roman" pitchFamily="18" charset="0"/>
              <a:cs typeface="Times New Roman" pitchFamily="18" charset="0"/>
            </a:endParaRPr>
          </a:p>
          <a:p>
            <a:pPr marL="457200" indent="-457200" algn="just">
              <a:buAutoNum type="arabicPeriod"/>
            </a:pPr>
            <a:r>
              <a:rPr lang="en-US" sz="2400" b="1" dirty="0" smtClean="0">
                <a:solidFill>
                  <a:srgbClr val="002060"/>
                </a:solidFill>
                <a:latin typeface="Times New Roman" pitchFamily="18" charset="0"/>
                <a:cs typeface="Times New Roman" pitchFamily="18" charset="0"/>
              </a:rPr>
              <a:t>Regeneration</a:t>
            </a:r>
            <a:r>
              <a:rPr lang="en-US" sz="2400" b="1" dirty="0">
                <a:solidFill>
                  <a:srgbClr val="002060"/>
                </a:solidFill>
                <a:latin typeface="Times New Roman" pitchFamily="18" charset="0"/>
                <a:cs typeface="Times New Roman" pitchFamily="18" charset="0"/>
              </a:rPr>
              <a:t>: </a:t>
            </a:r>
            <a:r>
              <a:rPr lang="en-US" sz="2400" dirty="0">
                <a:latin typeface="Times New Roman" pitchFamily="18" charset="0"/>
                <a:cs typeface="Times New Roman" pitchFamily="18" charset="0"/>
              </a:rPr>
              <a:t>The coked catalyst is transported to a regenerator. Coke is burned off in the presence of air, restoring the catalyst’s activity. The regenerated hot catalyst is then recycled back to the reactor</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2512190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304800"/>
            <a:ext cx="3200400" cy="5262979"/>
          </a:xfrm>
          <a:prstGeom prst="rect">
            <a:avLst/>
          </a:prstGeom>
        </p:spPr>
        <p:txBody>
          <a:bodyPr wrap="square">
            <a:spAutoFit/>
          </a:bodyPr>
          <a:lstStyle/>
          <a:p>
            <a:pPr marL="457200" indent="-457200" algn="just">
              <a:buFont typeface="+mj-lt"/>
              <a:buAutoNum type="arabicPeriod" startAt="3"/>
            </a:pPr>
            <a:r>
              <a:rPr lang="en-US" sz="2400" b="1" dirty="0" smtClean="0">
                <a:solidFill>
                  <a:srgbClr val="002060"/>
                </a:solidFill>
                <a:latin typeface="Times New Roman" pitchFamily="18" charset="0"/>
                <a:cs typeface="Times New Roman" pitchFamily="18" charset="0"/>
              </a:rPr>
              <a:t>Advantages </a:t>
            </a:r>
            <a:r>
              <a:rPr lang="en-US" sz="2400" b="1" dirty="0">
                <a:solidFill>
                  <a:srgbClr val="002060"/>
                </a:solidFill>
                <a:latin typeface="Times New Roman" pitchFamily="18" charset="0"/>
                <a:cs typeface="Times New Roman" pitchFamily="18" charset="0"/>
              </a:rPr>
              <a:t>of </a:t>
            </a:r>
            <a:r>
              <a:rPr lang="en-US" sz="2400" b="1" dirty="0" smtClean="0">
                <a:solidFill>
                  <a:srgbClr val="002060"/>
                </a:solidFill>
                <a:latin typeface="Times New Roman" pitchFamily="18" charset="0"/>
                <a:cs typeface="Times New Roman" pitchFamily="18" charset="0"/>
              </a:rPr>
              <a:t>MBCC:</a:t>
            </a:r>
          </a:p>
          <a:p>
            <a:pPr marL="752475" indent="-342900" algn="just">
              <a:buFont typeface="Arial" pitchFamily="34" charset="0"/>
              <a:buChar char="•"/>
            </a:pPr>
            <a:r>
              <a:rPr lang="en-US" sz="2400" dirty="0" smtClean="0">
                <a:latin typeface="Times New Roman" pitchFamily="18" charset="0"/>
                <a:cs typeface="Times New Roman" pitchFamily="18" charset="0"/>
              </a:rPr>
              <a:t>Continuous </a:t>
            </a:r>
            <a:r>
              <a:rPr lang="en-US" sz="2400" dirty="0">
                <a:latin typeface="Times New Roman" pitchFamily="18" charset="0"/>
                <a:cs typeface="Times New Roman" pitchFamily="18" charset="0"/>
              </a:rPr>
              <a:t>operation with steady catalyst </a:t>
            </a:r>
            <a:r>
              <a:rPr lang="en-US" sz="2400" dirty="0" smtClean="0">
                <a:latin typeface="Times New Roman" pitchFamily="18" charset="0"/>
                <a:cs typeface="Times New Roman" pitchFamily="18" charset="0"/>
              </a:rPr>
              <a:t>activity.</a:t>
            </a:r>
          </a:p>
          <a:p>
            <a:pPr marL="752475" indent="-342900" algn="just">
              <a:buFont typeface="Arial" pitchFamily="34" charset="0"/>
              <a:buChar char="•"/>
            </a:pPr>
            <a:r>
              <a:rPr lang="en-US" sz="2400" dirty="0" smtClean="0">
                <a:latin typeface="Times New Roman" pitchFamily="18" charset="0"/>
                <a:cs typeface="Times New Roman" pitchFamily="18" charset="0"/>
              </a:rPr>
              <a:t>Simpler </a:t>
            </a:r>
            <a:r>
              <a:rPr lang="en-US" sz="2400" dirty="0">
                <a:latin typeface="Times New Roman" pitchFamily="18" charset="0"/>
                <a:cs typeface="Times New Roman" pitchFamily="18" charset="0"/>
              </a:rPr>
              <a:t>mechanical </a:t>
            </a:r>
            <a:r>
              <a:rPr lang="en-US" sz="2400" dirty="0" smtClean="0">
                <a:latin typeface="Times New Roman" pitchFamily="18" charset="0"/>
                <a:cs typeface="Times New Roman" pitchFamily="18" charset="0"/>
              </a:rPr>
              <a:t>design.</a:t>
            </a:r>
          </a:p>
          <a:p>
            <a:pPr marL="752475" indent="-342900" algn="just">
              <a:buFont typeface="Arial" pitchFamily="34" charset="0"/>
              <a:buChar char="•"/>
            </a:pPr>
            <a:r>
              <a:rPr lang="en-US" sz="2400" dirty="0" smtClean="0">
                <a:latin typeface="Times New Roman" pitchFamily="18" charset="0"/>
                <a:cs typeface="Times New Roman" pitchFamily="18" charset="0"/>
              </a:rPr>
              <a:t>Lower </a:t>
            </a:r>
            <a:r>
              <a:rPr lang="en-US" sz="2400" dirty="0">
                <a:latin typeface="Times New Roman" pitchFamily="18" charset="0"/>
                <a:cs typeface="Times New Roman" pitchFamily="18" charset="0"/>
              </a:rPr>
              <a:t>catalyst </a:t>
            </a:r>
            <a:r>
              <a:rPr lang="en-US" sz="2400" dirty="0" smtClean="0">
                <a:latin typeface="Times New Roman" pitchFamily="18" charset="0"/>
                <a:cs typeface="Times New Roman" pitchFamily="18" charset="0"/>
              </a:rPr>
              <a:t>attrition</a:t>
            </a:r>
          </a:p>
          <a:p>
            <a:pPr marL="752475" indent="-342900" algn="just">
              <a:buFont typeface="Arial" pitchFamily="34" charset="0"/>
              <a:buChar char="•"/>
            </a:pPr>
            <a:r>
              <a:rPr lang="en-US" sz="2400" dirty="0" smtClean="0">
                <a:latin typeface="Times New Roman" pitchFamily="18" charset="0"/>
                <a:cs typeface="Times New Roman" pitchFamily="18" charset="0"/>
              </a:rPr>
              <a:t>Good </a:t>
            </a:r>
            <a:r>
              <a:rPr lang="en-US" sz="2400" dirty="0">
                <a:latin typeface="Times New Roman" pitchFamily="18" charset="0"/>
                <a:cs typeface="Times New Roman" pitchFamily="18" charset="0"/>
              </a:rPr>
              <a:t>control of residence time of catalyst and feed</a:t>
            </a:r>
            <a:endParaRPr lang="en-US" sz="2400"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304800"/>
            <a:ext cx="882015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85491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12584143"/>
              </p:ext>
            </p:extLst>
          </p:nvPr>
        </p:nvGraphicFramePr>
        <p:xfrm>
          <a:off x="304800" y="848741"/>
          <a:ext cx="12268200" cy="5552059"/>
        </p:xfrm>
        <a:graphic>
          <a:graphicData uri="http://schemas.openxmlformats.org/drawingml/2006/table">
            <a:tbl>
              <a:tblPr firstRow="1" firstCol="1" bandRow="1">
                <a:tableStyleId>{5C22544A-7EE6-4342-B048-85BDC9FD1C3A}</a:tableStyleId>
              </a:tblPr>
              <a:tblGrid>
                <a:gridCol w="1828800"/>
                <a:gridCol w="5562600"/>
                <a:gridCol w="4876800"/>
              </a:tblGrid>
              <a:tr h="362077">
                <a:tc>
                  <a:txBody>
                    <a:bodyPr/>
                    <a:lstStyle/>
                    <a:p>
                      <a:pPr marL="0" marR="0" algn="l">
                        <a:lnSpc>
                          <a:spcPct val="150000"/>
                        </a:lnSpc>
                        <a:spcBef>
                          <a:spcPts val="0"/>
                        </a:spcBef>
                        <a:spcAft>
                          <a:spcPts val="0"/>
                        </a:spcAft>
                      </a:pPr>
                      <a:r>
                        <a:rPr lang="en-US" sz="2000" dirty="0">
                          <a:effectLst/>
                          <a:latin typeface="Times New Roman" pitchFamily="18" charset="0"/>
                          <a:cs typeface="Times New Roman" pitchFamily="18" charset="0"/>
                        </a:rPr>
                        <a:t>Feature</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gn="ctr">
                        <a:lnSpc>
                          <a:spcPct val="150000"/>
                        </a:lnSpc>
                        <a:spcBef>
                          <a:spcPts val="0"/>
                        </a:spcBef>
                        <a:spcAft>
                          <a:spcPts val="0"/>
                        </a:spcAft>
                      </a:pPr>
                      <a:r>
                        <a:rPr lang="en-US" sz="2000">
                          <a:effectLst/>
                          <a:latin typeface="Times New Roman" pitchFamily="18" charset="0"/>
                          <a:cs typeface="Times New Roman" pitchFamily="18" charset="0"/>
                        </a:rPr>
                        <a:t>LPG (Liquefied Petroleum Gas)</a:t>
                      </a:r>
                      <a:endParaRPr lang="en-US" sz="2000">
                        <a:effectLst/>
                        <a:latin typeface="Times New Roman" pitchFamily="18" charset="0"/>
                        <a:ea typeface="MS Mincho"/>
                        <a:cs typeface="Times New Roman" pitchFamily="18" charset="0"/>
                      </a:endParaRPr>
                    </a:p>
                  </a:txBody>
                  <a:tcPr marL="64401" marR="64401" marT="0" marB="0"/>
                </a:tc>
                <a:tc>
                  <a:txBody>
                    <a:bodyPr/>
                    <a:lstStyle/>
                    <a:p>
                      <a:pPr marL="0" marR="0" algn="ctr">
                        <a:lnSpc>
                          <a:spcPct val="150000"/>
                        </a:lnSpc>
                        <a:spcBef>
                          <a:spcPts val="0"/>
                        </a:spcBef>
                        <a:spcAft>
                          <a:spcPts val="0"/>
                        </a:spcAft>
                      </a:pPr>
                      <a:r>
                        <a:rPr lang="en-US" sz="2000" dirty="0">
                          <a:effectLst/>
                          <a:latin typeface="Times New Roman" pitchFamily="18" charset="0"/>
                          <a:cs typeface="Times New Roman" pitchFamily="18" charset="0"/>
                        </a:rPr>
                        <a:t>CNG (Compressed Natural Gas</a:t>
                      </a:r>
                      <a:r>
                        <a:rPr lang="en-US" sz="2000" dirty="0" smtClean="0">
                          <a:effectLst/>
                          <a:latin typeface="Times New Roman" pitchFamily="18" charset="0"/>
                          <a:cs typeface="Times New Roman" pitchFamily="18" charset="0"/>
                        </a:rPr>
                        <a:t>)</a:t>
                      </a:r>
                    </a:p>
                    <a:p>
                      <a:pPr marL="0" marR="0" algn="ctr">
                        <a:lnSpc>
                          <a:spcPct val="150000"/>
                        </a:lnSpc>
                        <a:spcBef>
                          <a:spcPts val="0"/>
                        </a:spcBef>
                        <a:spcAft>
                          <a:spcPts val="0"/>
                        </a:spcAft>
                      </a:pPr>
                      <a:endParaRPr lang="en-US" sz="2000" dirty="0">
                        <a:effectLst/>
                        <a:latin typeface="Times New Roman" pitchFamily="18" charset="0"/>
                        <a:ea typeface="MS Mincho"/>
                        <a:cs typeface="Times New Roman" pitchFamily="18" charset="0"/>
                      </a:endParaRPr>
                    </a:p>
                  </a:txBody>
                  <a:tcPr marL="64401" marR="64401" marT="0" marB="0"/>
                </a:tc>
              </a:tr>
              <a:tr h="362077">
                <a:tc>
                  <a:txBody>
                    <a:bodyPr/>
                    <a:lstStyle/>
                    <a:p>
                      <a:pPr marL="0" marR="0" algn="l">
                        <a:lnSpc>
                          <a:spcPct val="115000"/>
                        </a:lnSpc>
                        <a:spcBef>
                          <a:spcPts val="0"/>
                        </a:spcBef>
                        <a:spcAft>
                          <a:spcPts val="0"/>
                        </a:spcAft>
                      </a:pPr>
                      <a:r>
                        <a:rPr lang="en-US" sz="2000" dirty="0" smtClean="0">
                          <a:effectLst/>
                          <a:latin typeface="Times New Roman" pitchFamily="18" charset="0"/>
                          <a:cs typeface="Times New Roman" pitchFamily="18" charset="0"/>
                        </a:rPr>
                        <a:t>Composition</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Propane (C₃H₈) and Butane (C₄H₁₀)</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Methane (CH₄) (85–95%)</a:t>
                      </a:r>
                      <a:endParaRPr lang="en-US" sz="2000" dirty="0">
                        <a:effectLst/>
                        <a:latin typeface="Times New Roman" pitchFamily="18" charset="0"/>
                        <a:ea typeface="MS Mincho"/>
                        <a:cs typeface="Times New Roman" pitchFamily="18" charset="0"/>
                      </a:endParaRPr>
                    </a:p>
                  </a:txBody>
                  <a:tcPr marL="64401" marR="64401" marT="0" marB="0"/>
                </a:tc>
              </a:tr>
              <a:tr h="362077">
                <a:tc>
                  <a:txBody>
                    <a:bodyPr/>
                    <a:lstStyle/>
                    <a:p>
                      <a:pPr marL="0" marR="0" algn="l">
                        <a:lnSpc>
                          <a:spcPct val="115000"/>
                        </a:lnSpc>
                        <a:spcBef>
                          <a:spcPts val="0"/>
                        </a:spcBef>
                        <a:spcAft>
                          <a:spcPts val="0"/>
                        </a:spcAft>
                      </a:pPr>
                      <a:r>
                        <a:rPr lang="en-US" sz="2000" dirty="0" smtClean="0">
                          <a:effectLst/>
                          <a:latin typeface="Times New Roman" pitchFamily="18" charset="0"/>
                          <a:cs typeface="Times New Roman" pitchFamily="18" charset="0"/>
                        </a:rPr>
                        <a:t>Storage</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Stored as a liquid </a:t>
                      </a:r>
                      <a:r>
                        <a:rPr lang="en-US" sz="2000" dirty="0" smtClean="0">
                          <a:effectLst/>
                          <a:latin typeface="Times New Roman" pitchFamily="18" charset="0"/>
                          <a:cs typeface="Times New Roman" pitchFamily="18" charset="0"/>
                        </a:rPr>
                        <a:t>under</a:t>
                      </a:r>
                      <a:r>
                        <a:rPr lang="en-US" sz="2000" baseline="0" dirty="0" smtClean="0">
                          <a:effectLst/>
                          <a:latin typeface="Times New Roman" pitchFamily="18" charset="0"/>
                          <a:cs typeface="Times New Roman" pitchFamily="18" charset="0"/>
                        </a:rPr>
                        <a:t> moderate pressure.</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Stored as a gas under high </a:t>
                      </a:r>
                      <a:r>
                        <a:rPr lang="en-US" sz="2000" dirty="0" smtClean="0">
                          <a:effectLst/>
                          <a:latin typeface="Times New Roman" pitchFamily="18" charset="0"/>
                          <a:cs typeface="Times New Roman" pitchFamily="18" charset="0"/>
                        </a:rPr>
                        <a:t>pressure</a:t>
                      </a:r>
                      <a:endParaRPr lang="en-US" sz="2000" dirty="0">
                        <a:effectLst/>
                        <a:latin typeface="Times New Roman" pitchFamily="18" charset="0"/>
                        <a:ea typeface="MS Mincho"/>
                        <a:cs typeface="Times New Roman" pitchFamily="18" charset="0"/>
                      </a:endParaRPr>
                    </a:p>
                  </a:txBody>
                  <a:tcPr marL="64401" marR="64401" marT="0" marB="0"/>
                </a:tc>
              </a:tr>
              <a:tr h="362077">
                <a:tc>
                  <a:txBody>
                    <a:bodyPr/>
                    <a:lstStyle/>
                    <a:p>
                      <a:pPr marL="0" marR="0" algn="l">
                        <a:lnSpc>
                          <a:spcPct val="115000"/>
                        </a:lnSpc>
                        <a:spcBef>
                          <a:spcPts val="0"/>
                        </a:spcBef>
                        <a:spcAft>
                          <a:spcPts val="0"/>
                        </a:spcAft>
                      </a:pPr>
                      <a:r>
                        <a:rPr lang="en-US" sz="2000">
                          <a:effectLst/>
                          <a:latin typeface="Times New Roman" pitchFamily="18" charset="0"/>
                          <a:cs typeface="Times New Roman" pitchFamily="18" charset="0"/>
                        </a:rPr>
                        <a:t>Calorific Value</a:t>
                      </a:r>
                      <a:endParaRPr lang="en-US" sz="200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~46–50 MJ/kg (higher)</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~48 MJ/kg </a:t>
                      </a:r>
                      <a:r>
                        <a:rPr lang="en-US" sz="2000" dirty="0" smtClean="0">
                          <a:effectLst/>
                          <a:latin typeface="Times New Roman" pitchFamily="18" charset="0"/>
                          <a:cs typeface="Times New Roman" pitchFamily="18" charset="0"/>
                        </a:rPr>
                        <a:t>(lower )</a:t>
                      </a:r>
                      <a:endParaRPr lang="en-US" sz="2000" dirty="0">
                        <a:effectLst/>
                        <a:latin typeface="Times New Roman" pitchFamily="18" charset="0"/>
                        <a:ea typeface="MS Mincho"/>
                        <a:cs typeface="Times New Roman" pitchFamily="18" charset="0"/>
                      </a:endParaRPr>
                    </a:p>
                  </a:txBody>
                  <a:tcPr marL="64401" marR="64401" marT="0" marB="0"/>
                </a:tc>
              </a:tr>
              <a:tr h="362077">
                <a:tc>
                  <a:txBody>
                    <a:bodyPr/>
                    <a:lstStyle/>
                    <a:p>
                      <a:pPr marL="0" marR="0" algn="l">
                        <a:lnSpc>
                          <a:spcPct val="115000"/>
                        </a:lnSpc>
                        <a:spcBef>
                          <a:spcPts val="0"/>
                        </a:spcBef>
                        <a:spcAft>
                          <a:spcPts val="0"/>
                        </a:spcAft>
                      </a:pPr>
                      <a:r>
                        <a:rPr lang="en-US" sz="2000">
                          <a:effectLst/>
                          <a:latin typeface="Times New Roman" pitchFamily="18" charset="0"/>
                          <a:cs typeface="Times New Roman" pitchFamily="18" charset="0"/>
                        </a:rPr>
                        <a:t>Density</a:t>
                      </a:r>
                      <a:endParaRPr lang="en-US" sz="200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Heavier than air (settles down in case of leakage)</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a:effectLst/>
                          <a:latin typeface="Times New Roman" pitchFamily="18" charset="0"/>
                          <a:cs typeface="Times New Roman" pitchFamily="18" charset="0"/>
                        </a:rPr>
                        <a:t>Lighter than air (disperses quickly if leaked)</a:t>
                      </a:r>
                      <a:endParaRPr lang="en-US" sz="2000">
                        <a:effectLst/>
                        <a:latin typeface="Times New Roman" pitchFamily="18" charset="0"/>
                        <a:ea typeface="MS Mincho"/>
                        <a:cs typeface="Times New Roman" pitchFamily="18" charset="0"/>
                      </a:endParaRPr>
                    </a:p>
                  </a:txBody>
                  <a:tcPr marL="64401" marR="64401" marT="0" marB="0"/>
                </a:tc>
              </a:tr>
              <a:tr h="362077">
                <a:tc>
                  <a:txBody>
                    <a:bodyPr/>
                    <a:lstStyle/>
                    <a:p>
                      <a:pPr marL="0" marR="0" algn="l">
                        <a:lnSpc>
                          <a:spcPct val="115000"/>
                        </a:lnSpc>
                        <a:spcBef>
                          <a:spcPts val="0"/>
                        </a:spcBef>
                        <a:spcAft>
                          <a:spcPts val="0"/>
                        </a:spcAft>
                      </a:pPr>
                      <a:r>
                        <a:rPr lang="en-US" sz="2000">
                          <a:effectLst/>
                          <a:latin typeface="Times New Roman" pitchFamily="18" charset="0"/>
                          <a:cs typeface="Times New Roman" pitchFamily="18" charset="0"/>
                        </a:rPr>
                        <a:t>Odour</a:t>
                      </a:r>
                      <a:endParaRPr lang="en-US" sz="200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Odorized with mercaptans for detection</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Odorized with mercaptans for detection</a:t>
                      </a:r>
                      <a:endParaRPr lang="en-US" sz="2000" dirty="0">
                        <a:effectLst/>
                        <a:latin typeface="Times New Roman" pitchFamily="18" charset="0"/>
                        <a:ea typeface="MS Mincho"/>
                        <a:cs typeface="Times New Roman" pitchFamily="18" charset="0"/>
                      </a:endParaRPr>
                    </a:p>
                  </a:txBody>
                  <a:tcPr marL="64401" marR="64401" marT="0" marB="0"/>
                </a:tc>
              </a:tr>
              <a:tr h="724154">
                <a:tc>
                  <a:txBody>
                    <a:bodyPr/>
                    <a:lstStyle/>
                    <a:p>
                      <a:pPr marL="0" marR="0" algn="l">
                        <a:lnSpc>
                          <a:spcPct val="115000"/>
                        </a:lnSpc>
                        <a:spcBef>
                          <a:spcPts val="0"/>
                        </a:spcBef>
                        <a:spcAft>
                          <a:spcPts val="0"/>
                        </a:spcAft>
                      </a:pPr>
                      <a:r>
                        <a:rPr lang="en-US" sz="2000" dirty="0" smtClean="0">
                          <a:effectLst/>
                          <a:latin typeface="Times New Roman" pitchFamily="18" charset="0"/>
                          <a:cs typeface="Times New Roman" pitchFamily="18" charset="0"/>
                        </a:rPr>
                        <a:t>Uses</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a:effectLst/>
                          <a:latin typeface="Times New Roman" pitchFamily="18" charset="0"/>
                          <a:cs typeface="Times New Roman" pitchFamily="18" charset="0"/>
                        </a:rPr>
                        <a:t>Cooking, heating, industrial applications, auto LPG, petrochemical feedstock</a:t>
                      </a:r>
                      <a:endParaRPr lang="en-US" sz="200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a:effectLst/>
                          <a:latin typeface="Times New Roman" pitchFamily="18" charset="0"/>
                          <a:cs typeface="Times New Roman" pitchFamily="18" charset="0"/>
                        </a:rPr>
                        <a:t>Fuel for vehicles (cars, buses, autos), power generation, domestic PNG supply</a:t>
                      </a:r>
                      <a:endParaRPr lang="en-US" sz="2000">
                        <a:effectLst/>
                        <a:latin typeface="Times New Roman" pitchFamily="18" charset="0"/>
                        <a:ea typeface="MS Mincho"/>
                        <a:cs typeface="Times New Roman" pitchFamily="18" charset="0"/>
                      </a:endParaRPr>
                    </a:p>
                  </a:txBody>
                  <a:tcPr marL="64401" marR="64401" marT="0" marB="0"/>
                </a:tc>
              </a:tr>
              <a:tr h="543116">
                <a:tc>
                  <a:txBody>
                    <a:bodyPr/>
                    <a:lstStyle/>
                    <a:p>
                      <a:pPr marL="0" marR="0" algn="l">
                        <a:lnSpc>
                          <a:spcPct val="115000"/>
                        </a:lnSpc>
                        <a:spcBef>
                          <a:spcPts val="0"/>
                        </a:spcBef>
                        <a:spcAft>
                          <a:spcPts val="0"/>
                        </a:spcAft>
                      </a:pPr>
                      <a:r>
                        <a:rPr lang="en-US" sz="2000">
                          <a:effectLst/>
                          <a:latin typeface="Times New Roman" pitchFamily="18" charset="0"/>
                          <a:cs typeface="Times New Roman" pitchFamily="18" charset="0"/>
                        </a:rPr>
                        <a:t>Transportation</a:t>
                      </a:r>
                      <a:endParaRPr lang="en-US" sz="200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Supplied in cylinders (domestic &amp; commercial)</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a:effectLst/>
                          <a:latin typeface="Times New Roman" pitchFamily="18" charset="0"/>
                          <a:cs typeface="Times New Roman" pitchFamily="18" charset="0"/>
                        </a:rPr>
                        <a:t>Supplied through pipelines or in high-pressure cylinders</a:t>
                      </a:r>
                      <a:endParaRPr lang="en-US" sz="2000">
                        <a:effectLst/>
                        <a:latin typeface="Times New Roman" pitchFamily="18" charset="0"/>
                        <a:ea typeface="MS Mincho"/>
                        <a:cs typeface="Times New Roman" pitchFamily="18" charset="0"/>
                      </a:endParaRPr>
                    </a:p>
                  </a:txBody>
                  <a:tcPr marL="64401" marR="64401" marT="0" marB="0"/>
                </a:tc>
              </a:tr>
              <a:tr h="543116">
                <a:tc>
                  <a:txBody>
                    <a:bodyPr/>
                    <a:lstStyle/>
                    <a:p>
                      <a:pPr marL="0" marR="0" algn="l">
                        <a:lnSpc>
                          <a:spcPct val="115000"/>
                        </a:lnSpc>
                        <a:spcBef>
                          <a:spcPts val="0"/>
                        </a:spcBef>
                        <a:spcAft>
                          <a:spcPts val="0"/>
                        </a:spcAft>
                      </a:pPr>
                      <a:r>
                        <a:rPr lang="en-US" sz="2000">
                          <a:effectLst/>
                          <a:latin typeface="Times New Roman" pitchFamily="18" charset="0"/>
                          <a:cs typeface="Times New Roman" pitchFamily="18" charset="0"/>
                        </a:rPr>
                        <a:t>Safety</a:t>
                      </a:r>
                      <a:endParaRPr lang="en-US" sz="200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a:effectLst/>
                          <a:latin typeface="Times New Roman" pitchFamily="18" charset="0"/>
                          <a:cs typeface="Times New Roman" pitchFamily="18" charset="0"/>
                        </a:rPr>
                        <a:t>More prone to accidents due to heavier-than-air nature</a:t>
                      </a:r>
                      <a:endParaRPr lang="en-US" sz="200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a:effectLst/>
                          <a:latin typeface="Times New Roman" pitchFamily="18" charset="0"/>
                          <a:cs typeface="Times New Roman" pitchFamily="18" charset="0"/>
                        </a:rPr>
                        <a:t>Safer, as it disperses quickly in air</a:t>
                      </a:r>
                      <a:endParaRPr lang="en-US" sz="2000">
                        <a:effectLst/>
                        <a:latin typeface="Times New Roman" pitchFamily="18" charset="0"/>
                        <a:ea typeface="MS Mincho"/>
                        <a:cs typeface="Times New Roman" pitchFamily="18" charset="0"/>
                      </a:endParaRPr>
                    </a:p>
                  </a:txBody>
                  <a:tcPr marL="64401" marR="64401" marT="0" marB="0"/>
                </a:tc>
              </a:tr>
              <a:tr h="543116">
                <a:tc>
                  <a:txBody>
                    <a:bodyPr/>
                    <a:lstStyle/>
                    <a:p>
                      <a:pPr marL="0" marR="0" algn="l">
                        <a:lnSpc>
                          <a:spcPct val="115000"/>
                        </a:lnSpc>
                        <a:spcBef>
                          <a:spcPts val="0"/>
                        </a:spcBef>
                        <a:spcAft>
                          <a:spcPts val="0"/>
                        </a:spcAft>
                      </a:pPr>
                      <a:r>
                        <a:rPr lang="en-US" sz="2000" dirty="0">
                          <a:effectLst/>
                          <a:latin typeface="Times New Roman" pitchFamily="18" charset="0"/>
                          <a:cs typeface="Times New Roman" pitchFamily="18" charset="0"/>
                        </a:rPr>
                        <a:t>Environmental Impact</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Cleaner than coal/diesel, but higher CO₂ and hydrocarbons than CNG</a:t>
                      </a:r>
                      <a:endParaRPr lang="en-US" sz="2000" dirty="0">
                        <a:effectLst/>
                        <a:latin typeface="Times New Roman" pitchFamily="18" charset="0"/>
                        <a:ea typeface="MS Mincho"/>
                        <a:cs typeface="Times New Roman" pitchFamily="18" charset="0"/>
                      </a:endParaRPr>
                    </a:p>
                  </a:txBody>
                  <a:tcPr marL="64401" marR="64401" marT="0" marB="0"/>
                </a:tc>
                <a:tc>
                  <a:txBody>
                    <a:bodyPr/>
                    <a:lstStyle/>
                    <a:p>
                      <a:pPr marL="0" marR="0">
                        <a:lnSpc>
                          <a:spcPct val="115000"/>
                        </a:lnSpc>
                        <a:spcBef>
                          <a:spcPts val="0"/>
                        </a:spcBef>
                        <a:spcAft>
                          <a:spcPts val="0"/>
                        </a:spcAft>
                      </a:pPr>
                      <a:r>
                        <a:rPr lang="en-US" sz="2000" dirty="0">
                          <a:effectLst/>
                          <a:latin typeface="Times New Roman" pitchFamily="18" charset="0"/>
                          <a:cs typeface="Times New Roman" pitchFamily="18" charset="0"/>
                        </a:rPr>
                        <a:t>Eco-friendlier, very low CO₂, NOx, SOx, and particulate emissions</a:t>
                      </a:r>
                      <a:endParaRPr lang="en-US" sz="2000" dirty="0">
                        <a:effectLst/>
                        <a:latin typeface="Times New Roman" pitchFamily="18" charset="0"/>
                        <a:ea typeface="MS Mincho"/>
                        <a:cs typeface="Times New Roman" pitchFamily="18" charset="0"/>
                      </a:endParaRPr>
                    </a:p>
                  </a:txBody>
                  <a:tcPr marL="64401" marR="64401" marT="0" marB="0"/>
                </a:tc>
              </a:tr>
            </a:tbl>
          </a:graphicData>
        </a:graphic>
      </p:graphicFrame>
      <p:sp>
        <p:nvSpPr>
          <p:cNvPr id="3" name="Rectangle 2"/>
          <p:cNvSpPr/>
          <p:nvPr/>
        </p:nvSpPr>
        <p:spPr>
          <a:xfrm>
            <a:off x="3626143" y="101025"/>
            <a:ext cx="5517857" cy="584775"/>
          </a:xfrm>
          <a:prstGeom prst="rect">
            <a:avLst/>
          </a:prstGeom>
        </p:spPr>
        <p:txBody>
          <a:bodyPr wrap="none">
            <a:spAutoFit/>
          </a:bodyPr>
          <a:lstStyle/>
          <a:p>
            <a:r>
              <a:rPr lang="en-US" sz="3200" b="1" dirty="0">
                <a:solidFill>
                  <a:srgbClr val="C00000"/>
                </a:solidFill>
                <a:latin typeface="Times New Roman" pitchFamily="18" charset="0"/>
                <a:cs typeface="Times New Roman" pitchFamily="18" charset="0"/>
              </a:rPr>
              <a:t>Comparison of LPG and CNG</a:t>
            </a:r>
          </a:p>
        </p:txBody>
      </p:sp>
    </p:spTree>
    <p:extLst>
      <p:ext uri="{BB962C8B-B14F-4D97-AF65-F5344CB8AC3E}">
        <p14:creationId xmlns:p14="http://schemas.microsoft.com/office/powerpoint/2010/main" val="35097149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0"/>
            <a:ext cx="12268200" cy="5386090"/>
          </a:xfrm>
          <a:prstGeom prst="rect">
            <a:avLst/>
          </a:prstGeom>
        </p:spPr>
        <p:txBody>
          <a:bodyPr wrap="square">
            <a:spAutoFit/>
          </a:bodyPr>
          <a:lstStyle/>
          <a:p>
            <a:pPr marL="342900" indent="-342900" algn="just">
              <a:buFont typeface="Wingdings" pitchFamily="2" charset="2"/>
              <a:buChar char="v"/>
            </a:pPr>
            <a:r>
              <a:rPr lang="en-US" sz="2400" dirty="0" smtClean="0">
                <a:latin typeface="Times New Roman" pitchFamily="18" charset="0"/>
                <a:cs typeface="Times New Roman" pitchFamily="18" charset="0"/>
              </a:rPr>
              <a:t>Synthetic </a:t>
            </a:r>
            <a:r>
              <a:rPr lang="en-US" sz="2400" dirty="0">
                <a:latin typeface="Times New Roman" pitchFamily="18" charset="0"/>
                <a:cs typeface="Times New Roman" pitchFamily="18" charset="0"/>
              </a:rPr>
              <a:t>fuels are man-made alternatives to conventional fossil fuels, produced from non-petroleum sources such as natural gas, coal, biomass, or renewable electricity.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They </a:t>
            </a:r>
            <a:r>
              <a:rPr lang="en-US" sz="2400" dirty="0">
                <a:latin typeface="Times New Roman" pitchFamily="18" charset="0"/>
                <a:cs typeface="Times New Roman" pitchFamily="18" charset="0"/>
              </a:rPr>
              <a:t>are developed to reduce dependence on crude oil, lower greenhouse gas emissions, and provide cleaner energy solutions for transportation, power generation, and industrial </a:t>
            </a:r>
            <a:r>
              <a:rPr lang="en-US" sz="2400" dirty="0" smtClean="0">
                <a:latin typeface="Times New Roman" pitchFamily="18" charset="0"/>
                <a:cs typeface="Times New Roman" pitchFamily="18" charset="0"/>
              </a:rPr>
              <a:t>use.</a:t>
            </a:r>
          </a:p>
          <a:p>
            <a:pPr marL="342900" indent="-342900" algn="just">
              <a:buFont typeface="Wingdings" pitchFamily="2" charset="2"/>
              <a:buChar char="v"/>
            </a:pPr>
            <a:r>
              <a:rPr lang="en-US" sz="2400" dirty="0" smtClean="0">
                <a:latin typeface="Times New Roman" pitchFamily="18" charset="0"/>
                <a:cs typeface="Times New Roman" pitchFamily="18" charset="0"/>
              </a:rPr>
              <a:t>Two </a:t>
            </a:r>
            <a:r>
              <a:rPr lang="en-US" sz="2400" dirty="0">
                <a:latin typeface="Times New Roman" pitchFamily="18" charset="0"/>
                <a:cs typeface="Times New Roman" pitchFamily="18" charset="0"/>
              </a:rPr>
              <a:t>important synthetic fuels gaining attention are Hythane and Green Hydrogen</a:t>
            </a:r>
            <a:r>
              <a:rPr lang="en-US" sz="2400" dirty="0" smtClean="0">
                <a:latin typeface="Times New Roman" pitchFamily="18" charset="0"/>
                <a:cs typeface="Times New Roman" pitchFamily="18" charset="0"/>
              </a:rPr>
              <a:t>.</a:t>
            </a:r>
          </a:p>
          <a:p>
            <a:pPr algn="just"/>
            <a:endParaRPr lang="en-US" sz="2400" b="1" dirty="0" smtClean="0">
              <a:solidFill>
                <a:srgbClr val="C00000"/>
              </a:solidFill>
              <a:latin typeface="Times New Roman" pitchFamily="18" charset="0"/>
              <a:cs typeface="Times New Roman" pitchFamily="18" charset="0"/>
            </a:endParaRPr>
          </a:p>
          <a:p>
            <a:pPr algn="just"/>
            <a:r>
              <a:rPr lang="en-US" sz="3200" b="1" dirty="0" smtClean="0">
                <a:solidFill>
                  <a:srgbClr val="C00000"/>
                </a:solidFill>
                <a:latin typeface="Times New Roman" pitchFamily="18" charset="0"/>
                <a:cs typeface="Times New Roman" pitchFamily="18" charset="0"/>
              </a:rPr>
              <a:t>Significance:</a:t>
            </a:r>
          </a:p>
          <a:p>
            <a:pPr algn="just"/>
            <a:endParaRPr lang="en-US" sz="2400" b="1" dirty="0">
              <a:solidFill>
                <a:srgbClr val="C00000"/>
              </a:solidFill>
              <a:latin typeface="Times New Roman" pitchFamily="18" charset="0"/>
              <a:cs typeface="Times New Roman" pitchFamily="18" charset="0"/>
            </a:endParaRPr>
          </a:p>
          <a:p>
            <a:pPr marL="342900" indent="-342900" algn="just" fontAlgn="ctr">
              <a:buFont typeface="Wingdings" pitchFamily="2" charset="2"/>
              <a:buChar char="v"/>
            </a:pPr>
            <a:r>
              <a:rPr lang="en-US" sz="2400" dirty="0">
                <a:latin typeface="Times New Roman" pitchFamily="18" charset="0"/>
                <a:cs typeface="Times New Roman" pitchFamily="18" charset="0"/>
              </a:rPr>
              <a:t>Synthetic fuels offer a pathway to decarbonize sectors that are difficult to electrify directly, such as heavy transportation and certain industrial processes. </a:t>
            </a:r>
            <a:endParaRPr lang="en-US" sz="2400" dirty="0" smtClean="0">
              <a:latin typeface="Times New Roman" pitchFamily="18" charset="0"/>
              <a:cs typeface="Times New Roman" pitchFamily="18" charset="0"/>
            </a:endParaRPr>
          </a:p>
          <a:p>
            <a:pPr marL="342900" indent="-342900" algn="just" fontAlgn="ctr">
              <a:buFont typeface="Wingdings" pitchFamily="2" charset="2"/>
              <a:buChar char="v"/>
            </a:pPr>
            <a:r>
              <a:rPr lang="en-US" sz="2400" dirty="0" smtClean="0">
                <a:latin typeface="Times New Roman" pitchFamily="18" charset="0"/>
                <a:cs typeface="Times New Roman" pitchFamily="18" charset="0"/>
              </a:rPr>
              <a:t>They </a:t>
            </a:r>
            <a:r>
              <a:rPr lang="en-US" sz="2400" dirty="0">
                <a:latin typeface="Times New Roman" pitchFamily="18" charset="0"/>
                <a:cs typeface="Times New Roman" pitchFamily="18" charset="0"/>
              </a:rPr>
              <a:t>can be produced from renewable energy sources and captured CO2, contributing to a circular economy and mitigating climate change. </a:t>
            </a:r>
            <a:endParaRPr lang="en-US" sz="2400" dirty="0" smtClean="0">
              <a:latin typeface="Times New Roman" pitchFamily="18" charset="0"/>
              <a:cs typeface="Times New Roman" pitchFamily="18" charset="0"/>
            </a:endParaRPr>
          </a:p>
          <a:p>
            <a:pPr marL="342900" indent="-342900" algn="just" fontAlgn="ctr">
              <a:buFont typeface="Wingdings" pitchFamily="2" charset="2"/>
              <a:buChar char="v"/>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development and deployment of synthetic fuel technologies are crucial for achieving global climate goals and transitioning to a sustainable energy </a:t>
            </a:r>
            <a:r>
              <a:rPr lang="en-US" sz="2400" dirty="0" smtClean="0">
                <a:latin typeface="Times New Roman" pitchFamily="18" charset="0"/>
                <a:cs typeface="Times New Roman" pitchFamily="18" charset="0"/>
              </a:rPr>
              <a:t>system</a:t>
            </a:r>
            <a:endParaRPr lang="en-US" sz="2400" dirty="0">
              <a:latin typeface="Times New Roman" pitchFamily="18" charset="0"/>
              <a:cs typeface="Times New Roman" pitchFamily="18" charset="0"/>
            </a:endParaRPr>
          </a:p>
        </p:txBody>
      </p:sp>
      <p:sp>
        <p:nvSpPr>
          <p:cNvPr id="3" name="Rectangle 2"/>
          <p:cNvSpPr/>
          <p:nvPr/>
        </p:nvSpPr>
        <p:spPr>
          <a:xfrm>
            <a:off x="4953000" y="76200"/>
            <a:ext cx="2861681" cy="584775"/>
          </a:xfrm>
          <a:prstGeom prst="rect">
            <a:avLst/>
          </a:prstGeom>
        </p:spPr>
        <p:txBody>
          <a:bodyPr wrap="none">
            <a:spAutoFit/>
          </a:bodyPr>
          <a:lstStyle/>
          <a:p>
            <a:r>
              <a:rPr lang="en-US" sz="3200" b="1" dirty="0">
                <a:solidFill>
                  <a:srgbClr val="C00000"/>
                </a:solidFill>
                <a:latin typeface="Times New Roman" pitchFamily="18" charset="0"/>
                <a:cs typeface="Times New Roman" pitchFamily="18" charset="0"/>
              </a:rPr>
              <a:t>Synthetic Fuels</a:t>
            </a:r>
          </a:p>
        </p:txBody>
      </p:sp>
    </p:spTree>
    <p:extLst>
      <p:ext uri="{BB962C8B-B14F-4D97-AF65-F5344CB8AC3E}">
        <p14:creationId xmlns:p14="http://schemas.microsoft.com/office/powerpoint/2010/main" val="3511070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073289"/>
            <a:ext cx="12344400" cy="5755422"/>
          </a:xfrm>
          <a:prstGeom prst="rect">
            <a:avLst/>
          </a:prstGeom>
        </p:spPr>
        <p:txBody>
          <a:bodyPr wrap="square">
            <a:spAutoFit/>
          </a:bodyPr>
          <a:lstStyle/>
          <a:p>
            <a:pPr marL="342900" indent="-342900" algn="just">
              <a:buFont typeface="Wingdings" pitchFamily="2" charset="2"/>
              <a:buChar char="v"/>
            </a:pPr>
            <a:r>
              <a:rPr lang="en-US" sz="2400" dirty="0" smtClean="0">
                <a:latin typeface="Times New Roman" pitchFamily="18" charset="0"/>
                <a:cs typeface="Times New Roman" pitchFamily="18" charset="0"/>
              </a:rPr>
              <a:t>Hythane </a:t>
            </a:r>
            <a:r>
              <a:rPr lang="en-US" sz="2400" dirty="0">
                <a:latin typeface="Times New Roman" pitchFamily="18" charset="0"/>
                <a:cs typeface="Times New Roman" pitchFamily="18" charset="0"/>
              </a:rPr>
              <a:t>is a blended synthetic fuel consisting of natural gas (80–90%) mixed with hydrogen (10–20%). </a:t>
            </a:r>
          </a:p>
          <a:p>
            <a:pPr marL="342900" indent="-342900" algn="just">
              <a:buFont typeface="Wingdings" pitchFamily="2" charset="2"/>
              <a:buChar char="v"/>
            </a:pPr>
            <a:r>
              <a:rPr lang="en-US" sz="2400" dirty="0">
                <a:latin typeface="Times New Roman" pitchFamily="18" charset="0"/>
                <a:cs typeface="Times New Roman" pitchFamily="18" charset="0"/>
              </a:rPr>
              <a:t>It combines the benefits of hydrogen (clean burning, reduced emissions) with natural gas (readily available, cost-effective, existing infrastructure). </a:t>
            </a:r>
          </a:p>
          <a:p>
            <a:pPr marL="342900" indent="-342900" algn="just">
              <a:buFont typeface="Wingdings" pitchFamily="2" charset="2"/>
              <a:buChar char="v"/>
            </a:pPr>
            <a:r>
              <a:rPr lang="en-US" sz="2400" dirty="0">
                <a:latin typeface="Times New Roman" pitchFamily="18" charset="0"/>
                <a:cs typeface="Times New Roman" pitchFamily="18" charset="0"/>
              </a:rPr>
              <a:t>The blending improves combustion efficiency and reduces harmful emissions like CO, CO₂, NOₓ, and particulates.</a:t>
            </a:r>
          </a:p>
          <a:p>
            <a:pPr algn="just"/>
            <a:r>
              <a:rPr lang="en-US" sz="3200" b="1" dirty="0" smtClean="0">
                <a:solidFill>
                  <a:srgbClr val="C00000"/>
                </a:solidFill>
                <a:latin typeface="Times New Roman" pitchFamily="18" charset="0"/>
                <a:cs typeface="Times New Roman" pitchFamily="18" charset="0"/>
              </a:rPr>
              <a:t>Applications</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Transportation</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 Used as a cleaner fuel for buses, trucks, and fleet vehicles, particularly in urban </a:t>
            </a:r>
            <a:r>
              <a:rPr lang="en-US" sz="2400" dirty="0" smtClean="0">
                <a:latin typeface="Times New Roman" pitchFamily="18" charset="0"/>
                <a:cs typeface="Times New Roman" pitchFamily="18" charset="0"/>
              </a:rPr>
              <a:t>areas.</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Power </a:t>
            </a:r>
            <a:r>
              <a:rPr lang="en-US" sz="2400" b="1" dirty="0">
                <a:solidFill>
                  <a:srgbClr val="002060"/>
                </a:solidFill>
                <a:latin typeface="Times New Roman" pitchFamily="18" charset="0"/>
                <a:cs typeface="Times New Roman" pitchFamily="18" charset="0"/>
              </a:rPr>
              <a:t>Generation </a:t>
            </a:r>
            <a:r>
              <a:rPr lang="en-US" sz="2400" dirty="0">
                <a:latin typeface="Times New Roman" pitchFamily="18" charset="0"/>
                <a:cs typeface="Times New Roman" pitchFamily="18" charset="0"/>
              </a:rPr>
              <a:t>– Employed in gas turbines and engines for electricity production with lower </a:t>
            </a:r>
            <a:r>
              <a:rPr lang="en-US" sz="2400" dirty="0" smtClean="0">
                <a:latin typeface="Times New Roman" pitchFamily="18" charset="0"/>
                <a:cs typeface="Times New Roman" pitchFamily="18" charset="0"/>
              </a:rPr>
              <a:t>emissions.</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Industrial </a:t>
            </a:r>
            <a:r>
              <a:rPr lang="en-US" sz="2400" b="1" dirty="0">
                <a:solidFill>
                  <a:srgbClr val="002060"/>
                </a:solidFill>
                <a:latin typeface="Times New Roman" pitchFamily="18" charset="0"/>
                <a:cs typeface="Times New Roman" pitchFamily="18" charset="0"/>
              </a:rPr>
              <a:t>Heating </a:t>
            </a:r>
            <a:r>
              <a:rPr lang="en-US" sz="2400" dirty="0">
                <a:latin typeface="Times New Roman" pitchFamily="18" charset="0"/>
                <a:cs typeface="Times New Roman" pitchFamily="18" charset="0"/>
              </a:rPr>
              <a:t>– Provides an efficient and cleaner substitute for natural gas in furnaces and </a:t>
            </a:r>
            <a:r>
              <a:rPr lang="en-US" sz="2400" dirty="0" smtClean="0">
                <a:latin typeface="Times New Roman" pitchFamily="18" charset="0"/>
                <a:cs typeface="Times New Roman" pitchFamily="18" charset="0"/>
              </a:rPr>
              <a:t>boilers.</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Transition </a:t>
            </a:r>
            <a:r>
              <a:rPr lang="en-US" sz="2400" b="1" dirty="0">
                <a:solidFill>
                  <a:srgbClr val="002060"/>
                </a:solidFill>
                <a:latin typeface="Times New Roman" pitchFamily="18" charset="0"/>
                <a:cs typeface="Times New Roman" pitchFamily="18" charset="0"/>
              </a:rPr>
              <a:t>Fuel </a:t>
            </a:r>
            <a:r>
              <a:rPr lang="en-US" sz="2400" dirty="0">
                <a:latin typeface="Times New Roman" pitchFamily="18" charset="0"/>
                <a:cs typeface="Times New Roman" pitchFamily="18" charset="0"/>
              </a:rPr>
              <a:t>– Acts as a bridge between natural gas and pure hydrogen economy, utilizing existing CNG infrastructure.</a:t>
            </a:r>
          </a:p>
        </p:txBody>
      </p:sp>
      <p:sp>
        <p:nvSpPr>
          <p:cNvPr id="3" name="Rectangle 2"/>
          <p:cNvSpPr/>
          <p:nvPr/>
        </p:nvSpPr>
        <p:spPr>
          <a:xfrm>
            <a:off x="5462081" y="304800"/>
            <a:ext cx="1877438" cy="646331"/>
          </a:xfrm>
          <a:prstGeom prst="rect">
            <a:avLst/>
          </a:prstGeom>
        </p:spPr>
        <p:txBody>
          <a:bodyPr wrap="none">
            <a:spAutoFit/>
          </a:bodyPr>
          <a:lstStyle/>
          <a:p>
            <a:pPr algn="ctr"/>
            <a:r>
              <a:rPr lang="en-US" sz="3600" b="1" dirty="0">
                <a:solidFill>
                  <a:srgbClr val="C00000"/>
                </a:solidFill>
                <a:latin typeface="Times New Roman" pitchFamily="18" charset="0"/>
                <a:cs typeface="Times New Roman" pitchFamily="18" charset="0"/>
              </a:rPr>
              <a:t>Hythane</a:t>
            </a:r>
            <a:endParaRPr lang="en-US" sz="3600" b="1" dirty="0">
              <a:latin typeface="Times New Roman" pitchFamily="18" charset="0"/>
              <a:cs typeface="Times New Roman" pitchFamily="18" charset="0"/>
            </a:endParaRPr>
          </a:p>
        </p:txBody>
      </p:sp>
    </p:spTree>
    <p:extLst>
      <p:ext uri="{BB962C8B-B14F-4D97-AF65-F5344CB8AC3E}">
        <p14:creationId xmlns:p14="http://schemas.microsoft.com/office/powerpoint/2010/main" val="23063654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685800"/>
            <a:ext cx="12344400" cy="6124754"/>
          </a:xfrm>
          <a:prstGeom prst="rect">
            <a:avLst/>
          </a:prstGeom>
        </p:spPr>
        <p:txBody>
          <a:bodyPr wrap="square">
            <a:spAutoFit/>
          </a:bodyPr>
          <a:lstStyle/>
          <a:p>
            <a:pPr marL="342900" indent="-342900" algn="just">
              <a:buFont typeface="Wingdings" pitchFamily="2" charset="2"/>
              <a:buChar char="v"/>
            </a:pPr>
            <a:r>
              <a:rPr lang="en-US" sz="2400" dirty="0" smtClean="0">
                <a:latin typeface="Times New Roman" pitchFamily="18" charset="0"/>
                <a:cs typeface="Times New Roman" pitchFamily="18" charset="0"/>
              </a:rPr>
              <a:t>Green </a:t>
            </a:r>
            <a:r>
              <a:rPr lang="en-US" sz="2400" dirty="0">
                <a:latin typeface="Times New Roman" pitchFamily="18" charset="0"/>
                <a:cs typeface="Times New Roman" pitchFamily="18" charset="0"/>
              </a:rPr>
              <a:t>Hydrogen is hydrogen produced through electrolysis of water using renewable energy (solar, wind, hydro).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Unlike </a:t>
            </a:r>
            <a:r>
              <a:rPr lang="en-US" sz="2400" dirty="0">
                <a:latin typeface="Times New Roman" pitchFamily="18" charset="0"/>
                <a:cs typeface="Times New Roman" pitchFamily="18" charset="0"/>
              </a:rPr>
              <a:t>grey or blue hydrogen (derived from fossil fuels), green hydrogen is 100% carbon-free, making it a crucial fuel for sustainable development.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can be stored, transported, and used as a clean energy carrier.</a:t>
            </a:r>
          </a:p>
          <a:p>
            <a:pPr algn="just"/>
            <a:r>
              <a:rPr lang="en-US" sz="3200" b="1" dirty="0" smtClean="0">
                <a:solidFill>
                  <a:srgbClr val="C00000"/>
                </a:solidFill>
                <a:latin typeface="Times New Roman" pitchFamily="18" charset="0"/>
                <a:cs typeface="Times New Roman" pitchFamily="18" charset="0"/>
              </a:rPr>
              <a:t>Applications</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Transportation </a:t>
            </a:r>
            <a:r>
              <a:rPr lang="en-US" sz="2400" b="1" dirty="0">
                <a:solidFill>
                  <a:srgbClr val="002060"/>
                </a:solidFill>
                <a:latin typeface="Times New Roman" pitchFamily="18" charset="0"/>
                <a:cs typeface="Times New Roman" pitchFamily="18" charset="0"/>
              </a:rPr>
              <a:t>(Fuel Cells) </a:t>
            </a:r>
            <a:r>
              <a:rPr lang="en-US" sz="2400" dirty="0">
                <a:latin typeface="Times New Roman" pitchFamily="18" charset="0"/>
                <a:cs typeface="Times New Roman" pitchFamily="18" charset="0"/>
              </a:rPr>
              <a:t>– Powers fuel cell electric vehicles (FCEVs) such as cars, buses, trains, and even </a:t>
            </a:r>
            <a:r>
              <a:rPr lang="en-US" sz="2400" dirty="0" smtClean="0">
                <a:latin typeface="Times New Roman" pitchFamily="18" charset="0"/>
                <a:cs typeface="Times New Roman" pitchFamily="18" charset="0"/>
              </a:rPr>
              <a:t>aircraft.</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Power </a:t>
            </a:r>
            <a:r>
              <a:rPr lang="en-US" sz="2400" b="1" dirty="0">
                <a:solidFill>
                  <a:srgbClr val="002060"/>
                </a:solidFill>
                <a:latin typeface="Times New Roman" pitchFamily="18" charset="0"/>
                <a:cs typeface="Times New Roman" pitchFamily="18" charset="0"/>
              </a:rPr>
              <a:t>Generation &amp; Storage </a:t>
            </a:r>
            <a:r>
              <a:rPr lang="en-US" sz="2400" dirty="0">
                <a:latin typeface="Times New Roman" pitchFamily="18" charset="0"/>
                <a:cs typeface="Times New Roman" pitchFamily="18" charset="0"/>
              </a:rPr>
              <a:t>– Acts as a long-term energy storage medium, balancing intermittent renewable energy </a:t>
            </a:r>
            <a:r>
              <a:rPr lang="en-US" sz="2400" dirty="0" smtClean="0">
                <a:latin typeface="Times New Roman" pitchFamily="18" charset="0"/>
                <a:cs typeface="Times New Roman" pitchFamily="18" charset="0"/>
              </a:rPr>
              <a:t>sources.</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Industrial </a:t>
            </a:r>
            <a:r>
              <a:rPr lang="en-US" sz="2400" b="1" dirty="0">
                <a:solidFill>
                  <a:srgbClr val="002060"/>
                </a:solidFill>
                <a:latin typeface="Times New Roman" pitchFamily="18" charset="0"/>
                <a:cs typeface="Times New Roman" pitchFamily="18" charset="0"/>
              </a:rPr>
              <a:t>Applications </a:t>
            </a:r>
            <a:r>
              <a:rPr lang="en-US" sz="2400" dirty="0">
                <a:latin typeface="Times New Roman" pitchFamily="18" charset="0"/>
                <a:cs typeface="Times New Roman" pitchFamily="18" charset="0"/>
              </a:rPr>
              <a:t>– Used in steel, cement, fertilizer (ammonia), and chemical industries as a clean alternative to coal or natural </a:t>
            </a:r>
            <a:r>
              <a:rPr lang="en-US" sz="2400" dirty="0" smtClean="0">
                <a:latin typeface="Times New Roman" pitchFamily="18" charset="0"/>
                <a:cs typeface="Times New Roman" pitchFamily="18" charset="0"/>
              </a:rPr>
              <a:t>gas.</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Residential </a:t>
            </a:r>
            <a:r>
              <a:rPr lang="en-US" sz="2400" b="1" dirty="0">
                <a:solidFill>
                  <a:srgbClr val="002060"/>
                </a:solidFill>
                <a:latin typeface="Times New Roman" pitchFamily="18" charset="0"/>
                <a:cs typeface="Times New Roman" pitchFamily="18" charset="0"/>
              </a:rPr>
              <a:t>&amp; Commercial Use </a:t>
            </a:r>
            <a:r>
              <a:rPr lang="en-US" sz="2400" dirty="0">
                <a:latin typeface="Times New Roman" pitchFamily="18" charset="0"/>
                <a:cs typeface="Times New Roman" pitchFamily="18" charset="0"/>
              </a:rPr>
              <a:t>– Potential substitute for LPG and natural gas in heating and </a:t>
            </a:r>
            <a:r>
              <a:rPr lang="en-US" sz="2400" dirty="0" smtClean="0">
                <a:latin typeface="Times New Roman" pitchFamily="18" charset="0"/>
                <a:cs typeface="Times New Roman" pitchFamily="18" charset="0"/>
              </a:rPr>
              <a:t>cooking.</a:t>
            </a:r>
          </a:p>
          <a:p>
            <a:pPr marL="457200" indent="-457200" algn="just">
              <a:buFont typeface="+mj-lt"/>
              <a:buAutoNum type="arabicPeriod"/>
            </a:pPr>
            <a:r>
              <a:rPr lang="en-US" sz="2400" b="1" dirty="0" smtClean="0">
                <a:solidFill>
                  <a:srgbClr val="002060"/>
                </a:solidFill>
                <a:latin typeface="Times New Roman" pitchFamily="18" charset="0"/>
                <a:cs typeface="Times New Roman" pitchFamily="18" charset="0"/>
              </a:rPr>
              <a:t>Export </a:t>
            </a:r>
            <a:r>
              <a:rPr lang="en-US" sz="2400" b="1" dirty="0">
                <a:solidFill>
                  <a:srgbClr val="002060"/>
                </a:solidFill>
                <a:latin typeface="Times New Roman" pitchFamily="18" charset="0"/>
                <a:cs typeface="Times New Roman" pitchFamily="18" charset="0"/>
              </a:rPr>
              <a:t>Commodity </a:t>
            </a:r>
            <a:r>
              <a:rPr lang="en-US" sz="2400" dirty="0">
                <a:latin typeface="Times New Roman" pitchFamily="18" charset="0"/>
                <a:cs typeface="Times New Roman" pitchFamily="18" charset="0"/>
              </a:rPr>
              <a:t>– Countries with surplus renewable energy can export green hydrogen as an energy carrier.</a:t>
            </a:r>
          </a:p>
        </p:txBody>
      </p:sp>
      <p:sp>
        <p:nvSpPr>
          <p:cNvPr id="3" name="Rectangle 2"/>
          <p:cNvSpPr/>
          <p:nvPr/>
        </p:nvSpPr>
        <p:spPr>
          <a:xfrm>
            <a:off x="4878479" y="76200"/>
            <a:ext cx="3122521" cy="584775"/>
          </a:xfrm>
          <a:prstGeom prst="rect">
            <a:avLst/>
          </a:prstGeom>
        </p:spPr>
        <p:txBody>
          <a:bodyPr wrap="none">
            <a:spAutoFit/>
          </a:bodyPr>
          <a:lstStyle/>
          <a:p>
            <a:pPr>
              <a:tabLst>
                <a:tab pos="1493838" algn="l"/>
              </a:tabLst>
            </a:pPr>
            <a:r>
              <a:rPr lang="en-US" sz="3200" b="1" dirty="0">
                <a:solidFill>
                  <a:srgbClr val="C00000"/>
                </a:solidFill>
                <a:latin typeface="Times New Roman" pitchFamily="18" charset="0"/>
                <a:cs typeface="Times New Roman" pitchFamily="18" charset="0"/>
              </a:rPr>
              <a:t>Green Hydrogen</a:t>
            </a:r>
          </a:p>
        </p:txBody>
      </p:sp>
    </p:spTree>
    <p:extLst>
      <p:ext uri="{BB962C8B-B14F-4D97-AF65-F5344CB8AC3E}">
        <p14:creationId xmlns:p14="http://schemas.microsoft.com/office/powerpoint/2010/main" val="30125058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609600"/>
            <a:ext cx="12115800" cy="5940088"/>
          </a:xfrm>
          <a:prstGeom prst="rect">
            <a:avLst/>
          </a:prstGeom>
        </p:spPr>
        <p:txBody>
          <a:bodyPr wrap="square">
            <a:spAutoFit/>
          </a:bodyPr>
          <a:lstStyle/>
          <a:p>
            <a:pPr marL="457200" lvl="0" indent="-457200">
              <a:buFont typeface="+mj-lt"/>
              <a:buAutoNum type="arabicPeriod"/>
            </a:pPr>
            <a:r>
              <a:rPr lang="en-US" sz="2000" dirty="0" smtClean="0">
                <a:latin typeface="Times New Roman" pitchFamily="18" charset="0"/>
                <a:cs typeface="Times New Roman" pitchFamily="18" charset="0"/>
              </a:rPr>
              <a:t>Define </a:t>
            </a:r>
            <a:r>
              <a:rPr lang="en-US" sz="2000" dirty="0">
                <a:latin typeface="Times New Roman" pitchFamily="18" charset="0"/>
                <a:cs typeface="Times New Roman" pitchFamily="18" charset="0"/>
              </a:rPr>
              <a:t>a primary battery with one </a:t>
            </a:r>
            <a:r>
              <a:rPr lang="en-US" sz="2000" dirty="0" smtClean="0">
                <a:latin typeface="Times New Roman" pitchFamily="18" charset="0"/>
                <a:cs typeface="Times New Roman" pitchFamily="18" charset="0"/>
              </a:rPr>
              <a:t>example.</a:t>
            </a:r>
          </a:p>
          <a:p>
            <a:pPr marL="457200" lvl="0" indent="-457200">
              <a:buFont typeface="+mj-lt"/>
              <a:buAutoNum type="arabicPeriod"/>
            </a:pPr>
            <a:r>
              <a:rPr lang="en-US" sz="2000" dirty="0" smtClean="0">
                <a:latin typeface="Times New Roman" pitchFamily="18" charset="0"/>
                <a:cs typeface="Times New Roman" pitchFamily="18" charset="0"/>
              </a:rPr>
              <a:t>Write </a:t>
            </a:r>
            <a:r>
              <a:rPr lang="en-US" sz="2000" dirty="0">
                <a:latin typeface="Times New Roman" pitchFamily="18" charset="0"/>
                <a:cs typeface="Times New Roman" pitchFamily="18" charset="0"/>
              </a:rPr>
              <a:t>the composition of </a:t>
            </a:r>
            <a:r>
              <a:rPr lang="en-US" sz="2000" dirty="0" smtClean="0">
                <a:latin typeface="Times New Roman" pitchFamily="18" charset="0"/>
                <a:cs typeface="Times New Roman" pitchFamily="18" charset="0"/>
              </a:rPr>
              <a:t>LPG.</a:t>
            </a:r>
          </a:p>
          <a:p>
            <a:pPr marL="457200" lvl="0" indent="-457200">
              <a:buFont typeface="+mj-lt"/>
              <a:buAutoNum type="arabicPeriod"/>
            </a:pPr>
            <a:r>
              <a:rPr lang="en-US" sz="2000" dirty="0" smtClean="0">
                <a:latin typeface="Times New Roman" pitchFamily="18" charset="0"/>
                <a:cs typeface="Times New Roman" pitchFamily="18" charset="0"/>
              </a:rPr>
              <a:t>State </a:t>
            </a:r>
            <a:r>
              <a:rPr lang="en-US" sz="2000" dirty="0">
                <a:latin typeface="Times New Roman" pitchFamily="18" charset="0"/>
                <a:cs typeface="Times New Roman" pitchFamily="18" charset="0"/>
              </a:rPr>
              <a:t>the unit of calorific </a:t>
            </a:r>
            <a:r>
              <a:rPr lang="en-US" sz="2000" dirty="0" smtClean="0">
                <a:latin typeface="Times New Roman" pitchFamily="18" charset="0"/>
                <a:cs typeface="Times New Roman" pitchFamily="18" charset="0"/>
              </a:rPr>
              <a:t>value.</a:t>
            </a:r>
          </a:p>
          <a:p>
            <a:pPr marL="457200" lvl="0" indent="-457200">
              <a:buFont typeface="+mj-lt"/>
              <a:buAutoNum type="arabicPeriod"/>
            </a:pPr>
            <a:r>
              <a:rPr lang="en-US" sz="2000" dirty="0" smtClean="0">
                <a:latin typeface="Times New Roman" pitchFamily="18" charset="0"/>
                <a:cs typeface="Times New Roman" pitchFamily="18" charset="0"/>
              </a:rPr>
              <a:t>What </a:t>
            </a:r>
            <a:r>
              <a:rPr lang="en-US" sz="2000" dirty="0">
                <a:latin typeface="Times New Roman" pitchFamily="18" charset="0"/>
                <a:cs typeface="Times New Roman" pitchFamily="18" charset="0"/>
              </a:rPr>
              <a:t>are fossil </a:t>
            </a:r>
            <a:r>
              <a:rPr lang="en-US" sz="2000" dirty="0" smtClean="0">
                <a:latin typeface="Times New Roman" pitchFamily="18" charset="0"/>
                <a:cs typeface="Times New Roman" pitchFamily="18" charset="0"/>
              </a:rPr>
              <a:t>fuels?</a:t>
            </a:r>
          </a:p>
          <a:p>
            <a:pPr marL="457200" lvl="0" indent="-457200">
              <a:buFont typeface="+mj-lt"/>
              <a:buAutoNum type="arabicPeriod"/>
            </a:pPr>
            <a:r>
              <a:rPr lang="en-US" sz="2000" dirty="0" smtClean="0">
                <a:latin typeface="Times New Roman" pitchFamily="18" charset="0"/>
                <a:cs typeface="Times New Roman" pitchFamily="18" charset="0"/>
              </a:rPr>
              <a:t>Mention </a:t>
            </a:r>
            <a:r>
              <a:rPr lang="en-US" sz="2000" dirty="0">
                <a:latin typeface="Times New Roman" pitchFamily="18" charset="0"/>
                <a:cs typeface="Times New Roman" pitchFamily="18" charset="0"/>
              </a:rPr>
              <a:t>one application of a lithium-ion </a:t>
            </a:r>
            <a:r>
              <a:rPr lang="en-US" sz="2000" dirty="0" smtClean="0">
                <a:latin typeface="Times New Roman" pitchFamily="18" charset="0"/>
                <a:cs typeface="Times New Roman" pitchFamily="18" charset="0"/>
              </a:rPr>
              <a:t>battery.</a:t>
            </a:r>
          </a:p>
          <a:p>
            <a:pPr marL="457200" lvl="0" indent="-457200">
              <a:buFont typeface="+mj-lt"/>
              <a:buAutoNum type="arabicPeriod"/>
            </a:pPr>
            <a:r>
              <a:rPr lang="en-US" sz="2000" dirty="0" smtClean="0">
                <a:latin typeface="Times New Roman" pitchFamily="18" charset="0"/>
                <a:cs typeface="Times New Roman" pitchFamily="18" charset="0"/>
              </a:rPr>
              <a:t>Differentiate </a:t>
            </a:r>
            <a:r>
              <a:rPr lang="en-US" sz="2000" dirty="0">
                <a:latin typeface="Times New Roman" pitchFamily="18" charset="0"/>
                <a:cs typeface="Times New Roman" pitchFamily="18" charset="0"/>
              </a:rPr>
              <a:t>between HCV and LCV of a </a:t>
            </a:r>
            <a:r>
              <a:rPr lang="en-US" sz="2000" dirty="0" smtClean="0">
                <a:latin typeface="Times New Roman" pitchFamily="18" charset="0"/>
                <a:cs typeface="Times New Roman" pitchFamily="18" charset="0"/>
              </a:rPr>
              <a:t>fuel.</a:t>
            </a:r>
          </a:p>
          <a:p>
            <a:pPr marL="457200" lvl="0" indent="-457200">
              <a:buFont typeface="+mj-lt"/>
              <a:buAutoNum type="arabicPeriod"/>
            </a:pPr>
            <a:r>
              <a:rPr lang="en-US" sz="2000" dirty="0" smtClean="0">
                <a:latin typeface="Times New Roman" pitchFamily="18" charset="0"/>
                <a:cs typeface="Times New Roman" pitchFamily="18" charset="0"/>
              </a:rPr>
              <a:t>Why </a:t>
            </a:r>
            <a:r>
              <a:rPr lang="en-US" sz="2000" dirty="0">
                <a:latin typeface="Times New Roman" pitchFamily="18" charset="0"/>
                <a:cs typeface="Times New Roman" pitchFamily="18" charset="0"/>
              </a:rPr>
              <a:t>is cracking necessary in the petroleum </a:t>
            </a:r>
            <a:r>
              <a:rPr lang="en-US" sz="2000" dirty="0" smtClean="0">
                <a:latin typeface="Times New Roman" pitchFamily="18" charset="0"/>
                <a:cs typeface="Times New Roman" pitchFamily="18" charset="0"/>
              </a:rPr>
              <a:t>industry?</a:t>
            </a:r>
          </a:p>
          <a:p>
            <a:pPr marL="457200" lvl="0" indent="-457200">
              <a:buFont typeface="+mj-lt"/>
              <a:buAutoNum type="arabicPeriod"/>
            </a:pPr>
            <a:r>
              <a:rPr lang="en-US" sz="2000" dirty="0" smtClean="0">
                <a:latin typeface="Times New Roman" pitchFamily="18" charset="0"/>
                <a:cs typeface="Times New Roman" pitchFamily="18" charset="0"/>
              </a:rPr>
              <a:t>Describe </a:t>
            </a:r>
            <a:r>
              <a:rPr lang="en-US" sz="2000" dirty="0">
                <a:latin typeface="Times New Roman" pitchFamily="18" charset="0"/>
                <a:cs typeface="Times New Roman" pitchFamily="18" charset="0"/>
              </a:rPr>
              <a:t>the characteristics of a good </a:t>
            </a:r>
            <a:r>
              <a:rPr lang="en-US" sz="2000" dirty="0" smtClean="0">
                <a:latin typeface="Times New Roman" pitchFamily="18" charset="0"/>
                <a:cs typeface="Times New Roman" pitchFamily="18" charset="0"/>
              </a:rPr>
              <a:t>fuel.</a:t>
            </a:r>
          </a:p>
          <a:p>
            <a:pPr marL="457200" lvl="0" indent="-457200">
              <a:buFont typeface="+mj-lt"/>
              <a:buAutoNum type="arabicPeriod"/>
            </a:pPr>
            <a:r>
              <a:rPr lang="en-US" sz="2000" dirty="0" smtClean="0">
                <a:latin typeface="Times New Roman" pitchFamily="18" charset="0"/>
                <a:cs typeface="Times New Roman" pitchFamily="18" charset="0"/>
              </a:rPr>
              <a:t>Explain </a:t>
            </a:r>
            <a:r>
              <a:rPr lang="en-US" sz="2000" dirty="0">
                <a:latin typeface="Times New Roman" pitchFamily="18" charset="0"/>
                <a:cs typeface="Times New Roman" pitchFamily="18" charset="0"/>
              </a:rPr>
              <a:t>why hydrogen is called a clean </a:t>
            </a:r>
            <a:r>
              <a:rPr lang="en-US" sz="2000" dirty="0" smtClean="0">
                <a:latin typeface="Times New Roman" pitchFamily="18" charset="0"/>
                <a:cs typeface="Times New Roman" pitchFamily="18" charset="0"/>
              </a:rPr>
              <a:t>fuel.</a:t>
            </a:r>
          </a:p>
          <a:p>
            <a:pPr marL="457200" lvl="0" indent="-457200">
              <a:buFont typeface="+mj-lt"/>
              <a:buAutoNum type="arabicPeriod"/>
            </a:pPr>
            <a:r>
              <a:rPr lang="en-US" sz="2000" dirty="0" smtClean="0">
                <a:latin typeface="Times New Roman" pitchFamily="18" charset="0"/>
                <a:cs typeface="Times New Roman" pitchFamily="18" charset="0"/>
              </a:rPr>
              <a:t>Identify </a:t>
            </a:r>
            <a:r>
              <a:rPr lang="en-US" sz="2000" dirty="0">
                <a:latin typeface="Times New Roman" pitchFamily="18" charset="0"/>
                <a:cs typeface="Times New Roman" pitchFamily="18" charset="0"/>
              </a:rPr>
              <a:t>which fuel (CNG or LPG) is more suitable for automobiles and </a:t>
            </a:r>
            <a:r>
              <a:rPr lang="en-US" sz="2000" dirty="0" smtClean="0">
                <a:latin typeface="Times New Roman" pitchFamily="18" charset="0"/>
                <a:cs typeface="Times New Roman" pitchFamily="18" charset="0"/>
              </a:rPr>
              <a:t>justify.</a:t>
            </a:r>
          </a:p>
          <a:p>
            <a:pPr marL="457200" lvl="0" indent="-457200">
              <a:buFont typeface="+mj-lt"/>
              <a:buAutoNum type="arabicPeriod"/>
            </a:pPr>
            <a:r>
              <a:rPr lang="en-US" sz="2000" dirty="0" smtClean="0">
                <a:latin typeface="Times New Roman" pitchFamily="18" charset="0"/>
                <a:cs typeface="Times New Roman" pitchFamily="18" charset="0"/>
              </a:rPr>
              <a:t>Construct </a:t>
            </a:r>
            <a:r>
              <a:rPr lang="en-US" sz="2000" dirty="0">
                <a:latin typeface="Times New Roman" pitchFamily="18" charset="0"/>
                <a:cs typeface="Times New Roman" pitchFamily="18" charset="0"/>
              </a:rPr>
              <a:t>a comparison table of primary and secondary batteries (any two points</a:t>
            </a:r>
            <a:r>
              <a:rPr lang="en-US" sz="2000" dirty="0" smtClean="0">
                <a:latin typeface="Times New Roman" pitchFamily="18" charset="0"/>
                <a:cs typeface="Times New Roman" pitchFamily="18" charset="0"/>
              </a:rPr>
              <a:t>).</a:t>
            </a:r>
          </a:p>
          <a:p>
            <a:pPr marL="457200" lvl="0" indent="-457200">
              <a:buFont typeface="+mj-lt"/>
              <a:buAutoNum type="arabicPeriod"/>
            </a:pPr>
            <a:r>
              <a:rPr lang="en-US" sz="2000" dirty="0" smtClean="0">
                <a:latin typeface="Times New Roman" pitchFamily="18" charset="0"/>
                <a:cs typeface="Times New Roman" pitchFamily="18" charset="0"/>
              </a:rPr>
              <a:t>Show </a:t>
            </a:r>
            <a:r>
              <a:rPr lang="en-US" sz="2000" dirty="0">
                <a:latin typeface="Times New Roman" pitchFamily="18" charset="0"/>
                <a:cs typeface="Times New Roman" pitchFamily="18" charset="0"/>
              </a:rPr>
              <a:t>by example how synthetic fuels reduce greenhouse gas </a:t>
            </a:r>
            <a:r>
              <a:rPr lang="en-US" sz="2000" dirty="0" smtClean="0">
                <a:latin typeface="Times New Roman" pitchFamily="18" charset="0"/>
                <a:cs typeface="Times New Roman" pitchFamily="18" charset="0"/>
              </a:rPr>
              <a:t>emissions.</a:t>
            </a:r>
          </a:p>
          <a:p>
            <a:pPr marL="457200" lvl="0" indent="-457200">
              <a:buFont typeface="+mj-lt"/>
              <a:buAutoNum type="arabicPeriod"/>
            </a:pPr>
            <a:r>
              <a:rPr lang="en-US" sz="2000" dirty="0" smtClean="0">
                <a:latin typeface="Times New Roman" pitchFamily="18" charset="0"/>
                <a:cs typeface="Times New Roman" pitchFamily="18" charset="0"/>
              </a:rPr>
              <a:t>Compare </a:t>
            </a:r>
            <a:r>
              <a:rPr lang="en-US" sz="2000" dirty="0">
                <a:latin typeface="Times New Roman" pitchFamily="18" charset="0"/>
                <a:cs typeface="Times New Roman" pitchFamily="18" charset="0"/>
              </a:rPr>
              <a:t>a battery and a fuel cell (any two differences</a:t>
            </a:r>
            <a:r>
              <a:rPr lang="en-US" sz="2000" dirty="0" smtClean="0">
                <a:latin typeface="Times New Roman" pitchFamily="18" charset="0"/>
                <a:cs typeface="Times New Roman" pitchFamily="18" charset="0"/>
              </a:rPr>
              <a:t>).</a:t>
            </a:r>
          </a:p>
          <a:p>
            <a:pPr marL="457200" lvl="0" indent="-457200">
              <a:buFont typeface="+mj-lt"/>
              <a:buAutoNum type="arabicPeriod"/>
            </a:pPr>
            <a:r>
              <a:rPr lang="en-US" sz="2000" dirty="0" smtClean="0">
                <a:latin typeface="Times New Roman" pitchFamily="18" charset="0"/>
                <a:cs typeface="Times New Roman" pitchFamily="18" charset="0"/>
              </a:rPr>
              <a:t>Analyze </a:t>
            </a:r>
            <a:r>
              <a:rPr lang="en-US" sz="2000" dirty="0">
                <a:latin typeface="Times New Roman" pitchFamily="18" charset="0"/>
                <a:cs typeface="Times New Roman" pitchFamily="18" charset="0"/>
              </a:rPr>
              <a:t>the role of catalysts in moving bed catalytic </a:t>
            </a:r>
            <a:r>
              <a:rPr lang="en-US" sz="2000" dirty="0" smtClean="0">
                <a:latin typeface="Times New Roman" pitchFamily="18" charset="0"/>
                <a:cs typeface="Times New Roman" pitchFamily="18" charset="0"/>
              </a:rPr>
              <a:t>cracking.</a:t>
            </a:r>
          </a:p>
          <a:p>
            <a:pPr marL="457200" lvl="0" indent="-457200">
              <a:buFont typeface="+mj-lt"/>
              <a:buAutoNum type="arabicPeriod"/>
            </a:pPr>
            <a:r>
              <a:rPr lang="en-US" sz="2000" dirty="0" smtClean="0">
                <a:latin typeface="Times New Roman" pitchFamily="18" charset="0"/>
                <a:cs typeface="Times New Roman" pitchFamily="18" charset="0"/>
              </a:rPr>
              <a:t>Compare </a:t>
            </a:r>
            <a:r>
              <a:rPr lang="en-US" sz="2000" dirty="0">
                <a:latin typeface="Times New Roman" pitchFamily="18" charset="0"/>
                <a:cs typeface="Times New Roman" pitchFamily="18" charset="0"/>
              </a:rPr>
              <a:t>applications of Hythane and Green </a:t>
            </a:r>
            <a:r>
              <a:rPr lang="en-US" sz="2000" dirty="0" smtClean="0">
                <a:latin typeface="Times New Roman" pitchFamily="18" charset="0"/>
                <a:cs typeface="Times New Roman" pitchFamily="18" charset="0"/>
              </a:rPr>
              <a:t>Hydrogen.</a:t>
            </a:r>
          </a:p>
          <a:p>
            <a:pPr marL="457200" lvl="0" indent="-457200">
              <a:buFont typeface="+mj-lt"/>
              <a:buAutoNum type="arabicPeriod"/>
            </a:pPr>
            <a:r>
              <a:rPr lang="en-US" sz="2000" dirty="0" smtClean="0">
                <a:latin typeface="Times New Roman" pitchFamily="18" charset="0"/>
                <a:cs typeface="Times New Roman" pitchFamily="18" charset="0"/>
              </a:rPr>
              <a:t>Justify </a:t>
            </a:r>
            <a:r>
              <a:rPr lang="en-US" sz="2000" dirty="0">
                <a:latin typeface="Times New Roman" pitchFamily="18" charset="0"/>
                <a:cs typeface="Times New Roman" pitchFamily="18" charset="0"/>
              </a:rPr>
              <a:t>the need for synthetic fuels in present-day energy </a:t>
            </a:r>
            <a:r>
              <a:rPr lang="en-US" sz="2000" dirty="0" smtClean="0">
                <a:latin typeface="Times New Roman" pitchFamily="18" charset="0"/>
                <a:cs typeface="Times New Roman" pitchFamily="18" charset="0"/>
              </a:rPr>
              <a:t>systems.</a:t>
            </a:r>
          </a:p>
          <a:p>
            <a:pPr marL="457200" lvl="0" indent="-457200">
              <a:buFont typeface="+mj-lt"/>
              <a:buAutoNum type="arabicPeriod"/>
            </a:pPr>
            <a:r>
              <a:rPr lang="en-US" sz="2000" dirty="0" smtClean="0">
                <a:latin typeface="Times New Roman" pitchFamily="18" charset="0"/>
                <a:cs typeface="Times New Roman" pitchFamily="18" charset="0"/>
              </a:rPr>
              <a:t>Evaluate </a:t>
            </a:r>
            <a:r>
              <a:rPr lang="en-US" sz="2000" dirty="0">
                <a:latin typeface="Times New Roman" pitchFamily="18" charset="0"/>
                <a:cs typeface="Times New Roman" pitchFamily="18" charset="0"/>
              </a:rPr>
              <a:t>the environmental impact of using CNG instead of </a:t>
            </a:r>
            <a:r>
              <a:rPr lang="en-US" sz="2000" dirty="0" smtClean="0">
                <a:latin typeface="Times New Roman" pitchFamily="18" charset="0"/>
                <a:cs typeface="Times New Roman" pitchFamily="18" charset="0"/>
              </a:rPr>
              <a:t>LPG.</a:t>
            </a:r>
          </a:p>
          <a:p>
            <a:pPr marL="457200" lvl="0" indent="-457200">
              <a:buFont typeface="+mj-lt"/>
              <a:buAutoNum type="arabicPeriod"/>
            </a:pPr>
            <a:r>
              <a:rPr lang="en-US" sz="2000" dirty="0" smtClean="0">
                <a:latin typeface="Times New Roman" pitchFamily="18" charset="0"/>
                <a:cs typeface="Times New Roman" pitchFamily="18" charset="0"/>
              </a:rPr>
              <a:t>Formulate </a:t>
            </a:r>
            <a:r>
              <a:rPr lang="en-US" sz="2000" dirty="0">
                <a:latin typeface="Times New Roman" pitchFamily="18" charset="0"/>
                <a:cs typeface="Times New Roman" pitchFamily="18" charset="0"/>
              </a:rPr>
              <a:t>two key advantages of using Hythane in public </a:t>
            </a:r>
            <a:r>
              <a:rPr lang="en-US" sz="2000" dirty="0" smtClean="0">
                <a:latin typeface="Times New Roman" pitchFamily="18" charset="0"/>
                <a:cs typeface="Times New Roman" pitchFamily="18" charset="0"/>
              </a:rPr>
              <a:t>transport.</a:t>
            </a:r>
          </a:p>
          <a:p>
            <a:pPr marL="457200" lvl="0" indent="-457200">
              <a:buFont typeface="+mj-lt"/>
              <a:buAutoNum type="arabicPeriod"/>
            </a:pPr>
            <a:r>
              <a:rPr lang="en-US" sz="2000" dirty="0" smtClean="0">
                <a:latin typeface="Times New Roman" pitchFamily="18" charset="0"/>
                <a:cs typeface="Times New Roman" pitchFamily="18" charset="0"/>
              </a:rPr>
              <a:t>Suggest </a:t>
            </a:r>
            <a:r>
              <a:rPr lang="en-US" sz="2000" dirty="0">
                <a:latin typeface="Times New Roman" pitchFamily="18" charset="0"/>
                <a:cs typeface="Times New Roman" pitchFamily="18" charset="0"/>
              </a:rPr>
              <a:t>an innovative application of Zn-air batteries in the medical field.</a:t>
            </a:r>
          </a:p>
        </p:txBody>
      </p:sp>
      <p:sp>
        <p:nvSpPr>
          <p:cNvPr id="3" name="Rectangle 2"/>
          <p:cNvSpPr/>
          <p:nvPr/>
        </p:nvSpPr>
        <p:spPr>
          <a:xfrm>
            <a:off x="3657600" y="228600"/>
            <a:ext cx="5254515" cy="523220"/>
          </a:xfrm>
          <a:prstGeom prst="rect">
            <a:avLst/>
          </a:prstGeom>
        </p:spPr>
        <p:txBody>
          <a:bodyPr wrap="none">
            <a:spAutoFit/>
          </a:bodyPr>
          <a:lstStyle/>
          <a:p>
            <a:pPr lvl="0"/>
            <a:r>
              <a:rPr lang="en-US" sz="2800" b="1" dirty="0">
                <a:solidFill>
                  <a:srgbClr val="C00000"/>
                </a:solidFill>
                <a:latin typeface="Times New Roman" pitchFamily="18" charset="0"/>
                <a:cs typeface="Times New Roman" pitchFamily="18" charset="0"/>
              </a:rPr>
              <a:t>SHORT ANSWER QUESTIONS</a:t>
            </a:r>
          </a:p>
        </p:txBody>
      </p:sp>
    </p:spTree>
    <p:extLst>
      <p:ext uri="{BB962C8B-B14F-4D97-AF65-F5344CB8AC3E}">
        <p14:creationId xmlns:p14="http://schemas.microsoft.com/office/powerpoint/2010/main" val="32813387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853619"/>
            <a:ext cx="12268200" cy="4708981"/>
          </a:xfrm>
          <a:prstGeom prst="rect">
            <a:avLst/>
          </a:prstGeom>
        </p:spPr>
        <p:txBody>
          <a:bodyPr wrap="square">
            <a:spAutoFit/>
          </a:bodyPr>
          <a:lstStyle/>
          <a:p>
            <a:pPr marL="457200" lvl="0" indent="-457200">
              <a:buFont typeface="+mj-lt"/>
              <a:buAutoNum type="arabicPeriod"/>
            </a:pPr>
            <a:r>
              <a:rPr lang="en-US" sz="2000" dirty="0" smtClean="0">
                <a:latin typeface="Times New Roman" pitchFamily="18" charset="0"/>
                <a:cs typeface="Times New Roman" pitchFamily="18" charset="0"/>
              </a:rPr>
              <a:t>Write </a:t>
            </a:r>
            <a:r>
              <a:rPr lang="en-US" sz="2000" dirty="0">
                <a:latin typeface="Times New Roman" pitchFamily="18" charset="0"/>
                <a:cs typeface="Times New Roman" pitchFamily="18" charset="0"/>
              </a:rPr>
              <a:t>short notes on primary, secondary and reserve batteries with suitable </a:t>
            </a:r>
            <a:r>
              <a:rPr lang="en-US" sz="2000" dirty="0" smtClean="0">
                <a:latin typeface="Times New Roman" pitchFamily="18" charset="0"/>
                <a:cs typeface="Times New Roman" pitchFamily="18" charset="0"/>
              </a:rPr>
              <a:t>examples.</a:t>
            </a:r>
          </a:p>
          <a:p>
            <a:pPr marL="457200" lvl="0" indent="-457200">
              <a:buFont typeface="+mj-lt"/>
              <a:buAutoNum type="arabicPeriod"/>
            </a:pPr>
            <a:r>
              <a:rPr lang="en-US" sz="2000" dirty="0" smtClean="0">
                <a:latin typeface="Times New Roman" pitchFamily="18" charset="0"/>
                <a:cs typeface="Times New Roman" pitchFamily="18" charset="0"/>
              </a:rPr>
              <a:t>List </a:t>
            </a:r>
            <a:r>
              <a:rPr lang="en-US" sz="2000" dirty="0">
                <a:latin typeface="Times New Roman" pitchFamily="18" charset="0"/>
                <a:cs typeface="Times New Roman" pitchFamily="18" charset="0"/>
              </a:rPr>
              <a:t>and explain the characteristics of a good </a:t>
            </a:r>
            <a:r>
              <a:rPr lang="en-US" sz="2000" dirty="0" smtClean="0">
                <a:latin typeface="Times New Roman" pitchFamily="18" charset="0"/>
                <a:cs typeface="Times New Roman" pitchFamily="18" charset="0"/>
              </a:rPr>
              <a:t>fuel.</a:t>
            </a:r>
          </a:p>
          <a:p>
            <a:pPr marL="457200" lvl="0" indent="-457200">
              <a:buFont typeface="+mj-lt"/>
              <a:buAutoNum type="arabicPeriod"/>
            </a:pPr>
            <a:r>
              <a:rPr lang="en-US" sz="2000" dirty="0" smtClean="0">
                <a:latin typeface="Times New Roman" pitchFamily="18" charset="0"/>
                <a:cs typeface="Times New Roman" pitchFamily="18" charset="0"/>
              </a:rPr>
              <a:t>Explain </a:t>
            </a:r>
            <a:r>
              <a:rPr lang="en-US" sz="2000" dirty="0">
                <a:latin typeface="Times New Roman" pitchFamily="18" charset="0"/>
                <a:cs typeface="Times New Roman" pitchFamily="18" charset="0"/>
              </a:rPr>
              <a:t>the construction, working, and applications of a Zn-air battery with a neat </a:t>
            </a:r>
            <a:r>
              <a:rPr lang="en-US" sz="2000" dirty="0" smtClean="0">
                <a:latin typeface="Times New Roman" pitchFamily="18" charset="0"/>
                <a:cs typeface="Times New Roman" pitchFamily="18" charset="0"/>
              </a:rPr>
              <a:t>diagram.</a:t>
            </a:r>
          </a:p>
          <a:p>
            <a:pPr marL="457200" lvl="0" indent="-457200">
              <a:buFont typeface="+mj-lt"/>
              <a:buAutoNum type="arabicPeriod"/>
            </a:pPr>
            <a:r>
              <a:rPr lang="en-US" sz="2000" dirty="0" smtClean="0">
                <a:latin typeface="Times New Roman" pitchFamily="18" charset="0"/>
                <a:cs typeface="Times New Roman" pitchFamily="18" charset="0"/>
              </a:rPr>
              <a:t>Explain </a:t>
            </a:r>
            <a:r>
              <a:rPr lang="en-US" sz="2000" dirty="0">
                <a:latin typeface="Times New Roman" pitchFamily="18" charset="0"/>
                <a:cs typeface="Times New Roman" pitchFamily="18" charset="0"/>
              </a:rPr>
              <a:t>the construction, working, and applications of a Lithium-ion  battery with a neat </a:t>
            </a:r>
            <a:r>
              <a:rPr lang="en-US" sz="2000" dirty="0" smtClean="0">
                <a:latin typeface="Times New Roman" pitchFamily="18" charset="0"/>
                <a:cs typeface="Times New Roman" pitchFamily="18" charset="0"/>
              </a:rPr>
              <a:t>diagram.</a:t>
            </a:r>
          </a:p>
          <a:p>
            <a:pPr marL="457200" lvl="0" indent="-457200">
              <a:buFont typeface="+mj-lt"/>
              <a:buAutoNum type="arabicPeriod"/>
            </a:pPr>
            <a:r>
              <a:rPr lang="en-US" sz="2000" dirty="0" smtClean="0">
                <a:latin typeface="Times New Roman" pitchFamily="18" charset="0"/>
                <a:cs typeface="Times New Roman" pitchFamily="18" charset="0"/>
              </a:rPr>
              <a:t>Differentiate </a:t>
            </a:r>
            <a:r>
              <a:rPr lang="en-US" sz="2000" dirty="0">
                <a:latin typeface="Times New Roman" pitchFamily="18" charset="0"/>
                <a:cs typeface="Times New Roman" pitchFamily="18" charset="0"/>
              </a:rPr>
              <a:t>between High Calorific Value (HCV) and Low Calorific Value (LCV) with </a:t>
            </a:r>
            <a:r>
              <a:rPr lang="en-US" sz="2000" dirty="0" smtClean="0">
                <a:latin typeface="Times New Roman" pitchFamily="18" charset="0"/>
                <a:cs typeface="Times New Roman" pitchFamily="18" charset="0"/>
              </a:rPr>
              <a:t>examples.</a:t>
            </a:r>
          </a:p>
          <a:p>
            <a:pPr marL="457200" lvl="0" indent="-457200">
              <a:buFont typeface="+mj-lt"/>
              <a:buAutoNum type="arabicPeriod"/>
            </a:pPr>
            <a:r>
              <a:rPr lang="en-US" sz="2000" dirty="0" smtClean="0">
                <a:latin typeface="Times New Roman" pitchFamily="18" charset="0"/>
                <a:cs typeface="Times New Roman" pitchFamily="18" charset="0"/>
              </a:rPr>
              <a:t>Apply </a:t>
            </a:r>
            <a:r>
              <a:rPr lang="en-US" sz="2000" dirty="0">
                <a:latin typeface="Times New Roman" pitchFamily="18" charset="0"/>
                <a:cs typeface="Times New Roman" pitchFamily="18" charset="0"/>
              </a:rPr>
              <a:t>Dulong’s formula to calculate the calorific value of a coal sample containing: C = 80%, H = 6%, O = 8%, S = 1%, N = 1%, Ash = 4</a:t>
            </a:r>
            <a:r>
              <a:rPr lang="en-US" sz="2000" dirty="0" smtClean="0">
                <a:latin typeface="Times New Roman" pitchFamily="18" charset="0"/>
                <a:cs typeface="Times New Roman" pitchFamily="18" charset="0"/>
              </a:rPr>
              <a:t>%.</a:t>
            </a:r>
          </a:p>
          <a:p>
            <a:pPr marL="457200" lvl="0" indent="-457200">
              <a:buFont typeface="+mj-lt"/>
              <a:buAutoNum type="arabicPeriod"/>
            </a:pPr>
            <a:r>
              <a:rPr lang="en-US" sz="2000" dirty="0" smtClean="0">
                <a:latin typeface="Times New Roman" pitchFamily="18" charset="0"/>
                <a:cs typeface="Times New Roman" pitchFamily="18" charset="0"/>
              </a:rPr>
              <a:t>Construct </a:t>
            </a:r>
            <a:r>
              <a:rPr lang="en-US" sz="2000" dirty="0">
                <a:latin typeface="Times New Roman" pitchFamily="18" charset="0"/>
                <a:cs typeface="Times New Roman" pitchFamily="18" charset="0"/>
              </a:rPr>
              <a:t>a comparative account of Lithium-ion and Zn-air batteries in terms of construction, working, and </a:t>
            </a:r>
            <a:r>
              <a:rPr lang="en-US" sz="2000" dirty="0" smtClean="0">
                <a:latin typeface="Times New Roman" pitchFamily="18" charset="0"/>
                <a:cs typeface="Times New Roman" pitchFamily="18" charset="0"/>
              </a:rPr>
              <a:t>applications.</a:t>
            </a:r>
          </a:p>
          <a:p>
            <a:pPr marL="457200" lvl="0" indent="-457200">
              <a:buFont typeface="+mj-lt"/>
              <a:buAutoNum type="arabicPeriod"/>
            </a:pPr>
            <a:r>
              <a:rPr lang="en-US" sz="2000" dirty="0" smtClean="0">
                <a:latin typeface="Times New Roman" pitchFamily="18" charset="0"/>
                <a:cs typeface="Times New Roman" pitchFamily="18" charset="0"/>
              </a:rPr>
              <a:t>Analyze </a:t>
            </a:r>
            <a:r>
              <a:rPr lang="en-US" sz="2000" dirty="0">
                <a:latin typeface="Times New Roman" pitchFamily="18" charset="0"/>
                <a:cs typeface="Times New Roman" pitchFamily="18" charset="0"/>
              </a:rPr>
              <a:t>the differences between a fuel cell and a battery in terms of energy source, efficiency, and </a:t>
            </a:r>
            <a:r>
              <a:rPr lang="en-US" sz="2000" dirty="0" smtClean="0">
                <a:latin typeface="Times New Roman" pitchFamily="18" charset="0"/>
                <a:cs typeface="Times New Roman" pitchFamily="18" charset="0"/>
              </a:rPr>
              <a:t>applications.</a:t>
            </a:r>
          </a:p>
          <a:p>
            <a:pPr marL="457200" lvl="0" indent="-457200">
              <a:buFont typeface="+mj-lt"/>
              <a:buAutoNum type="arabicPeriod"/>
            </a:pPr>
            <a:r>
              <a:rPr lang="en-US" sz="2000" dirty="0" smtClean="0">
                <a:latin typeface="Times New Roman" pitchFamily="18" charset="0"/>
                <a:cs typeface="Times New Roman" pitchFamily="18" charset="0"/>
              </a:rPr>
              <a:t>Discuss </a:t>
            </a:r>
            <a:r>
              <a:rPr lang="en-US" sz="2000" dirty="0">
                <a:latin typeface="Times New Roman" pitchFamily="18" charset="0"/>
                <a:cs typeface="Times New Roman" pitchFamily="18" charset="0"/>
              </a:rPr>
              <a:t>the role of catalysts in moving bed catalytic cracking with a schematic </a:t>
            </a:r>
            <a:r>
              <a:rPr lang="en-US" sz="2000" dirty="0" smtClean="0">
                <a:latin typeface="Times New Roman" pitchFamily="18" charset="0"/>
                <a:cs typeface="Times New Roman" pitchFamily="18" charset="0"/>
              </a:rPr>
              <a:t>representation.</a:t>
            </a:r>
          </a:p>
          <a:p>
            <a:pPr marL="457200" lvl="0" indent="-457200">
              <a:buFont typeface="+mj-lt"/>
              <a:buAutoNum type="arabicPeriod"/>
            </a:pPr>
            <a:r>
              <a:rPr lang="en-US" sz="2000" dirty="0" smtClean="0">
                <a:latin typeface="Times New Roman" pitchFamily="18" charset="0"/>
                <a:cs typeface="Times New Roman" pitchFamily="18" charset="0"/>
              </a:rPr>
              <a:t>Evaluate </a:t>
            </a:r>
            <a:r>
              <a:rPr lang="en-US" sz="2000" dirty="0">
                <a:latin typeface="Times New Roman" pitchFamily="18" charset="0"/>
                <a:cs typeface="Times New Roman" pitchFamily="18" charset="0"/>
              </a:rPr>
              <a:t>the advantages and disadvantages of CNG vs LPG as automobile </a:t>
            </a:r>
            <a:r>
              <a:rPr lang="en-US" sz="2000" dirty="0" smtClean="0">
                <a:latin typeface="Times New Roman" pitchFamily="18" charset="0"/>
                <a:cs typeface="Times New Roman" pitchFamily="18" charset="0"/>
              </a:rPr>
              <a:t>fuels.</a:t>
            </a:r>
          </a:p>
          <a:p>
            <a:pPr marL="457200" lvl="0" indent="-457200">
              <a:buFont typeface="+mj-lt"/>
              <a:buAutoNum type="arabicPeriod"/>
            </a:pPr>
            <a:r>
              <a:rPr lang="en-US" sz="2000" dirty="0" smtClean="0">
                <a:latin typeface="Times New Roman" pitchFamily="18" charset="0"/>
                <a:cs typeface="Times New Roman" pitchFamily="18" charset="0"/>
              </a:rPr>
              <a:t>Justify </a:t>
            </a:r>
            <a:r>
              <a:rPr lang="en-US" sz="2000" dirty="0">
                <a:latin typeface="Times New Roman" pitchFamily="18" charset="0"/>
                <a:cs typeface="Times New Roman" pitchFamily="18" charset="0"/>
              </a:rPr>
              <a:t>the importance of synthetic fuels in achieving sustainable energy </a:t>
            </a:r>
            <a:r>
              <a:rPr lang="en-US" sz="2000" dirty="0" smtClean="0">
                <a:latin typeface="Times New Roman" pitchFamily="18" charset="0"/>
                <a:cs typeface="Times New Roman" pitchFamily="18" charset="0"/>
              </a:rPr>
              <a:t>goals.</a:t>
            </a:r>
          </a:p>
          <a:p>
            <a:pPr marL="457200" lvl="0" indent="-457200">
              <a:buFont typeface="+mj-lt"/>
              <a:buAutoNum type="arabicPeriod"/>
            </a:pPr>
            <a:r>
              <a:rPr lang="en-US" sz="2000" dirty="0" smtClean="0">
                <a:latin typeface="Times New Roman" pitchFamily="18" charset="0"/>
                <a:cs typeface="Times New Roman" pitchFamily="18" charset="0"/>
              </a:rPr>
              <a:t>Design </a:t>
            </a:r>
            <a:r>
              <a:rPr lang="en-US" sz="2000" dirty="0">
                <a:latin typeface="Times New Roman" pitchFamily="18" charset="0"/>
                <a:cs typeface="Times New Roman" pitchFamily="18" charset="0"/>
              </a:rPr>
              <a:t>a chart for the classification of fossil fuels with </a:t>
            </a:r>
            <a:r>
              <a:rPr lang="en-US" sz="2000" dirty="0" smtClean="0">
                <a:latin typeface="Times New Roman" pitchFamily="18" charset="0"/>
                <a:cs typeface="Times New Roman" pitchFamily="18" charset="0"/>
              </a:rPr>
              <a:t>examples.</a:t>
            </a:r>
          </a:p>
          <a:p>
            <a:pPr marL="457200" lvl="0" indent="-457200">
              <a:buFont typeface="+mj-lt"/>
              <a:buAutoNum type="arabicPeriod"/>
            </a:pPr>
            <a:r>
              <a:rPr lang="en-US" sz="2000" dirty="0" smtClean="0">
                <a:latin typeface="Times New Roman" pitchFamily="18" charset="0"/>
                <a:cs typeface="Times New Roman" pitchFamily="18" charset="0"/>
              </a:rPr>
              <a:t>Propose </a:t>
            </a:r>
            <a:r>
              <a:rPr lang="en-US" sz="2000" dirty="0">
                <a:latin typeface="Times New Roman" pitchFamily="18" charset="0"/>
                <a:cs typeface="Times New Roman" pitchFamily="18" charset="0"/>
              </a:rPr>
              <a:t>Direct Methanol Fuel Cell (DMFC).</a:t>
            </a:r>
          </a:p>
        </p:txBody>
      </p:sp>
      <p:sp>
        <p:nvSpPr>
          <p:cNvPr id="3" name="Rectangle 2"/>
          <p:cNvSpPr/>
          <p:nvPr/>
        </p:nvSpPr>
        <p:spPr>
          <a:xfrm>
            <a:off x="3962400" y="391180"/>
            <a:ext cx="3741922" cy="523220"/>
          </a:xfrm>
          <a:prstGeom prst="rect">
            <a:avLst/>
          </a:prstGeom>
        </p:spPr>
        <p:txBody>
          <a:bodyPr wrap="none">
            <a:spAutoFit/>
          </a:bodyPr>
          <a:lstStyle/>
          <a:p>
            <a:pPr lvl="0"/>
            <a:r>
              <a:rPr lang="en-US" sz="2800" b="1" dirty="0">
                <a:solidFill>
                  <a:srgbClr val="C00000"/>
                </a:solidFill>
                <a:latin typeface="Times New Roman" pitchFamily="18" charset="0"/>
                <a:cs typeface="Times New Roman" pitchFamily="18" charset="0"/>
              </a:rPr>
              <a:t>EASSAY QUESTIONS</a:t>
            </a:r>
          </a:p>
        </p:txBody>
      </p:sp>
    </p:spTree>
    <p:extLst>
      <p:ext uri="{BB962C8B-B14F-4D97-AF65-F5344CB8AC3E}">
        <p14:creationId xmlns:p14="http://schemas.microsoft.com/office/powerpoint/2010/main" val="37167447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958</TotalTime>
  <Words>4301</Words>
  <Application>Microsoft Office PowerPoint</Application>
  <PresentationFormat>Custom</PresentationFormat>
  <Paragraphs>427</Paragraphs>
  <Slides>36</Slides>
  <Notes>14</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snist</dc:creator>
  <cp:lastModifiedBy>snist</cp:lastModifiedBy>
  <cp:revision>80</cp:revision>
  <dcterms:created xsi:type="dcterms:W3CDTF">2006-08-16T00:00:00Z</dcterms:created>
  <dcterms:modified xsi:type="dcterms:W3CDTF">2025-10-17T06:01:55Z</dcterms:modified>
</cp:coreProperties>
</file>